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40"/>
  </p:notesMasterIdLst>
  <p:handoutMasterIdLst>
    <p:handoutMasterId r:id="rId41"/>
  </p:handoutMasterIdLst>
  <p:sldIdLst>
    <p:sldId id="2769" r:id="rId3"/>
    <p:sldId id="1359" r:id="rId4"/>
    <p:sldId id="259" r:id="rId5"/>
    <p:sldId id="261" r:id="rId6"/>
    <p:sldId id="260" r:id="rId7"/>
    <p:sldId id="2254" r:id="rId8"/>
    <p:sldId id="2242" r:id="rId9"/>
    <p:sldId id="2243" r:id="rId10"/>
    <p:sldId id="2244" r:id="rId11"/>
    <p:sldId id="2245" r:id="rId12"/>
    <p:sldId id="2246" r:id="rId13"/>
    <p:sldId id="2247" r:id="rId14"/>
    <p:sldId id="2248" r:id="rId15"/>
    <p:sldId id="2249" r:id="rId16"/>
    <p:sldId id="2250" r:id="rId17"/>
    <p:sldId id="2251" r:id="rId18"/>
    <p:sldId id="2260" r:id="rId19"/>
    <p:sldId id="2253" r:id="rId20"/>
    <p:sldId id="2252" r:id="rId21"/>
    <p:sldId id="273" r:id="rId22"/>
    <p:sldId id="2261" r:id="rId23"/>
    <p:sldId id="2256" r:id="rId24"/>
    <p:sldId id="2416" r:id="rId25"/>
    <p:sldId id="2415" r:id="rId26"/>
    <p:sldId id="1400" r:id="rId27"/>
    <p:sldId id="1401" r:id="rId28"/>
    <p:sldId id="2257" r:id="rId29"/>
    <p:sldId id="2258" r:id="rId30"/>
    <p:sldId id="276" r:id="rId31"/>
    <p:sldId id="277" r:id="rId32"/>
    <p:sldId id="278" r:id="rId33"/>
    <p:sldId id="293" r:id="rId34"/>
    <p:sldId id="2259" r:id="rId35"/>
    <p:sldId id="1404" r:id="rId36"/>
    <p:sldId id="1405" r:id="rId37"/>
    <p:sldId id="1406" r:id="rId38"/>
    <p:sldId id="1407" r:id="rId3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0" autoAdjust="0"/>
    <p:restoredTop sz="86382" autoAdjust="0"/>
  </p:normalViewPr>
  <p:slideViewPr>
    <p:cSldViewPr>
      <p:cViewPr varScale="1">
        <p:scale>
          <a:sx n="125" d="100"/>
          <a:sy n="125" d="100"/>
        </p:scale>
        <p:origin x="920" y="1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2025/12/1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a file:</a:t>
            </a:r>
          </a:p>
          <a:p>
            <a:pPr marL="171450" indent="-171450">
              <a:buFontTx/>
              <a:buChar char="-"/>
            </a:pPr>
            <a:r>
              <a:rPr lang="en-US" dirty="0"/>
              <a:t>same operations: open,</a:t>
            </a:r>
            <a:r>
              <a:rPr lang="en-US" baseline="0" dirty="0"/>
              <a:t> read, write, </a:t>
            </a:r>
            <a:r>
              <a:rPr lang="en-US" baseline="0" dirty="0" err="1"/>
              <a:t>ioctl</a:t>
            </a:r>
            <a:endParaRPr lang="en-US" baseline="0" dirty="0"/>
          </a:p>
          <a:p>
            <a:pPr marL="171450" indent="-171450">
              <a:buFontTx/>
              <a:buChar char="-"/>
            </a:pPr>
            <a:r>
              <a:rPr lang="en-US" baseline="0" dirty="0"/>
              <a:t>same naming scheme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B8B3F-0F45-4AAD-B4A8-B1F7D58CB4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042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027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452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685800"/>
            <a:ext cx="5486400" cy="3429000"/>
          </a:xfrm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Times New Roman" charset="0"/>
                <a:ea typeface="宋体" charset="0"/>
              </a:rPr>
              <a:t>CHDIR can set working directory</a:t>
            </a:r>
            <a:endParaRPr lang="zh-CN" altLang="en-US" dirty="0">
              <a:latin typeface="Times New Roman" charset="0"/>
              <a:ea typeface="宋体" charset="0"/>
            </a:endParaRPr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A4BDC23A-6497-6444-B9F1-C70B68E2077D}" type="slidenum">
              <a:rPr lang="zh-CN" altLang="en-US" sz="1200" b="0">
                <a:latin typeface="Times New Roman" charset="0"/>
              </a:rPr>
              <a:pPr/>
              <a:t>20</a:t>
            </a:fld>
            <a:endParaRPr lang="en-US" altLang="zh-CN" sz="12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35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96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412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一个目的就是为了防止导致上述情况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836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硬链接的效率更高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53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77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368"/>
              </a:spcBef>
            </a:pPr>
            <a:r>
              <a:rPr kumimoji="1" lang="en-US" altLang="zh-CN" sz="2000" dirty="0" err="1"/>
              <a:t>Vnode</a:t>
            </a:r>
            <a:r>
              <a:rPr kumimoji="1" lang="en-US" altLang="zh-CN" sz="2000" dirty="0"/>
              <a:t> is in Memory-only</a:t>
            </a:r>
          </a:p>
          <a:p>
            <a:pPr lvl="1"/>
            <a:r>
              <a:rPr kumimoji="1" lang="en-US" altLang="zh-CN" sz="1600" dirty="0"/>
              <a:t>It hides different FS implementation from upper layers</a:t>
            </a:r>
          </a:p>
          <a:p>
            <a:pPr lvl="1"/>
            <a:r>
              <a:rPr kumimoji="1" lang="en-US" altLang="zh-CN" sz="1600" dirty="0" err="1"/>
              <a:t>Vnode</a:t>
            </a:r>
            <a:r>
              <a:rPr kumimoji="1" lang="en-US" altLang="zh-CN" sz="1600" dirty="0"/>
              <a:t> only exists when a file is open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071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2025/12/1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en-US" altLang="zh-CN" sz="4800" dirty="0" err="1"/>
              <a:t>inode</a:t>
            </a:r>
            <a:r>
              <a:rPr kumimoji="1" lang="zh-CN" altLang="en-US" sz="4800" dirty="0"/>
              <a:t>文件系统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文件和文件系统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63462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文件是对数据的一种抽象</a:t>
            </a:r>
            <a:endParaRPr lang="en-US" altLang="zh-CN" sz="2400" dirty="0"/>
          </a:p>
          <a:p>
            <a:pPr lvl="1"/>
            <a:r>
              <a:rPr lang="zh-CN" altLang="en-US" sz="2200" dirty="0"/>
              <a:t>文件的定义：</a:t>
            </a:r>
            <a:r>
              <a:rPr lang="zh-CN" altLang="en-US" sz="2000" dirty="0"/>
              <a:t>有</a:t>
            </a:r>
            <a:r>
              <a:rPr lang="zh-CN" altLang="en-US" sz="2000" dirty="0">
                <a:solidFill>
                  <a:schemeClr val="accent1"/>
                </a:solidFill>
              </a:rPr>
              <a:t>名字</a:t>
            </a:r>
            <a:r>
              <a:rPr lang="zh-CN" altLang="en-US" sz="2000" dirty="0"/>
              <a:t>且</a:t>
            </a:r>
            <a:r>
              <a:rPr lang="zh-CN" altLang="en-US" sz="2000" dirty="0">
                <a:solidFill>
                  <a:schemeClr val="accent1"/>
                </a:solidFill>
              </a:rPr>
              <a:t>持久化</a:t>
            </a:r>
            <a:r>
              <a:rPr lang="zh-CN" altLang="en-US" sz="2000" dirty="0"/>
              <a:t>的一段数据</a:t>
            </a:r>
            <a:endParaRPr lang="en-US" altLang="zh-CN" sz="2000" dirty="0"/>
          </a:p>
          <a:p>
            <a:r>
              <a:rPr lang="zh-CN" altLang="en-US" sz="2400" dirty="0"/>
              <a:t>文件系统</a:t>
            </a:r>
            <a:endParaRPr lang="en-US" altLang="zh-CN" sz="2400" dirty="0"/>
          </a:p>
          <a:p>
            <a:pPr lvl="1"/>
            <a:r>
              <a:rPr lang="zh-CN" altLang="en-US" sz="2200" dirty="0"/>
              <a:t>提供了一组操作文件的</a:t>
            </a:r>
            <a:r>
              <a:rPr lang="en-US" altLang="zh-CN" sz="2200" dirty="0"/>
              <a:t>API</a:t>
            </a:r>
          </a:p>
          <a:p>
            <a:pPr lvl="1"/>
            <a:endParaRPr lang="en-US" altLang="zh-CN" sz="2200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EA07DD86-4574-9541-9399-7D7443422F7E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3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8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UNIX</a:t>
            </a:r>
            <a:r>
              <a:rPr lang="zh-CN" altLang="en-US" dirty="0"/>
              <a:t>文件系统的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OPEN, READ, WRITE, SEEK, CLOSE</a:t>
            </a:r>
          </a:p>
          <a:p>
            <a:r>
              <a:rPr lang="en-US" altLang="zh-CN" sz="2000" dirty="0"/>
              <a:t>FSYNC</a:t>
            </a:r>
          </a:p>
          <a:p>
            <a:r>
              <a:rPr lang="en-US" altLang="zh-CN" sz="2000" dirty="0"/>
              <a:t>STAT, CHMOD, CHOWN</a:t>
            </a:r>
          </a:p>
          <a:p>
            <a:r>
              <a:rPr lang="en-US" altLang="zh-CN" sz="2000" dirty="0"/>
              <a:t>RENAME, LINK, UNLINK, SYMLINK</a:t>
            </a:r>
          </a:p>
          <a:p>
            <a:r>
              <a:rPr lang="en-US" altLang="zh-CN" sz="2000" dirty="0"/>
              <a:t>MKDIR, CHDIR, CHROOT</a:t>
            </a:r>
          </a:p>
          <a:p>
            <a:r>
              <a:rPr lang="en-US" altLang="zh-CN" sz="2000" dirty="0"/>
              <a:t>MOUNT, UNMOUNT</a:t>
            </a:r>
          </a:p>
          <a:p>
            <a:r>
              <a:rPr lang="en-US" altLang="zh-CN" sz="2000" dirty="0"/>
              <a:t>….</a:t>
            </a:r>
            <a:endParaRPr lang="zh-CN" altLang="en-US" sz="2000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E315FA61-8901-B549-B657-C9EAE3269AB0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4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3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文件系统的位置</a:t>
            </a: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z="1050" smtClean="0"/>
              <a:t>5</a:t>
            </a:fld>
            <a:endParaRPr lang="zh-CN" altLang="en-US" sz="105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BE5273-25C2-6C47-AA54-F553CE8DC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485" y="1351194"/>
            <a:ext cx="4245723" cy="3903423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6357444" y="1423504"/>
            <a:ext cx="1912703" cy="1339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OPEN("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a.txt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", "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rw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")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READ(…)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WRITE(…)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…</a:t>
            </a:r>
            <a:endParaRPr lang="zh-CN" altLang="en-US" sz="1600" dirty="0">
              <a:latin typeface="Arial" panose="020B0604020202020204" pitchFamily="34" charset="0"/>
              <a:ea typeface="DengXian" charset="0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357444" y="4369668"/>
            <a:ext cx="2329356" cy="6991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READ(block-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addr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buf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WRITE(block-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addr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buf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)</a:t>
            </a:r>
            <a:endParaRPr lang="zh-CN" altLang="en-US" sz="1600" dirty="0">
              <a:latin typeface="Arial" panose="020B0604020202020204" pitchFamily="34" charset="0"/>
              <a:ea typeface="DengXian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0657AE-3840-D240-AFE2-9F371BC09CC4}"/>
              </a:ext>
            </a:extLst>
          </p:cNvPr>
          <p:cNvSpPr/>
          <p:nvPr/>
        </p:nvSpPr>
        <p:spPr>
          <a:xfrm>
            <a:off x="251520" y="4580886"/>
            <a:ext cx="1980029" cy="9052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+mn-ea"/>
                <a:cs typeface="Arial" panose="020B0604020202020204" pitchFamily="34" charset="0"/>
              </a:rPr>
              <a:t>存储设备可以被抽象为</a:t>
            </a:r>
            <a:endParaRPr lang="en-US" altLang="zh-CN" sz="1400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+mn-ea"/>
                <a:cs typeface="Arial" panose="020B0604020202020204" pitchFamily="34" charset="0"/>
              </a:rPr>
              <a:t>4KB</a:t>
            </a:r>
            <a:r>
              <a:rPr lang="zh-CN" altLang="en-US" sz="1400" dirty="0">
                <a:latin typeface="+mn-ea"/>
                <a:cs typeface="Arial" panose="020B0604020202020204" pitchFamily="34" charset="0"/>
              </a:rPr>
              <a:t>的块组成的数组，</a:t>
            </a:r>
            <a:endParaRPr lang="en-US" altLang="zh-CN" sz="1400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+mn-ea"/>
                <a:cs typeface="Arial" panose="020B0604020202020204" pitchFamily="34" charset="0"/>
              </a:rPr>
              <a:t>以</a:t>
            </a:r>
            <a:r>
              <a:rPr lang="en-US" altLang="zh-CN" sz="1400" dirty="0">
                <a:latin typeface="+mn-ea"/>
                <a:cs typeface="Arial" panose="020B0604020202020204" pitchFamily="34" charset="0"/>
              </a:rPr>
              <a:t>64-bit</a:t>
            </a:r>
            <a:r>
              <a:rPr lang="zh-CN" altLang="en-US" sz="1400" dirty="0">
                <a:latin typeface="+mn-ea"/>
                <a:cs typeface="Arial" panose="020B0604020202020204" pitchFamily="34" charset="0"/>
              </a:rPr>
              <a:t>的块号为索引</a:t>
            </a:r>
          </a:p>
        </p:txBody>
      </p:sp>
    </p:spTree>
    <p:extLst>
      <p:ext uri="{BB962C8B-B14F-4D97-AF65-F5344CB8AC3E}">
        <p14:creationId xmlns:p14="http://schemas.microsoft.com/office/powerpoint/2010/main" val="43084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inode</a:t>
            </a:r>
            <a:r>
              <a:rPr lang="zh-CN" altLang="en-US" dirty="0"/>
              <a:t>：文件的元数据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288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2852FC-C57B-6547-B7EE-A419481C7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182" y="3433564"/>
            <a:ext cx="6765636" cy="150090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3009AA3-C0D6-3647-852E-DFFB2FDB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inode</a:t>
            </a:r>
            <a:r>
              <a:rPr kumimoji="1" lang="zh-CN" altLang="en-US" dirty="0"/>
              <a:t>之前：一个简单的文件系统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51728-7331-7C4D-BF40-F1C4A6CD1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文件系统的特性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文件数量固定：</a:t>
            </a:r>
            <a:r>
              <a:rPr kumimoji="1" lang="en-US" altLang="zh-CN" sz="1800" dirty="0"/>
              <a:t>10 </a:t>
            </a:r>
            <a:r>
              <a:rPr kumimoji="1" lang="zh-CN" altLang="en-US" sz="1800" dirty="0"/>
              <a:t>个文件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文件名固定：从 “</a:t>
            </a:r>
            <a:r>
              <a:rPr kumimoji="1" lang="en-US" altLang="zh-CN" sz="1800" dirty="0"/>
              <a:t>0”</a:t>
            </a:r>
            <a:r>
              <a:rPr kumimoji="1" lang="zh-CN" altLang="en-US" sz="1800" dirty="0"/>
              <a:t>到“</a:t>
            </a:r>
            <a:r>
              <a:rPr kumimoji="1" lang="en-US" altLang="zh-CN" sz="1800" dirty="0"/>
              <a:t>9”</a:t>
            </a:r>
          </a:p>
          <a:p>
            <a:pPr lvl="1"/>
            <a:r>
              <a:rPr kumimoji="1" lang="zh-CN" altLang="en-US" sz="1800" dirty="0"/>
              <a:t>每个文件的大小固定为 </a:t>
            </a:r>
            <a:r>
              <a:rPr kumimoji="1" lang="en-US" altLang="zh-CN" sz="1800" dirty="0"/>
              <a:t>4 </a:t>
            </a:r>
            <a:r>
              <a:rPr kumimoji="1" lang="en" altLang="zh-CN" sz="1800" dirty="0"/>
              <a:t>KB</a:t>
            </a:r>
          </a:p>
          <a:p>
            <a:pPr lvl="1"/>
            <a:r>
              <a:rPr kumimoji="1" lang="en-US" altLang="zh-CN" sz="1800" dirty="0"/>
              <a:t>10</a:t>
            </a:r>
            <a:r>
              <a:rPr kumimoji="1" lang="zh-CN" altLang="en-US" sz="1800" dirty="0"/>
              <a:t>个文件在磁盘上是连续的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993FF-8761-0942-B6F2-18920DCE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4D43B1B-0898-B043-9E9C-B81016902026}"/>
              </a:ext>
            </a:extLst>
          </p:cNvPr>
          <p:cNvSpPr txBox="1">
            <a:spLocks/>
          </p:cNvSpPr>
          <p:nvPr/>
        </p:nvSpPr>
        <p:spPr>
          <a:xfrm>
            <a:off x="4572000" y="1333501"/>
            <a:ext cx="4536504" cy="37716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dirty="0"/>
              <a:t>文件系统的操作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文件查找：文件名就是磁盘块号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文件读写：即对相应磁盘块的读写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文件删除：不支持</a:t>
            </a:r>
            <a:endParaRPr kumimoji="1" lang="en-US" altLang="zh-CN" sz="1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DB688C-2FA4-DF48-81E4-482E0B9A5A17}"/>
              </a:ext>
            </a:extLst>
          </p:cNvPr>
          <p:cNvSpPr txBox="1"/>
          <p:nvPr/>
        </p:nvSpPr>
        <p:spPr>
          <a:xfrm>
            <a:off x="539552" y="5124664"/>
            <a:ext cx="806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solidFill>
                  <a:schemeClr val="accent3"/>
                </a:solidFill>
              </a:rPr>
              <a:t>把磁盘抽象为一个大数组，块号就是磁盘的索引，每个块大小为</a:t>
            </a:r>
            <a:r>
              <a:rPr kumimoji="1" lang="en-US" altLang="zh-CN" sz="1800" dirty="0">
                <a:solidFill>
                  <a:schemeClr val="accent3"/>
                </a:solidFill>
              </a:rPr>
              <a:t>4KB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64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09AA3-C0D6-3647-852E-DFFB2FDB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简单文件系统的改进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51728-7331-7C4D-BF40-F1C4A6CD1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Autofit/>
          </a:bodyPr>
          <a:lstStyle/>
          <a:p>
            <a:r>
              <a:rPr kumimoji="1" lang="zh-CN" altLang="en-US" sz="2000" dirty="0"/>
              <a:t>增加文件的数量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假设使用一个容量为 </a:t>
            </a:r>
            <a:r>
              <a:rPr kumimoji="1" lang="en-US" altLang="zh-CN" sz="1800" dirty="0"/>
              <a:t>1 G</a:t>
            </a:r>
            <a:r>
              <a:rPr kumimoji="1" lang="en" altLang="zh-CN" sz="1800" dirty="0"/>
              <a:t>B </a:t>
            </a:r>
            <a:r>
              <a:rPr kumimoji="1" lang="zh-CN" altLang="en-US" sz="1800" dirty="0"/>
              <a:t>的磁盘，最多保存 </a:t>
            </a:r>
            <a:r>
              <a:rPr kumimoji="1" lang="en-US" altLang="zh-CN" sz="1800" dirty="0"/>
              <a:t>1 G</a:t>
            </a:r>
            <a:r>
              <a:rPr kumimoji="1" lang="en" altLang="zh-CN" sz="1800" dirty="0"/>
              <a:t>B / 4 KB = 256 </a:t>
            </a:r>
            <a:r>
              <a:rPr kumimoji="1" lang="en-US" altLang="zh-CN" sz="1800" dirty="0"/>
              <a:t>K</a:t>
            </a:r>
            <a:r>
              <a:rPr kumimoji="1" lang="zh-CN" altLang="en-US" sz="1800" dirty="0"/>
              <a:t>个文件</a:t>
            </a:r>
            <a:endParaRPr kumimoji="1" lang="en-US" altLang="zh-CN" sz="1800" dirty="0"/>
          </a:p>
          <a:p>
            <a:r>
              <a:rPr kumimoji="1" lang="zh-CN" altLang="en-US" sz="2000" dirty="0"/>
              <a:t>支持文件删除操作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引入文件位图（</a:t>
            </a:r>
            <a:r>
              <a:rPr kumimoji="1" lang="en-US" altLang="zh-CN" sz="1800" dirty="0"/>
              <a:t>bitmap</a:t>
            </a:r>
            <a:r>
              <a:rPr kumimoji="1" lang="zh-CN" altLang="en-US" sz="1800" dirty="0"/>
              <a:t>），大小为</a:t>
            </a:r>
            <a:r>
              <a:rPr kumimoji="1" lang="en-US" altLang="zh-CN" sz="1800" dirty="0"/>
              <a:t>256 × 1024 × 1b 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8 × 4KB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32KB</a:t>
            </a:r>
          </a:p>
          <a:p>
            <a:pPr lvl="1"/>
            <a:r>
              <a:rPr kumimoji="1" lang="zh-CN" altLang="en-US" sz="1800" dirty="0"/>
              <a:t>每个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对应一个文件，若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为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表示不存在，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为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表示存在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删除文件时，将该文件对应的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  <a:p>
            <a:pPr lvl="1"/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993FF-8761-0942-B6F2-18920DCE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387807-EC6E-BF43-B59C-D8B9FDD9E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2" y="4019729"/>
            <a:ext cx="6245475" cy="158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7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E758E-B41D-5A46-99FE-36FA975B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简单文件系统的限制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BB097-41B1-604E-B6DD-9BDDFB052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文件大小固定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无法支持大于一个磁盘块（</a:t>
            </a:r>
            <a:r>
              <a:rPr kumimoji="1" lang="en-US" altLang="zh-CN" sz="2000" dirty="0"/>
              <a:t>4KB</a:t>
            </a:r>
            <a:r>
              <a:rPr kumimoji="1" lang="zh-CN" altLang="en-US" sz="2000" dirty="0"/>
              <a:t>）的文件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文件系统依赖文件数据存储的连续性</a:t>
            </a:r>
            <a:endParaRPr kumimoji="1" lang="en-US" altLang="zh-CN" sz="2000" dirty="0"/>
          </a:p>
          <a:p>
            <a:r>
              <a:rPr kumimoji="1" lang="zh-CN" altLang="en-US" sz="2400" dirty="0"/>
              <a:t>文件名固定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只能用磁盘块号来表示文件名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64B9DC-A135-C841-980A-37536233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310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：记录文件多个磁盘块的位置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389E2-1B5B-2341-AD0A-8FFD754E1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引入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：</a:t>
            </a:r>
            <a:r>
              <a:rPr kumimoji="1" lang="en-US" altLang="zh-CN" sz="2000" dirty="0"/>
              <a:t>index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node</a:t>
            </a:r>
          </a:p>
          <a:p>
            <a:pPr lvl="1"/>
            <a:r>
              <a:rPr kumimoji="1" lang="zh-CN" altLang="en-US" sz="1800" dirty="0"/>
              <a:t>记录多个磁盘块号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头部记录文件</a:t>
            </a:r>
            <a:r>
              <a:rPr kumimoji="1" lang="en-US" altLang="zh-CN" sz="1800" dirty="0"/>
              <a:t>size</a:t>
            </a:r>
            <a:r>
              <a:rPr kumimoji="1" lang="zh-CN" altLang="en-US" sz="1800" dirty="0"/>
              <a:t>信息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每个文件对应一个</a:t>
            </a:r>
            <a:r>
              <a:rPr kumimoji="1" lang="en-US" altLang="zh-CN" sz="1800" dirty="0"/>
              <a:t>inode</a:t>
            </a:r>
          </a:p>
          <a:p>
            <a:pPr lvl="1"/>
            <a:r>
              <a:rPr kumimoji="1" lang="zh-CN" altLang="en-US" sz="1800" dirty="0"/>
              <a:t>称为文件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元数据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Metadata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文件读写操作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给定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和文件内偏移（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根据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计算出对应的磁盘块号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若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超出</a:t>
            </a:r>
            <a:r>
              <a:rPr kumimoji="1" lang="en-US" altLang="zh-CN" sz="1800" dirty="0"/>
              <a:t>size</a:t>
            </a:r>
            <a:r>
              <a:rPr kumimoji="1" lang="zh-CN" altLang="en-US" sz="1800" dirty="0"/>
              <a:t>则返回错误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D89145-34EE-2646-B466-5076FBC1A01C}"/>
              </a:ext>
            </a:extLst>
          </p:cNvPr>
          <p:cNvSpPr/>
          <p:nvPr/>
        </p:nvSpPr>
        <p:spPr bwMode="auto">
          <a:xfrm>
            <a:off x="6546864" y="2077581"/>
            <a:ext cx="533400" cy="39687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100" dirty="0">
                <a:solidFill>
                  <a:schemeClr val="tx1"/>
                </a:solidFill>
                <a:cs typeface="宋体" charset="0"/>
              </a:rPr>
              <a:t>size</a:t>
            </a:r>
            <a:endParaRPr lang="zh-CN" altLang="en-US" sz="1100" dirty="0">
              <a:solidFill>
                <a:schemeClr val="tx1"/>
              </a:solidFill>
              <a:cs typeface="宋体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BAB58E-AA9F-304F-B185-5997D3EE41AA}"/>
              </a:ext>
            </a:extLst>
          </p:cNvPr>
          <p:cNvSpPr/>
          <p:nvPr/>
        </p:nvSpPr>
        <p:spPr bwMode="auto">
          <a:xfrm>
            <a:off x="6546864" y="2474455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08081B-05C9-CF43-8167-C7C848038679}"/>
              </a:ext>
            </a:extLst>
          </p:cNvPr>
          <p:cNvSpPr/>
          <p:nvPr/>
        </p:nvSpPr>
        <p:spPr bwMode="auto">
          <a:xfrm>
            <a:off x="6546864" y="2664955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5B4BC9-454A-2049-8A9E-889F4BECBA39}"/>
              </a:ext>
            </a:extLst>
          </p:cNvPr>
          <p:cNvSpPr/>
          <p:nvPr/>
        </p:nvSpPr>
        <p:spPr bwMode="auto">
          <a:xfrm>
            <a:off x="6546864" y="28475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E7F903-450C-A643-85CD-6C6BE348E2FF}"/>
              </a:ext>
            </a:extLst>
          </p:cNvPr>
          <p:cNvSpPr/>
          <p:nvPr/>
        </p:nvSpPr>
        <p:spPr bwMode="auto">
          <a:xfrm>
            <a:off x="6546864" y="30380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6588EA-86C0-E240-8DC9-3A475A68B3E5}"/>
              </a:ext>
            </a:extLst>
          </p:cNvPr>
          <p:cNvSpPr/>
          <p:nvPr/>
        </p:nvSpPr>
        <p:spPr bwMode="auto">
          <a:xfrm>
            <a:off x="6546864" y="32285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18D4DE-11A3-CA4A-AC60-8525D3F9575C}"/>
              </a:ext>
            </a:extLst>
          </p:cNvPr>
          <p:cNvSpPr/>
          <p:nvPr/>
        </p:nvSpPr>
        <p:spPr bwMode="auto">
          <a:xfrm>
            <a:off x="6546864" y="3416372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1ADBF1FF-59A1-AF4A-83FD-118BC82C049C}"/>
              </a:ext>
            </a:extLst>
          </p:cNvPr>
          <p:cNvSpPr/>
          <p:nvPr/>
        </p:nvSpPr>
        <p:spPr>
          <a:xfrm>
            <a:off x="6333544" y="2077581"/>
            <a:ext cx="144016" cy="1529291"/>
          </a:xfrm>
          <a:prstGeom prst="leftBrace">
            <a:avLst>
              <a:gd name="adj1" fmla="val 84288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3ADED3-B29B-A442-BE47-EB79CE3E8FE6}"/>
              </a:ext>
            </a:extLst>
          </p:cNvPr>
          <p:cNvSpPr/>
          <p:nvPr/>
        </p:nvSpPr>
        <p:spPr bwMode="auto">
          <a:xfrm>
            <a:off x="8061736" y="1679257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1241EC-90BD-BB4F-B91B-1AE2DD38AFED}"/>
              </a:ext>
            </a:extLst>
          </p:cNvPr>
          <p:cNvSpPr/>
          <p:nvPr/>
        </p:nvSpPr>
        <p:spPr bwMode="auto">
          <a:xfrm>
            <a:off x="8061736" y="2377934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214F37-EEDF-3C4F-85D1-D972BE3B6655}"/>
              </a:ext>
            </a:extLst>
          </p:cNvPr>
          <p:cNvSpPr/>
          <p:nvPr/>
        </p:nvSpPr>
        <p:spPr bwMode="auto">
          <a:xfrm>
            <a:off x="8061736" y="3145484"/>
            <a:ext cx="533400" cy="550333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F1EC2D-2374-724F-BB48-CCCC693442F6}"/>
              </a:ext>
            </a:extLst>
          </p:cNvPr>
          <p:cNvSpPr/>
          <p:nvPr/>
        </p:nvSpPr>
        <p:spPr bwMode="auto">
          <a:xfrm>
            <a:off x="8061736" y="3906697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cxnSp>
        <p:nvCxnSpPr>
          <p:cNvPr id="19" name="肘形连接符 110">
            <a:extLst>
              <a:ext uri="{FF2B5EF4-FFF2-40B4-BE49-F238E27FC236}">
                <a16:creationId xmlns:a16="http://schemas.microsoft.com/office/drawing/2014/main" id="{CF49F586-F0A1-8145-BA47-54860EE4638E}"/>
              </a:ext>
            </a:extLst>
          </p:cNvPr>
          <p:cNvCxnSpPr>
            <a:cxnSpLocks noChangeShapeType="1"/>
            <a:stCxn id="11" idx="3"/>
            <a:endCxn id="18" idx="1"/>
          </p:cNvCxnSpPr>
          <p:nvPr/>
        </p:nvCxnSpPr>
        <p:spPr bwMode="auto">
          <a:xfrm>
            <a:off x="7080264" y="3511622"/>
            <a:ext cx="981472" cy="66958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1" name="肘形连接符 110">
            <a:extLst>
              <a:ext uri="{FF2B5EF4-FFF2-40B4-BE49-F238E27FC236}">
                <a16:creationId xmlns:a16="http://schemas.microsoft.com/office/drawing/2014/main" id="{30732D6B-0371-244F-9F43-ADC300D1340B}"/>
              </a:ext>
            </a:extLst>
          </p:cNvPr>
          <p:cNvCxnSpPr>
            <a:cxnSpLocks noChangeShapeType="1"/>
            <a:stCxn id="6" idx="3"/>
            <a:endCxn id="15" idx="1"/>
          </p:cNvCxnSpPr>
          <p:nvPr/>
        </p:nvCxnSpPr>
        <p:spPr bwMode="auto">
          <a:xfrm flipV="1">
            <a:off x="7080264" y="1953762"/>
            <a:ext cx="981472" cy="61594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" name="肘形连接符 110">
            <a:extLst>
              <a:ext uri="{FF2B5EF4-FFF2-40B4-BE49-F238E27FC236}">
                <a16:creationId xmlns:a16="http://schemas.microsoft.com/office/drawing/2014/main" id="{F22B7DAC-1788-2E40-9FFB-69B8C2ECD5AF}"/>
              </a:ext>
            </a:extLst>
          </p:cNvPr>
          <p:cNvCxnSpPr>
            <a:cxnSpLocks noChangeShapeType="1"/>
            <a:stCxn id="7" idx="3"/>
            <a:endCxn id="16" idx="1"/>
          </p:cNvCxnSpPr>
          <p:nvPr/>
        </p:nvCxnSpPr>
        <p:spPr bwMode="auto">
          <a:xfrm flipV="1">
            <a:off x="7080264" y="2652439"/>
            <a:ext cx="981472" cy="10776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" name="肘形连接符 110">
            <a:extLst>
              <a:ext uri="{FF2B5EF4-FFF2-40B4-BE49-F238E27FC236}">
                <a16:creationId xmlns:a16="http://schemas.microsoft.com/office/drawing/2014/main" id="{ED59072C-72EE-C845-9E0C-DEF37A3144E8}"/>
              </a:ext>
            </a:extLst>
          </p:cNvPr>
          <p:cNvCxnSpPr>
            <a:cxnSpLocks noChangeShapeType="1"/>
            <a:stCxn id="10" idx="3"/>
            <a:endCxn id="17" idx="1"/>
          </p:cNvCxnSpPr>
          <p:nvPr/>
        </p:nvCxnSpPr>
        <p:spPr bwMode="auto">
          <a:xfrm>
            <a:off x="7080264" y="3323768"/>
            <a:ext cx="981472" cy="9688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283E575-F5BD-4446-9DEA-AC6C47AEFBEA}"/>
              </a:ext>
            </a:extLst>
          </p:cNvPr>
          <p:cNvSpPr txBox="1"/>
          <p:nvPr/>
        </p:nvSpPr>
        <p:spPr>
          <a:xfrm>
            <a:off x="7944948" y="2787764"/>
            <a:ext cx="766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/>
              <a:t>...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A06473B-0E0C-3743-9C35-FC33421485D3}"/>
              </a:ext>
            </a:extLst>
          </p:cNvPr>
          <p:cNvSpPr txBox="1"/>
          <p:nvPr/>
        </p:nvSpPr>
        <p:spPr>
          <a:xfrm>
            <a:off x="5508104" y="2646719"/>
            <a:ext cx="915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inode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1104272-47BD-E847-9E98-61707F7FC713}"/>
              </a:ext>
            </a:extLst>
          </p:cNvPr>
          <p:cNvSpPr txBox="1"/>
          <p:nvPr/>
        </p:nvSpPr>
        <p:spPr>
          <a:xfrm>
            <a:off x="5004048" y="4576400"/>
            <a:ext cx="3995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zh-CN" altLang="en-US" dirty="0">
                <a:solidFill>
                  <a:schemeClr val="accent3"/>
                </a:solidFill>
              </a:rPr>
              <a:t>最简</a:t>
            </a:r>
            <a:r>
              <a:rPr kumimoji="1" lang="en-US" altLang="zh-CN" dirty="0">
                <a:solidFill>
                  <a:schemeClr val="accent3"/>
                </a:solidFill>
              </a:rPr>
              <a:t>inode</a:t>
            </a:r>
            <a:r>
              <a:rPr kumimoji="1" lang="zh-CN" altLang="en-US" dirty="0">
                <a:solidFill>
                  <a:schemeClr val="accent3"/>
                </a:solidFill>
              </a:rPr>
              <a:t>，接下来进一步扩展</a:t>
            </a:r>
          </a:p>
        </p:txBody>
      </p:sp>
    </p:spTree>
    <p:extLst>
      <p:ext uri="{BB962C8B-B14F-4D97-AF65-F5344CB8AC3E}">
        <p14:creationId xmlns:p14="http://schemas.microsoft.com/office/powerpoint/2010/main" val="542873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文件系统的存储布局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1185257"/>
            <a:ext cx="7432040" cy="431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026" y="1201316"/>
            <a:ext cx="4395478" cy="25530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文件系统的存储布局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0E6CA3B-4653-1B4B-9D37-823476A0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inode</a:t>
            </a:r>
            <a:r>
              <a:rPr kumimoji="1" lang="zh-CN" altLang="en-US" sz="2000" dirty="0"/>
              <a:t>表：记录所有</a:t>
            </a:r>
            <a:r>
              <a:rPr kumimoji="1" lang="en-US" altLang="zh-CN" sz="2000" dirty="0"/>
              <a:t>inode</a:t>
            </a:r>
          </a:p>
          <a:p>
            <a:pPr lvl="1"/>
            <a:r>
              <a:rPr kumimoji="1" lang="zh-CN" altLang="en-US" sz="1800" dirty="0"/>
              <a:t>可以看成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的大数组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使用作为索引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此时，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号即为文件名</a:t>
            </a:r>
            <a:endParaRPr kumimoji="1" lang="en-US" altLang="zh-CN" sz="1800" dirty="0"/>
          </a:p>
          <a:p>
            <a:r>
              <a:rPr kumimoji="1" lang="en-US" altLang="zh-CN" sz="2000" dirty="0"/>
              <a:t>inode</a:t>
            </a:r>
            <a:r>
              <a:rPr kumimoji="1" lang="zh-CN" altLang="en-US" sz="2000" dirty="0"/>
              <a:t>分配信息（位图）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记录哪些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已分配，哪些空闲</a:t>
            </a:r>
            <a:endParaRPr kumimoji="1" lang="en-US" altLang="zh-CN" sz="1800" dirty="0"/>
          </a:p>
          <a:p>
            <a:r>
              <a:rPr kumimoji="1" lang="zh-CN" altLang="en-US" sz="2000" dirty="0"/>
              <a:t>超级块：</a:t>
            </a:r>
            <a:r>
              <a:rPr kumimoji="1" lang="en-US" altLang="zh-CN" sz="2000" dirty="0"/>
              <a:t>Super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Block</a:t>
            </a:r>
          </a:p>
          <a:p>
            <a:pPr lvl="1"/>
            <a:r>
              <a:rPr kumimoji="1" lang="zh-CN" altLang="en-US" sz="1800" dirty="0"/>
              <a:t>记录磁盘块的大小、其他信息的起始磁盘块位置，等等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是整个文件系统的元数据</a:t>
            </a:r>
            <a:endParaRPr kumimoji="1" lang="en-US" altLang="zh-CN" sz="1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0135EF-4428-7945-9887-A6AE65EC4CCD}"/>
              </a:ext>
            </a:extLst>
          </p:cNvPr>
          <p:cNvSpPr/>
          <p:nvPr/>
        </p:nvSpPr>
        <p:spPr>
          <a:xfrm>
            <a:off x="5004048" y="2569468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847EAF-3DBD-9C4B-A161-2F7EB7533F9F}"/>
              </a:ext>
            </a:extLst>
          </p:cNvPr>
          <p:cNvSpPr/>
          <p:nvPr/>
        </p:nvSpPr>
        <p:spPr>
          <a:xfrm>
            <a:off x="5940152" y="2569468"/>
            <a:ext cx="57606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21B8C4-9FFA-944D-B160-1760842826F1}"/>
              </a:ext>
            </a:extLst>
          </p:cNvPr>
          <p:cNvSpPr/>
          <p:nvPr/>
        </p:nvSpPr>
        <p:spPr>
          <a:xfrm>
            <a:off x="6553200" y="2569468"/>
            <a:ext cx="89912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1114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74345"/>
            <a:ext cx="3632626" cy="21099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文件系统的基本操作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0E6CA3B-4653-1B4B-9D37-823476A0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499176" cy="4152633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加载文件系统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首先读取超级块，然后找到其他信息</a:t>
            </a:r>
            <a:endParaRPr kumimoji="1" lang="en-US" altLang="zh-CN" sz="1800" dirty="0"/>
          </a:p>
          <a:p>
            <a:r>
              <a:rPr kumimoji="1" lang="zh-CN" altLang="en-US" sz="2000" dirty="0"/>
              <a:t>创建新文件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根据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分配信息找到空闲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，将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1</a:t>
            </a:r>
          </a:p>
          <a:p>
            <a:pPr lvl="1"/>
            <a:r>
              <a:rPr kumimoji="1" lang="zh-CN" altLang="en-US" sz="1800" dirty="0"/>
              <a:t>返回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表中的索引，作为文件名</a:t>
            </a:r>
            <a:endParaRPr kumimoji="1" lang="en-US" altLang="zh-CN" sz="1800" dirty="0"/>
          </a:p>
          <a:p>
            <a:r>
              <a:rPr kumimoji="1" lang="zh-CN" altLang="en-US" sz="2000" dirty="0"/>
              <a:t>查找文件（根据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号）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表中根据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号定位该</a:t>
            </a:r>
            <a:r>
              <a:rPr kumimoji="1" lang="en-US" altLang="zh-CN" sz="1800" dirty="0"/>
              <a:t>inode</a:t>
            </a:r>
          </a:p>
          <a:p>
            <a:r>
              <a:rPr kumimoji="1" lang="zh-CN" altLang="en-US" sz="2000" dirty="0"/>
              <a:t>删除文件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分配表中，将该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35012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单级</a:t>
            </a:r>
            <a:r>
              <a:rPr kumimoji="1" lang="en-US" altLang="zh-CN" dirty="0"/>
              <a:t>inode</a:t>
            </a:r>
            <a:r>
              <a:rPr kumimoji="1" lang="zh-CN" altLang="en-US" dirty="0"/>
              <a:t>过大的问题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FA5FE-B197-AB44-B729-802D1655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</a:t>
            </a:r>
            <a:r>
              <a:rPr kumimoji="1" lang="en-US" altLang="zh-CN" sz="2400" dirty="0"/>
              <a:t>4GB</a:t>
            </a:r>
            <a:r>
              <a:rPr kumimoji="1" lang="zh-CN" altLang="en-US" sz="2400" dirty="0"/>
              <a:t>的文件，对应</a:t>
            </a:r>
            <a:r>
              <a:rPr kumimoji="1" lang="en-US" altLang="zh-CN" sz="2400" dirty="0"/>
              <a:t>inode</a:t>
            </a:r>
            <a:r>
              <a:rPr kumimoji="1" lang="zh-CN" altLang="en-US" sz="2400" dirty="0"/>
              <a:t>有多大？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假设磁盘块号（块指针）为</a:t>
            </a:r>
            <a:r>
              <a:rPr kumimoji="1" lang="en-US" altLang="zh-CN" sz="2000" dirty="0"/>
              <a:t>8-Byte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64-bit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inode</a:t>
            </a:r>
            <a:r>
              <a:rPr kumimoji="1" lang="zh-CN" altLang="en-US" sz="2000" dirty="0"/>
              <a:t>大小：</a:t>
            </a:r>
            <a:r>
              <a:rPr kumimoji="1" lang="en-US" altLang="zh-CN" sz="2000" dirty="0"/>
              <a:t>4GB/4KB</a:t>
            </a:r>
            <a:r>
              <a:rPr kumimoji="1" lang="zh-CN" altLang="en-US" sz="2000" dirty="0"/>
              <a:t> * </a:t>
            </a:r>
            <a:r>
              <a:rPr kumimoji="1" lang="en-US" altLang="zh-CN" sz="2000" dirty="0"/>
              <a:t>8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8MB</a:t>
            </a:r>
          </a:p>
          <a:p>
            <a:pPr lvl="1"/>
            <a:r>
              <a:rPr kumimoji="1" lang="zh-CN" altLang="en-US" sz="2000" dirty="0"/>
              <a:t>若文件大小为</a:t>
            </a:r>
            <a:r>
              <a:rPr kumimoji="1" lang="en-US" altLang="zh-CN" sz="2000" dirty="0"/>
              <a:t>4TB</a:t>
            </a:r>
            <a:r>
              <a:rPr kumimoji="1" lang="zh-CN" altLang="en-US" sz="2000" dirty="0"/>
              <a:t>，则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大小为</a:t>
            </a:r>
            <a:r>
              <a:rPr kumimoji="1" lang="en-US" altLang="zh-CN" sz="2000" dirty="0"/>
              <a:t>8GB</a:t>
            </a:r>
            <a:r>
              <a:rPr kumimoji="1" lang="zh-CN" altLang="en-US" sz="2000" dirty="0"/>
              <a:t>！</a:t>
            </a:r>
            <a:endParaRPr kumimoji="1" lang="en-US" altLang="zh-CN" sz="2000" dirty="0"/>
          </a:p>
          <a:p>
            <a:r>
              <a:rPr kumimoji="1" lang="en-US" altLang="zh-CN" sz="2400" dirty="0"/>
              <a:t>inode</a:t>
            </a:r>
            <a:r>
              <a:rPr kumimoji="1" lang="zh-CN" altLang="en-US" sz="2400" dirty="0"/>
              <a:t>表的假设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一个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记录的所有块指针在磁盘上的空间是连续的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多个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在磁盘上的空间是连续的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3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</a:t>
            </a:r>
            <a:r>
              <a:rPr kumimoji="1" lang="en-US" altLang="zh-CN" dirty="0"/>
              <a:t>inode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30FF1D-FC8B-714B-AC5C-D4AE93C5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041347"/>
            <a:ext cx="5171600" cy="30151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58273C8-9606-A74B-976E-CE53F28D6B2E}"/>
              </a:ext>
            </a:extLst>
          </p:cNvPr>
          <p:cNvSpPr txBox="1"/>
          <p:nvPr/>
        </p:nvSpPr>
        <p:spPr>
          <a:xfrm>
            <a:off x="457200" y="1256164"/>
            <a:ext cx="82296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/>
              <a:t>引入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索引块</a:t>
            </a:r>
            <a:r>
              <a:rPr kumimoji="1" lang="zh-CN" altLang="en-US" sz="1800" dirty="0"/>
              <a:t>：指向数据块</a:t>
            </a:r>
            <a:r>
              <a:rPr kumimoji="1" lang="zh-CN" altLang="en-US" dirty="0"/>
              <a:t>；以及</a:t>
            </a:r>
            <a:r>
              <a:rPr kumimoji="1" lang="zh-CN" altLang="en-US" b="1" dirty="0">
                <a:solidFill>
                  <a:schemeClr val="accent1"/>
                </a:solidFill>
              </a:rPr>
              <a:t>二级索引块</a:t>
            </a:r>
            <a:r>
              <a:rPr kumimoji="1" lang="zh-CN" altLang="en-US" dirty="0"/>
              <a:t>：指向索引块；</a:t>
            </a:r>
            <a:r>
              <a:rPr kumimoji="1" lang="en-US" altLang="zh-CN" dirty="0"/>
              <a:t>...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索引块（包括二级索引块）不在</a:t>
            </a:r>
            <a:r>
              <a:rPr lang="en-US" altLang="zh-CN" dirty="0"/>
              <a:t>inode</a:t>
            </a:r>
            <a:r>
              <a:rPr lang="zh-CN" altLang="en-US" dirty="0"/>
              <a:t>表的存储区域，而是在数据区域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E91291BB-2476-244F-AFB1-902E2CBA784E}"/>
              </a:ext>
            </a:extLst>
          </p:cNvPr>
          <p:cNvSpPr/>
          <p:nvPr/>
        </p:nvSpPr>
        <p:spPr>
          <a:xfrm rot="5400000">
            <a:off x="4735408" y="3308940"/>
            <a:ext cx="177240" cy="3672408"/>
          </a:xfrm>
          <a:prstGeom prst="rightBrace">
            <a:avLst>
              <a:gd name="adj1" fmla="val 56532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8C23E2-6C4E-FE4F-ADC8-99B91345C8C2}"/>
              </a:ext>
            </a:extLst>
          </p:cNvPr>
          <p:cNvSpPr txBox="1"/>
          <p:nvPr/>
        </p:nvSpPr>
        <p:spPr>
          <a:xfrm>
            <a:off x="3923928" y="5332245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磁盘的数据区域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29F3D2-862B-F84B-B6DE-C855A62FE802}"/>
              </a:ext>
            </a:extLst>
          </p:cNvPr>
          <p:cNvSpPr txBox="1"/>
          <p:nvPr/>
        </p:nvSpPr>
        <p:spPr>
          <a:xfrm>
            <a:off x="1272018" y="5304172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磁盘的</a:t>
            </a:r>
            <a:r>
              <a:rPr lang="en-US" altLang="zh-CN" sz="1400" b="1" dirty="0">
                <a:solidFill>
                  <a:schemeClr val="accent1"/>
                </a:solidFill>
              </a:rPr>
              <a:t>inode</a:t>
            </a:r>
            <a:r>
              <a:rPr lang="zh-CN" altLang="en-US" sz="14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E554F885-A208-0E47-A254-60051D00478E}"/>
              </a:ext>
            </a:extLst>
          </p:cNvPr>
          <p:cNvSpPr/>
          <p:nvPr/>
        </p:nvSpPr>
        <p:spPr>
          <a:xfrm rot="5400000">
            <a:off x="2155506" y="4699723"/>
            <a:ext cx="177240" cy="925016"/>
          </a:xfrm>
          <a:prstGeom prst="rightBrace">
            <a:avLst>
              <a:gd name="adj1" fmla="val 37890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6335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</a:t>
            </a:r>
            <a:r>
              <a:rPr kumimoji="1" lang="en-US" altLang="zh-CN" dirty="0"/>
              <a:t>inode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CBE3CA-8806-A344-AB1B-BB0FFB9EB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200" dirty="0"/>
              <a:t>一个多级</a:t>
            </a:r>
            <a:r>
              <a:rPr kumimoji="1" lang="en-US" altLang="zh-CN" sz="2200" dirty="0"/>
              <a:t>inode</a:t>
            </a:r>
            <a:r>
              <a:rPr kumimoji="1" lang="zh-CN" altLang="en-US" sz="2200" dirty="0"/>
              <a:t>占用的空间很少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一共只有</a:t>
            </a:r>
            <a:r>
              <a:rPr kumimoji="1" lang="en-US" altLang="zh-CN" sz="1800" dirty="0"/>
              <a:t>15</a:t>
            </a:r>
            <a:r>
              <a:rPr kumimoji="1" lang="zh-CN" altLang="en-US" sz="1800" dirty="0"/>
              <a:t>个指针（即记录磁盘块），这些指针占用</a:t>
            </a:r>
            <a:r>
              <a:rPr kumimoji="1" lang="en-US" altLang="zh-CN" sz="1800" dirty="0"/>
              <a:t>120-Byte</a:t>
            </a:r>
          </a:p>
          <a:p>
            <a:pPr lvl="1"/>
            <a:r>
              <a:rPr kumimoji="1" lang="zh-CN" altLang="en-US" sz="1800" dirty="0"/>
              <a:t>包含</a:t>
            </a:r>
            <a:r>
              <a:rPr kumimoji="1" lang="en-US" altLang="zh-CN" sz="1800" dirty="0"/>
              <a:t>12</a:t>
            </a:r>
            <a:r>
              <a:rPr kumimoji="1" lang="zh-CN" altLang="en-US" sz="1800" dirty="0"/>
              <a:t>个直接指针，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个间接指针，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个二级间接指针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文件最大为：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48K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6M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1G</a:t>
            </a:r>
          </a:p>
          <a:p>
            <a:r>
              <a:rPr kumimoji="1" lang="zh-CN" altLang="en-US" sz="2200" dirty="0"/>
              <a:t>如何支持更大的文件？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可以启用三级索引，甚至四级索引</a:t>
            </a:r>
            <a:endParaRPr kumimoji="1" lang="en-US" altLang="zh-CN" sz="1800" dirty="0"/>
          </a:p>
          <a:p>
            <a:endParaRPr kumimoji="1" lang="en-US" altLang="zh-CN" sz="2000" dirty="0"/>
          </a:p>
          <a:p>
            <a:r>
              <a:rPr kumimoji="1" lang="zh-CN" altLang="en-US" sz="2200" dirty="0"/>
              <a:t>思考：多级</a:t>
            </a:r>
            <a:r>
              <a:rPr kumimoji="1" lang="en-US" altLang="zh-CN" sz="2200" dirty="0"/>
              <a:t>inode</a:t>
            </a:r>
            <a:r>
              <a:rPr kumimoji="1" lang="zh-CN" altLang="en-US" sz="2200" dirty="0"/>
              <a:t>和多级页表有什么相似和不同？</a:t>
            </a:r>
            <a:endParaRPr kumimoji="1" lang="en-US" altLang="zh-CN" sz="2200" dirty="0"/>
          </a:p>
          <a:p>
            <a:pPr lvl="1"/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24788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4A3BB-14D2-1F49-93B2-17049E50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思考：为什么格式化后可用空间变小了？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DEE01-137D-574F-A943-32CCE418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5F4FBD-BC58-BB49-8BDB-03E4EA70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1185257"/>
            <a:ext cx="7432040" cy="431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62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目录</a:t>
            </a:r>
            <a:r>
              <a:rPr lang="zh-CN" altLang="en-US" dirty="0"/>
              <a:t>：也是一种文件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25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912E7-D128-9549-AF36-2DD0C6CB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与文件名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169ADF-0C7F-1240-A6A2-EDE89B5D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D35175B-01CA-AD43-BC67-D4A0364B1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2200" dirty="0"/>
              <a:t>inode</a:t>
            </a:r>
            <a:r>
              <a:rPr kumimoji="1" lang="zh-CN" altLang="en-US" sz="2200" dirty="0"/>
              <a:t>本身已经包含了一个文件的所有信息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可以使用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号（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表的索引）作为文件名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给定一个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号，就可以访问文件的所有数据</a:t>
            </a:r>
            <a:endParaRPr kumimoji="1" lang="en-US" altLang="zh-CN" sz="2000" dirty="0"/>
          </a:p>
          <a:p>
            <a:r>
              <a:rPr kumimoji="1" lang="en-US" altLang="zh-CN" sz="2200" dirty="0"/>
              <a:t>inode</a:t>
            </a:r>
            <a:r>
              <a:rPr kumimoji="1" lang="zh-CN" altLang="en-US" sz="2200" dirty="0"/>
              <a:t>作为文件名的缺点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名字很难记住，不够 </a:t>
            </a:r>
            <a:r>
              <a:rPr kumimoji="1" lang="en-US" altLang="zh-CN" sz="2000" dirty="0"/>
              <a:t>user-friendly</a:t>
            </a:r>
          </a:p>
          <a:p>
            <a:pPr lvl="1"/>
            <a:r>
              <a:rPr kumimoji="1" lang="zh-CN" altLang="en-US" sz="2000" dirty="0"/>
              <a:t>名字依赖于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表位置的名字</a:t>
            </a:r>
            <a:endParaRPr kumimoji="1" lang="en-US" altLang="zh-CN" sz="1600" dirty="0"/>
          </a:p>
          <a:p>
            <a:pPr lvl="2"/>
            <a:r>
              <a:rPr kumimoji="1" lang="zh-CN" altLang="en-US" sz="1800" dirty="0"/>
              <a:t>一旦改变了位置，就必须改变文件名</a:t>
            </a:r>
            <a:endParaRPr kumimoji="1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900602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Microsoft YaHei" panose="020B0503020204020204" pitchFamily="34" charset="-122"/>
              </a:rPr>
              <a:t>字符串的文件名</a:t>
            </a:r>
            <a:endParaRPr lang="en-US" altLang="zh-CN" dirty="0">
              <a:ea typeface="Microsoft YaHei" panose="020B0503020204020204" pitchFamily="34" charset="-122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67B74C3A-76B0-1148-AADF-C12424506C91}" type="slidenum">
              <a:rPr lang="zh-CN" altLang="en-US" sz="1400" b="0">
                <a:latin typeface="Arial" panose="020B0604020202020204" pitchFamily="34" charset="0"/>
                <a:ea typeface="Microsoft YaHei" panose="020B0503020204020204" pitchFamily="34" charset="-122"/>
                <a:cs typeface="Adobe 楷体 Std R" charset="0"/>
              </a:rPr>
              <a:pPr/>
              <a:t>20</a:t>
            </a:fld>
            <a:endParaRPr lang="en-US" altLang="zh-CN" sz="1400" b="0" dirty="0">
              <a:latin typeface="Arial" panose="020B0604020202020204" pitchFamily="34" charset="0"/>
              <a:ea typeface="Microsoft YaHei" panose="020B0503020204020204" pitchFamily="34" charset="-122"/>
              <a:cs typeface="Adobe 楷体 Std R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457200" y="1177313"/>
            <a:ext cx="8229600" cy="4320480"/>
          </a:xfrm>
        </p:spPr>
        <p:txBody>
          <a:bodyPr>
            <a:noAutofit/>
          </a:bodyPr>
          <a:lstStyle/>
          <a:p>
            <a:r>
              <a:rPr lang="zh-CN" altLang="en-US" sz="2200" dirty="0">
                <a:ea typeface="Microsoft YaHei" panose="020B0503020204020204" pitchFamily="34" charset="-122"/>
              </a:rPr>
              <a:t>以字符串作为文件名的好处</a:t>
            </a:r>
            <a:endParaRPr lang="en-US" altLang="zh-CN" sz="22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在操作文件时，将文件的元数据隐藏起来，用户无需感知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不依赖特定的存储设备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r>
              <a:rPr lang="zh-CN" altLang="en-US" sz="2200" dirty="0">
                <a:ea typeface="Microsoft YaHei" panose="020B0503020204020204" pitchFamily="34" charset="-122"/>
              </a:rPr>
              <a:t>如何实现字符串文件名到</a:t>
            </a:r>
            <a:r>
              <a:rPr lang="en-US" altLang="zh-CN" sz="2200" dirty="0">
                <a:ea typeface="Microsoft YaHei" panose="020B0503020204020204" pitchFamily="34" charset="-122"/>
              </a:rPr>
              <a:t>inode</a:t>
            </a:r>
            <a:r>
              <a:rPr lang="zh-CN" altLang="en-US" sz="2200" dirty="0">
                <a:ea typeface="Microsoft YaHei" panose="020B0503020204020204" pitchFamily="34" charset="-122"/>
              </a:rPr>
              <a:t>号的映射？</a:t>
            </a:r>
            <a:endParaRPr lang="en-US" altLang="zh-CN" sz="22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使用映射表，记录</a:t>
            </a:r>
            <a:r>
              <a:rPr lang="zh-CN" altLang="en-US" sz="1800" b="1" dirty="0">
                <a:solidFill>
                  <a:schemeClr val="accent1"/>
                </a:solidFill>
                <a:ea typeface="Microsoft YaHei" panose="020B0503020204020204" pitchFamily="34" charset="-122"/>
              </a:rPr>
              <a:t>字符串到</a:t>
            </a:r>
            <a:r>
              <a:rPr lang="en-US" altLang="zh-CN" sz="1800" b="1" dirty="0">
                <a:solidFill>
                  <a:schemeClr val="accent1"/>
                </a:solidFill>
                <a:ea typeface="Microsoft YaHei" panose="020B0503020204020204" pitchFamily="34" charset="-122"/>
              </a:rPr>
              <a:t>inode</a:t>
            </a:r>
            <a:r>
              <a:rPr lang="zh-CN" altLang="en-US" sz="1800" b="1" dirty="0">
                <a:solidFill>
                  <a:schemeClr val="accent1"/>
                </a:solidFill>
                <a:ea typeface="Microsoft YaHei" panose="020B0503020204020204" pitchFamily="34" charset="-122"/>
              </a:rPr>
              <a:t>号的映射</a:t>
            </a:r>
            <a:endParaRPr lang="en-US" altLang="zh-CN" sz="1800" b="1" dirty="0">
              <a:solidFill>
                <a:schemeClr val="accent1"/>
              </a:solidFill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将该表保存在一类特殊的文件中，称为目录文件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2"/>
            <a:r>
              <a:rPr lang="zh-CN" altLang="en-US" sz="1600" dirty="0">
                <a:ea typeface="Microsoft YaHei" panose="020B0503020204020204" pitchFamily="34" charset="-122"/>
              </a:rPr>
              <a:t>目录本身也是一个文件，同样有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复用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机制来实现目录！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endParaRPr lang="en-US" altLang="zh-CN" sz="1800" dirty="0">
              <a:ea typeface="Microsoft YaHei" panose="020B0503020204020204" pitchFamily="34" charset="-122"/>
            </a:endParaRPr>
          </a:p>
        </p:txBody>
      </p:sp>
      <p:pic>
        <p:nvPicPr>
          <p:cNvPr id="2458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31" y="2814356"/>
            <a:ext cx="2639273" cy="728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368696" y="3649588"/>
            <a:ext cx="25026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目录的内容：与书的目录类似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F90AC4-AEF2-B844-8E33-86B7866F8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110" y="4074775"/>
            <a:ext cx="2622194" cy="8740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860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772F7-B624-9646-A860-2023ACC6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目录文件与目录项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AD5FE8-7C3A-2E4D-ACD6-62AF4EBE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887F61-F744-254B-A521-50C713C93F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06"/>
          <a:stretch/>
        </p:blipFill>
        <p:spPr>
          <a:xfrm>
            <a:off x="4427985" y="2269854"/>
            <a:ext cx="4608512" cy="212373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EAF46C-2A89-DE40-8C1A-86CAB599C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7313"/>
            <a:ext cx="5915000" cy="4308821"/>
          </a:xfrm>
        </p:spPr>
        <p:txBody>
          <a:bodyPr>
            <a:noAutofit/>
          </a:bodyPr>
          <a:lstStyle/>
          <a:p>
            <a:r>
              <a:rPr lang="zh-CN" altLang="en-US" sz="2000" dirty="0">
                <a:ea typeface="Microsoft YaHei" panose="020B0503020204020204" pitchFamily="34" charset="-122"/>
              </a:rPr>
              <a:t>目录中的每条映射称为一个</a:t>
            </a:r>
            <a:r>
              <a:rPr lang="zh-CN" altLang="en-US" sz="2000" dirty="0">
                <a:solidFill>
                  <a:schemeClr val="accent1"/>
                </a:solidFill>
                <a:ea typeface="Microsoft YaHei" panose="020B0503020204020204" pitchFamily="34" charset="-122"/>
              </a:rPr>
              <a:t>目录项</a:t>
            </a:r>
            <a:endParaRPr lang="en-US" altLang="zh-CN" sz="2000" dirty="0">
              <a:solidFill>
                <a:schemeClr val="accent1"/>
              </a:solidFill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每一条目录项记录了一个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  <a:r>
              <a:rPr lang="zh-CN" altLang="en-US" sz="1600" dirty="0">
                <a:ea typeface="Microsoft YaHei" panose="020B0503020204020204" pitchFamily="34" charset="-122"/>
              </a:rPr>
              <a:t>号与文件名字符串的映射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一个目录可以记录很多目录项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ea typeface="Microsoft YaHei" panose="020B0503020204020204" pitchFamily="34" charset="-122"/>
              </a:rPr>
              <a:t>目录文件的大小（占用空间）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与其记录的文件大小无关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2"/>
            <a:r>
              <a:rPr lang="en-US" altLang="zh-CN" sz="1600" dirty="0">
                <a:ea typeface="Microsoft YaHei" panose="020B0503020204020204" pitchFamily="34" charset="-122"/>
              </a:rPr>
              <a:t>Q</a:t>
            </a:r>
            <a:r>
              <a:rPr lang="zh-CN" altLang="en-US" sz="1600" dirty="0">
                <a:ea typeface="Microsoft YaHei" panose="020B0503020204020204" pitchFamily="34" charset="-122"/>
              </a:rPr>
              <a:t>：与什么因素有关？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“目录” </a:t>
            </a:r>
            <a:r>
              <a:rPr lang="en-US" altLang="zh-CN" sz="1600" dirty="0">
                <a:ea typeface="Microsoft YaHei" panose="020B0503020204020204" pitchFamily="34" charset="-122"/>
              </a:rPr>
              <a:t>VS.</a:t>
            </a:r>
            <a:r>
              <a:rPr lang="zh-CN" altLang="en-US" sz="1600" dirty="0">
                <a:ea typeface="Microsoft YaHei" panose="020B0503020204020204" pitchFamily="34" charset="-122"/>
              </a:rPr>
              <a:t> “文件夹”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r>
              <a:rPr lang="zh-CN" altLang="en-US" sz="1800" dirty="0">
                <a:ea typeface="Microsoft YaHei" panose="020B0503020204020204" pitchFamily="34" charset="-122"/>
              </a:rPr>
              <a:t>目录支持查找操作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给定一个目录文件和字符串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在目录文件中查找字符串，并返回对应的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</a:p>
        </p:txBody>
      </p:sp>
    </p:spTree>
    <p:extLst>
      <p:ext uri="{BB962C8B-B14F-4D97-AF65-F5344CB8AC3E}">
        <p14:creationId xmlns:p14="http://schemas.microsoft.com/office/powerpoint/2010/main" val="1539789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0EF6C-D4CA-434A-BEFD-4B67821E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目录的递归与根目录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A19DC-DC23-2F46-9212-E235725FF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sz="2000" dirty="0"/>
              <a:t>目录中可以记录子目录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因为目录本身也是一个文件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通过“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”来分割父目录和子目录</a:t>
            </a:r>
            <a:endParaRPr kumimoji="1" lang="en-US" altLang="zh-CN" sz="1800" dirty="0"/>
          </a:p>
          <a:p>
            <a:r>
              <a:rPr kumimoji="1" lang="zh-CN" altLang="en-US" sz="2000" dirty="0"/>
              <a:t>最顶端的目录没有目录名（文件名）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被称为“根目录”（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根目录没有文件名，在“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”的前面什么都没有</a:t>
            </a:r>
            <a:endParaRPr kumimoji="1" lang="en-US" altLang="zh-CN" sz="1800" dirty="0"/>
          </a:p>
          <a:p>
            <a:r>
              <a:rPr kumimoji="1" lang="zh-CN" altLang="en-US" sz="2000" dirty="0"/>
              <a:t>绝对路径和相对路径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绝对路径：如“</a:t>
            </a:r>
            <a:r>
              <a:rPr kumimoji="1" lang="en-US" altLang="zh-CN" sz="1800" dirty="0"/>
              <a:t>/home/</a:t>
            </a:r>
            <a:r>
              <a:rPr kumimoji="1" lang="en-US" altLang="zh-CN" sz="1800" dirty="0" err="1"/>
              <a:t>xiayb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相对路径：如“</a:t>
            </a:r>
            <a:r>
              <a:rPr kumimoji="1" lang="en-US" altLang="zh-CN" sz="1800" dirty="0"/>
              <a:t>./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”或“</a:t>
            </a:r>
            <a:r>
              <a:rPr kumimoji="1" lang="en-US" altLang="zh-CN" sz="1800" dirty="0" err="1"/>
              <a:t>xiayb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7793A-52D1-9B4D-A66A-B4FEC648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034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71F52-3EFA-124C-A7BC-035134A5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文件的查找过程：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os</a:t>
            </a:r>
            <a:r>
              <a:rPr kumimoji="1" lang="en" altLang="zh-CN" dirty="0"/>
              <a:t>-book/</a:t>
            </a:r>
            <a:r>
              <a:rPr kumimoji="1" lang="en" altLang="zh-CN" dirty="0" err="1"/>
              <a:t>fs.tex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870C3-F8F0-CA43-9CA9-C4E63738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1CA7A2-3499-744F-866C-9C6706299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1201316"/>
            <a:ext cx="6870023" cy="34536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EBB761-6A02-C647-BE70-8DF21B5273D8}"/>
              </a:ext>
            </a:extLst>
          </p:cNvPr>
          <p:cNvSpPr txBox="1"/>
          <p:nvPr/>
        </p:nvSpPr>
        <p:spPr>
          <a:xfrm>
            <a:off x="107504" y="5123714"/>
            <a:ext cx="7632848" cy="5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200" dirty="0"/>
              <a:t>注意：</a:t>
            </a:r>
            <a:r>
              <a:rPr kumimoji="1" lang="en-US" altLang="zh-CN" sz="1200" dirty="0"/>
              <a:t>inode</a:t>
            </a:r>
            <a:r>
              <a:rPr kumimoji="1" lang="zh-CN" altLang="en-US" sz="1200" dirty="0"/>
              <a:t>在这里并没有</a:t>
            </a:r>
            <a:r>
              <a:rPr kumimoji="1" lang="en-US" altLang="zh-CN" sz="1200" dirty="0"/>
              <a:t>size</a:t>
            </a:r>
            <a:r>
              <a:rPr kumimoji="1" lang="zh-CN" altLang="en-US" sz="1200" dirty="0"/>
              <a:t>等其他信息，只记录了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number</a:t>
            </a:r>
            <a:r>
              <a:rPr kumimoji="1" lang="zh-CN" altLang="en-US" sz="1200" dirty="0"/>
              <a:t>（最后一个指向索引块）；</a:t>
            </a:r>
            <a:r>
              <a:rPr kumimoji="1" lang="zh-CN" altLang="en-US" sz="1200" dirty="0">
                <a:latin typeface="+mn-ea"/>
              </a:rPr>
              <a:t>根目录是</a:t>
            </a:r>
            <a:r>
              <a:rPr kumimoji="1" lang="en-US" altLang="zh-CN" sz="1200" dirty="0">
                <a:latin typeface="+mn-ea"/>
              </a:rPr>
              <a:t>1</a:t>
            </a:r>
            <a:r>
              <a:rPr kumimoji="1" lang="zh-CN" altLang="en-US" sz="1200" dirty="0">
                <a:latin typeface="+mn-ea"/>
              </a:rPr>
              <a:t>号</a:t>
            </a:r>
            <a:r>
              <a:rPr kumimoji="1" lang="en-US" altLang="zh-CN" sz="1200" dirty="0" err="1">
                <a:latin typeface="+mn-ea"/>
              </a:rPr>
              <a:t>inode</a:t>
            </a:r>
            <a:r>
              <a:rPr kumimoji="1" lang="zh-CN" altLang="en-US" sz="1200" dirty="0">
                <a:latin typeface="+mn-ea"/>
              </a:rPr>
              <a:t>；</a:t>
            </a:r>
            <a:r>
              <a:rPr kumimoji="1" lang="zh-CN" altLang="en-US" sz="1200" dirty="0"/>
              <a:t>块分配信息是从</a:t>
            </a:r>
            <a:r>
              <a:rPr kumimoji="1" lang="en-US" altLang="zh-CN" sz="1200" dirty="0"/>
              <a:t>29</a:t>
            </a:r>
            <a:r>
              <a:rPr kumimoji="1" lang="zh-CN" altLang="en-US" sz="1200" dirty="0"/>
              <a:t>号块开始计算，即只考虑数据块；没有画出来的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可忽略。</a:t>
            </a:r>
          </a:p>
        </p:txBody>
      </p:sp>
    </p:spTree>
    <p:extLst>
      <p:ext uri="{BB962C8B-B14F-4D97-AF65-F5344CB8AC3E}">
        <p14:creationId xmlns:p14="http://schemas.microsoft.com/office/powerpoint/2010/main" val="1281625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71F52-3EFA-124C-A7BC-035134A5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文件的查找过程：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os</a:t>
            </a:r>
            <a:r>
              <a:rPr kumimoji="1" lang="en" altLang="zh-CN" dirty="0"/>
              <a:t>-book/</a:t>
            </a:r>
            <a:r>
              <a:rPr kumimoji="1" lang="en" altLang="zh-CN" dirty="0" err="1"/>
              <a:t>fs.tex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870C3-F8F0-CA43-9CA9-C4E63738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1CA7A2-3499-744F-866C-9C6706299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1201316"/>
            <a:ext cx="6870023" cy="34536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EBB761-6A02-C647-BE70-8DF21B5273D8}"/>
              </a:ext>
            </a:extLst>
          </p:cNvPr>
          <p:cNvSpPr txBox="1"/>
          <p:nvPr/>
        </p:nvSpPr>
        <p:spPr>
          <a:xfrm>
            <a:off x="107504" y="5123714"/>
            <a:ext cx="7632848" cy="5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200" dirty="0"/>
              <a:t>注意：</a:t>
            </a:r>
            <a:r>
              <a:rPr kumimoji="1" lang="en-US" altLang="zh-CN" sz="1200" dirty="0"/>
              <a:t>inode</a:t>
            </a:r>
            <a:r>
              <a:rPr kumimoji="1" lang="zh-CN" altLang="en-US" sz="1200" dirty="0"/>
              <a:t>在这里并没有</a:t>
            </a:r>
            <a:r>
              <a:rPr kumimoji="1" lang="en-US" altLang="zh-CN" sz="1200" dirty="0"/>
              <a:t>size</a:t>
            </a:r>
            <a:r>
              <a:rPr kumimoji="1" lang="zh-CN" altLang="en-US" sz="1200" dirty="0"/>
              <a:t>等其他信息，只记录了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number</a:t>
            </a:r>
            <a:r>
              <a:rPr kumimoji="1" lang="zh-CN" altLang="en-US" sz="1200" dirty="0"/>
              <a:t>（最后一个指向索引块）；</a:t>
            </a:r>
            <a:r>
              <a:rPr kumimoji="1" lang="zh-CN" altLang="en-US" sz="1200" dirty="0">
                <a:latin typeface="+mn-ea"/>
              </a:rPr>
              <a:t>根目录是</a:t>
            </a:r>
            <a:r>
              <a:rPr kumimoji="1" lang="en-US" altLang="zh-CN" sz="1200" dirty="0">
                <a:latin typeface="+mn-ea"/>
              </a:rPr>
              <a:t>1</a:t>
            </a:r>
            <a:r>
              <a:rPr kumimoji="1" lang="zh-CN" altLang="en-US" sz="1200" dirty="0">
                <a:latin typeface="+mn-ea"/>
              </a:rPr>
              <a:t>号</a:t>
            </a:r>
            <a:r>
              <a:rPr kumimoji="1" lang="en-US" altLang="zh-CN" sz="1200" dirty="0" err="1">
                <a:latin typeface="+mn-ea"/>
              </a:rPr>
              <a:t>inode</a:t>
            </a:r>
            <a:r>
              <a:rPr kumimoji="1" lang="zh-CN" altLang="en-US" sz="1200" dirty="0">
                <a:latin typeface="+mn-ea"/>
              </a:rPr>
              <a:t>；</a:t>
            </a:r>
            <a:r>
              <a:rPr kumimoji="1" lang="zh-CN" altLang="en-US" sz="1200" dirty="0"/>
              <a:t>块分配信息是从</a:t>
            </a:r>
            <a:r>
              <a:rPr kumimoji="1" lang="en-US" altLang="zh-CN" sz="1200" dirty="0"/>
              <a:t>29</a:t>
            </a:r>
            <a:r>
              <a:rPr kumimoji="1" lang="zh-CN" altLang="en-US" sz="1200" dirty="0"/>
              <a:t>号块开始计算，即只考虑数据块；没有画出来的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可忽略。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66AB17A-046F-BC4B-B1C7-D2DC91B51F39}"/>
              </a:ext>
            </a:extLst>
          </p:cNvPr>
          <p:cNvSpPr/>
          <p:nvPr/>
        </p:nvSpPr>
        <p:spPr>
          <a:xfrm>
            <a:off x="4257762" y="2813723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2</a:t>
            </a:r>
            <a:endParaRPr kumimoji="1" lang="zh-CN" altLang="en-US" sz="10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05CAEC-35A3-9046-AC15-3CCFA74B23E5}"/>
              </a:ext>
            </a:extLst>
          </p:cNvPr>
          <p:cNvSpPr/>
          <p:nvPr/>
        </p:nvSpPr>
        <p:spPr>
          <a:xfrm>
            <a:off x="4256207" y="1417340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1</a:t>
            </a:r>
            <a:endParaRPr kumimoji="1" lang="zh-CN" altLang="en-US" sz="10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E047DDA-3D99-BD4F-BEA1-31553FB4CC86}"/>
              </a:ext>
            </a:extLst>
          </p:cNvPr>
          <p:cNvSpPr/>
          <p:nvPr/>
        </p:nvSpPr>
        <p:spPr>
          <a:xfrm>
            <a:off x="6084168" y="463698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3</a:t>
            </a:r>
            <a:endParaRPr kumimoji="1" lang="zh-CN" altLang="en-US" sz="10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BAE565E-E918-7642-B1B0-24580682584C}"/>
              </a:ext>
            </a:extLst>
          </p:cNvPr>
          <p:cNvSpPr/>
          <p:nvPr/>
        </p:nvSpPr>
        <p:spPr>
          <a:xfrm>
            <a:off x="5999318" y="356473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4</a:t>
            </a:r>
            <a:endParaRPr kumimoji="1" lang="zh-CN" altLang="en-US" sz="10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027BF84-180D-6343-AE6F-505022A9595E}"/>
              </a:ext>
            </a:extLst>
          </p:cNvPr>
          <p:cNvSpPr/>
          <p:nvPr/>
        </p:nvSpPr>
        <p:spPr>
          <a:xfrm>
            <a:off x="4283968" y="464485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5</a:t>
            </a:r>
            <a:endParaRPr kumimoji="1" lang="zh-CN" altLang="en-US" sz="1000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F02ACDB-60D3-2D40-82DE-DE94AAAAA4A0}"/>
              </a:ext>
            </a:extLst>
          </p:cNvPr>
          <p:cNvSpPr/>
          <p:nvPr/>
        </p:nvSpPr>
        <p:spPr>
          <a:xfrm>
            <a:off x="4716016" y="414080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6</a:t>
            </a:r>
            <a:endParaRPr kumimoji="1" lang="zh-CN" altLang="en-US" sz="100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EAC6E3E-22D0-094F-B44C-2675796F4262}"/>
              </a:ext>
            </a:extLst>
          </p:cNvPr>
          <p:cNvSpPr/>
          <p:nvPr/>
        </p:nvSpPr>
        <p:spPr>
          <a:xfrm>
            <a:off x="6647390" y="1417340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7</a:t>
            </a:r>
            <a:endParaRPr kumimoji="1" lang="zh-CN" altLang="en-US" sz="10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78C2505-963D-944A-B356-C40B443D75A0}"/>
              </a:ext>
            </a:extLst>
          </p:cNvPr>
          <p:cNvSpPr/>
          <p:nvPr/>
        </p:nvSpPr>
        <p:spPr>
          <a:xfrm>
            <a:off x="6948264" y="220942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8</a:t>
            </a:r>
            <a:endParaRPr kumimoji="1" lang="zh-CN" altLang="en-US" sz="10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F07AAB7-21D4-9B41-9E5C-D8648C6B6DCD}"/>
              </a:ext>
            </a:extLst>
          </p:cNvPr>
          <p:cNvSpPr/>
          <p:nvPr/>
        </p:nvSpPr>
        <p:spPr>
          <a:xfrm>
            <a:off x="2415304" y="463698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9</a:t>
            </a:r>
            <a:endParaRPr kumimoji="1" lang="zh-CN" altLang="en-US" sz="10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063AF44-9758-3A4F-BA16-CBF68282E5D8}"/>
              </a:ext>
            </a:extLst>
          </p:cNvPr>
          <p:cNvGrpSpPr/>
          <p:nvPr/>
        </p:nvGrpSpPr>
        <p:grpSpPr>
          <a:xfrm>
            <a:off x="1763688" y="3778796"/>
            <a:ext cx="520805" cy="230832"/>
            <a:chOff x="1763688" y="3778796"/>
            <a:chExt cx="520805" cy="230832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2127A8C-6FDF-B94E-A10E-6826AB1A816F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1E4811D-86C7-F24A-BD8D-0B0727C96109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10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6CFB26C-1DE2-C84A-91F4-AA2DA46DF95B}"/>
              </a:ext>
            </a:extLst>
          </p:cNvPr>
          <p:cNvGrpSpPr/>
          <p:nvPr/>
        </p:nvGrpSpPr>
        <p:grpSpPr>
          <a:xfrm>
            <a:off x="5353623" y="1474540"/>
            <a:ext cx="520805" cy="230832"/>
            <a:chOff x="1763688" y="3778796"/>
            <a:chExt cx="520805" cy="2308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F21783D-999F-344C-AD16-70CBA32A6F0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8E8700E-054C-0746-85D6-4E83D955FC00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4274843-D7AE-1B42-9F9E-AD9A4FB59C8A}"/>
              </a:ext>
            </a:extLst>
          </p:cNvPr>
          <p:cNvGrpSpPr/>
          <p:nvPr/>
        </p:nvGrpSpPr>
        <p:grpSpPr>
          <a:xfrm>
            <a:off x="5580112" y="1906588"/>
            <a:ext cx="520805" cy="230832"/>
            <a:chOff x="1763688" y="3778796"/>
            <a:chExt cx="520805" cy="2308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3DC4E8B-7313-CD48-99C7-BC29A36BC26E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46B52C7-1B52-EC4B-A4F8-DBD4927CF19D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12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19B37D5-A656-634A-A14B-22871F70B23E}"/>
              </a:ext>
            </a:extLst>
          </p:cNvPr>
          <p:cNvGrpSpPr/>
          <p:nvPr/>
        </p:nvGrpSpPr>
        <p:grpSpPr>
          <a:xfrm>
            <a:off x="5059307" y="4642892"/>
            <a:ext cx="520805" cy="230832"/>
            <a:chOff x="1763688" y="3778796"/>
            <a:chExt cx="520805" cy="230832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2E803F3-8170-D64C-B918-F82A84168C89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554E9B9-09CB-3946-861D-878E88959606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13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3DDA47E-D34C-C53B-EE38-AB94BA19F307}"/>
              </a:ext>
            </a:extLst>
          </p:cNvPr>
          <p:cNvGrpSpPr/>
          <p:nvPr/>
        </p:nvGrpSpPr>
        <p:grpSpPr>
          <a:xfrm>
            <a:off x="5563363" y="2567551"/>
            <a:ext cx="520805" cy="230832"/>
            <a:chOff x="1748893" y="3778796"/>
            <a:chExt cx="520805" cy="230832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E75245D-9FF1-4CDD-9B10-518C38864F2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33EDD86-C7ED-FF45-0527-9F4899307E9C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14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BB0CFA3-792D-953F-C633-BD9B49D52BBE}"/>
              </a:ext>
            </a:extLst>
          </p:cNvPr>
          <p:cNvGrpSpPr/>
          <p:nvPr/>
        </p:nvGrpSpPr>
        <p:grpSpPr>
          <a:xfrm>
            <a:off x="3203666" y="4644858"/>
            <a:ext cx="520805" cy="230832"/>
            <a:chOff x="1748893" y="3778796"/>
            <a:chExt cx="520805" cy="230832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46CF97C-C33B-0F23-2AAC-7EFF9D408034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35005E3-5048-4C8F-9943-C97B6E3112C6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15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2DDAE7D-18DD-33BE-DB36-CAEB9EBFCC02}"/>
              </a:ext>
            </a:extLst>
          </p:cNvPr>
          <p:cNvGrpSpPr/>
          <p:nvPr/>
        </p:nvGrpSpPr>
        <p:grpSpPr>
          <a:xfrm>
            <a:off x="3331115" y="4009628"/>
            <a:ext cx="520805" cy="230832"/>
            <a:chOff x="1748893" y="3778796"/>
            <a:chExt cx="520805" cy="2308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A187298-5F6C-79F8-3A77-EA158F9BDA8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ABDFDF6-5E09-A3DE-269D-C157FB4DEFD7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16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B335E6A-0AAD-71F8-ADF0-0DCEF4C256F3}"/>
              </a:ext>
            </a:extLst>
          </p:cNvPr>
          <p:cNvGrpSpPr/>
          <p:nvPr/>
        </p:nvGrpSpPr>
        <p:grpSpPr>
          <a:xfrm>
            <a:off x="6855095" y="4642892"/>
            <a:ext cx="520805" cy="230832"/>
            <a:chOff x="1748893" y="3778796"/>
            <a:chExt cx="520805" cy="230832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83D6BC46-B475-EBCD-A144-697EFF4B046A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698C2F1-2416-A7B5-DC5E-09E2143FE2AA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17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6D636BF6-3A48-491E-2BB4-F212CC458B86}"/>
              </a:ext>
            </a:extLst>
          </p:cNvPr>
          <p:cNvSpPr txBox="1"/>
          <p:nvPr/>
        </p:nvSpPr>
        <p:spPr>
          <a:xfrm>
            <a:off x="-7109" y="4496516"/>
            <a:ext cx="2121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    </a:t>
            </a:r>
            <a:r>
              <a:rPr kumimoji="1" lang="en-US" altLang="zh-CN" sz="1400" dirty="0"/>
              <a:t>~ </a:t>
            </a:r>
            <a:r>
              <a:rPr kumimoji="1" lang="zh-CN" altLang="en-US" sz="1400" dirty="0"/>
              <a:t>     找到文件的</a:t>
            </a:r>
            <a:r>
              <a:rPr kumimoji="1" lang="en-US" altLang="zh-CN" sz="1400" dirty="0" err="1"/>
              <a:t>inode</a:t>
            </a:r>
            <a:endParaRPr kumimoji="1" lang="en-US" altLang="zh-CN" sz="14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13B42DF-2477-2BBA-AB02-DBA0ECE6F798}"/>
              </a:ext>
            </a:extLst>
          </p:cNvPr>
          <p:cNvGrpSpPr/>
          <p:nvPr/>
        </p:nvGrpSpPr>
        <p:grpSpPr>
          <a:xfrm>
            <a:off x="245474" y="4517625"/>
            <a:ext cx="520805" cy="230832"/>
            <a:chOff x="1763688" y="3778796"/>
            <a:chExt cx="520805" cy="230832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C399C31-71D7-7C12-4364-0CD79A3B8F00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2F4BBF2-56F0-34A5-3080-2B721C8D7F0C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5D5BFAC-F372-9055-2CB2-B06989EF60E8}"/>
              </a:ext>
            </a:extLst>
          </p:cNvPr>
          <p:cNvGrpSpPr/>
          <p:nvPr/>
        </p:nvGrpSpPr>
        <p:grpSpPr>
          <a:xfrm>
            <a:off x="-104533" y="4517625"/>
            <a:ext cx="520805" cy="230832"/>
            <a:chOff x="1763688" y="3778796"/>
            <a:chExt cx="520805" cy="230832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C547554-5ED0-A06F-D9E9-6893A15DEFB5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AC8D7E1-E4B4-8662-4A15-E9C1CE791AB0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421B830A-CBD2-494C-6021-D3CC894C7913}"/>
              </a:ext>
            </a:extLst>
          </p:cNvPr>
          <p:cNvSpPr txBox="1"/>
          <p:nvPr/>
        </p:nvSpPr>
        <p:spPr>
          <a:xfrm>
            <a:off x="0" y="4824156"/>
            <a:ext cx="1863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    </a:t>
            </a:r>
            <a:r>
              <a:rPr kumimoji="1" lang="en-US" altLang="zh-CN" sz="1400" dirty="0"/>
              <a:t>~ </a:t>
            </a:r>
            <a:r>
              <a:rPr kumimoji="1" lang="zh-CN" altLang="en-US" sz="1400" dirty="0"/>
              <a:t>     读取文件内容</a:t>
            </a:r>
            <a:endParaRPr kumimoji="1" lang="en-US" altLang="zh-CN" sz="1400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890472C-0508-3B31-3E6C-7C65CA44C8D5}"/>
              </a:ext>
            </a:extLst>
          </p:cNvPr>
          <p:cNvGrpSpPr/>
          <p:nvPr/>
        </p:nvGrpSpPr>
        <p:grpSpPr>
          <a:xfrm>
            <a:off x="252583" y="4845265"/>
            <a:ext cx="520805" cy="230832"/>
            <a:chOff x="1763688" y="3778796"/>
            <a:chExt cx="520805" cy="230832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CA787842-798A-1581-3964-C9E5726E8BDD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0F939F5-6784-2AB3-E997-A19620838FA4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17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EDAD4F3-0832-7C0C-46A4-0A90AA705D9E}"/>
              </a:ext>
            </a:extLst>
          </p:cNvPr>
          <p:cNvGrpSpPr/>
          <p:nvPr/>
        </p:nvGrpSpPr>
        <p:grpSpPr>
          <a:xfrm>
            <a:off x="-97424" y="4845265"/>
            <a:ext cx="520805" cy="230832"/>
            <a:chOff x="1763688" y="3778796"/>
            <a:chExt cx="520805" cy="230832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551F3990-FF7F-FB57-99BD-28362F809524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52839BA-D039-0405-0EDC-595A7E897C4E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12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9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0" grpId="0"/>
      <p:bldP spid="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直接 </a:t>
            </a:r>
            <a:r>
              <a:rPr kumimoji="1" lang="en-US" altLang="zh-CN" dirty="0"/>
              <a:t>Dump</a:t>
            </a:r>
            <a:r>
              <a:rPr kumimoji="1" lang="zh-CN" altLang="en-US" dirty="0"/>
              <a:t> 一个目录（</a:t>
            </a:r>
            <a:r>
              <a:rPr kumimoji="1" lang="en-US" altLang="zh-CN" dirty="0"/>
              <a:t>Ext4</a:t>
            </a:r>
            <a:r>
              <a:rPr kumimoji="1" lang="zh-CN" altLang="en-US" dirty="0"/>
              <a:t>文件系统）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" y="1426632"/>
            <a:ext cx="8229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ls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-ai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temp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7536909 .  7530417 ..  7536939 </a:t>
            </a:r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  7536940 </a:t>
            </a:r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  7536941 </a:t>
            </a:r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c</a:t>
            </a:r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  7536942 </a:t>
            </a:r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d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4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echo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“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obase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=16;7536909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7530417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7536939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7536940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7536941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7536942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" | 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bc</a:t>
            </a:r>
            <a:endParaRPr lang="zh-CN" altLang="en-US" sz="14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73010D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72E7B1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73012B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73012C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73012D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73012E</a:t>
            </a:r>
            <a:endParaRPr lang="zh-CN" altLang="en-US" sz="1400" b="1" dirty="0">
              <a:solidFill>
                <a:srgbClr val="FF26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4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sudo /sbin/debugfs /dev/sda1</a:t>
            </a: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 1.43.4 (31-Jan-2017)</a:t>
            </a: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debugfs:  dump temp 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temp.out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debugfs:  quit</a:t>
            </a:r>
          </a:p>
          <a:p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xxd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temp.out</a:t>
            </a:r>
            <a:endParaRPr lang="zh-CN" altLang="en-US" sz="14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0000000: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0102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b1e7 7200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..s...........r.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0000010: 0c00 0202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2e2e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2b01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 ........+.s.....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0000020: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6100 0000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2c01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6200 0000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a...,.s.....b...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0000030: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6300 0000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2e01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-.s.....c.....s.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0000040: c40f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6400 0000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0000 0000 0000 0000  ....d...........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0000050: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04BDCE-03C3-0B44-AF58-74F78E328BD3}"/>
              </a:ext>
            </a:extLst>
          </p:cNvPr>
          <p:cNvSpPr txBox="1"/>
          <p:nvPr/>
        </p:nvSpPr>
        <p:spPr>
          <a:xfrm>
            <a:off x="2206080" y="1152080"/>
            <a:ext cx="6110336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ls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–ai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1400" dirty="0">
                <a:latin typeface="+mn-ea"/>
                <a:cs typeface="Courier" charset="0"/>
              </a:rPr>
              <a:t>表示打印所有文件的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号，如</a:t>
            </a:r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7536909</a:t>
            </a:r>
            <a:r>
              <a:rPr lang="zh-CN" altLang="mr-IN" sz="1400" dirty="0">
                <a:latin typeface="Courier" charset="0"/>
                <a:ea typeface="Courier" charset="0"/>
                <a:cs typeface="Courier" charset="0"/>
              </a:rPr>
              <a:t>就是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文件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的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号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69322C-B3AD-D24D-9C78-82215DC7985C}"/>
              </a:ext>
            </a:extLst>
          </p:cNvPr>
          <p:cNvSpPr txBox="1"/>
          <p:nvPr/>
        </p:nvSpPr>
        <p:spPr>
          <a:xfrm>
            <a:off x="4067944" y="2661094"/>
            <a:ext cx="4752528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bc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命令是将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号从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进制转化为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16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进制，方便讲解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F19D08-1C7D-CB44-ACF1-F277B6CEAF12}"/>
              </a:ext>
            </a:extLst>
          </p:cNvPr>
          <p:cNvSpPr txBox="1"/>
          <p:nvPr/>
        </p:nvSpPr>
        <p:spPr>
          <a:xfrm>
            <a:off x="4067944" y="3104014"/>
            <a:ext cx="4752528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debugfs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和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dump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是将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temp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目录在磁盘上的数据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dump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出来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526237-F030-D944-AF09-54C0A3589AAA}"/>
              </a:ext>
            </a:extLst>
          </p:cNvPr>
          <p:cNvSpPr txBox="1"/>
          <p:nvPr/>
        </p:nvSpPr>
        <p:spPr>
          <a:xfrm>
            <a:off x="4067944" y="3546934"/>
            <a:ext cx="4752528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xxd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是将二进制文件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temp.out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用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16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进制打印出来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6549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直接 </a:t>
            </a:r>
            <a:r>
              <a:rPr kumimoji="1" lang="en-US" altLang="zh-CN" dirty="0"/>
              <a:t>Dump</a:t>
            </a:r>
            <a:r>
              <a:rPr kumimoji="1" lang="zh-CN" altLang="en-US" dirty="0"/>
              <a:t> 一个目录（</a:t>
            </a:r>
            <a:r>
              <a:rPr kumimoji="1" lang="en-US" altLang="zh-CN" dirty="0"/>
              <a:t>Ext4</a:t>
            </a:r>
            <a:r>
              <a:rPr kumimoji="1" lang="zh-CN" altLang="en-US" dirty="0"/>
              <a:t>文件系统）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7DD354-A111-8743-B0F4-4285D9ACF2D9}"/>
              </a:ext>
            </a:extLst>
          </p:cNvPr>
          <p:cNvSpPr/>
          <p:nvPr/>
        </p:nvSpPr>
        <p:spPr>
          <a:xfrm>
            <a:off x="4572000" y="1335591"/>
            <a:ext cx="38249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b1e7 7200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2e2e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2b01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zh-CN" altLang="en-US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6100 0000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2c01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6200 0000</a:t>
            </a:r>
            <a:r>
              <a:rPr lang="zh-CN" altLang="en-US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2d01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6300 0000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2e01 7300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c40f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6400 0000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BD5D42-6EE7-A048-AC7A-C9838BBD58BB}"/>
              </a:ext>
            </a:extLst>
          </p:cNvPr>
          <p:cNvSpPr txBox="1"/>
          <p:nvPr/>
        </p:nvSpPr>
        <p:spPr>
          <a:xfrm>
            <a:off x="442635" y="1273324"/>
            <a:ext cx="48245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 err="1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struct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ext4_dir_entry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uint32_t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 err="1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inode_number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uint16_t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 err="1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dir_entry_length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uint8_t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 err="1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file_name_length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uint8_t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 err="1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file_type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name[EXT4_NAME_LEN]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0F8AC5-3579-C542-BE70-EBA4C20E747D}"/>
              </a:ext>
            </a:extLst>
          </p:cNvPr>
          <p:cNvSpPr/>
          <p:nvPr/>
        </p:nvSpPr>
        <p:spPr>
          <a:xfrm>
            <a:off x="4828298" y="3205927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8F6401-4BBB-2E42-832B-7002BBF54726}"/>
              </a:ext>
            </a:extLst>
          </p:cNvPr>
          <p:cNvSpPr txBox="1"/>
          <p:nvPr/>
        </p:nvSpPr>
        <p:spPr>
          <a:xfrm>
            <a:off x="442635" y="3145532"/>
            <a:ext cx="3672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Type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0x0: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Unknown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0x1: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Regular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0x2: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Directory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0x3: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Character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device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0x4: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Block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device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0x5: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FIFO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0x6: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Socket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0x7: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Symbolic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link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029BC496-5952-9A44-A8D1-3257648837C4}"/>
              </a:ext>
            </a:extLst>
          </p:cNvPr>
          <p:cNvSpPr/>
          <p:nvPr/>
        </p:nvSpPr>
        <p:spPr>
          <a:xfrm>
            <a:off x="6228184" y="3577580"/>
            <a:ext cx="576064" cy="288032"/>
          </a:xfrm>
          <a:prstGeom prst="downArrow">
            <a:avLst/>
          </a:prstGeom>
          <a:noFill/>
          <a:ln w="254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1226ACE-3C67-284E-BAB4-26C36302CF9A}"/>
              </a:ext>
            </a:extLst>
          </p:cNvPr>
          <p:cNvSpPr/>
          <p:nvPr/>
        </p:nvSpPr>
        <p:spPr>
          <a:xfrm>
            <a:off x="4860032" y="1358520"/>
            <a:ext cx="3240360" cy="216024"/>
          </a:xfrm>
          <a:prstGeom prst="rect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3AE830-715D-334C-A586-872FCCD78CCD}"/>
              </a:ext>
            </a:extLst>
          </p:cNvPr>
          <p:cNvSpPr/>
          <p:nvPr/>
        </p:nvSpPr>
        <p:spPr>
          <a:xfrm>
            <a:off x="4861135" y="3251091"/>
            <a:ext cx="3240360" cy="216024"/>
          </a:xfrm>
          <a:prstGeom prst="rect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3E46BBA-032E-C944-AE65-464A6FF48488}"/>
              </a:ext>
            </a:extLst>
          </p:cNvPr>
          <p:cNvSpPr txBox="1"/>
          <p:nvPr/>
        </p:nvSpPr>
        <p:spPr>
          <a:xfrm>
            <a:off x="4828298" y="3937620"/>
            <a:ext cx="47525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0d01</a:t>
            </a:r>
            <a:r>
              <a:rPr kumimoji="1" lang="zh-CN" altLang="en-US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7300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number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kumimoji="1" lang="en-US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entry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length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12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bytes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kumimoji="1" lang="en-US" altLang="zh-CN" sz="1400" b="1" dirty="0">
                <a:solidFill>
                  <a:srgbClr val="FFC000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length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byte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type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Directory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</a:t>
            </a:r>
            <a:r>
              <a:rPr kumimoji="1" lang="zh-CN" altLang="en-US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0000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(2e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-&gt;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".")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853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D9257D5-B4C7-B64F-8528-B003109E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硬链接与软链接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CF45270-513A-8643-8CFB-30FD88AF3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E4FF9F-C462-4046-905A-CEAD0795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919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F277C-2E7D-F241-9612-5D1E0179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创建（硬）链接：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中的 </a:t>
            </a:r>
            <a:r>
              <a:rPr kumimoji="1" lang="en-US" altLang="zh-CN" dirty="0"/>
              <a:t>ln</a:t>
            </a:r>
            <a:r>
              <a:rPr kumimoji="1" lang="zh-CN" altLang="en-US" dirty="0"/>
              <a:t> 命令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C2BC8B-C57F-B249-AB35-5891AF7A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A9D721-726C-D14D-9921-FE97894B0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7" y="1489348"/>
            <a:ext cx="8312727" cy="324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16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Microsoft YaHei" panose="020B0503020204020204" pitchFamily="34" charset="-122"/>
              </a:rPr>
              <a:t>（硬）链接：</a:t>
            </a:r>
            <a:r>
              <a:rPr lang="en-US" altLang="zh-CN" dirty="0">
                <a:ea typeface="Microsoft YaHei" panose="020B0503020204020204" pitchFamily="34" charset="-122"/>
              </a:rPr>
              <a:t>Link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ea typeface="Microsoft YaHei" panose="020B0503020204020204" pitchFamily="34" charset="-122"/>
              </a:rPr>
              <a:t>LINK</a:t>
            </a:r>
          </a:p>
          <a:p>
            <a:pPr lvl="1"/>
            <a:r>
              <a:rPr lang="en-US" altLang="zh-CN" sz="1800" dirty="0">
                <a:ea typeface="Microsoft YaHei" panose="020B0503020204020204" pitchFamily="34" charset="-122"/>
              </a:rPr>
              <a:t>LINK("</a:t>
            </a:r>
            <a:r>
              <a:rPr lang="en-US" altLang="zh-CN" sz="1800" dirty="0">
                <a:solidFill>
                  <a:srgbClr val="0096FF"/>
                </a:solidFill>
                <a:ea typeface="Microsoft YaHei" panose="020B0503020204020204" pitchFamily="34" charset="-122"/>
              </a:rPr>
              <a:t>Mail/inbox/new-assignment</a:t>
            </a:r>
            <a:r>
              <a:rPr lang="en-US" altLang="zh-CN" sz="1800" dirty="0">
                <a:ea typeface="Microsoft YaHei" panose="020B0503020204020204" pitchFamily="34" charset="-122"/>
              </a:rPr>
              <a:t>", "</a:t>
            </a:r>
            <a:r>
              <a:rPr lang="en-US" altLang="zh-CN" sz="1800" dirty="0">
                <a:solidFill>
                  <a:srgbClr val="0096FF"/>
                </a:solidFill>
                <a:ea typeface="Microsoft YaHei" panose="020B0503020204020204" pitchFamily="34" charset="-122"/>
              </a:rPr>
              <a:t>assignment</a:t>
            </a:r>
            <a:r>
              <a:rPr lang="en-US" altLang="zh-CN" sz="1800" dirty="0">
                <a:ea typeface="Microsoft YaHei" panose="020B0503020204020204" pitchFamily="34" charset="-122"/>
              </a:rPr>
              <a:t>")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将严格的层次结构（树）变成有向图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2"/>
            <a:r>
              <a:rPr lang="zh-CN" altLang="en-US" sz="1600" dirty="0">
                <a:ea typeface="Microsoft YaHei" panose="020B0503020204020204" pitchFamily="34" charset="-122"/>
              </a:rPr>
              <a:t>注意：用户不能为目录创建</a:t>
            </a:r>
            <a:r>
              <a:rPr lang="en-US" altLang="zh-CN" sz="1600" dirty="0">
                <a:ea typeface="Microsoft YaHei" panose="020B0503020204020204" pitchFamily="34" charset="-122"/>
              </a:rPr>
              <a:t>link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不同的文件名可以指向同一个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号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ea typeface="Microsoft YaHei" panose="020B0503020204020204" pitchFamily="34" charset="-122"/>
              </a:rPr>
              <a:t>UNLINK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删掉从文件名到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号的绑定关系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如果</a:t>
            </a:r>
            <a:r>
              <a:rPr lang="en-US" altLang="zh-CN" sz="1800" dirty="0">
                <a:ea typeface="Microsoft YaHei" panose="020B0503020204020204" pitchFamily="34" charset="-122"/>
              </a:rPr>
              <a:t> UNLINK </a:t>
            </a:r>
            <a:r>
              <a:rPr lang="zh-CN" altLang="en-US" sz="1800" dirty="0">
                <a:ea typeface="Microsoft YaHei" panose="020B0503020204020204" pitchFamily="34" charset="-122"/>
              </a:rPr>
              <a:t>最后一个绑定，则把</a:t>
            </a:r>
            <a:r>
              <a:rPr lang="en-US" altLang="zh-CN" sz="1800" dirty="0">
                <a:ea typeface="Microsoft YaHei" panose="020B0503020204020204" pitchFamily="34" charset="-122"/>
              </a:rPr>
              <a:t> inode</a:t>
            </a:r>
            <a:r>
              <a:rPr lang="zh-CN" altLang="en-US" sz="1800" dirty="0">
                <a:ea typeface="Microsoft YaHei" panose="020B0503020204020204" pitchFamily="34" charset="-122"/>
              </a:rPr>
              <a:t> 和对应的 </a:t>
            </a:r>
            <a:r>
              <a:rPr lang="en-US" altLang="zh-CN" sz="1800" dirty="0">
                <a:ea typeface="Microsoft YaHei" panose="020B0503020204020204" pitchFamily="34" charset="-122"/>
              </a:rPr>
              <a:t>blocks</a:t>
            </a:r>
            <a:r>
              <a:rPr lang="zh-CN" altLang="en-US" sz="1800" dirty="0">
                <a:ea typeface="Microsoft YaHei" panose="020B0503020204020204" pitchFamily="34" charset="-122"/>
              </a:rPr>
              <a:t>放到 </a:t>
            </a:r>
            <a:r>
              <a:rPr lang="en-US" altLang="zh-CN" sz="1800" dirty="0">
                <a:ea typeface="Microsoft YaHei" panose="020B0503020204020204" pitchFamily="34" charset="-122"/>
              </a:rPr>
              <a:t>free-list</a:t>
            </a:r>
          </a:p>
          <a:p>
            <a:pPr lvl="2"/>
            <a:r>
              <a:rPr lang="zh-CN" altLang="en-US" sz="1600">
                <a:ea typeface="Microsoft YaHei" panose="020B0503020204020204" pitchFamily="34" charset="-122"/>
              </a:rPr>
              <a:t>每个</a:t>
            </a:r>
            <a:r>
              <a:rPr lang="zh-CN" altLang="en-US" sz="1600" dirty="0">
                <a:ea typeface="Microsoft YaHei" panose="020B0503020204020204" pitchFamily="34" charset="-122"/>
              </a:rPr>
              <a:t>文件都需要一个 </a:t>
            </a:r>
            <a:r>
              <a:rPr lang="en-US" altLang="zh-CN" sz="1600" dirty="0">
                <a:ea typeface="Microsoft YaHei" panose="020B0503020204020204" pitchFamily="34" charset="-122"/>
              </a:rPr>
              <a:t>reference counter</a:t>
            </a:r>
            <a:endParaRPr lang="zh-CN" sz="1600" dirty="0">
              <a:ea typeface="Microsoft YaHei" panose="020B0503020204020204" pitchFamily="34" charset="-122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B95589CF-65B1-C94F-A523-A7F319D0BD35}" type="slidenum">
              <a:rPr lang="zh-CN" altLang="en-US" sz="1200" b="0">
                <a:latin typeface="Arial" panose="020B0604020202020204" pitchFamily="34" charset="0"/>
                <a:ea typeface="Microsoft YaHei" panose="020B0503020204020204" pitchFamily="34" charset="-122"/>
                <a:cs typeface="DengXian" charset="0"/>
              </a:rPr>
              <a:pPr/>
              <a:t>29</a:t>
            </a:fld>
            <a:endParaRPr lang="en-US" altLang="zh-CN" sz="1200" b="0" dirty="0">
              <a:latin typeface="Arial" panose="020B0604020202020204" pitchFamily="34" charset="0"/>
              <a:ea typeface="Microsoft YaHei" panose="020B0503020204020204" pitchFamily="34" charset="-122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286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Microsoft YaHei" panose="020B0503020204020204" pitchFamily="34" charset="-122"/>
              </a:rPr>
              <a:t>（硬）链接：</a:t>
            </a:r>
            <a:r>
              <a:rPr lang="en-US" altLang="zh-CN" dirty="0">
                <a:ea typeface="Microsoft YaHei" panose="020B0503020204020204" pitchFamily="34" charset="-122"/>
              </a:rPr>
              <a:t>Link</a:t>
            </a:r>
            <a:endParaRPr lang="zh-CN" altLang="en-US" dirty="0">
              <a:ea typeface="Microsoft YaHei" panose="020B0503020204020204" pitchFamily="34" charset="-122"/>
            </a:endParaRP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ea typeface="Microsoft YaHei" panose="020B0503020204020204" pitchFamily="34" charset="-122"/>
              </a:rPr>
              <a:t>引用计数器（</a:t>
            </a:r>
            <a:r>
              <a:rPr lang="en-US" altLang="zh-CN" sz="2000" dirty="0">
                <a:ea typeface="Microsoft YaHei" panose="020B0503020204020204" pitchFamily="34" charset="-122"/>
              </a:rPr>
              <a:t>Reference count</a:t>
            </a:r>
            <a:r>
              <a:rPr lang="zh-CN" altLang="en-US" sz="2000" dirty="0">
                <a:ea typeface="Microsoft YaHei" panose="020B0503020204020204" pitchFamily="34" charset="-122"/>
              </a:rPr>
              <a:t>）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2000" dirty="0">
                <a:ea typeface="Microsoft YaHei" panose="020B0503020204020204" pitchFamily="34" charset="-122"/>
              </a:rPr>
              <a:t>一个</a:t>
            </a:r>
            <a:r>
              <a:rPr lang="en-US" altLang="zh-CN" sz="2000" dirty="0">
                <a:ea typeface="Microsoft YaHei" panose="020B0503020204020204" pitchFamily="34" charset="-122"/>
              </a:rPr>
              <a:t> inode </a:t>
            </a:r>
            <a:r>
              <a:rPr lang="zh-CN" altLang="en-US" sz="2000" dirty="0">
                <a:ea typeface="Microsoft YaHei" panose="020B0503020204020204" pitchFamily="34" charset="-122"/>
              </a:rPr>
              <a:t>可以绑定多个文件名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2"/>
            <a:r>
              <a:rPr lang="en-US" altLang="zh-CN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LINK</a:t>
            </a:r>
            <a:r>
              <a:rPr lang="zh-CN" altLang="en-US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 时 </a:t>
            </a:r>
            <a:r>
              <a:rPr lang="en-US" altLang="zh-CN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+1</a:t>
            </a:r>
            <a:r>
              <a:rPr lang="en-US" altLang="zh-CN" sz="1600" dirty="0">
                <a:ea typeface="Microsoft YaHei" panose="020B0503020204020204" pitchFamily="34" charset="-122"/>
              </a:rPr>
              <a:t>, </a:t>
            </a:r>
            <a:r>
              <a:rPr lang="en-US" altLang="zh-CN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UNLINK</a:t>
            </a:r>
            <a:r>
              <a:rPr lang="zh-CN" altLang="en-US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 时 </a:t>
            </a:r>
            <a:r>
              <a:rPr lang="en-US" altLang="zh-CN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-1</a:t>
            </a:r>
          </a:p>
          <a:p>
            <a:pPr lvl="1"/>
            <a:r>
              <a:rPr lang="zh-CN" altLang="en-US" sz="2000" dirty="0">
                <a:ea typeface="Microsoft YaHei" panose="020B0503020204020204" pitchFamily="34" charset="-122"/>
              </a:rPr>
              <a:t>当</a:t>
            </a:r>
            <a:r>
              <a:rPr lang="en-US" altLang="zh-CN" sz="2000" dirty="0">
                <a:ea typeface="Microsoft YaHei" panose="020B0503020204020204" pitchFamily="34" charset="-122"/>
              </a:rPr>
              <a:t>reference</a:t>
            </a:r>
            <a:r>
              <a:rPr lang="zh-CN" altLang="en-US" sz="2000" dirty="0"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ea typeface="Microsoft YaHei" panose="020B0503020204020204" pitchFamily="34" charset="-122"/>
              </a:rPr>
              <a:t>count</a:t>
            </a:r>
            <a:r>
              <a:rPr lang="zh-CN" altLang="en-US" sz="2000" dirty="0">
                <a:ea typeface="Microsoft YaHei" panose="020B0503020204020204" pitchFamily="34" charset="-122"/>
              </a:rPr>
              <a:t>为</a:t>
            </a:r>
            <a:r>
              <a:rPr lang="en-US" altLang="zh-CN" sz="2000" dirty="0">
                <a:ea typeface="Microsoft YaHei" panose="020B0503020204020204" pitchFamily="34" charset="-122"/>
              </a:rPr>
              <a:t>0</a:t>
            </a:r>
            <a:r>
              <a:rPr lang="zh-CN" altLang="en-US" sz="2000" dirty="0">
                <a:ea typeface="Microsoft YaHei" panose="020B0503020204020204" pitchFamily="34" charset="-122"/>
              </a:rPr>
              <a:t>时，文件被删除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2000" dirty="0">
                <a:solidFill>
                  <a:srgbClr val="0096FF"/>
                </a:solidFill>
                <a:ea typeface="Microsoft YaHei" panose="020B0503020204020204" pitchFamily="34" charset="-122"/>
              </a:rPr>
              <a:t>不允许出现环</a:t>
            </a:r>
            <a:endParaRPr lang="en-US" altLang="zh-CN" sz="2000" dirty="0">
              <a:solidFill>
                <a:srgbClr val="0096FF"/>
              </a:solidFill>
              <a:ea typeface="Microsoft YaHei" panose="020B0503020204020204" pitchFamily="34" charset="-122"/>
            </a:endParaRPr>
          </a:p>
          <a:p>
            <a:pPr lvl="2"/>
            <a:r>
              <a:rPr lang="zh-CN" altLang="en-US" sz="1800" dirty="0">
                <a:ea typeface="Microsoft YaHei" panose="020B0503020204020204" pitchFamily="34" charset="-122"/>
              </a:rPr>
              <a:t>除了</a:t>
            </a:r>
            <a:r>
              <a:rPr lang="en-US" altLang="zh-CN" sz="1800" dirty="0">
                <a:ea typeface="Microsoft YaHei" panose="020B0503020204020204" pitchFamily="34" charset="-122"/>
              </a:rPr>
              <a:t> '.'</a:t>
            </a:r>
            <a:r>
              <a:rPr lang="zh-CN" altLang="en-US" sz="1800" dirty="0">
                <a:ea typeface="Microsoft YaHei" panose="020B0503020204020204" pitchFamily="34" charset="-122"/>
              </a:rPr>
              <a:t> 和</a:t>
            </a:r>
            <a:r>
              <a:rPr lang="en-US" altLang="zh-CN" sz="1800" dirty="0">
                <a:ea typeface="Microsoft YaHei" panose="020B0503020204020204" pitchFamily="34" charset="-122"/>
              </a:rPr>
              <a:t> '..'</a:t>
            </a:r>
          </a:p>
          <a:p>
            <a:pPr lvl="2"/>
            <a:r>
              <a:rPr lang="zh-CN" altLang="en-US" sz="1800" dirty="0">
                <a:ea typeface="Microsoft YaHei" panose="020B0503020204020204" pitchFamily="34" charset="-122"/>
              </a:rPr>
              <a:t>用来表明当前目录和上一层目录</a:t>
            </a:r>
            <a:br>
              <a:rPr lang="en-US" altLang="zh-CN" sz="1800" dirty="0">
                <a:ea typeface="Microsoft YaHei" panose="020B0503020204020204" pitchFamily="34" charset="-122"/>
              </a:rPr>
            </a:br>
            <a:r>
              <a:rPr lang="zh-CN" altLang="en-US" sz="1800" dirty="0">
                <a:ea typeface="Microsoft YaHei" panose="020B0503020204020204" pitchFamily="34" charset="-122"/>
              </a:rPr>
              <a:t>而不需要知道它们实际的名字</a:t>
            </a: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84DAADE3-62A3-B343-BB57-326D304B3853}" type="slidenum">
              <a:rPr lang="zh-CN" altLang="en-US" sz="1200" b="0">
                <a:latin typeface="Arial" panose="020B0604020202020204" pitchFamily="34" charset="0"/>
                <a:ea typeface="Microsoft YaHei" panose="020B0503020204020204" pitchFamily="34" charset="-122"/>
                <a:cs typeface="Adobe 楷体 Std R" charset="0"/>
              </a:rPr>
              <a:pPr/>
              <a:t>30</a:t>
            </a:fld>
            <a:endParaRPr lang="en-US" altLang="zh-CN" sz="1200" b="0" dirty="0">
              <a:latin typeface="Arial" panose="020B0604020202020204" pitchFamily="34" charset="0"/>
              <a:ea typeface="Microsoft YaHei" panose="020B0503020204020204" pitchFamily="34" charset="-122"/>
              <a:cs typeface="Adobe 楷体 Std R" charset="0"/>
            </a:endParaRPr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721596"/>
            <a:ext cx="3105150" cy="120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4662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Microsoft YaHei" panose="020B0503020204020204" pitchFamily="34" charset="-122"/>
              </a:rPr>
              <a:t>LINK</a:t>
            </a:r>
            <a:r>
              <a:rPr lang="zh-CN" altLang="en-US" dirty="0">
                <a:ea typeface="Microsoft YaHei" panose="020B0503020204020204" pitchFamily="34" charset="-122"/>
              </a:rPr>
              <a:t>不能形成环</a:t>
            </a: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4AAA6A53-16F1-8E4C-A3E3-66CC7810566F}" type="slidenum">
              <a:rPr lang="zh-CN" altLang="en-US" sz="1200" b="0">
                <a:latin typeface="Arial" panose="020B0604020202020204" pitchFamily="34" charset="0"/>
                <a:ea typeface="Microsoft YaHei" panose="020B0503020204020204" pitchFamily="34" charset="-122"/>
                <a:cs typeface="Adobe 楷体 Std R" charset="0"/>
              </a:rPr>
              <a:pPr/>
              <a:t>31</a:t>
            </a:fld>
            <a:endParaRPr lang="en-US" altLang="zh-CN" sz="1200" b="0" dirty="0">
              <a:latin typeface="Arial" panose="020B0604020202020204" pitchFamily="34" charset="0"/>
              <a:ea typeface="Microsoft YaHei" panose="020B0503020204020204" pitchFamily="34" charset="-122"/>
              <a:cs typeface="Adobe 楷体 Std R" charset="0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4017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root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7921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20875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25:1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7921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20875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cxnSp>
        <p:nvCxnSpPr>
          <p:cNvPr id="29705" name="直接连接符 11"/>
          <p:cNvCxnSpPr>
            <a:cxnSpLocks noChangeShapeType="1"/>
            <a:stCxn id="5" idx="2"/>
            <a:endCxn id="6" idx="0"/>
          </p:cNvCxnSpPr>
          <p:nvPr/>
        </p:nvCxnSpPr>
        <p:spPr bwMode="auto">
          <a:xfrm flipH="1">
            <a:off x="10588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6" name="直接连接符 13"/>
          <p:cNvCxnSpPr>
            <a:cxnSpLocks noChangeShapeType="1"/>
            <a:stCxn id="6" idx="2"/>
            <a:endCxn id="8" idx="0"/>
          </p:cNvCxnSpPr>
          <p:nvPr/>
        </p:nvCxnSpPr>
        <p:spPr bwMode="auto">
          <a:xfrm>
            <a:off x="10588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7" name="直接连接符 17"/>
          <p:cNvCxnSpPr>
            <a:cxnSpLocks noChangeShapeType="1"/>
            <a:stCxn id="5" idx="2"/>
            <a:endCxn id="7" idx="0"/>
          </p:cNvCxnSpPr>
          <p:nvPr/>
        </p:nvCxnSpPr>
        <p:spPr bwMode="auto">
          <a:xfrm>
            <a:off x="16684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8" name="直接连接符 19"/>
          <p:cNvCxnSpPr>
            <a:cxnSpLocks noChangeShapeType="1"/>
            <a:stCxn id="7" idx="2"/>
            <a:endCxn id="10" idx="0"/>
          </p:cNvCxnSpPr>
          <p:nvPr/>
        </p:nvCxnSpPr>
        <p:spPr bwMode="auto">
          <a:xfrm>
            <a:off x="24685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709" name="TextBox 20"/>
          <p:cNvSpPr txBox="1">
            <a:spLocks noChangeArrowheads="1"/>
          </p:cNvSpPr>
          <p:nvPr/>
        </p:nvSpPr>
        <p:spPr bwMode="auto">
          <a:xfrm>
            <a:off x="579140" y="3577580"/>
            <a:ext cx="255270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/a/b is a directory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The </a:t>
            </a: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of a is 1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a's inode num is 25</a:t>
            </a:r>
            <a:endParaRPr lang="zh-CN" altLang="en-US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40687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root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34591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47545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25:2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34591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47545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cxnSp>
        <p:nvCxnSpPr>
          <p:cNvPr id="22547" name="直接连接符 27"/>
          <p:cNvCxnSpPr>
            <a:cxnSpLocks noChangeShapeType="1"/>
            <a:stCxn id="22" idx="2"/>
            <a:endCxn id="23" idx="0"/>
          </p:cNvCxnSpPr>
          <p:nvPr/>
        </p:nvCxnSpPr>
        <p:spPr bwMode="auto">
          <a:xfrm flipH="1">
            <a:off x="37258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48" name="直接连接符 28"/>
          <p:cNvCxnSpPr>
            <a:cxnSpLocks noChangeShapeType="1"/>
            <a:stCxn id="23" idx="2"/>
            <a:endCxn id="25" idx="0"/>
          </p:cNvCxnSpPr>
          <p:nvPr/>
        </p:nvCxnSpPr>
        <p:spPr bwMode="auto">
          <a:xfrm>
            <a:off x="37258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49" name="直接连接符 30"/>
          <p:cNvCxnSpPr>
            <a:cxnSpLocks noChangeShapeType="1"/>
            <a:stCxn id="22" idx="2"/>
            <a:endCxn id="24" idx="0"/>
          </p:cNvCxnSpPr>
          <p:nvPr/>
        </p:nvCxnSpPr>
        <p:spPr bwMode="auto">
          <a:xfrm>
            <a:off x="43354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50" name="直接连接符 31"/>
          <p:cNvCxnSpPr>
            <a:cxnSpLocks noChangeShapeType="1"/>
            <a:stCxn id="24" idx="2"/>
            <a:endCxn id="27" idx="0"/>
          </p:cNvCxnSpPr>
          <p:nvPr/>
        </p:nvCxnSpPr>
        <p:spPr bwMode="auto">
          <a:xfrm>
            <a:off x="51355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3" name="圆角矩形 32"/>
          <p:cNvSpPr/>
          <p:nvPr/>
        </p:nvSpPr>
        <p:spPr bwMode="auto">
          <a:xfrm>
            <a:off x="68119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root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34" name="圆角矩形 33"/>
          <p:cNvSpPr/>
          <p:nvPr/>
        </p:nvSpPr>
        <p:spPr bwMode="auto">
          <a:xfrm>
            <a:off x="62023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35" name="圆角矩形 34"/>
          <p:cNvSpPr/>
          <p:nvPr/>
        </p:nvSpPr>
        <p:spPr bwMode="auto">
          <a:xfrm>
            <a:off x="74977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25:1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36" name="圆角矩形 35"/>
          <p:cNvSpPr/>
          <p:nvPr/>
        </p:nvSpPr>
        <p:spPr bwMode="auto">
          <a:xfrm>
            <a:off x="62023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38" name="圆角矩形 37"/>
          <p:cNvSpPr/>
          <p:nvPr/>
        </p:nvSpPr>
        <p:spPr bwMode="auto">
          <a:xfrm>
            <a:off x="74977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cxnSp>
        <p:nvCxnSpPr>
          <p:cNvPr id="22556" name="直接连接符 38"/>
          <p:cNvCxnSpPr>
            <a:cxnSpLocks noChangeShapeType="1"/>
            <a:stCxn id="33" idx="2"/>
            <a:endCxn id="34" idx="0"/>
          </p:cNvCxnSpPr>
          <p:nvPr/>
        </p:nvCxnSpPr>
        <p:spPr bwMode="auto">
          <a:xfrm flipH="1">
            <a:off x="64690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57" name="直接连接符 39"/>
          <p:cNvCxnSpPr>
            <a:cxnSpLocks noChangeShapeType="1"/>
            <a:stCxn id="34" idx="2"/>
            <a:endCxn id="36" idx="0"/>
          </p:cNvCxnSpPr>
          <p:nvPr/>
        </p:nvCxnSpPr>
        <p:spPr bwMode="auto">
          <a:xfrm>
            <a:off x="64690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58" name="直接连接符 41"/>
          <p:cNvCxnSpPr>
            <a:cxnSpLocks noChangeShapeType="1"/>
            <a:stCxn id="33" idx="2"/>
            <a:endCxn id="35" idx="0"/>
          </p:cNvCxnSpPr>
          <p:nvPr/>
        </p:nvCxnSpPr>
        <p:spPr bwMode="auto">
          <a:xfrm>
            <a:off x="70786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59" name="直接连接符 42"/>
          <p:cNvCxnSpPr>
            <a:cxnSpLocks noChangeShapeType="1"/>
            <a:stCxn id="35" idx="2"/>
            <a:endCxn id="38" idx="0"/>
          </p:cNvCxnSpPr>
          <p:nvPr/>
        </p:nvCxnSpPr>
        <p:spPr bwMode="auto">
          <a:xfrm>
            <a:off x="78787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60" name="肘形连接符 48"/>
          <p:cNvCxnSpPr>
            <a:cxnSpLocks noChangeShapeType="1"/>
            <a:stCxn id="27" idx="1"/>
            <a:endCxn id="24" idx="1"/>
          </p:cNvCxnSpPr>
          <p:nvPr/>
        </p:nvCxnSpPr>
        <p:spPr bwMode="auto">
          <a:xfrm rot="10800000">
            <a:off x="4754563" y="2370668"/>
            <a:ext cx="12700" cy="645583"/>
          </a:xfrm>
          <a:prstGeom prst="bentConnector3">
            <a:avLst>
              <a:gd name="adj1" fmla="val 2213796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62" name="肘形连接符 56"/>
          <p:cNvCxnSpPr>
            <a:cxnSpLocks noChangeShapeType="1"/>
            <a:stCxn id="38" idx="1"/>
            <a:endCxn id="35" idx="1"/>
          </p:cNvCxnSpPr>
          <p:nvPr/>
        </p:nvCxnSpPr>
        <p:spPr bwMode="auto">
          <a:xfrm rot="10800000">
            <a:off x="7497763" y="2370668"/>
            <a:ext cx="12700" cy="645583"/>
          </a:xfrm>
          <a:prstGeom prst="bentConnector3">
            <a:avLst>
              <a:gd name="adj1" fmla="val 2544829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731" name="TextBox 57"/>
          <p:cNvSpPr txBox="1">
            <a:spLocks noChangeArrowheads="1"/>
          </p:cNvSpPr>
          <p:nvPr/>
        </p:nvSpPr>
        <p:spPr bwMode="auto">
          <a:xfrm>
            <a:off x="1782763" y="1778000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9732" name="TextBox 58"/>
          <p:cNvSpPr txBox="1">
            <a:spLocks noChangeArrowheads="1"/>
          </p:cNvSpPr>
          <p:nvPr/>
        </p:nvSpPr>
        <p:spPr bwMode="auto">
          <a:xfrm>
            <a:off x="193516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5" name="TextBox 59"/>
          <p:cNvSpPr txBox="1">
            <a:spLocks noChangeArrowheads="1"/>
          </p:cNvSpPr>
          <p:nvPr/>
        </p:nvSpPr>
        <p:spPr bwMode="auto">
          <a:xfrm>
            <a:off x="3281536" y="3577581"/>
            <a:ext cx="2514600" cy="13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LINK ("/a/b/c", a")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Cause a cycle!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of a is 2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6" name="TextBox 60"/>
          <p:cNvSpPr txBox="1">
            <a:spLocks noChangeArrowheads="1"/>
          </p:cNvSpPr>
          <p:nvPr/>
        </p:nvSpPr>
        <p:spPr bwMode="auto">
          <a:xfrm>
            <a:off x="4449763" y="1778000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7" name="TextBox 61"/>
          <p:cNvSpPr txBox="1">
            <a:spLocks noChangeArrowheads="1"/>
          </p:cNvSpPr>
          <p:nvPr/>
        </p:nvSpPr>
        <p:spPr bwMode="auto">
          <a:xfrm>
            <a:off x="460216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8" name="TextBox 64"/>
          <p:cNvSpPr txBox="1">
            <a:spLocks noChangeArrowheads="1"/>
          </p:cNvSpPr>
          <p:nvPr/>
        </p:nvSpPr>
        <p:spPr bwMode="auto">
          <a:xfrm>
            <a:off x="401161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c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9" name="TextBox 67"/>
          <p:cNvSpPr txBox="1">
            <a:spLocks noChangeArrowheads="1"/>
          </p:cNvSpPr>
          <p:nvPr/>
        </p:nvSpPr>
        <p:spPr bwMode="auto">
          <a:xfrm>
            <a:off x="732631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70" name="TextBox 68"/>
          <p:cNvSpPr txBox="1">
            <a:spLocks noChangeArrowheads="1"/>
          </p:cNvSpPr>
          <p:nvPr/>
        </p:nvSpPr>
        <p:spPr bwMode="auto">
          <a:xfrm>
            <a:off x="673576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c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71" name="TextBox 69"/>
          <p:cNvSpPr txBox="1">
            <a:spLocks noChangeArrowheads="1"/>
          </p:cNvSpPr>
          <p:nvPr/>
        </p:nvSpPr>
        <p:spPr bwMode="auto">
          <a:xfrm>
            <a:off x="6018659" y="3577580"/>
            <a:ext cx="3017837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UNLINK ("/a")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of a is 1, so the inode 25 is not deleted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Now inode 25 is dis-connected from graph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No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one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can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get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it!</a:t>
            </a:r>
          </a:p>
        </p:txBody>
      </p:sp>
      <p:sp>
        <p:nvSpPr>
          <p:cNvPr id="22572" name="TextBox 70"/>
          <p:cNvSpPr txBox="1">
            <a:spLocks noChangeArrowheads="1"/>
          </p:cNvSpPr>
          <p:nvPr/>
        </p:nvSpPr>
        <p:spPr bwMode="auto">
          <a:xfrm>
            <a:off x="7308304" y="1849388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1AC838D3-A938-F444-B99F-2097BD4C8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8304" y="1852904"/>
            <a:ext cx="356524" cy="35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21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Microsoft YaHei" panose="020B0503020204020204" pitchFamily="34" charset="-122"/>
              </a:rPr>
              <a:t>软链接（符号链接）</a:t>
            </a:r>
            <a:endParaRPr lang="zh-CN" altLang="en-US" sz="4400" dirty="0">
              <a:ea typeface="Microsoft YaHei" panose="020B0503020204020204" pitchFamily="34" charset="-122"/>
            </a:endParaRP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116287"/>
          </a:xfrm>
        </p:spPr>
        <p:txBody>
          <a:bodyPr>
            <a:noAutofit/>
          </a:bodyPr>
          <a:lstStyle/>
          <a:p>
            <a:r>
              <a:rPr lang="zh-CN" altLang="en-US" sz="2000" b="0" dirty="0">
                <a:ea typeface="Microsoft YaHei" panose="020B0503020204020204" pitchFamily="34" charset="-122"/>
              </a:rPr>
              <a:t>如何在一个磁盘上建立指向另一个磁盘的</a:t>
            </a:r>
            <a:r>
              <a:rPr lang="en-US" altLang="zh-CN" sz="2000" b="0" dirty="0">
                <a:ea typeface="Microsoft YaHei" panose="020B0503020204020204" pitchFamily="34" charset="-122"/>
              </a:rPr>
              <a:t>Link</a:t>
            </a:r>
            <a:r>
              <a:rPr lang="zh-CN" altLang="en-US" sz="2000" b="0" dirty="0">
                <a:ea typeface="Microsoft YaHei" panose="020B0503020204020204" pitchFamily="34" charset="-122"/>
              </a:rPr>
              <a:t>？</a:t>
            </a:r>
            <a:endParaRPr lang="en-US" altLang="zh-CN" sz="2000" b="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无法，因为不同磁盘的 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 命名空间是不同的（因为文件系统不同）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endParaRPr lang="en-US" altLang="zh-CN" sz="2000" b="0" dirty="0">
              <a:ea typeface="Microsoft YaHei" panose="020B0503020204020204" pitchFamily="34" charset="-122"/>
            </a:endParaRPr>
          </a:p>
          <a:p>
            <a:r>
              <a:rPr lang="zh-CN" altLang="en-US" sz="2000" b="0" dirty="0">
                <a:ea typeface="Microsoft YaHei" panose="020B0503020204020204" pitchFamily="34" charset="-122"/>
              </a:rPr>
              <a:t>一种简单的方案</a:t>
            </a:r>
            <a:endParaRPr lang="en-US" altLang="zh-CN" sz="2000" b="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让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在所有磁盘中是唯一的，显然不可行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r>
              <a:rPr lang="zh-CN" altLang="en-US" sz="2000" b="0" dirty="0">
                <a:ea typeface="Microsoft YaHei" panose="020B0503020204020204" pitchFamily="34" charset="-122"/>
              </a:rPr>
              <a:t>引入第七层：软链接（符号链接） </a:t>
            </a:r>
            <a:r>
              <a:rPr lang="en-US" altLang="zh-CN" sz="2000" b="0" dirty="0">
                <a:solidFill>
                  <a:schemeClr val="accent1"/>
                </a:solidFill>
                <a:ea typeface="Microsoft YaHei" panose="020B0503020204020204" pitchFamily="34" charset="-122"/>
              </a:rPr>
              <a:t>soft link (symbolic link)</a:t>
            </a:r>
          </a:p>
          <a:p>
            <a:pPr lvl="1"/>
            <a:r>
              <a:rPr lang="en-US" altLang="zh-CN" sz="1800" dirty="0">
                <a:ea typeface="Microsoft YaHei" panose="020B0503020204020204" pitchFamily="34" charset="-122"/>
              </a:rPr>
              <a:t>SYMLINK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增加一种新的</a:t>
            </a:r>
            <a:r>
              <a:rPr lang="en-US" altLang="zh-CN" sz="1800" dirty="0">
                <a:ea typeface="Microsoft YaHei" panose="020B0503020204020204" pitchFamily="34" charset="-122"/>
              </a:rPr>
              <a:t> inode</a:t>
            </a:r>
            <a:r>
              <a:rPr lang="zh-CN" altLang="en-US" sz="1800" dirty="0">
                <a:ea typeface="Microsoft YaHei" panose="020B0503020204020204" pitchFamily="34" charset="-122"/>
              </a:rPr>
              <a:t> 类型</a:t>
            </a:r>
            <a:endParaRPr lang="en-US" altLang="zh-CN" sz="1800" dirty="0">
              <a:ea typeface="Microsoft YaHei" panose="020B0503020204020204" pitchFamily="34" charset="-122"/>
            </a:endParaRPr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F7DAD453-D0D0-EB42-9687-FCFF493116A2}" type="slidenum">
              <a:rPr lang="zh-CN" altLang="en-US" sz="1400" b="0">
                <a:latin typeface="Arial" panose="020B0604020202020204" pitchFamily="34" charset="0"/>
                <a:ea typeface="Microsoft YaHei" panose="020B0503020204020204" pitchFamily="34" charset="-122"/>
                <a:cs typeface="Adobe 楷体 Std R" charset="0"/>
              </a:rPr>
              <a:pPr/>
              <a:t>32</a:t>
            </a:fld>
            <a:endParaRPr lang="en-US" altLang="zh-CN" sz="1400" b="0" dirty="0">
              <a:latin typeface="Arial" panose="020B0604020202020204" pitchFamily="34" charset="0"/>
              <a:ea typeface="Microsoft YaHei" panose="020B0503020204020204" pitchFamily="34" charset="-122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4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8CEE1-97E3-E848-BB4D-5A6A3D7D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创建软链接：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中的 </a:t>
            </a:r>
            <a:r>
              <a:rPr kumimoji="1" lang="en-US" altLang="zh-CN" dirty="0"/>
              <a:t>ln</a:t>
            </a:r>
            <a:r>
              <a:rPr kumimoji="1" lang="zh-CN" altLang="en-US" dirty="0"/>
              <a:t> </a:t>
            </a:r>
            <a:r>
              <a:rPr kumimoji="1" lang="en-US" altLang="zh-CN" dirty="0"/>
              <a:t>-s</a:t>
            </a:r>
            <a:r>
              <a:rPr kumimoji="1" lang="zh-CN" altLang="en-US" dirty="0"/>
              <a:t> 命令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0A5F52-7F35-7647-B3C5-394394DA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5EC3E5-F003-6A41-AE23-4A3F5FD6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193" y="1229367"/>
            <a:ext cx="5817614" cy="429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70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硬链接和软链接的对比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633364"/>
            <a:ext cx="6045200" cy="2921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67944" y="451368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通过文件名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99592" y="228143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通过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inode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号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51920" y="265076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通过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inode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568903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Sidebar: </a:t>
            </a:r>
            <a:r>
              <a:rPr lang="zh-CN" altLang="en-US" dirty="0"/>
              <a:t>注意目录上下文的转变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目录上下文转变的例子</a:t>
            </a:r>
            <a:endParaRPr lang="en-US" altLang="zh-CN" sz="2800" dirty="0"/>
          </a:p>
          <a:p>
            <a:pPr lvl="1"/>
            <a:r>
              <a:rPr lang="zh-CN" altLang="en-US" sz="2400" dirty="0"/>
              <a:t>假设有一个目录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dirty="0"/>
              <a:t>"/Scholarly/programs/www"</a:t>
            </a:r>
          </a:p>
          <a:p>
            <a:pPr lvl="1"/>
            <a:r>
              <a:rPr lang="zh-CN" altLang="en-US" sz="2400" dirty="0"/>
              <a:t>根目录下包含一个</a:t>
            </a:r>
            <a:r>
              <a:rPr lang="en-US" altLang="zh-CN" sz="2400" dirty="0"/>
              <a:t>soft</a:t>
            </a:r>
            <a:r>
              <a:rPr lang="zh-CN" altLang="en-US" sz="2400" dirty="0"/>
              <a:t> </a:t>
            </a:r>
            <a:r>
              <a:rPr lang="en-US" altLang="zh-CN" sz="2400" dirty="0"/>
              <a:t>link</a:t>
            </a:r>
          </a:p>
          <a:p>
            <a:pPr lvl="2"/>
            <a:r>
              <a:rPr lang="en-US" altLang="zh-CN" sz="2000" dirty="0"/>
              <a:t>"/web" -&gt; "/Scholarly/programs/www"</a:t>
            </a:r>
          </a:p>
          <a:p>
            <a:pPr lvl="1"/>
            <a:r>
              <a:rPr lang="zh-CN" altLang="en-US" sz="2400" dirty="0"/>
              <a:t>运行如下命令</a:t>
            </a:r>
            <a:endParaRPr lang="en-US" altLang="zh-CN" sz="2400" dirty="0"/>
          </a:p>
          <a:p>
            <a:pPr lvl="2"/>
            <a:r>
              <a:rPr lang="en-US" altLang="zh-CN" sz="2000" dirty="0"/>
              <a:t>cd web</a:t>
            </a:r>
          </a:p>
          <a:p>
            <a:pPr lvl="2"/>
            <a:r>
              <a:rPr lang="en-US" altLang="zh-CN" sz="2000" dirty="0"/>
              <a:t>cd ..</a:t>
            </a:r>
          </a:p>
          <a:p>
            <a:pPr lvl="1"/>
            <a:r>
              <a:rPr lang="zh-CN" altLang="en-US" dirty="0"/>
              <a:t>当前是哪个目录？</a:t>
            </a:r>
            <a:endParaRPr lang="en-US" altLang="zh-CN" dirty="0"/>
          </a:p>
          <a:p>
            <a:pPr lvl="2"/>
            <a:r>
              <a:rPr lang="en-US" altLang="zh-CN" sz="2000" dirty="0"/>
              <a:t>".." </a:t>
            </a:r>
            <a:r>
              <a:rPr lang="zh-CN" altLang="en-US" sz="2000" dirty="0"/>
              <a:t>被新的上下文解析</a:t>
            </a:r>
            <a:r>
              <a:rPr lang="en-US" altLang="zh-CN" sz="2000" dirty="0"/>
              <a:t>: </a:t>
            </a:r>
            <a:r>
              <a:rPr lang="en-US" altLang="zh-CN" sz="2000" b="1" dirty="0"/>
              <a:t>bash</a:t>
            </a:r>
            <a:r>
              <a:rPr lang="en-US" altLang="zh-CN" sz="2000" dirty="0"/>
              <a:t>, </a:t>
            </a:r>
            <a:r>
              <a:rPr lang="zh-CN" altLang="en-US" sz="2000" dirty="0"/>
              <a:t>而非操作系统</a:t>
            </a: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D0C1C636-4DAD-1A48-A401-D750A9E59F4A}" type="slidenum">
              <a:rPr lang="zh-CN" altLang="en-US" sz="1400" b="0">
                <a:latin typeface="DengXian" charset="0"/>
                <a:ea typeface="DengXian" charset="0"/>
                <a:cs typeface="DengXian" charset="0"/>
              </a:rPr>
              <a:pPr/>
              <a:t>35</a:t>
            </a:fld>
            <a:endParaRPr lang="en-US" altLang="zh-CN" sz="1400" b="0">
              <a:latin typeface="DengXian" charset="0"/>
              <a:ea typeface="DengXian" charset="0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95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84CE9-C6A4-894D-9B0A-4F5B066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Sidebar: </a:t>
            </a:r>
            <a:r>
              <a:rPr lang="zh-CN" altLang="en-US" dirty="0"/>
              <a:t>注意上下文的转变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C726CB-549F-3641-8F48-CE6EE2891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71792" cy="3771636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bash </a:t>
            </a:r>
            <a:r>
              <a:rPr kumimoji="1" lang="zh-CN" altLang="en-US" sz="2000" dirty="0"/>
              <a:t>也希望做到</a:t>
            </a:r>
            <a:r>
              <a:rPr kumimoji="1" lang="en-US" altLang="zh-CN" sz="2000" dirty="0"/>
              <a:t> "human-friendly"</a:t>
            </a:r>
          </a:p>
          <a:p>
            <a:pPr lvl="1"/>
            <a:r>
              <a:rPr kumimoji="1" lang="en-US" altLang="zh-CN" sz="1800" dirty="0"/>
              <a:t>When you </a:t>
            </a:r>
            <a:r>
              <a:rPr kumimoji="1"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cd /into/a/</a:t>
            </a:r>
            <a:r>
              <a:rPr kumimoji="1"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symlink</a:t>
            </a:r>
            <a:r>
              <a:rPr kumimoji="1"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zh-CN" sz="1800" dirty="0"/>
              <a:t>, the shell remembers the old location (in </a:t>
            </a:r>
            <a:r>
              <a:rPr kumimoji="1" lang="en-US" altLang="zh-CN" sz="1800" b="1" dirty="0"/>
              <a:t>$OLDPWD</a:t>
            </a:r>
            <a:r>
              <a:rPr kumimoji="1" lang="en-US" altLang="zh-CN" sz="1800" dirty="0"/>
              <a:t>) and will use that directory when you </a:t>
            </a:r>
            <a:r>
              <a:rPr kumimoji="1"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cd .. </a:t>
            </a:r>
            <a:r>
              <a:rPr kumimoji="1" lang="en-US" altLang="zh-CN" sz="1800" dirty="0"/>
              <a:t>under the assumption that you want to return to the directory you were just in</a:t>
            </a:r>
          </a:p>
          <a:p>
            <a:pPr lvl="1"/>
            <a:r>
              <a:rPr kumimoji="1" lang="en-US" altLang="zh-CN" sz="1800" b="0" dirty="0"/>
              <a:t>If you want to use the real .., then you must also use "cd -P .."</a:t>
            </a:r>
            <a:br>
              <a:rPr kumimoji="1" lang="en-US" altLang="zh-CN" sz="1800" b="0" dirty="0"/>
            </a:br>
            <a:endParaRPr kumimoji="1" lang="en-US" altLang="zh-CN" sz="1600" b="0" i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EB771F-8993-7245-A071-5BD619F88450}"/>
              </a:ext>
            </a:extLst>
          </p:cNvPr>
          <p:cNvSpPr/>
          <p:nvPr/>
        </p:nvSpPr>
        <p:spPr>
          <a:xfrm>
            <a:off x="5724128" y="3369839"/>
            <a:ext cx="3348880" cy="23083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/home/user01</a:t>
            </a: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kumimoji="1" lang="zh-CN" altLang="en-US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kumimoji="1" lang="zh-CN" altLang="en-US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-l</a:t>
            </a:r>
            <a:r>
              <a:rPr kumimoji="1" lang="zh-CN" altLang="en-US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a/b/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symlink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-&gt;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/home/user01/a</a:t>
            </a: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cd a/b/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symlink</a:t>
            </a:r>
            <a:endParaRPr kumimoji="1" lang="en-US" altLang="zh-CN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cd -P ..</a:t>
            </a: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/home/user01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D4F966-75FF-264D-A586-F4D54232C0B6}"/>
              </a:ext>
            </a:extLst>
          </p:cNvPr>
          <p:cNvSpPr txBox="1"/>
          <p:nvPr/>
        </p:nvSpPr>
        <p:spPr>
          <a:xfrm>
            <a:off x="804664" y="3369839"/>
            <a:ext cx="4661210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b="0" dirty="0"/>
              <a:t> </a:t>
            </a:r>
            <a:r>
              <a:rPr kumimoji="1" lang="zh-CN" altLang="en-US" sz="1400" dirty="0"/>
              <a:t>       </a:t>
            </a:r>
            <a:r>
              <a:rPr kumimoji="1" lang="en-US" altLang="zh-CN" sz="1400" b="0" i="1" dirty="0"/>
              <a:t>The -P option says to use the physical directory</a:t>
            </a:r>
            <a:br>
              <a:rPr kumimoji="1" lang="en-US" altLang="zh-CN" sz="1400" b="0" i="1" dirty="0"/>
            </a:br>
            <a:r>
              <a:rPr kumimoji="1" lang="en-US" altLang="zh-CN" sz="1400" b="0" i="1" dirty="0"/>
              <a:t>        structure instead of following symbolic links (see</a:t>
            </a:r>
            <a:br>
              <a:rPr kumimoji="1" lang="en-US" altLang="zh-CN" sz="1400" b="0" i="1" dirty="0"/>
            </a:br>
            <a:r>
              <a:rPr kumimoji="1" lang="en-US" altLang="zh-CN" sz="1400" b="0" i="1" dirty="0"/>
              <a:t>        also the -P option to the set </a:t>
            </a:r>
            <a:r>
              <a:rPr kumimoji="1" lang="en-US" altLang="zh-CN" sz="1400" b="0" i="1" dirty="0" err="1"/>
              <a:t>builtin</a:t>
            </a:r>
            <a:r>
              <a:rPr kumimoji="1" lang="en-US" altLang="zh-CN" sz="1400" b="0" i="1" dirty="0"/>
              <a:t> command);</a:t>
            </a:r>
            <a:br>
              <a:rPr kumimoji="1" lang="en-US" altLang="zh-CN" sz="1400" b="0" i="1" dirty="0"/>
            </a:br>
            <a:r>
              <a:rPr kumimoji="1" lang="en-US" altLang="zh-CN" sz="1400" b="0" i="1" dirty="0"/>
              <a:t>        the -L option forces symbolic links to be followed.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03519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文件系统的一些细节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16287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文件名并不是文件的一部分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文件名不是文件的数据，也不是文件的元数据（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文件名是目录的数据，是文件系统的元数据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一个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可以有多个文件名（硬链接）</a:t>
            </a:r>
            <a:endParaRPr kumimoji="1" lang="en-US" altLang="zh-CN" sz="1800" dirty="0"/>
          </a:p>
          <a:p>
            <a:pPr>
              <a:spcBef>
                <a:spcPts val="1368"/>
              </a:spcBef>
            </a:pPr>
            <a:r>
              <a:rPr kumimoji="1" lang="zh-CN" altLang="en-US" sz="2400" dirty="0"/>
              <a:t>每个硬链接的地位都是相同的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文件名就是硬链接（而不是一个文件名，一个链接名）</a:t>
            </a:r>
            <a:endParaRPr kumimoji="1" lang="en-US" altLang="zh-CN" sz="1800" dirty="0"/>
          </a:p>
          <a:p>
            <a:pPr>
              <a:spcBef>
                <a:spcPts val="1368"/>
              </a:spcBef>
            </a:pPr>
            <a:r>
              <a:rPr kumimoji="1" lang="zh-CN" altLang="en-US" sz="2400" dirty="0"/>
              <a:t>目录所占磁盘空间通常是很小的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目录仅仅负责记录文件名到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号的映射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"</a:t>
            </a:r>
            <a:r>
              <a:rPr kumimoji="1" lang="zh-CN" altLang="en-US" sz="1800" dirty="0"/>
              <a:t>文件夹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这个名字有一定的误导性</a:t>
            </a:r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93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39603</TotalTime>
  <Words>2752</Words>
  <Application>Microsoft Macintosh PowerPoint</Application>
  <PresentationFormat>On-screen Show (16:10)</PresentationFormat>
  <Paragraphs>391</Paragraphs>
  <Slides>37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DengXian</vt:lpstr>
      <vt:lpstr>Microsoft YaHei</vt:lpstr>
      <vt:lpstr>宋体</vt:lpstr>
      <vt:lpstr>Arial</vt:lpstr>
      <vt:lpstr>Calibri</vt:lpstr>
      <vt:lpstr>Consolas</vt:lpstr>
      <vt:lpstr>Courier</vt:lpstr>
      <vt:lpstr>Times New Roman</vt:lpstr>
      <vt:lpstr>Office 主题​​</vt:lpstr>
      <vt:lpstr>1_Office 主题​​</vt:lpstr>
      <vt:lpstr>PowerPoint Presentation</vt:lpstr>
      <vt:lpstr>版权声明</vt:lpstr>
      <vt:lpstr>文件和文件系统</vt:lpstr>
      <vt:lpstr>UNIX文件系统的API</vt:lpstr>
      <vt:lpstr>文件系统的位置</vt:lpstr>
      <vt:lpstr>inode：文件的元数据</vt:lpstr>
      <vt:lpstr>在inode之前：一个简单的文件系统</vt:lpstr>
      <vt:lpstr>简单文件系统的改进</vt:lpstr>
      <vt:lpstr>简单文件系统的限制</vt:lpstr>
      <vt:lpstr>inode：记录文件多个磁盘块的位置</vt:lpstr>
      <vt:lpstr>inode文件系统的存储布局</vt:lpstr>
      <vt:lpstr>inode文件系统的存储布局</vt:lpstr>
      <vt:lpstr>inode文件系统的基本操作</vt:lpstr>
      <vt:lpstr>单级inode过大的问题</vt:lpstr>
      <vt:lpstr>多级inode</vt:lpstr>
      <vt:lpstr>多级inode</vt:lpstr>
      <vt:lpstr>思考：为什么格式化后可用空间变小了？</vt:lpstr>
      <vt:lpstr>目录：也是一种文件</vt:lpstr>
      <vt:lpstr>inode与文件名</vt:lpstr>
      <vt:lpstr>字符串的文件名</vt:lpstr>
      <vt:lpstr>目录文件与目录项</vt:lpstr>
      <vt:lpstr>目录的递归与根目录</vt:lpstr>
      <vt:lpstr>文件的查找过程：/os-book/fs.tex</vt:lpstr>
      <vt:lpstr>文件的查找过程：/os-book/fs.tex</vt:lpstr>
      <vt:lpstr>直接 Dump 一个目录（Ext4文件系统）</vt:lpstr>
      <vt:lpstr>直接 Dump 一个目录（Ext4文件系统）</vt:lpstr>
      <vt:lpstr>硬链接与软链接</vt:lpstr>
      <vt:lpstr>创建（硬）链接：Linux中的 ln 命令</vt:lpstr>
      <vt:lpstr>（硬）链接：Link</vt:lpstr>
      <vt:lpstr>（硬）链接：Link</vt:lpstr>
      <vt:lpstr>LINK不能形成环</vt:lpstr>
      <vt:lpstr>软链接（符号链接）</vt:lpstr>
      <vt:lpstr>创建软链接：Linux中的 ln -s 命令</vt:lpstr>
      <vt:lpstr>硬链接和软链接的对比</vt:lpstr>
      <vt:lpstr>Sidebar: 注意目录上下文的转变</vt:lpstr>
      <vt:lpstr>Sidebar: 注意上下文的转变</vt:lpstr>
      <vt:lpstr>文件系统的一些细节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1093</cp:revision>
  <cp:lastPrinted>2020-03-02T13:38:09Z</cp:lastPrinted>
  <dcterms:created xsi:type="dcterms:W3CDTF">2017-11-24T09:35:45Z</dcterms:created>
  <dcterms:modified xsi:type="dcterms:W3CDTF">2025-12-01T12:56:44Z</dcterms:modified>
</cp:coreProperties>
</file>