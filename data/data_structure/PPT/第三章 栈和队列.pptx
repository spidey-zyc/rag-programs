
<file path=[Content_Types].xml><?xml version="1.0" encoding="utf-8"?>
<Types xmlns="http://schemas.openxmlformats.org/package/2006/content-types">
  <Default Extension="png" ContentType="image/png"/>
  <Default Extension="tiff" ContentType="image/tif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102"/>
  </p:handoutMasterIdLst>
  <p:sldIdLst>
    <p:sldId id="259" r:id="rId3"/>
    <p:sldId id="370" r:id="rId5"/>
    <p:sldId id="287" r:id="rId6"/>
    <p:sldId id="293" r:id="rId7"/>
    <p:sldId id="294" r:id="rId8"/>
    <p:sldId id="395" r:id="rId9"/>
    <p:sldId id="295" r:id="rId10"/>
    <p:sldId id="377"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78" r:id="rId24"/>
    <p:sldId id="308" r:id="rId25"/>
    <p:sldId id="309" r:id="rId26"/>
    <p:sldId id="310" r:id="rId27"/>
    <p:sldId id="311" r:id="rId28"/>
    <p:sldId id="312" r:id="rId29"/>
    <p:sldId id="313" r:id="rId30"/>
    <p:sldId id="314" r:id="rId31"/>
    <p:sldId id="315" r:id="rId32"/>
    <p:sldId id="379" r:id="rId33"/>
    <p:sldId id="389" r:id="rId34"/>
    <p:sldId id="400" r:id="rId35"/>
    <p:sldId id="316" r:id="rId36"/>
    <p:sldId id="317" r:id="rId37"/>
    <p:sldId id="318" r:id="rId38"/>
    <p:sldId id="319" r:id="rId39"/>
    <p:sldId id="320" r:id="rId40"/>
    <p:sldId id="390" r:id="rId41"/>
    <p:sldId id="321" r:id="rId42"/>
    <p:sldId id="322" r:id="rId43"/>
    <p:sldId id="323" r:id="rId44"/>
    <p:sldId id="325" r:id="rId45"/>
    <p:sldId id="324" r:id="rId46"/>
    <p:sldId id="326" r:id="rId47"/>
    <p:sldId id="327" r:id="rId48"/>
    <p:sldId id="328" r:id="rId49"/>
    <p:sldId id="332" r:id="rId50"/>
    <p:sldId id="329" r:id="rId51"/>
    <p:sldId id="330" r:id="rId52"/>
    <p:sldId id="331" r:id="rId53"/>
    <p:sldId id="333" r:id="rId54"/>
    <p:sldId id="334" r:id="rId55"/>
    <p:sldId id="335" r:id="rId56"/>
    <p:sldId id="336" r:id="rId57"/>
    <p:sldId id="337" r:id="rId58"/>
    <p:sldId id="396" r:id="rId59"/>
    <p:sldId id="381" r:id="rId60"/>
    <p:sldId id="338" r:id="rId61"/>
    <p:sldId id="339" r:id="rId62"/>
    <p:sldId id="340" r:id="rId63"/>
    <p:sldId id="341" r:id="rId64"/>
    <p:sldId id="391" r:id="rId65"/>
    <p:sldId id="397" r:id="rId66"/>
    <p:sldId id="342" r:id="rId67"/>
    <p:sldId id="398" r:id="rId68"/>
    <p:sldId id="399" r:id="rId69"/>
    <p:sldId id="344" r:id="rId70"/>
    <p:sldId id="345" r:id="rId71"/>
    <p:sldId id="346" r:id="rId72"/>
    <p:sldId id="347" r:id="rId73"/>
    <p:sldId id="348" r:id="rId74"/>
    <p:sldId id="349" r:id="rId75"/>
    <p:sldId id="350" r:id="rId76"/>
    <p:sldId id="392" r:id="rId77"/>
    <p:sldId id="351" r:id="rId78"/>
    <p:sldId id="352" r:id="rId79"/>
    <p:sldId id="353" r:id="rId80"/>
    <p:sldId id="354" r:id="rId81"/>
    <p:sldId id="355" r:id="rId82"/>
    <p:sldId id="356" r:id="rId83"/>
    <p:sldId id="357" r:id="rId84"/>
    <p:sldId id="358" r:id="rId85"/>
    <p:sldId id="359" r:id="rId86"/>
    <p:sldId id="393" r:id="rId87"/>
    <p:sldId id="360" r:id="rId88"/>
    <p:sldId id="361" r:id="rId89"/>
    <p:sldId id="362" r:id="rId90"/>
    <p:sldId id="363" r:id="rId91"/>
    <p:sldId id="364" r:id="rId92"/>
    <p:sldId id="394" r:id="rId93"/>
    <p:sldId id="365" r:id="rId94"/>
    <p:sldId id="366" r:id="rId95"/>
    <p:sldId id="367" r:id="rId96"/>
    <p:sldId id="368" r:id="rId97"/>
    <p:sldId id="369" r:id="rId98"/>
    <p:sldId id="386" r:id="rId99"/>
    <p:sldId id="387" r:id="rId100"/>
    <p:sldId id="388" r:id="rId101"/>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8" autoAdjust="0"/>
    <p:restoredTop sz="83650" autoAdjust="0"/>
  </p:normalViewPr>
  <p:slideViewPr>
    <p:cSldViewPr snapToGrid="0" showGuides="1">
      <p:cViewPr varScale="1">
        <p:scale>
          <a:sx n="71" d="100"/>
          <a:sy n="71" d="100"/>
        </p:scale>
        <p:origin x="950" y="53"/>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bleStyles" Target="tableStyles.xml"/><Relationship Id="rId104" Type="http://schemas.openxmlformats.org/officeDocument/2006/relationships/viewProps" Target="viewProps.xml"/><Relationship Id="rId103" Type="http://schemas.openxmlformats.org/officeDocument/2006/relationships/presProps" Target="presProps.xml"/><Relationship Id="rId102" Type="http://schemas.openxmlformats.org/officeDocument/2006/relationships/handoutMaster" Target="handoutMasters/handoutMaster1.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4" name="页脚占位符 3"/>
          <p:cNvSpPr>
            <a14:cpLocks xmlns:a14="http://schemas.microsoft.com/office/drawing/2010/main"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14:cpLocks xmlns:a14="http://schemas.microsoft.com/office/drawing/2010/main"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2"/>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26450.000000 22800.000000,'-100.000000'-100.000000,"100.000000"75.000000,0.000000 0.000000,0.000000 0.000000,0.000000 0.000000,100.000000 25.000000,0.000000 0.000000,50.000000 0.000000,0.000000 0.000000,75.000000 0.000000,0.000000 0.000000,25.000000 0.000000,0.000000 0.000000,50.000000 0.000000,0.000000 0.000000,0.000000-25.000000,0.000000 0.000000,25.000000 0.000000,0.000000 0.000000,-150.000000 25.000000,0.000000 0.000000,150.000000 0.000000,0.000000 0.000000,-100.000000 25.000000,0.000000 0.000000,0.000000 25.000000,0.000000 0.000000,-100.000000-50.000000,0.000000 0.000000,75.000000 0.000000,0.000000 0.000000,-100.000000 0.000000,0.000000 0.000000,-50.000000 0.000000,0.000000 0.000000,-25.000000 0.000000,0.000000 0.000000,-50.000000 0.000000</inkml:trace>
</inkml:ink>
</file>

<file path=ppt/ink/ink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3"/>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41200.000000 22250.000000,'-50.000000'0.000000,"25.000000"0.000000,0.000000 0.000000,125.000000-25.000000,0.000000 0.000000,25.000000 0.000000,0.000000 0.000000,200.000000 25.000000,0.000000 0.000000,-25.000000 0.000000,0.000000 0.000000,-100.000000 0.000000,0.000000 0.000000,125.000000 0.000000,0.000000 0.000000,-100.000000-25.000000,0.000000 0.000000,-125.000000 25.000000,0.000000 0.000000,25.000000 0.000000,0.000000 0.000000,-100.000000 0.000000,0.000000 0.000000,-25.000000-25.000000,0.000000 0.000000,0.000000 50.000000</inkml:trace>
</inkml:ink>
</file>

<file path=ppt/ink/ink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4"/>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67950.000000 22500.000000,'0.000000'-50.000000,"0.000000"25.000000,0.000000 0.000000,100.000000 25.000000,0.000000 0.000000,50.000000 0.000000,0.000000 0.000000,250.000000 25.000000,0.000000 0.000000,75.000000 0.000000,0.000000 0.000000,-25.000000 0.000000,0.000000 0.000000,-25.000000-25.000000,0.000000 0.000000,-125.000000 25.000000,0.000000 0.000000,-100.000000-25.000000,0.000000 0.000000,-100.000000 0.000000,0.000000 0.000000,-25.000000 0.000000,0.000000 0.000000,-50.000000 0.000000,0.000000 0.000000,0.000000 0.000000</inkml:trace>
</inkml:ink>
</file>

<file path=ppt/ink/ink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5"/>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81050.000000 22550.000000,'50.000000'0.000000,"0.000000"-25.000000,0.000000 0.000000,50.000000 0.000000,0.000000 0.000000,25.000000 25.000000,0.000000 0.000000,250.000000 0.000000,0.000000 0.000000,100.000000 0.000000,0.000000 0.000000,100.000000 25.000000,0.000000 0.000000,-50.000000 0.000000,0.000000 0.000000,-100.000000-25.000000,0.000000 0.000000,-125.000000 0.000000,0.000000 0.000000,-100.000000 25.000000,0.000000 0.000000,-150.000000 0.000000,0.000000 0.000000,-50.000000 0.000000,0.000000 0.000000,-75.000000 25.000000,0.000000 0.000000,0.000000-25.000000</inkml:trace>
</inkml:ink>
</file>

<file path=ppt/ink/ink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6"/>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7150.000000 28300.000000,'-150.000000'0.000000,"50.000000"0.000000,0.000000 0.000000,25.000000 0.000000,0.000000 0.000000,100.000000 0.000000,0.000000 0.000000,75.000000 0.000000,0.000000 0.000000,50.000000 0.000000,0.000000 0.000000,0.000000 0.000000,0.000000 0.000000,200.000000 0.000000,0.000000 0.000000,-100.000000 0.000000,0.000000 0.000000,175.000000 0.000000,0.000000 0.000000,-150.000000 25.000000,0.000000 0.000000,-25.000000 0.000000,0.000000 0.000000,-50.000000-25.000000,0.000000 0.000000,-50.000000 0.000000,0.000000 0.000000,-100.000000 0.000000,0.000000 0.000000,-25.000000 0.000000,0.000000 0.000000,0.000000 0.000000,0.000000 0.000000,-25.000000-25.000000,0.000000 0.000000,25.000000 25.000000</inkml:trace>
</inkml:ink>
</file>

<file path=ppt/ink/ink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8"/>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25900.000000 28150.000000,'50.000000'0.000000,"25.000000"-25.000000,0.000000 0.000000,50.000000 25.000000,0.000000 0.000000,100.000000 0.000000,0.000000 0.000000,0.000000 0.000000,0.000000 0.000000,25.000000 0.000000,0.000000 0.000000,0.000000 0.000000,0.000000 0.000000,50.000000 0.000000,0.000000 0.000000,25.000000 0.000000,0.000000 0.000000,0.000000 0.000000,0.000000 0.000000,25.000000 0.000000,0.000000 0.000000,75.000000 0.000000,0.000000 0.000000,0.000000 0.000000,0.000000 0.000000,-25.000000 25.000000,0.000000 0.000000,75.000000 0.000000,0.000000 0.000000,25.000000 0.000000,0.000000 0.000000,-150.000000-25.000000,0.000000 0.000000,300.000000 0.000000,0.000000 0.000000,-100.000000 0.000000,0.000000 0.000000,-50.000000 25.000000,0.000000 0.000000,25.000000-25.000000,0.000000 0.000000,25.000000 0.000000,0.000000 0.000000,-50.000000-25.000000,0.000000 0.000000,0.000000 25.000000,0.000000 0.000000,25.000000-25.000000,0.000000 0.000000,-50.000000 25.000000,0.000000 0.000000,-50.000000 0.000000,0.000000 0.000000,-50.000000 0.000000,0.000000 0.000000,-75.000000 0.000000,0.000000 0.000000,-50.000000 0.000000,0.000000 0.000000,-100.000000 0.000000,0.000000 0.000000,-25.000000 25.000000,0.000000 0.000000,-75.000000-25.000000,0.000000 0.000000,50.000000 0.000000,0.000000 0.000000,-75.000000 0.000000,0.000000 0.000000,-25.000000 25.000000,0.000000 0.000000,25.000000-25.000000</inkml:trace>
</inkml:ink>
</file>

<file path=ppt/ink/ink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0T23:48:49"/>
    </inkml:context>
    <inkml:brush xml:id="br0">
      <inkml:brushProperty name="width" value="0.793650805950165" units="cm"/>
      <inkml:brushProperty name="height" value="0.793650805950165" units="cm"/>
      <inkml:brushProperty name="color" value="#F9F200"/>
      <inkml:brushProperty name="transparency" value="128"/>
      <inkml:brushProperty name="ignorePressure" value="0"/>
    </inkml:brush>
  </inkml:definitions>
  <inkml:trace contextRef="#ctx0" brushRef="#br0">53700.000000 27850.000000,'-100.000000'-100.000000,"100.000000"75.000000,0.000000 0.000000,0.000000 0.000000,0.000000 0.000000,100.000000 25.000000,0.000000 0.000000,25.000000 0.000000,0.000000 0.000000,50.000000 0.000000,0.000000 0.000000,25.000000 0.000000,0.000000 0.000000,0.000000 0.000000,0.000000 0.000000,25.000000 0.000000,0.000000 0.000000,25.000000 0.000000,0.000000 0.000000,25.000000 0.000000,0.000000 0.000000,25.000000-25.000000,0.000000 0.000000,0.000000 25.000000,0.000000 0.000000,-25.000000 0.000000,0.000000 0.000000,25.000000 0.000000,0.000000 0.000000,25.000000 0.000000,0.000000 0.000000,0.000000 0.000000,0.000000 0.000000,0.000000 0.000000,0.000000 0.000000,25.000000-25.000000,0.000000 0.000000,0.000000 25.000000,0.000000 0.000000,-50.000000 0.000000,0.000000 0.000000,25.000000 0.000000,0.000000 0.000000,0.000000-25.000000,0.000000 0.000000,-50.000000 25.000000,0.000000 0.000000,-75.000000 0.000000,0.000000 0.000000,-50.000000 0.000000,0.000000 0.000000,25.000000 0.000000,0.000000 0.000000,-50.000000 0.000000,0.000000 0.000000,-25.000000 25.000000,0.000000 0.000000,-50.000000-25.000000,0.000000 0.000000,-75.000000 0.000000,0.000000 0.000000,0.000000 0.000000</inkml:trace>
</inkml:ink>
</file>

<file path=ppt/ink/ink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29:52"/>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24150.000000 9000.000000,'-50.000000'0.000000,"50.000000"25.000000,0.000000 0.000000,25.000000-25.000000,0.000000 0.000000,50.000000 0.000000,0.000000 0.000000,25.000000-25.000000,0.000000 0.000000,75.000000 25.000000,0.000000 0.000000,0.000000-25.000000,0.000000 0.000000,0.000000 25.000000,0.000000 0.000000,-25.000000 0.000000,0.000000 0.000000,-25.000000 0.000000,0.000000 0.000000,-50.000000 25.000000,0.000000 0.000000,0.000000-25.000000,0.000000 0.000000,-50.000000 0.000000,0.000000 0.000000,0.000000 0.000000,0.000000 0.000000,0.000000 0.000000,0.000000 0.000000,0.000000 0.000000,0.000000 0.000000,0.000000 0.000000,0.000000 0.000000,0.000000 0.000000,0.000000 0.000000,25.000000 0.000000,0.000000 0.000000,0.000000 0.000000,0.000000 0.000000,0.000000 0.000000,0.000000 0.000000,0.000000 0.000000,0.000000 0.000000,25.000000 0.000000,0.000000 0.000000,0.000000 25.000000,0.000000 0.000000,0.000000 0.000000,0.000000 0.000000,-25.000000-25.000000,0.000000 0.000000,-25.000000 25.000000,0.000000 0.000000,0.000000-25.000000,0.000000 0.000000,-50.000000 0.000000</inkml:trace>
</inkml:ink>
</file>

<file path=ppt/ink/ink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29:54"/>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6350.000000 11250.000000,'0.000000'50.000000,"25.000000"0.000000,0.000000 0.000000,0.000000-50.000000,0.000000 0.000000,0.000000 0.000000,0.000000 0.000000,25.000000 0.000000,0.000000 0.000000,50.000000 0.000000,0.000000 0.000000,50.000000 0.000000,0.000000 0.000000,100.000000 0.000000,0.000000 0.000000,50.000000 0.000000,0.000000 0.000000,-50.000000 0.000000,0.000000 0.000000,0.000000 0.000000,0.000000 0.000000,25.000000-25.000000,0.000000 0.000000,25.000000 25.000000,0.000000 0.000000,25.000000-25.000000,0.000000 0.000000,-25.000000 25.000000,0.000000 0.000000,-25.000000 0.000000,0.000000 0.000000,-50.000000 0.000000,0.000000 0.000000,0.000000 25.000000,0.000000 0.000000,0.000000 0.000000,0.000000 0.000000,-25.000000 0.000000,0.000000 0.000000,-25.000000-25.000000,0.000000 0.000000,0.000000 0.000000,0.000000 0.000000,0.000000 25.000000,0.000000 0.000000,0.000000-25.000000,0.000000 0.000000,-75.000000 25.000000,0.000000 0.000000,125.000000-25.000000,0.000000 0.000000,-150.000000 0.000000,0.000000 0.000000,125.000000 0.000000,0.000000 0.000000,-75.000000 0.000000,0.000000 0.000000,-50.000000 0.000000,0.000000 0.000000,125.000000 25.000000,0.000000 0.000000,-50.000000-25.000000,0.000000 0.000000,0.000000 25.000000,0.000000 0.000000,0.000000-25.000000,0.000000 0.000000,-25.000000 0.000000,0.000000 0.000000,50.000000 0.000000,0.000000 0.000000,-25.000000 0.000000,0.000000 0.000000,0.000000 0.000000,0.000000 0.000000,-50.000000 0.000000,0.000000 0.000000,50.000000 25.000000,0.000000 0.000000,-25.000000-25.000000,0.000000 0.000000,0.000000 0.000000,0.000000 0.000000,-50.000000 0.000000,0.000000 0.000000,-25.000000 0.000000,0.000000 0.000000,-50.000000-25.000000,0.000000 0.000000,25.000000 25.000000,0.000000 0.000000,0.000000-25.000000,0.000000 0.000000,25.000000 25.000000,0.000000 0.000000,-25.000000 0.000000,0.000000 0.000000,0.000000-25.000000,0.000000 0.000000,0.000000 25.000000,0.000000 0.000000,0.000000 0.000000,0.000000 0.000000,0.000000 0.000000,0.000000 0.000000,0.000000 0.000000,0.000000 0.000000,-25.000000-25.000000,0.000000 0.000000,-25.000000 25.000000</inkml:trace>
</inkml:ink>
</file>

<file path=ppt/ink/ink1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29:57"/>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6600.000000 10600.000000,'50.000000'100.000000,"-25.000000"-100.000000,0.000000 0.000000,0.000000 0.000000,0.000000 0.000000,25.000000 0.000000,0.000000 0.000000,0.000000-25.000000,0.000000 0.000000,50.000000 25.000000,0.000000 0.000000,25.000000-25.000000,0.000000 0.000000,0.000000 25.000000,0.000000 0.000000,-25.000000 0.000000,0.000000 0.000000,0.000000 0.000000,0.000000 0.000000,25.000000 0.000000,0.000000 0.000000,-50.000000 25.000000,0.000000 0.000000,25.000000 0.000000,0.000000 0.000000,-25.000000 25.000000,0.000000 0.000000,0.000000-50.000000,0.000000 0.000000,0.000000 25.000000,0.000000 0.000000,-25.000000 0.000000,0.000000 0.000000,0.000000-25.000000,0.000000 0.000000,0.000000 0.000000,0.000000 0.000000,0.000000 0.000000,0.000000 0.000000,50.000000 0.000000,0.000000 0.000000,-25.000000 0.000000,0.000000 0.000000,25.000000 0.000000,0.000000 0.000000,0.000000 0.000000,0.000000 0.000000,0.000000 0.000000,0.000000 0.000000,-25.000000 0.000000,0.000000 0.000000,50.000000 0.000000,0.000000 0.000000,0.000000 0.000000,0.000000 0.000000,0.000000 0.000000,0.000000 0.000000,-50.000000 0.000000,0.000000 0.000000,75.000000 0.000000,0.000000 0.000000,0.000000 0.000000,0.000000 0.000000,0.000000 0.000000,0.000000 0.000000,0.000000 0.000000,0.000000 0.000000,0.000000 25.000000,0.000000 0.000000,-25.000000-25.000000,0.000000 0.000000,-25.000000 0.000000,0.000000 0.000000,75.000000 0.000000,0.000000 0.000000,-25.000000 0.000000,0.000000 0.000000,0.000000 0.000000,0.000000 0.000000,0.000000 0.000000,0.000000 0.000000,0.000000 0.000000,0.000000 0.000000,-25.000000 0.000000,0.000000 0.000000,25.000000-25.000000,0.000000 0.000000,0.000000 25.000000,0.000000 0.000000,0.000000 0.000000,0.000000 0.000000,25.000000-25.000000,0.000000 0.000000,-25.000000 25.000000,0.000000 0.000000,-25.000000 0.000000,0.000000 0.000000,-50.000000 0.000000,0.000000 0.000000,125.000000 25.000000,0.000000 0.000000,-50.000000-25.000000,0.000000 0.000000,25.000000 0.000000,0.000000 0.000000,25.000000 0.000000,0.000000 0.000000,-25.000000 0.000000,0.000000 0.000000,0.000000 0.000000,0.000000 0.000000,-50.000000 0.000000,0.000000 0.000000,75.000000 0.000000,0.000000 0.000000,-50.000000 0.000000,0.000000 0.000000,-50.000000 0.000000,0.000000 0.000000,25.000000 0.000000,0.000000 0.000000,-75.000000 0.000000,0.000000 0.000000,0.000000 0.000000,0.000000 0.000000,-75.000000 0.000000,0.000000 0.000000,0.000000 0.000000</inkml:trace>
</inkml:ink>
</file>

<file path=ppt/ink/ink1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0:06"/>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33750.000000 11000.000000,'126.000000'0.000000,"0.000000"0.000000,0.000000 0.000000,1.000000 0.000000,-1.000000 0.000000,0.000000 0.000000,0.000000 0.000000,0.000000 0.000000,1.000000 0.000000,-1.000000 0.000000,0.000000 0.000000,1.000000 0.000000,-1.000000 0.000000,0.000000 0.000000,0.000000 0.000000,0.000000 0.000000,1.000000 0.000000,-1.000000 0.000000,0.000000 0.000000,1.000000 0.000000,-1.000000 0.000000,0.000000 0.000000,0.000000 0.000000,1.000000 0.000000,-1.000000 0.000000,0.000000 0.000000,0.000000 0.000000,0.000000 0.000000,1.000000 0.000000,-1.000000 0.000000,0.000000 0.000000,1.000000 0.000000,-1.000000 0.000000,0.000000 0.000000,0.000000 0.000000,0.000000 0.000000,1.000000 0.000000,-1.000000 0.000000,0.000000 0.000000,1.000000 0.000000</inkml:trace>
</inkml:ink>
</file>

<file path=ppt/ink/ink1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0:07"/>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39950.000000 11150.000000,'100.000000'100.000000,"-50.000000"-75.000000,0.000000 0.000000,0.000000-25.000000,0.000000 0.000000,50.000000 0.000000,0.000000 0.000000,25.000000 0.000000,0.000000 0.000000,0.000000 0.000000,0.000000 0.000000,25.000000 0.000000,0.000000 0.000000,25.000000 25.000000,0.000000 0.000000,-25.000000-25.000000,0.000000 0.000000,150.000000 0.000000,0.000000 0.000000,-25.000000-25.000000,0.000000 0.000000,0.000000 0.000000,0.000000 0.000000,-75.000000 0.000000,0.000000 0.000000,0.000000 25.000000,0.000000 0.000000,-25.000000 0.000000,0.000000 0.000000,25.000000 0.000000,0.000000 0.000000,-25.000000 0.000000,0.000000 0.000000,-25.000000 0.000000,0.000000 0.000000,0.000000 0.000000,0.000000 0.000000,-50.000000 0.000000,0.000000 0.000000,50.000000 0.000000,0.000000 0.000000,-25.000000 0.000000,0.000000 0.000000,0.000000 0.000000,0.000000 0.000000,0.000000-25.000000,0.000000 0.000000,0.000000 25.000000,0.000000 0.000000,25.000000 0.000000,0.000000 0.000000,25.000000-25.000000,0.000000 0.000000,-50.000000 25.000000,0.000000 0.000000,75.000000 0.000000,0.000000 0.000000,-50.000000 0.000000,0.000000 0.000000,0.000000 0.000000,0.000000 0.000000,25.000000 0.000000,0.000000 0.000000,0.000000 0.000000,0.000000 0.000000,0.000000 0.000000,0.000000 0.000000,-50.000000 0.000000,0.000000 0.000000,-50.000000 0.000000,0.000000 0.000000,-25.000000 0.000000,0.000000 0.000000,-75.000000 0.000000,0.000000 0.000000,25.000000 25.000000,0.000000 0.000000,-25.000000-25.000000</inkml:trace>
</inkml:ink>
</file>

<file path=ppt/ink/ink1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0:08"/>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5200.000000 13550.000000,'0.000000'100.000000,"-25.000000"-50.000000,0.000000 0.000000,25.000000-25.000000,0.000000 0.000000,25.000000-25.000000,0.000000 0.000000,50.000000 0.000000,0.000000 0.000000,0.000000-25.000000,0.000000 0.000000,0.000000 0.000000,0.000000 0.000000,-25.000000 25.000000,0.000000 0.000000,0.000000 0.000000,0.000000 0.000000,-50.000000-25.000000,0.000000 0.000000,-25.000000 0.000000,0.000000 0.000000,-25.000000 25.000000,0.000000 0.000000,-50.000000-25.000000,0.000000 0.000000,25.000000 0.000000,0.000000 0.000000,0.000000 25.000000,0.000000 0.000000,0.000000 0.000000,0.000000 0.000000,25.000000 0.000000,0.000000 0.000000,75.000000 0.000000,0.000000 0.000000,0.000000 0.000000</inkml:trace>
</inkml:ink>
</file>

<file path=ppt/ink/ink1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0:11"/>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20150.000000 18200.000000,'-50.000000'0.000000,"25.000000"0.000000,0.000000 0.000000,100.000000 0.000000,0.000000 0.000000,75.000000 0.000000,0.000000 0.000000,225.000000 0.000000,0.000000 0.000000,-50.000000 0.000000,0.000000 0.000000,0.000000 25.000000,0.000000 0.000000,-50.000000 0.000000,0.000000 0.000000,-75.000000-25.000000,0.000000 0.000000,200.000000 0.000000,0.000000 0.000000,-100.000000 0.000000,0.000000 0.000000,25.000000 0.000000,0.000000 0.000000,-50.000000 0.000000,0.000000 0.000000,0.000000 0.000000,0.000000 0.000000,0.000000 25.000000,0.000000 0.000000,0.000000-25.000000,0.000000 0.000000,50.000000-25.000000,0.000000 0.000000,25.000000 0.000000,0.000000 0.000000,-50.000000 25.000000,0.000000 0.000000,0.000000 0.000000,0.000000 0.000000,-125.000000-25.000000,0.000000 0.000000,200.000000 25.000000,0.000000 0.000000,-100.000000-25.000000,0.000000 0.000000,0.000000 25.000000,0.000000 0.000000,-125.000000 0.000000,0.000000 0.000000,75.000000 0.000000,0.000000 0.000000,-100.000000 0.000000,0.000000 0.000000,-25.000000 0.000000,0.000000 0.000000,-75.000000 0.000000,0.000000 0.000000,-50.000000-25.000000,0.000000 0.000000,0.000000 25.000000,0.000000 0.000000,-25.000000 0.000000,0.000000 0.000000,25.000000-25.000000</inkml:trace>
</inkml:ink>
</file>

<file path=ppt/ink/ink1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2:50"/>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41250.000000 10450.000000,'0.000000'50.000000,"25.000000"-50.000000,0.000000 0.000000,75.000000 0.000000,0.000000 0.000000,75.000000-75.000000,0.000000 0.000000,100.000000 50.000000,0.000000 0.000000,-25.000000 0.000000,0.000000 0.000000,0.000000 50.000000,0.000000 0.000000,-75.000000 0.000000,0.000000 0.000000,200.000000-25.000000,0.000000 0.000000,-50.000000 0.000000,0.000000 0.000000,-125.000000 0.000000,0.000000 0.000000,175.000000 25.000000,0.000000 0.000000,-150.000000 0.000000,0.000000 0.000000,-50.000000-25.000000,0.000000 0.000000,150.000000 0.000000,0.000000 0.000000,-125.000000 0.000000,0.000000 0.000000,0.000000 25.000000,0.000000 0.000000,-75.000000 0.000000,0.000000 0.000000,-25.000000 0.000000,0.000000 0.000000,-50.000000 0.000000,0.000000 0.000000,-75.000000-25.000000,0.000000 0.000000,25.000000-25.000000</inkml:trace>
</inkml:ink>
</file>

<file path=ppt/ink/ink1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2:51"/>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5700.000000 10600.000000,'50.000000'0.000000,"25.000000"25.000000,0.000000 0.000000,75.000000-25.000000,0.000000 0.000000,25.000000 25.000000,0.000000 0.000000,25.000000 0.000000,0.000000 0.000000,-75.000000 0.000000,0.000000 0.000000,-75.000000-25.000000,0.000000 0.000000,0.000000-25.000000,0.000000 0.000000,-50.000000 0.000000,0.000000 0.000000,0.000000 0.000000</inkml:trace>
</inkml:ink>
</file>

<file path=ppt/ink/ink1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2:56"/>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10650.000000 21000.000000,'537.000000'8.000000,"1.000000"1.000000,-1.000000 0.000000,1.000000 0.000000,-1.000000-1.000000,1.000000 1.000000,-1.000000 0.000000,1.000000 0.000000,-1.000000-1.000000,1.000000 1.000000,-1.000000 0.000000,1.000000 0.000000,-1.000000-1.000000,1.000000 1.000000,-1.000000 0.000000,1.000000 0.000000,-1.000000-1.000000,1.000000 1.000000,-1.000000 0.000000,1.000000 0.000000,-1.000000-1.000000,1.000000 1.000000,-1.000000 0.000000,1.000000 0.000000,-1.000000-1.000000,1.000000 1.000000,-1.000000 0.000000,1.000000 0.000000,-1.000000-1.000000,1.000000 1.000000,-1.000000 0.000000,1.000000 0.000000,-1.000000-1.000000,1.000000 1.000000,-1.000000 0.000000,1.000000 0.000000,-1.000000-1.000000,1.000000 1.000000,-1.000000 0.000000,1.000000 0.000000</inkml:trace>
</inkml:ink>
</file>

<file path=ppt/ink/ink1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29"/>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28000.000000 24000.000000,'50.000000'0.000000,"-25.000000"-25.000000,0.000000 0.000000,25.000000 0.000000,0.000000 0.000000,25.000000 0.000000,0.000000 0.000000,0.000000 25.000000,0.000000 0.000000,50.000000-25.000000,0.000000 0.000000,0.000000 25.000000,0.000000 0.000000,25.000000 0.000000,0.000000 0.000000,-25.000000 0.000000,0.000000 0.000000,-25.000000 25.000000,0.000000 0.000000,25.000000-25.000000,0.000000 0.000000,-25.000000 0.000000,0.000000 0.000000,-25.000000-25.000000,0.000000 0.000000,-25.000000 0.000000,0.000000 0.000000,-50.000000 0.000000,0.000000 0.000000,25.000000 0.000000,0.000000 0.000000,0.000000 0.000000,0.000000 0.000000,0.000000 25.000000,0.000000 0.000000,0.000000 0.000000,0.000000 0.000000,0.000000-25.000000</inkml:trace>
</inkml:ink>
</file>

<file path=ppt/ink/ink1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30"/>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5750.000000 25750.000000,'50.000000'0.000000,"50.000000"0.000000,0.000000 0.000000,50.000000 25.000000,0.000000 0.000000,75.000000 0.000000,0.000000 0.000000,50.000000 0.000000,0.000000 0.000000,0.000000-25.000000,0.000000 0.000000,-75.000000 0.000000,0.000000 0.000000,-50.000000 0.000000,0.000000 0.000000,-50.000000 0.000000,0.000000 0.000000,-100.000000-25.000000,0.000000 0.000000,0.000000 0.000000,0.000000 0.000000,-25.000000 25.000000,0.000000 0.000000,25.000000-25.000000</inkml:trace>
</inkml:ink>
</file>

<file path=ppt/ink/ink2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31"/>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25100.000000 26000.000000,'-50.000000'0.000000,"25.000000"0.000000,0.000000 0.000000,75.000000 0.000000,0.000000 0.000000,150.000000 25.000000,0.000000 0.000000,50.000000-25.000000,0.000000 0.000000,75.000000 25.000000,0.000000 0.000000,-50.000000-25.000000,0.000000 0.000000,-25.000000 0.000000,0.000000 0.000000,-75.000000 0.000000,0.000000 0.000000,-75.000000 0.000000,0.000000 0.000000,-75.000000 0.000000,0.000000 0.000000,-75.000000 0.000000,0.000000 0.000000,0.000000 25.000000</inkml:trace>
</inkml:ink>
</file>

<file path=ppt/ink/ink2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36"/>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6350.000000 13850.000000,'-150.000000'0.000000,"100.000000"0.000000,0.000000 0.000000,125.000000 0.000000,0.000000 0.000000,50.000000 0.000000,0.000000 0.000000,75.000000 0.000000,0.000000 0.000000,50.000000-25.000000,0.000000 0.000000,0.000000 25.000000,0.000000 0.000000,-50.000000 0.000000,0.000000 0.000000,-75.000000 0.000000,0.000000 0.000000,-75.000000 0.000000,0.000000 0.000000,-75.000000 0.000000,0.000000 0.000000,0.000000 25.000000,0.000000 0.000000,25.000000 0.000000</inkml:trace>
</inkml:ink>
</file>

<file path=ppt/ink/ink2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37"/>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11700.000000 14250.000000,'50.000000'-50.000000,"-25.000000"50.000000,0.000000 0.000000,25.000000 25.000000,0.000000 0.000000,25.000000 25.000000,0.000000 0.000000,75.000000-25.000000,0.000000 0.000000,-50.000000 0.000000,0.000000 0.000000,100.000000 0.000000,0.000000 0.000000,100.000000-25.000000,0.000000 0.000000,-50.000000 0.000000,0.000000 0.000000,25.000000 0.000000,0.000000 0.000000,-25.000000 0.000000,0.000000 0.000000,-25.000000 0.000000,0.000000 0.000000,50.000000 0.000000,0.000000 0.000000,-25.000000 25.000000,0.000000 0.000000,25.000000-25.000000,0.000000 0.000000,0.000000 25.000000,0.000000 0.000000,0.000000-25.000000,0.000000 0.000000,-100.000000 0.000000,0.000000 0.000000,125.000000 25.000000,0.000000 0.000000,-100.000000-25.000000,0.000000 0.000000,-25.000000 50.000000,0.000000 0.000000,-25.000000-25.000000,0.000000 0.000000,-75.000000-25.000000,0.000000 0.000000,75.000000 25.000000,0.000000 0.000000,-50.000000-25.000000,0.000000 0.000000,0.000000-25.000000,0.000000 0.000000,-50.000000-25.000000,0.000000 0.000000,-25.000000 50.000000,0.000000 0.000000,25.000000-25.000000,0.000000 0.000000,-25.000000 0.000000,0.000000 0.000000,0.000000 25.000000,0.000000 0.000000,0.000000 0.000000,0.000000 0.000000,0.000000 0.000000</inkml:trace>
</inkml:ink>
</file>

<file path=ppt/ink/ink2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39"/>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10400.000000 16550.000000,'0.000000'-50.000000,"0.000000"25.000000,0.000000 0.000000,50.000000 0.000000,0.000000 0.000000,50.000000 25.000000,0.000000 0.000000,75.000000 0.000000,0.000000 0.000000,100.000000 0.000000,0.000000 0.000000,0.000000 0.000000,0.000000 0.000000,-75.000000 25.000000,0.000000 0.000000,-75.000000-25.000000,0.000000 0.000000,-75.000000 0.000000,0.000000 0.000000,0.000000 25.000000,0.000000 0.000000,-25.000000-25.000000</inkml:trace>
</inkml:ink>
</file>

<file path=ppt/ink/ink2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40"/>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14900.000000 18600.000000,'200.000000'0.000000,"-50.000000"0.000000,0.000000 0.000000,150.000000 25.000000,0.000000 0.000000,-25.000000 0.000000,0.000000 0.000000,0.000000-25.000000,0.000000 0.000000,0.000000 0.000000,0.000000 0.000000,-50.000000-25.000000,0.000000 0.000000,0.000000 25.000000,0.000000 0.000000,0.000000 0.000000,0.000000 0.000000,-25.000000 0.000000,0.000000 0.000000,-50.000000 0.000000,0.000000 0.000000,150.000000-50.000000,0.000000 0.000000,-75.000000 50.000000,0.000000 0.000000,0.000000 0.000000,0.000000 0.000000,0.000000 25.000000,0.000000 0.000000,25.000000 0.000000,0.000000 0.000000,25.000000 0.000000,0.000000 0.000000,25.000000-25.000000,0.000000 0.000000,-50.000000 0.000000,0.000000 0.000000,0.000000 0.000000,0.000000 0.000000,-50.000000 0.000000,0.000000 0.000000,-50.000000 0.000000,0.000000 0.000000,125.000000 0.000000,0.000000 0.000000,-50.000000 0.000000,0.000000 0.000000,-50.000000 0.000000,0.000000 0.000000,-25.000000 0.000000,0.000000 0.000000,-50.000000-25.000000,0.000000 0.000000,-150.000000 25.000000,0.000000 0.000000,25.000000 0.000000,0.000000 0.000000,0.000000 0.000000</inkml:trace>
</inkml:ink>
</file>

<file path=ppt/ink/ink2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43"/>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27950.000000 20600.000000,'-200.000000'0.000000,"125.000000"0.000000,0.000000 0.000000,50.000000-25.000000,0.000000 0.000000,75.000000 25.000000,0.000000 0.000000,25.000000 0.000000,0.000000 0.000000,50.000000 0.000000,0.000000 0.000000,0.000000 0.000000,0.000000 0.000000,50.000000-25.000000,0.000000 0.000000,0.000000 25.000000,0.000000 0.000000,-75.000000-25.000000,0.000000 0.000000,50.000000 0.000000,0.000000 0.000000,-50.000000 0.000000,0.000000 0.000000,-50.000000 25.000000,0.000000 0.000000,-25.000000 0.000000,0.000000 0.000000,0.000000 0.000000,0.000000 0.000000,0.000000-25.000000,0.000000 0.000000,0.000000 25.000000,0.000000 0.000000,0.000000 0.000000,0.000000 0.000000,0.000000 0.000000,0.000000 0.000000,25.000000 0.000000,0.000000 0.000000,0.000000 0.000000,0.000000 0.000000,-25.000000 0.000000,0.000000 0.000000,0.000000 0.000000,0.000000 0.000000,0.000000 0.000000</inkml:trace>
</inkml:ink>
</file>

<file path=ppt/ink/ink2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45"/>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6850.000000 22700.000000,'-50.000000'0.000000,"-25.000000"-25.000000,0.000000 0.000000,50.000000 25.000000,0.000000 0.000000,25.000000-25.000000,0.000000 0.000000,25.000000 25.000000,0.000000 0.000000,75.000000 0.000000,0.000000 0.000000,0.000000 0.000000,0.000000 0.000000,50.000000 50.000000,0.000000 0.000000,25.000000-50.000000,0.000000 0.000000,25.000000 25.000000,0.000000 0.000000,-50.000000-25.000000,0.000000 0.000000,25.000000 0.000000,0.000000 0.000000,-125.000000 0.000000,0.000000 0.000000,-25.000000 0.000000,0.000000 0.000000,-50.000000 0.000000,0.000000 0.000000,25.000000 25.000000</inkml:trace>
</inkml:ink>
</file>

<file path=ppt/ink/ink2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3:45"/>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5150.000000 24900.000000,'-200.000000'50.000000,"150.000000"-50.000000,0.000000 0.000000,25.000000 25.000000,0.000000 0.000000,200.000000-25.000000,0.000000 0.000000,100.000000 0.000000,0.000000 0.000000,25.000000 0.000000,0.000000 0.000000,-25.000000-50.000000,0.000000 0.000000,-75.000000 25.000000,0.000000 0.000000,-100.000000 0.000000,0.000000 0.000000,-100.000000 0.000000,0.000000 0.000000,25.000000 25.000000</inkml:trace>
</inkml:ink>
</file>

<file path=ppt/ink/ink2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6:34"/>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14950.000000 10150.000000,'0.000000'50.000000,"50.000000"-50.000000,0.000000 0.000000,25.000000 0.000000,0.000000 0.000000,0.000000 0.000000,0.000000 0.000000,50.000000 0.000000,0.000000 0.000000,25.000000-25.000000,0.000000 0.000000,25.000000 25.000000,0.000000 0.000000,-25.000000 0.000000,0.000000 0.000000,-25.000000 0.000000,0.000000 0.000000,-25.000000 0.000000,0.000000 0.000000,25.000000 0.000000,0.000000 0.000000,-25.000000 0.000000,0.000000 0.000000,25.000000 0.000000,0.000000 0.000000,0.000000 0.000000,0.000000 0.000000,0.000000 25.000000,0.000000 0.000000,0.000000 0.000000,0.000000 0.000000,-25.000000 0.000000,0.000000 0.000000,50.000000-25.000000,0.000000 0.000000,0.000000 0.000000,0.000000 0.000000,-25.000000-25.000000,0.000000 0.000000,0.000000 25.000000,0.000000 0.000000,0.000000-25.000000,0.000000 0.000000,-25.000000 25.000000,0.000000 0.000000,0.000000 0.000000,0.000000 0.000000,0.000000 0.000000,0.000000 0.000000,0.000000 0.000000,0.000000 0.000000,0.000000 0.000000,0.000000 0.000000,0.000000 0.000000,0.000000 0.000000,-50.000000-25.000000,0.000000 0.000000,-75.000000 25.000000</inkml:trace>
</inkml:ink>
</file>

<file path=ppt/ink/ink2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6:35"/>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14000.000000 10050.000000,'50.000000'-100.000000,"0.000000"75.000000,0.000000 0.000000,0.000000 0.000000,0.000000 0.000000,-25.000000 25.000000,0.000000 0.000000,0.000000 0.000000,0.000000 0.000000,0.000000 0.000000,0.000000 0.000000,0.000000-25.000000,0.000000 0.000000,0.000000 25.000000,0.000000 0.000000,0.000000 0.000000</inkml:trace>
</inkml:ink>
</file>

<file path=ppt/ink/ink30.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4:31"/>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8250.000000 18400.000000,'0.000000'-50.000000,"0.000000"25.000000,0.000000 0.000000,0.000000 0.000000,0.000000 0.000000,-25.000000 0.000000,0.000000 0.000000,25.000000 0.000000,0.000000 0.000000,50.000000 25.000000,0.000000 0.000000,50.000000 0.000000,0.000000 0.000000,25.000000 0.000000,0.000000 0.000000,25.000000 0.000000,0.000000 0.000000,0.000000 0.000000,0.000000 0.000000,-25.000000 0.000000,0.000000 0.000000,0.000000 0.000000,0.000000 0.000000,0.000000 0.000000,0.000000 0.000000,-75.000000 0.000000,0.000000 0.000000,50.000000 0.000000,0.000000 0.000000,-25.000000 0.000000,0.000000 0.000000,-25.000000 0.000000,0.000000 0.000000,-25.000000 0.000000,0.000000 0.000000,0.000000 0.000000,0.000000 0.000000,0.000000 25.000000</inkml:trace>
</inkml:ink>
</file>

<file path=ppt/ink/ink31.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4:32"/>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12950.000000 20850.000000,'50.000000'-50.000000,"0.000000"25.000000,0.000000 0.000000,50.000000 0.000000,0.000000 0.000000,25.000000 0.000000,0.000000 0.000000,25.000000 0.000000,0.000000 0.000000,0.000000 0.000000,0.000000 0.000000,0.000000 0.000000,0.000000 0.000000,0.000000 25.000000,0.000000 0.000000,-25.000000 0.000000,0.000000 0.000000,0.000000 0.000000,0.000000 0.000000,0.000000 25.000000,0.000000 0.000000,-25.000000-25.000000,0.000000 0.000000,-25.000000 25.000000,0.000000 0.000000,0.000000-25.000000,0.000000 0.000000,0.000000 0.000000,0.000000 0.000000,-50.000000 0.000000,0.000000 0.000000,0.000000 0.000000,0.000000 0.000000,0.000000 0.000000,0.000000 0.000000,-50.000000 0.000000</inkml:trace>
</inkml:ink>
</file>

<file path=ppt/ink/ink32.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4:34"/>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8700.000000 15600.000000,'-100.000000'0.000000,"50.000000"0.000000,0.000000 0.000000,0.000000 0.000000,0.000000 0.000000,25.000000 0.000000,0.000000 0.000000,0.000000 0.000000,0.000000 0.000000,50.000000 0.000000,0.000000 0.000000,100.000000 25.000000,0.000000 0.000000,25.000000-25.000000,0.000000 0.000000,50.000000 25.000000,0.000000 0.000000,0.000000-25.000000,0.000000 0.000000,25.000000 0.000000,0.000000 0.000000,-75.000000 0.000000,0.000000 0.000000,25.000000 0.000000,0.000000 0.000000,-100.000000 25.000000,0.000000 0.000000,-25.000000 25.000000,0.000000 0.000000,0.000000 0.000000,0.000000 0.000000,-25.000000-25.000000</inkml:trace>
</inkml:ink>
</file>

<file path=ppt/ink/ink33.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4:35"/>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29650.000000 15600.000000,'100.000000'0.000000,"50.000000"0.000000,0.000000 0.000000,75.000000-50.000000,0.000000 0.000000,25.000000 25.000000,0.000000 0.000000,0.000000-25.000000,0.000000 0.000000,-25.000000 0.000000,0.000000 0.000000,-75.000000 0.000000,0.000000 0.000000,-100.000000 25.000000,0.000000 0.000000,-25.000000 25.000000</inkml:trace>
</inkml:ink>
</file>

<file path=ppt/ink/ink34.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9:43"/>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13200.000000 11350.000000,'50.000000'0.000000,"50.000000"0.000000,0.000000 0.000000,50.000000 0.000000,0.000000 0.000000,75.000000 0.000000,0.000000 0.000000,25.000000 25.000000,0.000000 0.000000,25.000000 0.000000,0.000000 0.000000,0.000000 25.000000,0.000000 0.000000,25.000000 0.000000,0.000000 0.000000,25.000000-25.000000,0.000000 0.000000,0.000000-25.000000,0.000000 0.000000,25.000000 0.000000,0.000000 0.000000,-50.000000-25.000000,0.000000 0.000000,-25.000000 0.000000,0.000000 0.000000,-75.000000 0.000000,0.000000 0.000000,-25.000000 25.000000,0.000000 0.000000,-75.000000 0.000000,0.000000 0.000000,-50.000000 0.000000,0.000000 0.000000,-75.000000 0.000000,0.000000 0.000000,0.000000 0.000000</inkml:trace>
</inkml:ink>
</file>

<file path=ppt/ink/ink35.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9:43"/>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3750.000000 9200.000000,'-50.000000'0.000000,"0.000000"0.000000,0.000000 0.000000,0.000000 0.000000,0.000000 0.000000,25.000000 0.000000,0.000000 0.000000,100.000000 0.000000,0.000000 0.000000,50.000000 0.000000,0.000000 0.000000,50.000000 0.000000,0.000000 0.000000,25.000000 0.000000,0.000000 0.000000,-50.000000 0.000000,0.000000 0.000000,-50.000000 0.000000,0.000000 0.000000,-50.000000 0.000000,0.000000 0.000000,-25.000000 25.000000</inkml:trace>
</inkml:ink>
</file>

<file path=ppt/ink/ink36.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9:49"/>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6200.000000 25150.000000,'-100.000000'0.000000,"50.000000"0.000000,0.000000 0.000000,25.000000 0.000000,0.000000 0.000000,0.000000 0.000000,0.000000 0.000000,25.000000 25.000000,0.000000 0.000000,50.000000 0.000000,0.000000 0.000000,25.000000-25.000000,0.000000 0.000000,75.000000 0.000000,0.000000 0.000000,25.000000 0.000000,0.000000 0.000000,0.000000 0.000000,0.000000 0.000000,25.000000 0.000000,0.000000 0.000000,25.000000-25.000000,0.000000 0.000000,0.000000 0.000000,0.000000 0.000000,-50.000000-25.000000,0.000000 0.000000,-50.000000 25.000000,0.000000 0.000000,75.000000 25.000000,0.000000 0.000000,-75.000000 0.000000,0.000000 0.000000,0.000000 50.000000,0.000000 0.000000,0.000000-50.000000,0.000000 0.000000,25.000000 25.000000,0.000000 0.000000,-50.000000-25.000000,0.000000 0.000000,-25.000000 0.000000,0.000000 0.000000,-25.000000 0.000000,0.000000 0.000000,-25.000000 0.000000,0.000000 0.000000,-25.000000 25.000000</inkml:trace>
</inkml:ink>
</file>

<file path=ppt/ink/ink37.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9:53"/>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3150.000000 7900.000000,'-50.000000'0.000000,"25.000000"0.000000,0.000000 0.000000,75.000000 25.000000,0.000000 0.000000,100.000000-25.000000,0.000000 0.000000,50.000000 0.000000,0.000000 0.000000,75.000000-50.000000,0.000000 0.000000,-25.000000 25.000000,0.000000 0.000000,-75.000000 0.000000,0.000000 0.000000,-75.000000 25.000000,0.000000 0.000000,-50.000000 0.000000,0.000000 0.000000,-25.000000 25.000000,0.000000 0.000000,0.000000-25.000000,0.000000 0.000000,0.000000 0.000000,0.000000 0.000000,0.000000 0.000000,0.000000 0.000000,0.000000 0.000000</inkml:trace>
</inkml:ink>
</file>

<file path=ppt/ink/ink38.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39:56"/>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12250.000000 10300.000000,'-100.000000'0.000000,"50.000000"0.000000,0.000000 0.000000,25.000000 0.000000,0.000000 0.000000,125.000000 25.000000,0.000000 0.000000,100.000000-25.000000,0.000000 0.000000,25.000000 0.000000,0.000000 0.000000,50.000000 0.000000,0.000000 0.000000,50.000000 0.000000,0.000000 0.000000,25.000000-50.000000,0.000000 0.000000,75.000000 25.000000,0.000000 0.000000,-75.000000 25.000000,0.000000 0.000000,-50.000000 0.000000,0.000000 0.000000,-25.000000 0.000000,0.000000 0.000000,-25.000000 0.000000,0.000000 0.000000,-25.000000 0.000000,0.000000 0.000000,-100.000000 0.000000,0.000000 0.000000,-50.000000 0.000000,0.000000 0.000000,-25.000000 0.000000,0.000000 0.000000,-25.000000 0.000000,0.000000 0.000000,0.000000 0.000000,0.000000 0.000000,0.000000 25.000000</inkml:trace>
</inkml:ink>
</file>

<file path=ppt/ink/ink39.xml><?xml version="1.0" encoding="utf-8"?>
<inkml:ink xmlns:inkml="http://www.w3.org/2003/InkML">
  <inkml:annotation type="SourceType">0</inkml:annotation>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5-31T00:40:00"/>
    </inkml:context>
    <inkml:brush xml:id="br0">
      <inkml:brushProperty name="width" value="0.793650686740875" units="cm"/>
      <inkml:brushProperty name="height" value="0.793650686740875" units="cm"/>
      <inkml:brushProperty name="color" value="#F9F200"/>
      <inkml:brushProperty name="transparency" value="128"/>
      <inkml:brushProperty name="ignorePressure" value="0"/>
    </inkml:brush>
  </inkml:definitions>
  <inkml:trace contextRef="#ctx0" brushRef="#br0">18600.000000 26500.000000,'594.000000'4.000000,"2.000000"2.000000,-2.000000-2.000000,2.000000 2.000000,-1.000000-1.000000,-1.000000-1.000000,2.000000 2.000000,-2.000000-2.000000,2.000000 2.000000,-1.000000-1.000000,-1.000000-1.000000,2.000000 2.000000,-2.000000-2.000000,2.000000 2.000000,-1.000000-1.000000,-1.000000-1.000000,2.000000 2.000000,-2.000000-2.000000,2.000000 2.000000,-1.000000-1.000000,-1.000000-1.000000,2.000000 2.000000,-2.000000-2.000000,2.000000 2.000000,-1.000000-1.000000,-1.000000-1.000000,2.000000 2.000000,-2.000000-2.000000,2.000000 2.000000,-1.000000-1.000000,-1.000000-1.000000,2.000000 2.000000,-2.000000-2.000000,2.000000 2.000000,-1.000000-1.000000,-1.000000-1.000000,2.000000 2.000000,-2.000000-2.000000,2.000000 2.000000,-1.000000-1.000000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14:cpLocks xmlns:a14="http://schemas.microsoft.com/office/drawing/2010/main"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14:cpLocks xmlns:a14="http://schemas.microsoft.com/office/drawing/2010/main"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14:cpLocks xmlns:a14="http://schemas.microsoft.com/office/drawing/2010/main"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14:cpLocks xmlns:a14="http://schemas.microsoft.com/office/drawing/2010/main"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a:xfrm>
            <a:off x="685800" y="1143000"/>
            <a:ext cx="5486400" cy="3086100"/>
          </a:xfrm>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灯片编号占位符 3"/>
          <p:cNvSpPr>
            <a14:cpLocks xmlns:a14="http://schemas.microsoft.com/office/drawing/2010/main"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zh-CN" altLang="en-US" dirty="0"/>
              <a:t>出栈操作实际是把栈顶指针往下移一位，并不需要真的删除数据，下一次入栈可以直接覆盖。</a:t>
            </a:r>
            <a:endParaRPr lang="en-US" altLang="zh-CN" dirty="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charset="2"/>
              <a:buChar char="Ø"/>
              <a:defRPr/>
            </a:pPr>
            <a:endParaRPr lang="zh-CN" altLang="zh-CN" sz="1200" b="0" dirty="0">
              <a:latin typeface="华文楷体" pitchFamily="2" charset="-122"/>
              <a:ea typeface="华文楷体"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charset="2"/>
              <a:buChar char="Ø"/>
              <a:defRPr/>
            </a:pPr>
            <a:endParaRPr lang="zh-CN" altLang="zh-CN" sz="1200" b="0" dirty="0">
              <a:latin typeface="华文楷体" pitchFamily="2" charset="-122"/>
              <a:ea typeface="华文楷体"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charset="2"/>
              <a:buChar char="Ø"/>
              <a:defRPr/>
            </a:pPr>
            <a:endParaRPr lang="zh-CN" altLang="zh-CN" sz="1200" b="0" dirty="0">
              <a:latin typeface="华文楷体" pitchFamily="2" charset="-122"/>
              <a:ea typeface="华文楷体"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5000"/>
              </a:lnSpc>
              <a:buFont typeface="Wingdings" charset="2"/>
              <a:buChar char="Ø"/>
              <a:defRPr/>
            </a:pPr>
            <a:endParaRPr lang="zh-CN" altLang="zh-CN" sz="1200" b="0" dirty="0">
              <a:latin typeface="华文楷体" pitchFamily="2" charset="-122"/>
              <a:ea typeface="华文楷体"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endParaRPr lang="zh-CN" altLang="zh-CN" dirty="0">
              <a:latin typeface="Arial"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Font typeface="+mj-lt"/>
              <a:buAutoNum type="arabicPeriod"/>
            </a:pPr>
            <a:r>
              <a:rPr lang="en-US" altLang="zh-CN" dirty="0">
                <a:latin typeface="Arial" charset="0"/>
              </a:rPr>
              <a:t>D</a:t>
            </a:r>
            <a:endParaRPr lang="en-US" altLang="zh-CN" dirty="0">
              <a:latin typeface="Arial" charset="0"/>
            </a:endParaRPr>
          </a:p>
          <a:p>
            <a:pPr marL="0" indent="0" eaLnBrk="1" hangingPunct="1">
              <a:buFont typeface="+mj-lt"/>
              <a:buNone/>
            </a:pPr>
            <a:r>
              <a:rPr lang="zh-CN" altLang="en-US" dirty="0">
                <a:latin typeface="Arial" charset="0"/>
              </a:rPr>
              <a:t>因为可以</a:t>
            </a:r>
            <a:r>
              <a:rPr lang="en-US" altLang="zh-CN" dirty="0">
                <a:latin typeface="Arial" charset="0"/>
              </a:rPr>
              <a:t>1</a:t>
            </a:r>
            <a:r>
              <a:rPr lang="zh-CN" altLang="en-US" dirty="0">
                <a:latin typeface="Arial" charset="0"/>
              </a:rPr>
              <a:t>入栈。</a:t>
            </a:r>
            <a:r>
              <a:rPr lang="en-US" altLang="zh-CN" dirty="0">
                <a:latin typeface="Arial" charset="0"/>
              </a:rPr>
              <a:t>1</a:t>
            </a:r>
            <a:r>
              <a:rPr lang="zh-CN" altLang="en-US" dirty="0">
                <a:latin typeface="Arial" charset="0"/>
              </a:rPr>
              <a:t>出栈，</a:t>
            </a:r>
            <a:r>
              <a:rPr lang="en-US" altLang="zh-CN" dirty="0">
                <a:latin typeface="Arial" charset="0"/>
              </a:rPr>
              <a:t>2</a:t>
            </a:r>
            <a:r>
              <a:rPr lang="zh-CN" altLang="en-US" dirty="0">
                <a:latin typeface="Arial" charset="0"/>
              </a:rPr>
              <a:t>入栈，</a:t>
            </a:r>
            <a:r>
              <a:rPr lang="en-US" altLang="zh-CN" dirty="0">
                <a:latin typeface="Arial" charset="0"/>
              </a:rPr>
              <a:t>2</a:t>
            </a:r>
            <a:r>
              <a:rPr lang="zh-CN" altLang="en-US" dirty="0">
                <a:latin typeface="Arial" charset="0"/>
              </a:rPr>
              <a:t>出栈这样</a:t>
            </a:r>
            <a:endParaRPr lang="en-US" altLang="zh-CN" dirty="0">
              <a:latin typeface="Arial" charset="0"/>
            </a:endParaRPr>
          </a:p>
          <a:p>
            <a:pPr marL="0" indent="0" eaLnBrk="1" hangingPunct="1">
              <a:buFont typeface="+mj-lt"/>
              <a:buNone/>
            </a:pPr>
            <a:r>
              <a:rPr lang="zh-CN" altLang="en-US" b="1" dirty="0">
                <a:latin typeface="Arial" charset="0"/>
              </a:rPr>
              <a:t>每个元素后面的所有比它小的元素必须递减排列。</a:t>
            </a:r>
            <a:endParaRPr lang="zh-CN" altLang="zh-CN" b="1" dirty="0">
              <a:latin typeface="Arial"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zh-CN" sz="1200" kern="1200" dirty="0">
                <a:solidFill>
                  <a:schemeClr val="tx1"/>
                </a:solidFill>
                <a:effectLst/>
                <a:latin typeface="+mn-lt"/>
                <a:ea typeface="+mn-ea"/>
                <a:cs typeface="+mn-cs"/>
              </a:rPr>
              <a:t>日常生活中，个人手头事务的处理通常采取这样的策略；操作系统中进程的调度、管理也是采用优先队列进行管理的。如在操作系统的进程管理中，每个进程由唯一的进程号、优先级值标识。进程优先级值通常在</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40</a:t>
            </a:r>
            <a:r>
              <a:rPr lang="zh-CN" altLang="zh-CN" sz="1200" kern="1200" dirty="0">
                <a:solidFill>
                  <a:schemeClr val="tx1"/>
                </a:solidFill>
                <a:effectLst/>
                <a:latin typeface="+mn-lt"/>
                <a:ea typeface="+mn-ea"/>
                <a:cs typeface="+mn-cs"/>
              </a:rPr>
              <a:t>之间，</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为优先级最高，</a:t>
            </a:r>
            <a:r>
              <a:rPr lang="en-US" altLang="zh-CN" sz="1200" kern="1200" dirty="0">
                <a:solidFill>
                  <a:schemeClr val="tx1"/>
                </a:solidFill>
                <a:effectLst/>
                <a:latin typeface="+mn-lt"/>
                <a:ea typeface="+mn-ea"/>
                <a:cs typeface="+mn-cs"/>
              </a:rPr>
              <a:t>40</a:t>
            </a:r>
            <a:r>
              <a:rPr lang="zh-CN" altLang="zh-CN" sz="1200" kern="1200" dirty="0">
                <a:solidFill>
                  <a:schemeClr val="tx1"/>
                </a:solidFill>
                <a:effectLst/>
                <a:latin typeface="+mn-lt"/>
                <a:ea typeface="+mn-ea"/>
                <a:cs typeface="+mn-cs"/>
              </a:rPr>
              <a:t>为最低。操作系统一般将打印进程视为最不急需的任务，赋予它最低的优先级。这样，操作系统就可以根据进程的优先级来确定如何对它们进行调度。</a:t>
            </a:r>
            <a:endParaRPr lang="en-US" altLang="zh-CN" dirty="0">
              <a:latin typeface="Arial"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r>
              <a:rPr lang="en-US" altLang="zh-CN" dirty="0">
                <a:latin typeface="Arial" charset="0"/>
              </a:rPr>
              <a:t>1.</a:t>
            </a:r>
            <a:endParaRPr lang="en-US" altLang="zh-CN" dirty="0">
              <a:latin typeface="Arial"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14:cpLocks xmlns:a14="http://schemas.microsoft.com/office/drawing/2010/main"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宋体" charset="-122"/>
              </a:defRPr>
            </a:lvl1pPr>
            <a:lvl2pPr marL="742950" indent="-285750">
              <a:spcBef>
                <a:spcPct val="30000"/>
              </a:spcBef>
              <a:defRPr sz="1200">
                <a:solidFill>
                  <a:schemeClr val="tx1"/>
                </a:solidFill>
                <a:latin typeface="Arial" charset="0"/>
                <a:ea typeface="宋体" charset="-122"/>
              </a:defRPr>
            </a:lvl2pPr>
            <a:lvl3pPr marL="1143000" indent="-228600">
              <a:spcBef>
                <a:spcPct val="30000"/>
              </a:spcBef>
              <a:defRPr sz="1200">
                <a:solidFill>
                  <a:schemeClr val="tx1"/>
                </a:solidFill>
                <a:latin typeface="Arial" charset="0"/>
                <a:ea typeface="宋体" charset="-122"/>
              </a:defRPr>
            </a:lvl3pPr>
            <a:lvl4pPr marL="1600200" indent="-228600">
              <a:spcBef>
                <a:spcPct val="30000"/>
              </a:spcBef>
              <a:defRPr sz="1200">
                <a:solidFill>
                  <a:schemeClr val="tx1"/>
                </a:solidFill>
                <a:latin typeface="Arial" charset="0"/>
                <a:ea typeface="宋体" charset="-122"/>
              </a:defRPr>
            </a:lvl4pPr>
            <a:lvl5pPr marL="2057400" indent="-22860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spcBef>
                <a:spcPct val="0"/>
              </a:spcBef>
            </a:pPr>
            <a:fld id="{DB345634-9E6E-4B44-847E-8327697B5FF1}" type="slidenum">
              <a:rPr lang="en-US" altLang="zh-CN"/>
            </a:fld>
            <a:endParaRPr lang="en-US" altLang="zh-CN"/>
          </a:p>
        </p:txBody>
      </p:sp>
      <p:sp>
        <p:nvSpPr>
          <p:cNvPr id="9219" name="Rectangle 2"/>
          <p:cNvSpPr>
            <a14:cpLocks xmlns:a14="http://schemas.microsoft.com/office/drawing/2010/main" noGrp="1" noRot="1" noChangeAspect="1" noChangeArrowheads="1"/>
          </p:cNvSpPr>
          <p:nvPr>
            <p:ph type="sldImg"/>
          </p:nvPr>
        </p:nvSpPr>
        <p:spPr>
          <a:xfrm>
            <a:off x="685800" y="1143000"/>
            <a:ext cx="5486400" cy="3086100"/>
          </a:xfrm>
        </p:spPr>
      </p:sp>
      <p:sp>
        <p:nvSpPr>
          <p:cNvPr id="9220" name="Rectangle 3"/>
          <p:cNvSpPr>
            <a14:cpLocks xmlns:a14="http://schemas.microsoft.com/office/drawing/2010/main"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1.tiff"/><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1.tiff"/><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14:cpLocks xmlns:a14="http://schemas.microsoft.com/office/drawing/2010/main"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14:cpLocks xmlns:a14="http://schemas.microsoft.com/office/drawing/2010/main"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14:cpLocks xmlns:a14="http://schemas.microsoft.com/office/drawing/2010/main"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itchFamily="18" charset="0"/>
              </a:defRPr>
            </a:lvl1pPr>
            <a:lvl2pPr>
              <a:buClr>
                <a:schemeClr val="accent1"/>
              </a:buClr>
              <a:defRPr sz="2000" b="1" baseline="0">
                <a:latin typeface="Times New Roman" pitchFamily="18" charset="0"/>
              </a:defRPr>
            </a:lvl2pPr>
            <a:lvl3pPr>
              <a:buClr>
                <a:schemeClr val="accent1"/>
              </a:buClr>
              <a:defRPr sz="1800" b="1" baseline="0">
                <a:latin typeface="Times New Roman" pitchFamily="18" charset="0"/>
              </a:defRPr>
            </a:lvl3pPr>
            <a:lvl4pPr>
              <a:buClr>
                <a:schemeClr val="accent1"/>
              </a:buClr>
              <a:defRPr sz="1600" b="1" baseline="0">
                <a:latin typeface="Times New Roman" pitchFamily="18" charset="0"/>
              </a:defRPr>
            </a:lvl4pPr>
            <a:lvl5pPr>
              <a:buClr>
                <a:schemeClr val="accent1"/>
              </a:buClr>
              <a:defRPr sz="1600" b="1" baseline="0">
                <a:latin typeface="Times New Roman"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14:cpLocks xmlns:a14="http://schemas.microsoft.com/office/drawing/2010/main"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14:cpLocks xmlns:a14="http://schemas.microsoft.com/office/drawing/2010/main"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itchFamily="18" charset="0"/>
              </a:defRPr>
            </a:lvl1pPr>
            <a:lvl2pPr>
              <a:buClr>
                <a:schemeClr val="accent1"/>
              </a:buClr>
              <a:defRPr sz="2000" b="1" baseline="0">
                <a:latin typeface="Times New Roman" pitchFamily="18" charset="0"/>
              </a:defRPr>
            </a:lvl2pPr>
            <a:lvl3pPr>
              <a:buClr>
                <a:schemeClr val="accent1"/>
              </a:buClr>
              <a:defRPr sz="1800" b="1" baseline="0">
                <a:latin typeface="Times New Roman" pitchFamily="18" charset="0"/>
              </a:defRPr>
            </a:lvl3pPr>
            <a:lvl4pPr>
              <a:buClr>
                <a:schemeClr val="accent1"/>
              </a:buClr>
              <a:defRPr sz="1600" b="1" baseline="0">
                <a:latin typeface="Times New Roman" pitchFamily="18" charset="0"/>
              </a:defRPr>
            </a:lvl4pPr>
            <a:lvl5pPr>
              <a:buClr>
                <a:schemeClr val="accent1"/>
              </a:buClr>
              <a:defRPr sz="1600" b="1" baseline="0">
                <a:latin typeface="Times New Roman"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14:cpLocks xmlns:a14="http://schemas.microsoft.com/office/drawing/2010/main"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itchFamily="34" charset="-122"/>
                <a:ea typeface="微软雅黑"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itchFamily="34" charset="-122"/>
                <a:ea typeface="微软雅黑" pitchFamily="34" charset="-122"/>
              </a:rPr>
              <a:t>Page .</a:t>
            </a:r>
            <a:endParaRPr lang="zh-CN" altLang="en-US" sz="1200" spc="-60" baseline="0" dirty="0">
              <a:solidFill>
                <a:schemeClr val="bg1"/>
              </a:solidFill>
              <a:latin typeface="微软雅黑" pitchFamily="34" charset="-122"/>
              <a:ea typeface="微软雅黑"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14:cpLocks xmlns:a14="http://schemas.microsoft.com/office/drawing/2010/main"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itchFamily="34" charset="-122"/>
                <a:ea typeface="微软雅黑" pitchFamily="34" charset="-122"/>
              </a:rPr>
              <a:t>Page .</a:t>
            </a:r>
            <a:endParaRPr lang="zh-CN" altLang="en-US" sz="1200" spc="-60" baseline="0" dirty="0">
              <a:solidFill>
                <a:schemeClr val="bg1"/>
              </a:solidFill>
              <a:latin typeface="微软雅黑" pitchFamily="34" charset="-122"/>
              <a:ea typeface="微软雅黑" pitchFamily="34" charset="-122"/>
            </a:endParaRPr>
          </a:p>
        </p:txBody>
      </p:sp>
      <p:sp>
        <p:nvSpPr>
          <p:cNvPr id="7" name="灯片编号占位符 5"/>
          <p:cNvSpPr>
            <a14:cpLocks xmlns:a14="http://schemas.microsoft.com/office/drawing/2010/main"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itchFamily="34" charset="-122"/>
                <a:ea typeface="微软雅黑"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14:cpLocks xmlns:a14="http://schemas.microsoft.com/office/drawing/2010/main"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charset="2"/>
              <a:buChar char="p"/>
              <a:defRPr sz="2400" b="1"/>
            </a:lvl1pPr>
            <a:lvl2pPr marL="685800" indent="-228600">
              <a:buClr>
                <a:schemeClr val="accent1"/>
              </a:buClr>
              <a:buFont typeface="Wingdings"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14:cpLocks xmlns:a14="http://schemas.microsoft.com/office/drawing/2010/main"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charset="2"/>
              <a:buChar char="p"/>
              <a:defRPr sz="2400" b="1"/>
            </a:lvl1pPr>
            <a:lvl2pPr marL="685800" indent="-228600">
              <a:buClr>
                <a:schemeClr val="accent1"/>
              </a:buClr>
              <a:buFont typeface="Wingdings"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14:cpLocks xmlns:a14="http://schemas.microsoft.com/office/drawing/2010/main"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14:cpLocks xmlns:a14="http://schemas.microsoft.com/office/drawing/2010/main" noGrp="1"/>
          </p:cNvSpPr>
          <p:nvPr>
            <p:ph type="title"/>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14:cpLocks xmlns:a14="http://schemas.microsoft.com/office/drawing/2010/main"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charset="2"/>
              <a:buChar char="p"/>
              <a:defRPr sz="2400" b="1"/>
            </a:lvl1pPr>
            <a:lvl2pPr marL="685800" indent="-228600">
              <a:buClr>
                <a:schemeClr val="accent1"/>
              </a:buClr>
              <a:buFont typeface="Wingdings"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14:cpLocks xmlns:a14="http://schemas.microsoft.com/office/drawing/2010/main"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charset="2"/>
              <a:buChar char="p"/>
              <a:defRPr sz="2400" b="1"/>
            </a:lvl1pPr>
            <a:lvl2pPr marL="685800" indent="-228600">
              <a:buClr>
                <a:schemeClr val="accent1"/>
              </a:buClr>
              <a:buFont typeface="Wingdings"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14:cpLocks xmlns:a14="http://schemas.microsoft.com/office/drawing/2010/main" noGrp="1"/>
          </p:cNvSpPr>
          <p:nvPr>
            <p:ph type="body" sz="quarter" idx="3"/>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14:cpLocks xmlns:a14="http://schemas.microsoft.com/office/drawing/2010/main"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14:cpLocks xmlns:a14="http://schemas.microsoft.com/office/drawing/2010/main"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14:cpLocks xmlns:a14="http://schemas.microsoft.com/office/drawing/2010/main" noGrp="1"/>
          </p:cNvSpPr>
          <p:nvPr>
            <p:ph type="body" sz="quarter" idx="10"/>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14:cpLocks xmlns:a14="http://schemas.microsoft.com/office/drawing/2010/main"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14:cpLocks xmlns:a14="http://schemas.microsoft.com/office/drawing/2010/main" noGrp="1" noChangeArrowheads="1"/>
          </p:cNvSpPr>
          <p:nvPr>
            <p:ph type="dt" sz="half" idx="10"/>
          </p:nvPr>
        </p:nvSpPr>
        <p:spPr/>
        <p:txBody>
          <a:bodyPr/>
          <a:lstStyle>
            <a:lvl1pPr>
              <a:defRPr/>
            </a:lvl1pPr>
          </a:lstStyle>
          <a:p>
            <a:pPr>
              <a:defRPr/>
            </a:pPr>
            <a:endParaRPr lang="en-US" altLang="zh-CN"/>
          </a:p>
        </p:txBody>
      </p:sp>
      <p:sp>
        <p:nvSpPr>
          <p:cNvPr id="5" name="Rectangle 3"/>
          <p:cNvSpPr>
            <a14:cpLocks xmlns:a14="http://schemas.microsoft.com/office/drawing/2010/main"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14:cpLocks xmlns:a14="http://schemas.microsoft.com/office/drawing/2010/main"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14:cpLocks xmlns:a14="http://schemas.microsoft.com/office/drawing/2010/main"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14:cpLocks xmlns:a14="http://schemas.microsoft.com/office/drawing/2010/main" noGrp="1" noChangeArrowheads="1"/>
          </p:cNvSpPr>
          <p:nvPr>
            <p:ph type="dt" sz="half" idx="10"/>
          </p:nvPr>
        </p:nvSpPr>
        <p:spPr/>
        <p:txBody>
          <a:bodyPr/>
          <a:lstStyle>
            <a:lvl1pPr>
              <a:defRPr/>
            </a:lvl1pPr>
          </a:lstStyle>
          <a:p>
            <a:pPr>
              <a:defRPr/>
            </a:pPr>
            <a:endParaRPr lang="en-US" altLang="zh-CN"/>
          </a:p>
        </p:txBody>
      </p:sp>
      <p:sp>
        <p:nvSpPr>
          <p:cNvPr id="6" name="Rectangle 3"/>
          <p:cNvSpPr>
            <a14:cpLocks xmlns:a14="http://schemas.microsoft.com/office/drawing/2010/main"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14:cpLocks xmlns:a14="http://schemas.microsoft.com/office/drawing/2010/main"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14:cpLocks xmlns:a14="http://schemas.microsoft.com/office/drawing/2010/main"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14:cpLocks xmlns:a14="http://schemas.microsoft.com/office/drawing/2010/main" noGrp="1" noChangeArrowheads="1"/>
          </p:cNvSpPr>
          <p:nvPr>
            <p:ph type="dt" sz="half" idx="10"/>
          </p:nvPr>
        </p:nvSpPr>
        <p:spPr/>
        <p:txBody>
          <a:bodyPr/>
          <a:lstStyle>
            <a:lvl1pPr>
              <a:defRPr/>
            </a:lvl1pPr>
          </a:lstStyle>
          <a:p>
            <a:pPr>
              <a:defRPr/>
            </a:pPr>
            <a:endParaRPr lang="en-US" altLang="zh-CN"/>
          </a:p>
        </p:txBody>
      </p:sp>
      <p:sp>
        <p:nvSpPr>
          <p:cNvPr id="6" name="Rectangle 3"/>
          <p:cNvSpPr>
            <a14:cpLocks xmlns:a14="http://schemas.microsoft.com/office/drawing/2010/main"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14:cpLocks xmlns:a14="http://schemas.microsoft.com/office/drawing/2010/main"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14:cpLocks xmlns:a14="http://schemas.microsoft.com/office/drawing/2010/main" noGrp="1" noChangeArrowheads="1"/>
          </p:cNvSpPr>
          <p:nvPr>
            <p:ph type="dt" sz="half" idx="10"/>
          </p:nvPr>
        </p:nvSpPr>
        <p:spPr/>
        <p:txBody>
          <a:bodyPr/>
          <a:lstStyle>
            <a:lvl1pPr>
              <a:defRPr/>
            </a:lvl1pPr>
          </a:lstStyle>
          <a:p>
            <a:pPr>
              <a:defRPr/>
            </a:pPr>
            <a:endParaRPr lang="en-US" altLang="zh-CN"/>
          </a:p>
        </p:txBody>
      </p:sp>
      <p:sp>
        <p:nvSpPr>
          <p:cNvPr id="3" name="Rectangle 3"/>
          <p:cNvSpPr>
            <a14:cpLocks xmlns:a14="http://schemas.microsoft.com/office/drawing/2010/main" noGrp="1" noChangeArrowheads="1"/>
          </p:cNvSpPr>
          <p:nvPr>
            <p:ph type="sldNum" sz="quarter" idx="11"/>
          </p:nvPr>
        </p:nvSpPr>
        <p:spPr/>
        <p:txBody>
          <a:bodyPr/>
          <a:lstStyle>
            <a:lvl1pPr>
              <a:defRPr/>
            </a:lvl1pPr>
          </a:lstStyle>
          <a:p>
            <a:pPr>
              <a:defRPr/>
            </a:pPr>
            <a:fld id="{75821406-8699-46F7-BC43-9A0383F1DDB8}" type="slidenum">
              <a:rPr lang="en-US" altLang="zh-CN"/>
            </a:fld>
            <a:endParaRPr lang="en-US" altLang="zh-CN"/>
          </a:p>
        </p:txBody>
      </p:sp>
      <p:sp>
        <p:nvSpPr>
          <p:cNvPr id="4" name="Rectangle 14"/>
          <p:cNvSpPr>
            <a14:cpLocks xmlns:a14="http://schemas.microsoft.com/office/drawing/2010/main"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7.emf"/><Relationship Id="rId16" Type="http://schemas.microsoft.com/office/2007/relationships/hdphoto" Target="../media/image1.tiff"/><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14:cpLocks xmlns:a14="http://schemas.microsoft.com/office/drawing/2010/main"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14:cpLocks xmlns:a14="http://schemas.microsoft.com/office/drawing/2010/main"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customXml" Target="../ink/ink7.xml"/><Relationship Id="rId7" Type="http://schemas.openxmlformats.org/officeDocument/2006/relationships/customXml" Target="../ink/ink6.xml"/><Relationship Id="rId6" Type="http://schemas.openxmlformats.org/officeDocument/2006/relationships/customXml" Target="../ink/ink5.xml"/><Relationship Id="rId5" Type="http://schemas.openxmlformats.org/officeDocument/2006/relationships/customXml" Target="../ink/ink4.xml"/><Relationship Id="rId4" Type="http://schemas.openxmlformats.org/officeDocument/2006/relationships/customXml" Target="../ink/ink3.xml"/><Relationship Id="rId3" Type="http://schemas.openxmlformats.org/officeDocument/2006/relationships/customXml" Target="../ink/ink2.xml"/><Relationship Id="rId2" Type="http://schemas.openxmlformats.org/officeDocument/2006/relationships/customXml" Target="../ink/ink1.xml"/><Relationship Id="rId10" Type="http://schemas.openxmlformats.org/officeDocument/2006/relationships/notesSlide" Target="../notesSlides/notesSlide73.xml"/><Relationship Id="rId1" Type="http://schemas.openxmlformats.org/officeDocument/2006/relationships/image" Target="../media/image16.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9" Type="http://schemas.openxmlformats.org/officeDocument/2006/relationships/notesSlide" Target="../notesSlides/notesSlide83.xml"/><Relationship Id="rId8" Type="http://schemas.openxmlformats.org/officeDocument/2006/relationships/slideLayout" Target="../slideLayouts/slideLayout2.xml"/><Relationship Id="rId7" Type="http://schemas.openxmlformats.org/officeDocument/2006/relationships/customXml" Target="../ink/ink14.xml"/><Relationship Id="rId6" Type="http://schemas.openxmlformats.org/officeDocument/2006/relationships/customXml" Target="../ink/ink13.xml"/><Relationship Id="rId5" Type="http://schemas.openxmlformats.org/officeDocument/2006/relationships/customXml" Target="../ink/ink12.xml"/><Relationship Id="rId4" Type="http://schemas.openxmlformats.org/officeDocument/2006/relationships/customXml" Target="../ink/ink11.xml"/><Relationship Id="rId3" Type="http://schemas.openxmlformats.org/officeDocument/2006/relationships/customXml" Target="../ink/ink10.xml"/><Relationship Id="rId2" Type="http://schemas.openxmlformats.org/officeDocument/2006/relationships/customXml" Target="../ink/ink9.xml"/><Relationship Id="rId1" Type="http://schemas.openxmlformats.org/officeDocument/2006/relationships/customXml" Target="../ink/ink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85.xml"/><Relationship Id="rId7" Type="http://schemas.openxmlformats.org/officeDocument/2006/relationships/slideLayout" Target="../slideLayouts/slideLayout2.xml"/><Relationship Id="rId6" Type="http://schemas.openxmlformats.org/officeDocument/2006/relationships/customXml" Target="../ink/ink20.xml"/><Relationship Id="rId5" Type="http://schemas.openxmlformats.org/officeDocument/2006/relationships/customXml" Target="../ink/ink19.xml"/><Relationship Id="rId4" Type="http://schemas.openxmlformats.org/officeDocument/2006/relationships/customXml" Target="../ink/ink18.xml"/><Relationship Id="rId3" Type="http://schemas.openxmlformats.org/officeDocument/2006/relationships/customXml" Target="../ink/ink17.xml"/><Relationship Id="rId2" Type="http://schemas.openxmlformats.org/officeDocument/2006/relationships/customXml" Target="../ink/ink16.xml"/><Relationship Id="rId1" Type="http://schemas.openxmlformats.org/officeDocument/2006/relationships/customXml" Target="../ink/ink15.xml"/></Relationships>
</file>

<file path=ppt/slides/_rels/slide88.xml.rels><?xml version="1.0" encoding="UTF-8" standalone="yes"?>
<Relationships xmlns="http://schemas.openxmlformats.org/package/2006/relationships"><Relationship Id="rId9" Type="http://schemas.openxmlformats.org/officeDocument/2006/relationships/customXml" Target="../ink/ink29.xml"/><Relationship Id="rId8" Type="http://schemas.openxmlformats.org/officeDocument/2006/relationships/customXml" Target="../ink/ink28.xml"/><Relationship Id="rId7" Type="http://schemas.openxmlformats.org/officeDocument/2006/relationships/customXml" Target="../ink/ink27.xml"/><Relationship Id="rId6" Type="http://schemas.openxmlformats.org/officeDocument/2006/relationships/customXml" Target="../ink/ink26.xml"/><Relationship Id="rId5" Type="http://schemas.openxmlformats.org/officeDocument/2006/relationships/customXml" Target="../ink/ink25.xml"/><Relationship Id="rId4" Type="http://schemas.openxmlformats.org/officeDocument/2006/relationships/customXml" Target="../ink/ink24.xml"/><Relationship Id="rId3" Type="http://schemas.openxmlformats.org/officeDocument/2006/relationships/customXml" Target="../ink/ink23.xml"/><Relationship Id="rId2" Type="http://schemas.openxmlformats.org/officeDocument/2006/relationships/customXml" Target="../ink/ink22.xml"/><Relationship Id="rId11" Type="http://schemas.openxmlformats.org/officeDocument/2006/relationships/notesSlide" Target="../notesSlides/notesSlide86.xml"/><Relationship Id="rId10" Type="http://schemas.openxmlformats.org/officeDocument/2006/relationships/slideLayout" Target="../slideLayouts/slideLayout2.xml"/><Relationship Id="rId1" Type="http://schemas.openxmlformats.org/officeDocument/2006/relationships/customXml" Target="../ink/ink21.xml"/></Relationships>
</file>

<file path=ppt/slides/_rels/slide89.xml.rels><?xml version="1.0" encoding="UTF-8" standalone="yes"?>
<Relationships xmlns="http://schemas.openxmlformats.org/package/2006/relationships"><Relationship Id="rId6" Type="http://schemas.openxmlformats.org/officeDocument/2006/relationships/notesSlide" Target="../notesSlides/notesSlide87.xml"/><Relationship Id="rId5" Type="http://schemas.openxmlformats.org/officeDocument/2006/relationships/slideLayout" Target="../slideLayouts/slideLayout2.xml"/><Relationship Id="rId4" Type="http://schemas.openxmlformats.org/officeDocument/2006/relationships/customXml" Target="../ink/ink33.xml"/><Relationship Id="rId3" Type="http://schemas.openxmlformats.org/officeDocument/2006/relationships/customXml" Target="../ink/ink32.xml"/><Relationship Id="rId2" Type="http://schemas.openxmlformats.org/officeDocument/2006/relationships/customXml" Target="../ink/ink31.xml"/><Relationship Id="rId1" Type="http://schemas.openxmlformats.org/officeDocument/2006/relationships/customXml" Target="../ink/ink3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94.xml"/><Relationship Id="rId4" Type="http://schemas.openxmlformats.org/officeDocument/2006/relationships/slideLayout" Target="../slideLayouts/slideLayout2.xml"/><Relationship Id="rId3" Type="http://schemas.openxmlformats.org/officeDocument/2006/relationships/customXml" Target="../ink/ink36.xml"/><Relationship Id="rId2" Type="http://schemas.openxmlformats.org/officeDocument/2006/relationships/customXml" Target="../ink/ink35.xml"/><Relationship Id="rId1" Type="http://schemas.openxmlformats.org/officeDocument/2006/relationships/customXml" Target="../ink/ink34.xml"/></Relationships>
</file>

<file path=ppt/slides/_rels/slide97.xml.rels><?xml version="1.0" encoding="UTF-8" standalone="yes"?>
<Relationships xmlns="http://schemas.openxmlformats.org/package/2006/relationships"><Relationship Id="rId5" Type="http://schemas.openxmlformats.org/officeDocument/2006/relationships/notesSlide" Target="../notesSlides/notesSlide95.xml"/><Relationship Id="rId4" Type="http://schemas.openxmlformats.org/officeDocument/2006/relationships/slideLayout" Target="../slideLayouts/slideLayout2.xml"/><Relationship Id="rId3" Type="http://schemas.openxmlformats.org/officeDocument/2006/relationships/customXml" Target="../ink/ink39.xml"/><Relationship Id="rId2" Type="http://schemas.openxmlformats.org/officeDocument/2006/relationships/customXml" Target="../ink/ink38.xml"/><Relationship Id="rId1" Type="http://schemas.openxmlformats.org/officeDocument/2006/relationships/customXml" Target="../ink/ink37.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p:nvPr>
        </p:nvSpPr>
        <p:spPr/>
        <p:txBody>
          <a:bodyPr/>
          <a:lstStyle/>
          <a:p>
            <a:r>
              <a:rPr lang="zh-CN" altLang="en-US" dirty="0">
                <a:latin typeface="华文楷体" pitchFamily="2" charset="-122"/>
                <a:ea typeface="华文楷体" pitchFamily="2" charset="-122"/>
              </a:rPr>
              <a:t>第三章  栈和队列</a:t>
            </a:r>
            <a:endParaRPr lang="zh-CN" altLang="en-US" sz="2400" dirty="0">
              <a:latin typeface="华文楷体" pitchFamily="2" charset="-122"/>
              <a:ea typeface="华文楷体" pitchFamily="2" charset="-122"/>
            </a:endParaRPr>
          </a:p>
        </p:txBody>
      </p:sp>
      <p:sp>
        <p:nvSpPr>
          <p:cNvPr id="3" name="Subtitle 1"/>
          <p:cNvSpPr>
            <a14:cpLocks xmlns:a14="http://schemas.microsoft.com/office/drawing/2010/main" noGrp="1"/>
          </p:cNvSpPr>
          <p:nvPr>
            <p:ph type="subTitle" idx="1"/>
          </p:nvPr>
        </p:nvSpPr>
        <p:spPr>
          <a:xfrm>
            <a:off x="5053633" y="5437950"/>
            <a:ext cx="2643602" cy="604299"/>
          </a:xfrm>
        </p:spPr>
        <p:txBody>
          <a:bodyPr/>
          <a:lstStyle/>
          <a:p>
            <a:r>
              <a:rPr lang="zh-CN" altLang="en-US" sz="3600" b="1" dirty="0">
                <a:latin typeface="华文楷体" pitchFamily="2" charset="-122"/>
                <a:ea typeface="华文楷体" pitchFamily="2" charset="-122"/>
              </a:rPr>
              <a:t>张同珍</a:t>
            </a:r>
            <a:endParaRPr lang="zh-CN" altLang="en-US" sz="3600" b="1" dirty="0">
              <a:latin typeface="华文楷体" pitchFamily="2" charset="-122"/>
              <a:ea typeface="华文楷体" pitchFamily="2" charset="-122"/>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栈</a:t>
            </a:r>
            <a:endParaRPr lang="en-US" altLang="zh-CN" sz="2800" dirty="0">
              <a:solidFill>
                <a:srgbClr val="FF0000"/>
              </a:solidFill>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205833"/>
          </a:xfrm>
        </p:spPr>
        <p:txBody>
          <a:bodyPr>
            <a:normAutofit/>
          </a:bodyPr>
          <a:lstStyle/>
          <a:p>
            <a:pPr>
              <a:buFont typeface="Wingdings" charset="2"/>
              <a:buChar char="Ø"/>
            </a:pPr>
            <a:r>
              <a:rPr lang="zh-CN" altLang="zh-CN" sz="2800" b="0" dirty="0">
                <a:latin typeface="华文楷体" pitchFamily="2" charset="-122"/>
                <a:ea typeface="华文楷体" pitchFamily="2" charset="-122"/>
              </a:rPr>
              <a:t>如果元素到达线性结构的时间越晚，离开的时间就越早，这种线性结构称为</a:t>
            </a:r>
            <a:r>
              <a:rPr lang="zh-CN" altLang="zh-CN" sz="2800" dirty="0">
                <a:latin typeface="华文楷体" pitchFamily="2" charset="-122"/>
                <a:ea typeface="华文楷体" pitchFamily="2" charset="-122"/>
              </a:rPr>
              <a:t>栈（</a:t>
            </a:r>
            <a:r>
              <a:rPr lang="en-US" altLang="zh-CN" sz="2800" dirty="0">
                <a:latin typeface="华文楷体" pitchFamily="2" charset="-122"/>
                <a:ea typeface="华文楷体" pitchFamily="2" charset="-122"/>
              </a:rPr>
              <a:t>Stack</a:t>
            </a:r>
            <a:r>
              <a:rPr lang="zh-CN" altLang="zh-CN" sz="2800" dirty="0">
                <a:latin typeface="华文楷体" pitchFamily="2" charset="-122"/>
                <a:ea typeface="华文楷体" pitchFamily="2" charset="-122"/>
              </a:rPr>
              <a:t>）或堆栈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因为元素之间的关系是由到达、离开的时间决定的，因此栈通常被称为时间有序表。</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而到达和离开的含义就是插入和删除操作，因此栈可以看作是插入和删除操作位置受限的线性表。</a:t>
            </a:r>
            <a:endParaRPr lang="zh-CN"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栈的定义：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1"/>
            <a:ext cx="11162883" cy="1621660"/>
          </a:xfrm>
        </p:spPr>
        <p:txBody>
          <a:bodyPr>
            <a:normAutofit/>
          </a:bodyPr>
          <a:lstStyle/>
          <a:p>
            <a:pPr>
              <a:buFont typeface="Wingdings" charset="2"/>
              <a:buChar char="Ø"/>
            </a:pPr>
            <a:r>
              <a:rPr lang="zh-CN" altLang="zh-CN" sz="2800" b="0" dirty="0">
                <a:latin typeface="华文楷体" pitchFamily="2" charset="-122"/>
                <a:ea typeface="华文楷体" pitchFamily="2" charset="-122"/>
              </a:rPr>
              <a:t>乒乓球盒的进球和出球，它遵循了最后进盒的球反而最先出盒，即所谓的后进先出</a:t>
            </a:r>
            <a:r>
              <a:rPr lang="en-US" altLang="zh-CN" sz="2800" b="0" dirty="0">
                <a:latin typeface="华文楷体" pitchFamily="2" charset="-122"/>
                <a:ea typeface="华文楷体" pitchFamily="2" charset="-122"/>
              </a:rPr>
              <a:t>(LIFO, Last In First Out)</a:t>
            </a:r>
            <a:r>
              <a:rPr lang="zh-CN" altLang="zh-CN" sz="2800" b="0" dirty="0">
                <a:latin typeface="华文楷体" pitchFamily="2" charset="-122"/>
                <a:ea typeface="华文楷体" pitchFamily="2" charset="-122"/>
              </a:rPr>
              <a:t>或先进后出</a:t>
            </a:r>
            <a:r>
              <a:rPr lang="en-US" altLang="zh-CN" sz="2800" b="0" dirty="0">
                <a:latin typeface="华文楷体" pitchFamily="2" charset="-122"/>
                <a:ea typeface="华文楷体" pitchFamily="2" charset="-122"/>
              </a:rPr>
              <a:t>(FILO, First In Last Out)</a:t>
            </a:r>
            <a:r>
              <a:rPr lang="zh-CN" altLang="zh-CN" sz="2800" b="0" dirty="0">
                <a:latin typeface="华文楷体" pitchFamily="2" charset="-122"/>
                <a:ea typeface="华文楷体" pitchFamily="2" charset="-122"/>
              </a:rPr>
              <a:t>结构。</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栈的定义：</a:t>
            </a:r>
            <a:endParaRPr lang="zh-CN" altLang="en-US" dirty="0">
              <a:latin typeface="华文楷体" pitchFamily="2" charset="-122"/>
              <a:ea typeface="华文楷体"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572702" y="3319670"/>
            <a:ext cx="5094219" cy="3220277"/>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99673" y="3268394"/>
            <a:ext cx="11162883" cy="3370945"/>
          </a:xfrm>
        </p:spPr>
        <p:txBody>
          <a:bodyPr>
            <a:noAutofit/>
          </a:bodyPr>
          <a:lstStyle/>
          <a:p>
            <a:pPr>
              <a:buFont typeface="Wingdings" charset="2"/>
              <a:buChar char="Ø"/>
            </a:pPr>
            <a:r>
              <a:rPr lang="zh-CN" altLang="zh-CN" sz="2800" b="0" dirty="0">
                <a:latin typeface="华文楷体" pitchFamily="2" charset="-122"/>
                <a:ea typeface="华文楷体" pitchFamily="2" charset="-122"/>
              </a:rPr>
              <a:t>栈的首部</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元素最早到达的部分</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称为</a:t>
            </a:r>
            <a:r>
              <a:rPr lang="zh-CN" altLang="zh-CN" sz="2800" dirty="0">
                <a:latin typeface="华文楷体" pitchFamily="2" charset="-122"/>
                <a:ea typeface="华文楷体" pitchFamily="2" charset="-122"/>
              </a:rPr>
              <a:t>栈底</a:t>
            </a:r>
            <a:r>
              <a:rPr lang="en-US" altLang="zh-CN" sz="2800" dirty="0">
                <a:latin typeface="华文楷体" pitchFamily="2" charset="-122"/>
                <a:ea typeface="华文楷体" pitchFamily="2" charset="-122"/>
              </a:rPr>
              <a:t>(bottom)</a:t>
            </a:r>
            <a:r>
              <a:rPr lang="zh-CN" altLang="zh-CN" sz="2800" b="0" dirty="0">
                <a:latin typeface="华文楷体" pitchFamily="2" charset="-122"/>
                <a:ea typeface="华文楷体" pitchFamily="2" charset="-122"/>
              </a:rPr>
              <a:t> </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栈结构的尾部</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元素最晚到达的部分</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称为</a:t>
            </a:r>
            <a:r>
              <a:rPr lang="zh-CN" altLang="zh-CN" sz="2800" dirty="0">
                <a:latin typeface="华文楷体" pitchFamily="2" charset="-122"/>
                <a:ea typeface="华文楷体" pitchFamily="2" charset="-122"/>
              </a:rPr>
              <a:t>栈顶（</a:t>
            </a:r>
            <a:r>
              <a:rPr lang="en-US" altLang="zh-CN" sz="2800" dirty="0">
                <a:latin typeface="华文楷体" pitchFamily="2" charset="-122"/>
                <a:ea typeface="华文楷体" pitchFamily="2" charset="-122"/>
              </a:rPr>
              <a:t>top</a:t>
            </a:r>
            <a:r>
              <a:rPr lang="zh-CN" altLang="zh-CN" sz="2800" dirty="0">
                <a:latin typeface="华文楷体" pitchFamily="2" charset="-122"/>
                <a:ea typeface="华文楷体" pitchFamily="2" charset="-122"/>
              </a:rPr>
              <a:t>）</a:t>
            </a:r>
            <a:r>
              <a:rPr lang="zh-CN" altLang="zh-CN" sz="2800" b="0" dirty="0">
                <a:latin typeface="华文楷体" pitchFamily="2" charset="-122"/>
                <a:ea typeface="华文楷体" pitchFamily="2" charset="-122"/>
              </a:rPr>
              <a:t> 。 </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为了保证栈的先进后出或后进先出的特点，元素的插入和删除操作都必须在栈顶进行。元素从栈顶删除的行为，称为</a:t>
            </a:r>
            <a:r>
              <a:rPr lang="zh-CN" altLang="zh-CN" sz="2800" dirty="0">
                <a:latin typeface="华文楷体" pitchFamily="2" charset="-122"/>
                <a:ea typeface="华文楷体" pitchFamily="2" charset="-122"/>
              </a:rPr>
              <a:t>出栈或者弹栈</a:t>
            </a:r>
            <a:r>
              <a:rPr lang="zh-CN" altLang="zh-CN" sz="2800" b="0" dirty="0">
                <a:latin typeface="华文楷体" pitchFamily="2" charset="-122"/>
                <a:ea typeface="华文楷体" pitchFamily="2" charset="-122"/>
              </a:rPr>
              <a:t>操作（</a:t>
            </a:r>
            <a:r>
              <a:rPr lang="en-US" altLang="zh-CN" sz="2800" b="0" dirty="0">
                <a:latin typeface="华文楷体" pitchFamily="2" charset="-122"/>
                <a:ea typeface="华文楷体" pitchFamily="2" charset="-122"/>
              </a:rPr>
              <a:t>pop</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 </a:t>
            </a:r>
            <a:r>
              <a:rPr lang="zh-CN" altLang="zh-CN" sz="2800" b="0" dirty="0">
                <a:latin typeface="华文楷体" pitchFamily="2" charset="-122"/>
                <a:ea typeface="华文楷体" pitchFamily="2" charset="-122"/>
              </a:rPr>
              <a:t>元素在栈顶位置插入的行为，称为</a:t>
            </a:r>
            <a:r>
              <a:rPr lang="zh-CN" altLang="zh-CN" sz="2800" dirty="0">
                <a:latin typeface="华文楷体" pitchFamily="2" charset="-122"/>
                <a:ea typeface="华文楷体" pitchFamily="2" charset="-122"/>
              </a:rPr>
              <a:t>进栈或者压栈</a:t>
            </a:r>
            <a:r>
              <a:rPr lang="zh-CN" altLang="zh-CN" sz="2800" b="0" dirty="0">
                <a:latin typeface="华文楷体" pitchFamily="2" charset="-122"/>
                <a:ea typeface="华文楷体" pitchFamily="2" charset="-122"/>
              </a:rPr>
              <a:t>操作（</a:t>
            </a:r>
            <a:r>
              <a:rPr lang="en-US" altLang="zh-CN" sz="2800" b="0" dirty="0">
                <a:latin typeface="华文楷体" pitchFamily="2" charset="-122"/>
                <a:ea typeface="华文楷体" pitchFamily="2" charset="-122"/>
              </a:rPr>
              <a:t>push</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栈相关术语：</a:t>
            </a:r>
            <a:endParaRPr lang="zh-CN" altLang="en-US" dirty="0">
              <a:latin typeface="华文楷体" pitchFamily="2" charset="-122"/>
              <a:ea typeface="华文楷体" pitchFamily="2" charset="-122"/>
            </a:endParaRPr>
          </a:p>
        </p:txBody>
      </p:sp>
      <p:sp>
        <p:nvSpPr>
          <p:cNvPr id="31" name="AutoShape 6"/>
          <p:cNvSpPr>
            <a14:cpLocks xmlns:a14="http://schemas.microsoft.com/office/drawing/2010/main" noChangeAspect="1" noChangeArrowheads="1"/>
          </p:cNvSpPr>
          <p:nvPr/>
        </p:nvSpPr>
        <p:spPr bwMode="auto">
          <a:xfrm>
            <a:off x="3252566" y="1329336"/>
            <a:ext cx="60483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kumimoji="0" lang="zh-CN" altLang="en-US" sz="1800">
              <a:latin typeface="Garamond" pitchFamily="18" charset="0"/>
            </a:endParaRPr>
          </a:p>
        </p:txBody>
      </p:sp>
      <p:sp>
        <p:nvSpPr>
          <p:cNvPr id="32" name="Rectangle 7"/>
          <p:cNvSpPr>
            <a14:cpLocks xmlns:a14="http://schemas.microsoft.com/office/drawing/2010/main" noChangeArrowheads="1"/>
          </p:cNvSpPr>
          <p:nvPr/>
        </p:nvSpPr>
        <p:spPr bwMode="auto">
          <a:xfrm>
            <a:off x="6276753" y="1434111"/>
            <a:ext cx="606425"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n-1</a:t>
            </a:r>
            <a:endParaRPr lang="en-US" altLang="zh-CN" sz="2400">
              <a:ea typeface="楷体_GB2312" pitchFamily="49" charset="-122"/>
            </a:endParaRPr>
          </a:p>
        </p:txBody>
      </p:sp>
      <p:sp>
        <p:nvSpPr>
          <p:cNvPr id="33" name="Rectangle 8"/>
          <p:cNvSpPr>
            <a14:cpLocks xmlns:a14="http://schemas.microsoft.com/office/drawing/2010/main" noChangeArrowheads="1"/>
          </p:cNvSpPr>
          <p:nvPr/>
        </p:nvSpPr>
        <p:spPr bwMode="auto">
          <a:xfrm>
            <a:off x="5670328" y="1434111"/>
            <a:ext cx="606425"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n-2</a:t>
            </a:r>
            <a:endParaRPr lang="en-US" altLang="zh-CN" sz="2400">
              <a:ea typeface="楷体_GB2312" pitchFamily="49" charset="-122"/>
            </a:endParaRPr>
          </a:p>
        </p:txBody>
      </p:sp>
      <p:sp>
        <p:nvSpPr>
          <p:cNvPr id="34" name="Rectangle 9"/>
          <p:cNvSpPr>
            <a14:cpLocks xmlns:a14="http://schemas.microsoft.com/office/drawing/2010/main" noChangeArrowheads="1"/>
          </p:cNvSpPr>
          <p:nvPr/>
        </p:nvSpPr>
        <p:spPr bwMode="auto">
          <a:xfrm>
            <a:off x="5067078" y="1434111"/>
            <a:ext cx="603250"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dirty="0"/>
              <a:t>…</a:t>
            </a:r>
            <a:endParaRPr lang="en-US" altLang="zh-CN" sz="2400" dirty="0">
              <a:ea typeface="楷体_GB2312" pitchFamily="49" charset="-122"/>
            </a:endParaRPr>
          </a:p>
        </p:txBody>
      </p:sp>
      <p:sp>
        <p:nvSpPr>
          <p:cNvPr id="35" name="Rectangle 10"/>
          <p:cNvSpPr>
            <a14:cpLocks xmlns:a14="http://schemas.microsoft.com/office/drawing/2010/main" noChangeArrowheads="1"/>
          </p:cNvSpPr>
          <p:nvPr/>
        </p:nvSpPr>
        <p:spPr bwMode="auto">
          <a:xfrm>
            <a:off x="3871691" y="1438510"/>
            <a:ext cx="603250" cy="608013"/>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1</a:t>
            </a:r>
            <a:endParaRPr lang="en-US" altLang="zh-CN" sz="2400">
              <a:ea typeface="楷体_GB2312" pitchFamily="49" charset="-122"/>
            </a:endParaRPr>
          </a:p>
        </p:txBody>
      </p:sp>
      <p:sp>
        <p:nvSpPr>
          <p:cNvPr id="36" name="Rectangle 11"/>
          <p:cNvSpPr>
            <a14:cpLocks xmlns:a14="http://schemas.microsoft.com/office/drawing/2010/main" noChangeArrowheads="1"/>
          </p:cNvSpPr>
          <p:nvPr/>
        </p:nvSpPr>
        <p:spPr bwMode="auto">
          <a:xfrm>
            <a:off x="3252566" y="1438510"/>
            <a:ext cx="606425" cy="608013"/>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0</a:t>
            </a:r>
            <a:endParaRPr lang="en-US" altLang="zh-CN" sz="2400">
              <a:ea typeface="楷体_GB2312" pitchFamily="49" charset="-122"/>
            </a:endParaRPr>
          </a:p>
        </p:txBody>
      </p:sp>
      <p:sp>
        <p:nvSpPr>
          <p:cNvPr id="37" name="Line 12"/>
          <p:cNvSpPr>
            <a14:cpLocks xmlns:a14="http://schemas.microsoft.com/office/drawing/2010/main" noChangeShapeType="1"/>
          </p:cNvSpPr>
          <p:nvPr/>
        </p:nvSpPr>
        <p:spPr bwMode="auto">
          <a:xfrm>
            <a:off x="3857403"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38" name="Line 13"/>
          <p:cNvSpPr>
            <a14:cpLocks xmlns:a14="http://schemas.microsoft.com/office/drawing/2010/main" noChangeShapeType="1"/>
          </p:cNvSpPr>
          <p:nvPr/>
        </p:nvSpPr>
        <p:spPr bwMode="auto">
          <a:xfrm>
            <a:off x="4462241"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39" name="Line 14"/>
          <p:cNvSpPr>
            <a14:cpLocks xmlns:a14="http://schemas.microsoft.com/office/drawing/2010/main" noChangeShapeType="1"/>
          </p:cNvSpPr>
          <p:nvPr/>
        </p:nvSpPr>
        <p:spPr bwMode="auto">
          <a:xfrm>
            <a:off x="5067078"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0" name="Line 15"/>
          <p:cNvSpPr>
            <a14:cpLocks xmlns:a14="http://schemas.microsoft.com/office/drawing/2010/main" noChangeShapeType="1"/>
          </p:cNvSpPr>
          <p:nvPr/>
        </p:nvSpPr>
        <p:spPr bwMode="auto">
          <a:xfrm>
            <a:off x="5670328"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1" name="Line 16"/>
          <p:cNvSpPr>
            <a14:cpLocks xmlns:a14="http://schemas.microsoft.com/office/drawing/2010/main" noChangeShapeType="1"/>
          </p:cNvSpPr>
          <p:nvPr/>
        </p:nvSpPr>
        <p:spPr bwMode="auto">
          <a:xfrm>
            <a:off x="6276753"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2" name="Line 17"/>
          <p:cNvSpPr>
            <a14:cpLocks xmlns:a14="http://schemas.microsoft.com/office/drawing/2010/main" noChangeShapeType="1"/>
          </p:cNvSpPr>
          <p:nvPr/>
        </p:nvSpPr>
        <p:spPr bwMode="auto">
          <a:xfrm>
            <a:off x="6883178" y="1434111"/>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3" name="Rectangle 18"/>
          <p:cNvSpPr>
            <a14:cpLocks xmlns:a14="http://schemas.microsoft.com/office/drawing/2010/main" noChangeArrowheads="1"/>
          </p:cNvSpPr>
          <p:nvPr/>
        </p:nvSpPr>
        <p:spPr bwMode="auto">
          <a:xfrm>
            <a:off x="4452716" y="1434111"/>
            <a:ext cx="603250"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dirty="0"/>
              <a:t>…</a:t>
            </a:r>
            <a:endParaRPr lang="en-US" altLang="zh-CN" sz="2400" dirty="0">
              <a:ea typeface="楷体_GB2312" pitchFamily="49" charset="-122"/>
            </a:endParaRPr>
          </a:p>
        </p:txBody>
      </p:sp>
      <p:sp>
        <p:nvSpPr>
          <p:cNvPr id="44" name="Line 19"/>
          <p:cNvSpPr>
            <a14:cpLocks xmlns:a14="http://schemas.microsoft.com/office/drawing/2010/main" noChangeShapeType="1"/>
          </p:cNvSpPr>
          <p:nvPr/>
        </p:nvSpPr>
        <p:spPr bwMode="auto">
          <a:xfrm>
            <a:off x="6883178" y="1441187"/>
            <a:ext cx="8064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20"/>
          <p:cNvSpPr>
            <a14:cpLocks xmlns:a14="http://schemas.microsoft.com/office/drawing/2010/main" noChangeShapeType="1"/>
          </p:cNvSpPr>
          <p:nvPr/>
        </p:nvSpPr>
        <p:spPr bwMode="auto">
          <a:xfrm>
            <a:off x="6883178" y="2038948"/>
            <a:ext cx="806450" cy="15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6" name="Group 21"/>
          <p:cNvGrpSpPr/>
          <p:nvPr/>
        </p:nvGrpSpPr>
        <p:grpSpPr bwMode="auto">
          <a:xfrm>
            <a:off x="7429278" y="1040411"/>
            <a:ext cx="1727200" cy="1584325"/>
            <a:chOff x="7200" y="5625"/>
            <a:chExt cx="1620" cy="1587"/>
          </a:xfrm>
        </p:grpSpPr>
        <p:sp>
          <p:nvSpPr>
            <p:cNvPr id="47" name="Text Box 22"/>
            <p:cNvSpPr txBox="1">
              <a14:cpLocks xmlns:a14="http://schemas.microsoft.com/office/drawing/2010/main" noChangeArrowheads="1"/>
            </p:cNvSpPr>
            <p:nvPr/>
          </p:nvSpPr>
          <p:spPr bwMode="auto">
            <a:xfrm>
              <a:off x="7920" y="5625"/>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出栈</a:t>
              </a:r>
              <a:endParaRPr lang="zh-CN" altLang="en-US" sz="2400" b="1">
                <a:ea typeface="楷体_GB2312" pitchFamily="49" charset="-122"/>
              </a:endParaRPr>
            </a:p>
          </p:txBody>
        </p:sp>
        <p:sp>
          <p:nvSpPr>
            <p:cNvPr id="48" name="Text Box 23"/>
            <p:cNvSpPr txBox="1">
              <a14:cpLocks xmlns:a14="http://schemas.microsoft.com/office/drawing/2010/main" noChangeArrowheads="1"/>
            </p:cNvSpPr>
            <p:nvPr/>
          </p:nvSpPr>
          <p:spPr bwMode="auto">
            <a:xfrm>
              <a:off x="7920" y="67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进栈</a:t>
              </a:r>
              <a:endParaRPr lang="zh-CN" altLang="en-US" sz="2400" b="1">
                <a:ea typeface="楷体_GB2312" pitchFamily="49" charset="-122"/>
              </a:endParaRPr>
            </a:p>
          </p:txBody>
        </p:sp>
        <p:grpSp>
          <p:nvGrpSpPr>
            <p:cNvPr id="49" name="Group 24"/>
            <p:cNvGrpSpPr/>
            <p:nvPr/>
          </p:nvGrpSpPr>
          <p:grpSpPr bwMode="auto">
            <a:xfrm>
              <a:off x="7200" y="5652"/>
              <a:ext cx="468" cy="1344"/>
              <a:chOff x="7200" y="5652"/>
              <a:chExt cx="468" cy="1344"/>
            </a:xfrm>
          </p:grpSpPr>
          <p:sp>
            <p:nvSpPr>
              <p:cNvPr id="50" name="Arc 25"/>
              <p:cNvSpPr/>
              <p:nvPr/>
            </p:nvSpPr>
            <p:spPr bwMode="auto">
              <a:xfrm rot="-3370431" flipH="1" flipV="1">
                <a:off x="7074" y="5778"/>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Arc 26"/>
              <p:cNvSpPr/>
              <p:nvPr/>
            </p:nvSpPr>
            <p:spPr bwMode="auto">
              <a:xfrm rot="3370431" flipH="1">
                <a:off x="7074" y="6402"/>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52" name="Group 27"/>
          <p:cNvGrpSpPr/>
          <p:nvPr/>
        </p:nvGrpSpPr>
        <p:grpSpPr bwMode="auto">
          <a:xfrm>
            <a:off x="3179541" y="2121498"/>
            <a:ext cx="3816350" cy="863600"/>
            <a:chOff x="2160" y="6556"/>
            <a:chExt cx="4320" cy="936"/>
          </a:xfrm>
        </p:grpSpPr>
        <p:sp>
          <p:nvSpPr>
            <p:cNvPr id="53" name="Text Box 28"/>
            <p:cNvSpPr txBox="1">
              <a14:cpLocks xmlns:a14="http://schemas.microsoft.com/office/drawing/2010/main" noChangeArrowheads="1"/>
            </p:cNvSpPr>
            <p:nvPr/>
          </p:nvSpPr>
          <p:spPr bwMode="auto">
            <a:xfrm>
              <a:off x="2160" y="702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栈底</a:t>
              </a:r>
              <a:endParaRPr lang="zh-CN" altLang="en-US" sz="2400" b="1">
                <a:ea typeface="楷体_GB2312" pitchFamily="49" charset="-122"/>
              </a:endParaRPr>
            </a:p>
          </p:txBody>
        </p:sp>
        <p:sp>
          <p:nvSpPr>
            <p:cNvPr id="54" name="Text Box 29"/>
            <p:cNvSpPr txBox="1">
              <a14:cpLocks xmlns:a14="http://schemas.microsoft.com/office/drawing/2010/main" noChangeArrowheads="1"/>
            </p:cNvSpPr>
            <p:nvPr/>
          </p:nvSpPr>
          <p:spPr bwMode="auto">
            <a:xfrm>
              <a:off x="5580" y="702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栈顶</a:t>
              </a:r>
              <a:endParaRPr lang="zh-CN" altLang="en-US" sz="2400" b="1">
                <a:ea typeface="楷体_GB2312" pitchFamily="49" charset="-122"/>
              </a:endParaRPr>
            </a:p>
          </p:txBody>
        </p:sp>
        <p:sp>
          <p:nvSpPr>
            <p:cNvPr id="55" name="Line 30"/>
            <p:cNvSpPr>
              <a14:cpLocks xmlns:a14="http://schemas.microsoft.com/office/drawing/2010/main" noChangeShapeType="1"/>
            </p:cNvSpPr>
            <p:nvPr/>
          </p:nvSpPr>
          <p:spPr bwMode="auto">
            <a:xfrm flipV="1">
              <a:off x="2520" y="6556"/>
              <a:ext cx="0" cy="46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31"/>
            <p:cNvSpPr>
              <a14:cpLocks xmlns:a14="http://schemas.microsoft.com/office/drawing/2010/main" noChangeShapeType="1"/>
            </p:cNvSpPr>
            <p:nvPr/>
          </p:nvSpPr>
          <p:spPr bwMode="auto">
            <a:xfrm flipV="1">
              <a:off x="5940" y="6556"/>
              <a:ext cx="0" cy="46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1692370" y="4779142"/>
            <a:ext cx="9697873" cy="1343363"/>
          </a:xfrm>
        </p:spPr>
        <p:txBody>
          <a:bodyPr>
            <a:noAutofit/>
          </a:bodyPr>
          <a:lstStyle/>
          <a:p>
            <a:pPr>
              <a:buFont typeface="Wingdings" charset="2"/>
              <a:buChar char="Ø"/>
            </a:pPr>
            <a:r>
              <a:rPr lang="zh-CN" altLang="en-US" sz="2800" b="0" dirty="0">
                <a:latin typeface="华文楷体" pitchFamily="2" charset="-122"/>
                <a:ea typeface="华文楷体" pitchFamily="2" charset="-122"/>
              </a:rPr>
              <a:t>读</a:t>
            </a:r>
            <a:r>
              <a:rPr lang="zh-CN" altLang="zh-CN" sz="2800" b="0" dirty="0">
                <a:latin typeface="华文楷体" pitchFamily="2" charset="-122"/>
                <a:ea typeface="华文楷体" pitchFamily="2" charset="-122"/>
              </a:rPr>
              <a:t>取栈顶元素数据值的操作，称为</a:t>
            </a:r>
            <a:r>
              <a:rPr lang="zh-CN" altLang="zh-CN" sz="2800" dirty="0">
                <a:latin typeface="华文楷体" pitchFamily="2" charset="-122"/>
                <a:ea typeface="华文楷体" pitchFamily="2" charset="-122"/>
              </a:rPr>
              <a:t>取栈顶</a:t>
            </a:r>
            <a:r>
              <a:rPr lang="zh-CN" altLang="zh-CN" sz="2800" b="0" dirty="0">
                <a:latin typeface="华文楷体" pitchFamily="2" charset="-122"/>
                <a:ea typeface="华文楷体" pitchFamily="2" charset="-122"/>
              </a:rPr>
              <a:t>内容操作</a:t>
            </a:r>
            <a:r>
              <a:rPr lang="en-US" altLang="zh-CN" sz="2800" b="0" dirty="0">
                <a:latin typeface="华文楷体" pitchFamily="2" charset="-122"/>
                <a:ea typeface="华文楷体" pitchFamily="2" charset="-122"/>
              </a:rPr>
              <a:t>(top)</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当栈中元素个数为零时，称为</a:t>
            </a:r>
            <a:r>
              <a:rPr lang="zh-CN" altLang="zh-CN" sz="2800" dirty="0">
                <a:latin typeface="华文楷体" pitchFamily="2" charset="-122"/>
                <a:ea typeface="华文楷体" pitchFamily="2" charset="-122"/>
              </a:rPr>
              <a:t>空栈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栈相关术语：</a:t>
            </a:r>
            <a:endParaRPr lang="zh-CN" altLang="en-US" dirty="0">
              <a:latin typeface="华文楷体" pitchFamily="2" charset="-122"/>
              <a:ea typeface="华文楷体" pitchFamily="2" charset="-122"/>
            </a:endParaRPr>
          </a:p>
        </p:txBody>
      </p:sp>
      <p:sp>
        <p:nvSpPr>
          <p:cNvPr id="31" name="AutoShape 6"/>
          <p:cNvSpPr>
            <a14:cpLocks xmlns:a14="http://schemas.microsoft.com/office/drawing/2010/main" noChangeAspect="1" noChangeArrowheads="1"/>
          </p:cNvSpPr>
          <p:nvPr/>
        </p:nvSpPr>
        <p:spPr bwMode="auto">
          <a:xfrm>
            <a:off x="2795368" y="2462394"/>
            <a:ext cx="60483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0"/>
              </a:spcBef>
              <a:buFontTx/>
              <a:buNone/>
            </a:pPr>
            <a:endParaRPr kumimoji="0" lang="zh-CN" altLang="en-US" sz="1800">
              <a:latin typeface="Garamond" pitchFamily="18" charset="0"/>
            </a:endParaRPr>
          </a:p>
        </p:txBody>
      </p:sp>
      <p:sp>
        <p:nvSpPr>
          <p:cNvPr id="32" name="Rectangle 7"/>
          <p:cNvSpPr>
            <a14:cpLocks xmlns:a14="http://schemas.microsoft.com/office/drawing/2010/main" noChangeArrowheads="1"/>
          </p:cNvSpPr>
          <p:nvPr/>
        </p:nvSpPr>
        <p:spPr bwMode="auto">
          <a:xfrm>
            <a:off x="5819555" y="2567169"/>
            <a:ext cx="606425"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n-1</a:t>
            </a:r>
            <a:endParaRPr lang="en-US" altLang="zh-CN" sz="2400">
              <a:ea typeface="楷体_GB2312" pitchFamily="49" charset="-122"/>
            </a:endParaRPr>
          </a:p>
        </p:txBody>
      </p:sp>
      <p:sp>
        <p:nvSpPr>
          <p:cNvPr id="33" name="Rectangle 8"/>
          <p:cNvSpPr>
            <a14:cpLocks xmlns:a14="http://schemas.microsoft.com/office/drawing/2010/main" noChangeArrowheads="1"/>
          </p:cNvSpPr>
          <p:nvPr/>
        </p:nvSpPr>
        <p:spPr bwMode="auto">
          <a:xfrm>
            <a:off x="5213130" y="2567169"/>
            <a:ext cx="606425"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n-2</a:t>
            </a:r>
            <a:endParaRPr lang="en-US" altLang="zh-CN" sz="2400">
              <a:ea typeface="楷体_GB2312" pitchFamily="49" charset="-122"/>
            </a:endParaRPr>
          </a:p>
        </p:txBody>
      </p:sp>
      <p:sp>
        <p:nvSpPr>
          <p:cNvPr id="34" name="Rectangle 9"/>
          <p:cNvSpPr>
            <a14:cpLocks xmlns:a14="http://schemas.microsoft.com/office/drawing/2010/main" noChangeArrowheads="1"/>
          </p:cNvSpPr>
          <p:nvPr/>
        </p:nvSpPr>
        <p:spPr bwMode="auto">
          <a:xfrm>
            <a:off x="4609880" y="2567169"/>
            <a:ext cx="603250"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dirty="0"/>
              <a:t>…</a:t>
            </a:r>
            <a:endParaRPr lang="en-US" altLang="zh-CN" sz="2400" dirty="0">
              <a:ea typeface="楷体_GB2312" pitchFamily="49" charset="-122"/>
            </a:endParaRPr>
          </a:p>
        </p:txBody>
      </p:sp>
      <p:sp>
        <p:nvSpPr>
          <p:cNvPr id="35" name="Rectangle 10"/>
          <p:cNvSpPr>
            <a14:cpLocks xmlns:a14="http://schemas.microsoft.com/office/drawing/2010/main" noChangeArrowheads="1"/>
          </p:cNvSpPr>
          <p:nvPr/>
        </p:nvSpPr>
        <p:spPr bwMode="auto">
          <a:xfrm>
            <a:off x="3414493" y="2571568"/>
            <a:ext cx="603250" cy="608013"/>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1</a:t>
            </a:r>
            <a:endParaRPr lang="en-US" altLang="zh-CN" sz="2400">
              <a:ea typeface="楷体_GB2312" pitchFamily="49" charset="-122"/>
            </a:endParaRPr>
          </a:p>
        </p:txBody>
      </p:sp>
      <p:sp>
        <p:nvSpPr>
          <p:cNvPr id="36" name="Rectangle 11"/>
          <p:cNvSpPr>
            <a14:cpLocks xmlns:a14="http://schemas.microsoft.com/office/drawing/2010/main" noChangeArrowheads="1"/>
          </p:cNvSpPr>
          <p:nvPr/>
        </p:nvSpPr>
        <p:spPr bwMode="auto">
          <a:xfrm>
            <a:off x="2795368" y="2571568"/>
            <a:ext cx="606425" cy="608013"/>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a:t>a</a:t>
            </a:r>
            <a:r>
              <a:rPr lang="en-US" altLang="zh-CN" sz="2400" b="1" baseline="-25000"/>
              <a:t>0</a:t>
            </a:r>
            <a:endParaRPr lang="en-US" altLang="zh-CN" sz="2400">
              <a:ea typeface="楷体_GB2312" pitchFamily="49" charset="-122"/>
            </a:endParaRPr>
          </a:p>
        </p:txBody>
      </p:sp>
      <p:sp>
        <p:nvSpPr>
          <p:cNvPr id="37" name="Line 12"/>
          <p:cNvSpPr>
            <a14:cpLocks xmlns:a14="http://schemas.microsoft.com/office/drawing/2010/main" noChangeShapeType="1"/>
          </p:cNvSpPr>
          <p:nvPr/>
        </p:nvSpPr>
        <p:spPr bwMode="auto">
          <a:xfrm>
            <a:off x="3400205"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38" name="Line 13"/>
          <p:cNvSpPr>
            <a14:cpLocks xmlns:a14="http://schemas.microsoft.com/office/drawing/2010/main" noChangeShapeType="1"/>
          </p:cNvSpPr>
          <p:nvPr/>
        </p:nvSpPr>
        <p:spPr bwMode="auto">
          <a:xfrm>
            <a:off x="4005043"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39" name="Line 14"/>
          <p:cNvSpPr>
            <a14:cpLocks xmlns:a14="http://schemas.microsoft.com/office/drawing/2010/main" noChangeShapeType="1"/>
          </p:cNvSpPr>
          <p:nvPr/>
        </p:nvSpPr>
        <p:spPr bwMode="auto">
          <a:xfrm>
            <a:off x="4609880"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0" name="Line 15"/>
          <p:cNvSpPr>
            <a14:cpLocks xmlns:a14="http://schemas.microsoft.com/office/drawing/2010/main" noChangeShapeType="1"/>
          </p:cNvSpPr>
          <p:nvPr/>
        </p:nvSpPr>
        <p:spPr bwMode="auto">
          <a:xfrm>
            <a:off x="5213130"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1" name="Line 16"/>
          <p:cNvSpPr>
            <a14:cpLocks xmlns:a14="http://schemas.microsoft.com/office/drawing/2010/main" noChangeShapeType="1"/>
          </p:cNvSpPr>
          <p:nvPr/>
        </p:nvSpPr>
        <p:spPr bwMode="auto">
          <a:xfrm>
            <a:off x="5819555"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2" name="Line 17"/>
          <p:cNvSpPr>
            <a14:cpLocks xmlns:a14="http://schemas.microsoft.com/office/drawing/2010/main" noChangeShapeType="1"/>
          </p:cNvSpPr>
          <p:nvPr/>
        </p:nvSpPr>
        <p:spPr bwMode="auto">
          <a:xfrm>
            <a:off x="6425980" y="2567169"/>
            <a:ext cx="0" cy="6080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a:lstStyle/>
          <a:p>
            <a:endParaRPr lang="zh-CN" altLang="en-US"/>
          </a:p>
        </p:txBody>
      </p:sp>
      <p:sp>
        <p:nvSpPr>
          <p:cNvPr id="43" name="Rectangle 18"/>
          <p:cNvSpPr>
            <a14:cpLocks xmlns:a14="http://schemas.microsoft.com/office/drawing/2010/main" noChangeArrowheads="1"/>
          </p:cNvSpPr>
          <p:nvPr/>
        </p:nvSpPr>
        <p:spPr bwMode="auto">
          <a:xfrm>
            <a:off x="3995518" y="2567169"/>
            <a:ext cx="603250" cy="608012"/>
          </a:xfrm>
          <a:prstGeom prst="rect">
            <a:avLst/>
          </a:prstGeom>
          <a:noFill/>
          <a:ln w="38100">
            <a:solidFill>
              <a:schemeClr val="tx1"/>
            </a:solidFill>
            <a:miter lim="800000"/>
          </a:ln>
          <a:effectLst/>
          <a:extLst>
            <a:ext uri="{909E8E84-426E-40DD-AFC4-6F175D3DCCD1}">
              <a14:hiddenFill xmlns:a14="http://schemas.microsoft.com/office/drawing/2010/main">
                <a:solidFill>
                  <a:srgbClr val="CC0099"/>
                </a:solidFill>
              </a14:hiddenFill>
            </a:ext>
            <a:ext uri="{AF507438-7753-43E0-B8FC-AC1667EBCBE1}">
              <a14:hiddenEffects xmlns:a14="http://schemas.microsoft.com/office/drawing/2010/main">
                <a:effectLst>
                  <a:outerShdw dist="35921" dir="2700000" algn="ctr" rotWithShape="0">
                    <a:srgbClr val="220011"/>
                  </a:outerShdw>
                </a:effectLst>
              </a14:hiddenEffects>
            </a:ext>
          </a:extLst>
        </p:spPr>
        <p:txBody>
          <a:bodyPr lIns="58513" tIns="29256" rIns="58513" bIns="29256"/>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en-US" altLang="zh-CN" sz="2400" b="1" dirty="0"/>
              <a:t>…</a:t>
            </a:r>
            <a:endParaRPr lang="en-US" altLang="zh-CN" sz="2400" dirty="0">
              <a:ea typeface="楷体_GB2312" pitchFamily="49" charset="-122"/>
            </a:endParaRPr>
          </a:p>
        </p:txBody>
      </p:sp>
      <p:sp>
        <p:nvSpPr>
          <p:cNvPr id="44" name="Line 19"/>
          <p:cNvSpPr>
            <a14:cpLocks xmlns:a14="http://schemas.microsoft.com/office/drawing/2010/main" noChangeShapeType="1"/>
          </p:cNvSpPr>
          <p:nvPr/>
        </p:nvSpPr>
        <p:spPr bwMode="auto">
          <a:xfrm>
            <a:off x="6425980" y="2574245"/>
            <a:ext cx="8064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20"/>
          <p:cNvSpPr>
            <a14:cpLocks xmlns:a14="http://schemas.microsoft.com/office/drawing/2010/main" noChangeShapeType="1"/>
          </p:cNvSpPr>
          <p:nvPr/>
        </p:nvSpPr>
        <p:spPr bwMode="auto">
          <a:xfrm>
            <a:off x="6425980" y="3172006"/>
            <a:ext cx="806450" cy="15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6" name="Group 21"/>
          <p:cNvGrpSpPr/>
          <p:nvPr/>
        </p:nvGrpSpPr>
        <p:grpSpPr bwMode="auto">
          <a:xfrm>
            <a:off x="6972080" y="2173469"/>
            <a:ext cx="1727200" cy="1584325"/>
            <a:chOff x="7200" y="5625"/>
            <a:chExt cx="1620" cy="1587"/>
          </a:xfrm>
        </p:grpSpPr>
        <p:sp>
          <p:nvSpPr>
            <p:cNvPr id="47" name="Text Box 22"/>
            <p:cNvSpPr txBox="1">
              <a14:cpLocks xmlns:a14="http://schemas.microsoft.com/office/drawing/2010/main" noChangeArrowheads="1"/>
            </p:cNvSpPr>
            <p:nvPr/>
          </p:nvSpPr>
          <p:spPr bwMode="auto">
            <a:xfrm>
              <a:off x="7920" y="5625"/>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出栈</a:t>
              </a:r>
              <a:endParaRPr lang="zh-CN" altLang="en-US" sz="2400" b="1">
                <a:ea typeface="楷体_GB2312" pitchFamily="49" charset="-122"/>
              </a:endParaRPr>
            </a:p>
          </p:txBody>
        </p:sp>
        <p:sp>
          <p:nvSpPr>
            <p:cNvPr id="48" name="Text Box 23"/>
            <p:cNvSpPr txBox="1">
              <a14:cpLocks xmlns:a14="http://schemas.microsoft.com/office/drawing/2010/main" noChangeArrowheads="1"/>
            </p:cNvSpPr>
            <p:nvPr/>
          </p:nvSpPr>
          <p:spPr bwMode="auto">
            <a:xfrm>
              <a:off x="7920" y="674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进栈</a:t>
              </a:r>
              <a:endParaRPr lang="zh-CN" altLang="en-US" sz="2400" b="1">
                <a:ea typeface="楷体_GB2312" pitchFamily="49" charset="-122"/>
              </a:endParaRPr>
            </a:p>
          </p:txBody>
        </p:sp>
        <p:grpSp>
          <p:nvGrpSpPr>
            <p:cNvPr id="49" name="Group 24"/>
            <p:cNvGrpSpPr/>
            <p:nvPr/>
          </p:nvGrpSpPr>
          <p:grpSpPr bwMode="auto">
            <a:xfrm>
              <a:off x="7200" y="5652"/>
              <a:ext cx="468" cy="1344"/>
              <a:chOff x="7200" y="5652"/>
              <a:chExt cx="468" cy="1344"/>
            </a:xfrm>
          </p:grpSpPr>
          <p:sp>
            <p:nvSpPr>
              <p:cNvPr id="50" name="Arc 25"/>
              <p:cNvSpPr/>
              <p:nvPr/>
            </p:nvSpPr>
            <p:spPr bwMode="auto">
              <a:xfrm rot="-3370431" flipH="1" flipV="1">
                <a:off x="7074" y="5778"/>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Arc 26"/>
              <p:cNvSpPr/>
              <p:nvPr/>
            </p:nvSpPr>
            <p:spPr bwMode="auto">
              <a:xfrm rot="3370431" flipH="1">
                <a:off x="7074" y="6402"/>
                <a:ext cx="720" cy="46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52" name="Group 27"/>
          <p:cNvGrpSpPr/>
          <p:nvPr/>
        </p:nvGrpSpPr>
        <p:grpSpPr bwMode="auto">
          <a:xfrm>
            <a:off x="2722343" y="3254556"/>
            <a:ext cx="3816350" cy="863600"/>
            <a:chOff x="2160" y="6556"/>
            <a:chExt cx="4320" cy="936"/>
          </a:xfrm>
        </p:grpSpPr>
        <p:sp>
          <p:nvSpPr>
            <p:cNvPr id="53" name="Text Box 28"/>
            <p:cNvSpPr txBox="1">
              <a14:cpLocks xmlns:a14="http://schemas.microsoft.com/office/drawing/2010/main" noChangeArrowheads="1"/>
            </p:cNvSpPr>
            <p:nvPr/>
          </p:nvSpPr>
          <p:spPr bwMode="auto">
            <a:xfrm>
              <a:off x="2160" y="702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栈底</a:t>
              </a:r>
              <a:endParaRPr lang="zh-CN" altLang="en-US" sz="2400" b="1">
                <a:ea typeface="楷体_GB2312" pitchFamily="49" charset="-122"/>
              </a:endParaRPr>
            </a:p>
          </p:txBody>
        </p:sp>
        <p:sp>
          <p:nvSpPr>
            <p:cNvPr id="54" name="Text Box 29"/>
            <p:cNvSpPr txBox="1">
              <a14:cpLocks xmlns:a14="http://schemas.microsoft.com/office/drawing/2010/main" noChangeArrowheads="1"/>
            </p:cNvSpPr>
            <p:nvPr/>
          </p:nvSpPr>
          <p:spPr bwMode="auto">
            <a:xfrm>
              <a:off x="5580" y="7024"/>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algn="just" eaLnBrk="1" hangingPunct="1">
                <a:spcBef>
                  <a:spcPct val="0"/>
                </a:spcBef>
                <a:buFontTx/>
                <a:buNone/>
              </a:pPr>
              <a:r>
                <a:rPr lang="zh-CN" altLang="en-US" sz="2400" b="1">
                  <a:ea typeface="楷体_GB2312" pitchFamily="49" charset="-122"/>
                </a:rPr>
                <a:t>栈顶</a:t>
              </a:r>
              <a:endParaRPr lang="zh-CN" altLang="en-US" sz="2400" b="1">
                <a:ea typeface="楷体_GB2312" pitchFamily="49" charset="-122"/>
              </a:endParaRPr>
            </a:p>
          </p:txBody>
        </p:sp>
        <p:sp>
          <p:nvSpPr>
            <p:cNvPr id="55" name="Line 30"/>
            <p:cNvSpPr>
              <a14:cpLocks xmlns:a14="http://schemas.microsoft.com/office/drawing/2010/main" noChangeShapeType="1"/>
            </p:cNvSpPr>
            <p:nvPr/>
          </p:nvSpPr>
          <p:spPr bwMode="auto">
            <a:xfrm flipV="1">
              <a:off x="2520" y="6556"/>
              <a:ext cx="0" cy="46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31"/>
            <p:cNvSpPr>
              <a14:cpLocks xmlns:a14="http://schemas.microsoft.com/office/drawing/2010/main" noChangeShapeType="1"/>
            </p:cNvSpPr>
            <p:nvPr/>
          </p:nvSpPr>
          <p:spPr bwMode="auto">
            <a:xfrm flipV="1">
              <a:off x="5940" y="6556"/>
              <a:ext cx="0" cy="46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栈的抽象数据类型：</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4313581" y="779627"/>
            <a:ext cx="7354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pPr marL="0" marR="0" lvl="0" indent="22860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栈</a:t>
            </a:r>
            <a:r>
              <a:rPr kumimoji="0" lang="en-US" altLang="zh-CN" sz="28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Stack</a:t>
            </a:r>
            <a:r>
              <a:rPr kumimoji="0" lang="zh-CN" altLang="en-US" sz="28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的</a:t>
            </a:r>
            <a:r>
              <a:rPr kumimoji="0" lang="en-US" altLang="zh-CN" sz="28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ADT</a:t>
            </a:r>
            <a:endParaRPr kumimoji="0" lang="en-US" altLang="zh-CN"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endParaRPr>
          </a:p>
        </p:txBody>
      </p:sp>
      <p:sp>
        <p:nvSpPr>
          <p:cNvPr id="3" name="Rectangle 3"/>
          <p:cNvSpPr>
            <a14:cpLocks xmlns:a14="http://schemas.microsoft.com/office/drawing/2010/main" noChangeArrowheads="1"/>
          </p:cNvSpPr>
          <p:nvPr/>
        </p:nvSpPr>
        <p:spPr bwMode="auto">
          <a:xfrm>
            <a:off x="437321" y="1579599"/>
            <a:ext cx="1175467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28600"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pPr marL="0" marR="0" lvl="0" indent="228600" algn="l"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Data:</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 { 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rPr>
              <a:t>i </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 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rPr>
              <a:t>i</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rPr>
              <a:t>ElemSet</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rPr>
              <a:t>i</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=1,2,3,……n, n &gt; 0} </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或 </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Φ;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sym typeface="Symbol" pitchFamily="18" charset="2"/>
              </a:rPr>
              <a:t>ElemSet</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为元素集合。</a:t>
            </a:r>
            <a:endParaRPr kumimoji="0" lang="zh-CN" altLang="en-US"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endParaRPr>
          </a:p>
          <a:p>
            <a:pPr marL="0" marR="0" lvl="0" indent="228600" algn="l"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Relation:</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{&lt;x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i</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i+1</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&gt;|x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i</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i+1</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ElemSet,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rPr>
              <a:t>i</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=1,2,3,</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……n-1}, x</a:t>
            </a:r>
            <a:r>
              <a:rPr kumimoji="0" lang="en-US" altLang="zh-CN" sz="2400" b="0" i="0" u="none" strike="noStrike" cap="none" normalizeH="0" baseline="-3000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1</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为栈底，</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sym typeface="Symbol" pitchFamily="18" charset="2"/>
              </a:rPr>
              <a:t>x</a:t>
            </a:r>
            <a:r>
              <a:rPr kumimoji="0" lang="en-US" altLang="zh-CN" sz="2400" b="0" i="0" u="none" strike="noStrike" cap="none" normalizeH="0" baseline="-30000" dirty="0" err="1">
                <a:ln>
                  <a:noFill/>
                </a:ln>
                <a:solidFill>
                  <a:schemeClr val="tx1"/>
                </a:solidFill>
                <a:effectLst/>
                <a:latin typeface="Times New Roman" pitchFamily="18" charset="0"/>
                <a:ea typeface="华文楷体" pitchFamily="2" charset="-122"/>
                <a:cs typeface="Times New Roman" pitchFamily="18" charset="0"/>
                <a:sym typeface="Symbol" pitchFamily="18" charset="2"/>
              </a:rPr>
              <a:t>n</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为栈顶。</a:t>
            </a:r>
            <a:endParaRPr kumimoji="0" lang="zh-CN" altLang="en-US"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endParaRPr>
          </a:p>
          <a:p>
            <a:pPr marL="0" marR="0" lvl="0" indent="228600" algn="l"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Operations:</a:t>
            </a:r>
            <a:endParaRPr kumimoji="0" lang="en-US" altLang="zh-CN"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endParaRPr>
          </a:p>
          <a:p>
            <a:pPr marL="0" marR="0" lvl="0" indent="22860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initialize</a:t>
            </a:r>
            <a:r>
              <a:rPr lang="en-US" altLang="zh-CN" sz="3600" dirty="0">
                <a:latin typeface="Times New Roman" pitchFamily="18" charset="0"/>
                <a:ea typeface="华文楷体" pitchFamily="2" charset="-122"/>
                <a:cs typeface="Times New Roman" pitchFamily="18" charset="0"/>
                <a:sym typeface="Symbol" pitchFamily="18" charset="2"/>
              </a:rPr>
              <a:t>   </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前提：无    结果：栈初始化为一个空栈。</a:t>
            </a:r>
            <a:endParaRPr kumimoji="0" lang="zh-CN" altLang="en-US"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endParaRPr>
          </a:p>
          <a:p>
            <a:pPr marL="0" marR="0" lvl="0" indent="2286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sym typeface="Symbol" pitchFamily="18" charset="2"/>
              </a:rPr>
              <a:t>isEmpty</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前提：无    结果：栈</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Stack</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空返回</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true</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，否则返回</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false</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a:t>
            </a:r>
            <a:endParaRPr kumimoji="0" lang="zh-CN" altLang="en-US" sz="36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endParaRPr>
          </a:p>
          <a:p>
            <a:pPr marL="0" marR="0" lvl="0" indent="22860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a:t>
            </a:r>
            <a:r>
              <a:rPr kumimoji="0" lang="en-US" altLang="zh-CN" sz="2400" b="0" i="0" u="none" strike="noStrike" cap="none" normalizeH="0" baseline="0" dirty="0" err="1">
                <a:ln>
                  <a:noFill/>
                </a:ln>
                <a:solidFill>
                  <a:schemeClr val="tx1"/>
                </a:solidFill>
                <a:effectLst/>
                <a:latin typeface="Times New Roman" pitchFamily="18" charset="0"/>
                <a:ea typeface="华文楷体" pitchFamily="2" charset="-122"/>
                <a:cs typeface="Times New Roman" pitchFamily="18" charset="0"/>
                <a:sym typeface="Symbol" pitchFamily="18" charset="2"/>
              </a:rPr>
              <a:t>isFull</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          </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前提：无 </a:t>
            </a:r>
            <a:r>
              <a:rPr lang="zh-CN" altLang="en-US" sz="2400" dirty="0">
                <a:latin typeface="Times New Roman" pitchFamily="18" charset="0"/>
                <a:ea typeface="华文楷体" pitchFamily="2" charset="-122"/>
                <a:cs typeface="Times New Roman" pitchFamily="18" charset="0"/>
                <a:sym typeface="Symbol" pitchFamily="18" charset="2"/>
              </a:rPr>
              <a:t>   </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结果：栈</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Stack</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满返回</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true</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，否则返回</a:t>
            </a:r>
            <a:r>
              <a:rPr kumimoji="0" lang="en-US" altLang="zh-CN"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false</a:t>
            </a:r>
            <a:r>
              <a:rPr kumimoji="0" lang="zh-CN" altLang="en-US" sz="2400" b="0"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sym typeface="Symbol" pitchFamily="18" charset="2"/>
              </a:rPr>
              <a:t>。</a:t>
            </a:r>
            <a:endParaRPr lang="en-US" altLang="zh-CN" sz="2400" dirty="0">
              <a:latin typeface="Times New Roman" pitchFamily="18" charset="0"/>
              <a:ea typeface="华文楷体" pitchFamily="2" charset="-122"/>
              <a:cs typeface="Times New Roman" pitchFamily="18" charset="0"/>
              <a:sym typeface="Symbol" pitchFamily="18" charset="2"/>
            </a:endParaRPr>
          </a:p>
          <a:p>
            <a:r>
              <a:rPr lang="en-US" altLang="zh-CN" sz="2400" dirty="0">
                <a:latin typeface="Times New Roman" pitchFamily="18" charset="0"/>
                <a:ea typeface="华文楷体" pitchFamily="2" charset="-122"/>
                <a:cs typeface="Times New Roman" pitchFamily="18" charset="0"/>
              </a:rPr>
              <a:t>	top	</a:t>
            </a:r>
            <a:r>
              <a:rPr lang="zh-CN" altLang="zh-CN" sz="2400" dirty="0">
                <a:latin typeface="Times New Roman" pitchFamily="18" charset="0"/>
                <a:ea typeface="华文楷体" pitchFamily="2" charset="-122"/>
                <a:cs typeface="Times New Roman" pitchFamily="18" charset="0"/>
              </a:rPr>
              <a:t>前提：栈</a:t>
            </a:r>
            <a:r>
              <a:rPr lang="en-US" altLang="zh-CN" sz="2400" dirty="0">
                <a:latin typeface="Times New Roman" pitchFamily="18" charset="0"/>
                <a:ea typeface="华文楷体" pitchFamily="2" charset="-122"/>
                <a:cs typeface="Times New Roman" pitchFamily="18" charset="0"/>
              </a:rPr>
              <a:t>Stack</a:t>
            </a:r>
            <a:r>
              <a:rPr lang="zh-CN" altLang="zh-CN" sz="2400" dirty="0">
                <a:latin typeface="Times New Roman" pitchFamily="18" charset="0"/>
                <a:ea typeface="华文楷体" pitchFamily="2" charset="-122"/>
                <a:cs typeface="Times New Roman" pitchFamily="18" charset="0"/>
              </a:rPr>
              <a:t>非空。结果：返回栈顶元素的值，栈顶元素不变。</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push   	</a:t>
            </a:r>
            <a:r>
              <a:rPr lang="zh-CN" altLang="zh-CN" sz="2400" dirty="0">
                <a:latin typeface="Times New Roman" pitchFamily="18" charset="0"/>
                <a:ea typeface="华文楷体" pitchFamily="2" charset="-122"/>
                <a:cs typeface="Times New Roman" pitchFamily="18" charset="0"/>
              </a:rPr>
              <a:t>前提：栈</a:t>
            </a:r>
            <a:r>
              <a:rPr lang="en-US" altLang="zh-CN" sz="2400" dirty="0">
                <a:latin typeface="Times New Roman" pitchFamily="18" charset="0"/>
                <a:ea typeface="华文楷体" pitchFamily="2" charset="-122"/>
                <a:cs typeface="Times New Roman" pitchFamily="18" charset="0"/>
              </a:rPr>
              <a:t>Stack</a:t>
            </a:r>
            <a:r>
              <a:rPr lang="zh-CN" altLang="zh-CN" sz="2400" dirty="0">
                <a:latin typeface="Times New Roman" pitchFamily="18" charset="0"/>
                <a:ea typeface="华文楷体" pitchFamily="2" charset="-122"/>
                <a:cs typeface="Times New Roman" pitchFamily="18" charset="0"/>
              </a:rPr>
              <a:t>非满，已知待插入的元素。</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zh-CN" altLang="zh-CN" sz="2400" dirty="0">
                <a:latin typeface="Times New Roman" pitchFamily="18" charset="0"/>
                <a:ea typeface="华文楷体" pitchFamily="2" charset="-122"/>
                <a:cs typeface="Times New Roman" pitchFamily="18" charset="0"/>
              </a:rPr>
              <a:t>结果：将该元素压栈，使其成为新的栈顶元素。</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pop    	</a:t>
            </a:r>
            <a:r>
              <a:rPr lang="zh-CN" altLang="zh-CN" sz="2400" dirty="0">
                <a:latin typeface="Times New Roman" pitchFamily="18" charset="0"/>
                <a:ea typeface="华文楷体" pitchFamily="2" charset="-122"/>
                <a:cs typeface="Times New Roman" pitchFamily="18" charset="0"/>
              </a:rPr>
              <a:t>前提：</a:t>
            </a:r>
            <a:r>
              <a:rPr lang="en-US" altLang="zh-CN" sz="2400" dirty="0">
                <a:latin typeface="Times New Roman" pitchFamily="18" charset="0"/>
                <a:ea typeface="华文楷体" pitchFamily="2" charset="-122"/>
                <a:cs typeface="Times New Roman" pitchFamily="18" charset="0"/>
              </a:rPr>
              <a:t> </a:t>
            </a:r>
            <a:r>
              <a:rPr lang="zh-CN" altLang="zh-CN" sz="2400" dirty="0">
                <a:latin typeface="Times New Roman" pitchFamily="18" charset="0"/>
                <a:ea typeface="华文楷体" pitchFamily="2" charset="-122"/>
                <a:cs typeface="Times New Roman" pitchFamily="18" charset="0"/>
              </a:rPr>
              <a:t>栈</a:t>
            </a:r>
            <a:r>
              <a:rPr lang="en-US" altLang="zh-CN" sz="2400" dirty="0">
                <a:latin typeface="Times New Roman" pitchFamily="18" charset="0"/>
                <a:ea typeface="华文楷体" pitchFamily="2" charset="-122"/>
                <a:cs typeface="Times New Roman" pitchFamily="18" charset="0"/>
              </a:rPr>
              <a:t>Stack</a:t>
            </a:r>
            <a:r>
              <a:rPr lang="zh-CN" altLang="zh-CN" sz="2400" dirty="0">
                <a:latin typeface="Times New Roman" pitchFamily="18" charset="0"/>
                <a:ea typeface="华文楷体" pitchFamily="2" charset="-122"/>
                <a:cs typeface="Times New Roman" pitchFamily="18" charset="0"/>
              </a:rPr>
              <a:t>非空。</a:t>
            </a:r>
            <a:r>
              <a:rPr lang="en-US" altLang="zh-CN" sz="2400" dirty="0">
                <a:latin typeface="Times New Roman" pitchFamily="18" charset="0"/>
                <a:ea typeface="华文楷体" pitchFamily="2" charset="-122"/>
                <a:cs typeface="Times New Roman" pitchFamily="18" charset="0"/>
              </a:rPr>
              <a:t> </a:t>
            </a:r>
            <a:endParaRPr lang="en-US"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zh-CN" altLang="zh-CN" sz="2400" dirty="0">
                <a:latin typeface="Times New Roman" pitchFamily="18" charset="0"/>
                <a:ea typeface="华文楷体" pitchFamily="2" charset="-122"/>
                <a:cs typeface="Times New Roman" pitchFamily="18" charset="0"/>
              </a:rPr>
              <a:t>结果：</a:t>
            </a:r>
            <a:r>
              <a:rPr lang="en-US" altLang="zh-CN" sz="2400" dirty="0">
                <a:latin typeface="Times New Roman" pitchFamily="18" charset="0"/>
                <a:ea typeface="华文楷体" pitchFamily="2" charset="-122"/>
                <a:cs typeface="Times New Roman" pitchFamily="18" charset="0"/>
              </a:rPr>
              <a:t> </a:t>
            </a:r>
            <a:r>
              <a:rPr lang="zh-CN" altLang="zh-CN" sz="2400" dirty="0">
                <a:latin typeface="Times New Roman" pitchFamily="18" charset="0"/>
                <a:ea typeface="华文楷体" pitchFamily="2" charset="-122"/>
                <a:cs typeface="Times New Roman" pitchFamily="18" charset="0"/>
              </a:rPr>
              <a:t>将栈顶元素弹栈，该元素不再成为栈顶元素。</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destroy   </a:t>
            </a:r>
            <a:r>
              <a:rPr lang="zh-CN" altLang="zh-CN" sz="2400" dirty="0">
                <a:latin typeface="Times New Roman" pitchFamily="18" charset="0"/>
                <a:ea typeface="华文楷体" pitchFamily="2" charset="-122"/>
                <a:cs typeface="Times New Roman" pitchFamily="18" charset="0"/>
              </a:rPr>
              <a:t>前提</a:t>
            </a:r>
            <a:r>
              <a:rPr lang="zh-CN" altLang="en-US" sz="2400" dirty="0">
                <a:latin typeface="Times New Roman" pitchFamily="18" charset="0"/>
                <a:ea typeface="华文楷体" pitchFamily="2" charset="-122"/>
                <a:cs typeface="Times New Roman" pitchFamily="18" charset="0"/>
              </a:rPr>
              <a:t>：</a:t>
            </a:r>
            <a:r>
              <a:rPr lang="zh-CN" altLang="zh-CN" sz="2400" dirty="0">
                <a:latin typeface="Times New Roman" pitchFamily="18" charset="0"/>
                <a:ea typeface="华文楷体" pitchFamily="2" charset="-122"/>
                <a:cs typeface="Times New Roman" pitchFamily="18" charset="0"/>
              </a:rPr>
              <a:t>无。</a:t>
            </a:r>
            <a:r>
              <a:rPr lang="en-US" altLang="zh-CN" sz="2400" dirty="0">
                <a:latin typeface="Times New Roman" pitchFamily="18" charset="0"/>
                <a:ea typeface="华文楷体" pitchFamily="2" charset="-122"/>
                <a:cs typeface="Times New Roman" pitchFamily="18" charset="0"/>
              </a:rPr>
              <a:t> </a:t>
            </a:r>
            <a:r>
              <a:rPr lang="zh-CN" altLang="zh-CN" sz="2400" dirty="0">
                <a:latin typeface="Times New Roman" pitchFamily="18" charset="0"/>
                <a:ea typeface="华文楷体" pitchFamily="2" charset="-122"/>
                <a:cs typeface="Times New Roman" pitchFamily="18" charset="0"/>
              </a:rPr>
              <a:t>结果：释放栈</a:t>
            </a:r>
            <a:r>
              <a:rPr lang="en-US" altLang="zh-CN" sz="2400" dirty="0">
                <a:latin typeface="Times New Roman" pitchFamily="18" charset="0"/>
                <a:ea typeface="华文楷体" pitchFamily="2" charset="-122"/>
                <a:cs typeface="Times New Roman" pitchFamily="18" charset="0"/>
              </a:rPr>
              <a:t>Stack</a:t>
            </a:r>
            <a:r>
              <a:rPr lang="zh-CN" altLang="zh-CN" sz="2400" dirty="0">
                <a:latin typeface="Times New Roman" pitchFamily="18" charset="0"/>
                <a:ea typeface="华文楷体" pitchFamily="2" charset="-122"/>
                <a:cs typeface="Times New Roman" pitchFamily="18" charset="0"/>
              </a:rPr>
              <a:t>占用的所有空间。</a:t>
            </a:r>
            <a:endParaRPr lang="zh-CN" altLang="zh-CN" sz="2400" dirty="0">
              <a:latin typeface="Times New Roman" pitchFamily="18" charset="0"/>
              <a:ea typeface="华文楷体" pitchFamily="2" charset="-122"/>
              <a:cs typeface="Times New Roman" pitchFamily="18" charset="0"/>
            </a:endParaRPr>
          </a:p>
          <a:p>
            <a:pPr marL="0" marR="0" lvl="0" indent="22860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latin typeface="Times New Roman" pitchFamily="18" charset="0"/>
              <a:ea typeface="宋体" charset="-122"/>
              <a:cs typeface="Times New Roman" pitchFamily="18" charset="0"/>
              <a:sym typeface="Symbol" pitchFamily="18" charset="2"/>
            </a:endParaRPr>
          </a:p>
        </p:txBody>
      </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顺序栈</a:t>
            </a:r>
            <a:endParaRPr lang="en-US" altLang="zh-CN" sz="2800" dirty="0">
              <a:solidFill>
                <a:srgbClr val="FF0000"/>
              </a:solidFill>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1721051"/>
          </a:xfrm>
        </p:spPr>
        <p:txBody>
          <a:bodyPr>
            <a:normAutofit/>
          </a:bodyPr>
          <a:lstStyle/>
          <a:p>
            <a:pPr>
              <a:buFont typeface="Wingdings" charset="2"/>
              <a:buChar char="Ø"/>
            </a:pPr>
            <a:r>
              <a:rPr lang="zh-CN" altLang="zh-CN" sz="2800" b="0" dirty="0">
                <a:latin typeface="华文楷体" pitchFamily="2" charset="-122"/>
                <a:ea typeface="华文楷体" pitchFamily="2" charset="-122"/>
              </a:rPr>
              <a:t>栈的顺序存储即使用连续的空间存储栈中的元素。可以将栈底放在数组的</a:t>
            </a:r>
            <a:r>
              <a:rPr lang="en-US" altLang="zh-CN" sz="2800" b="0" dirty="0">
                <a:latin typeface="华文楷体" pitchFamily="2" charset="-122"/>
                <a:ea typeface="华文楷体" pitchFamily="2" charset="-122"/>
              </a:rPr>
              <a:t>0</a:t>
            </a:r>
            <a:r>
              <a:rPr lang="zh-CN" altLang="zh-CN" sz="2800" b="0" dirty="0">
                <a:latin typeface="华文楷体" pitchFamily="2" charset="-122"/>
                <a:ea typeface="华文楷体" pitchFamily="2" charset="-122"/>
              </a:rPr>
              <a:t>下标位置，进栈和出栈总是在栈的同一端（栈顶）进行</a:t>
            </a:r>
            <a:r>
              <a:rPr lang="zh-CN" altLang="en-US"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顺序方式存储的栈称为</a:t>
            </a:r>
            <a:r>
              <a:rPr lang="zh-CN" altLang="zh-CN" sz="2800" dirty="0">
                <a:latin typeface="华文楷体" pitchFamily="2" charset="-122"/>
                <a:ea typeface="华文楷体" pitchFamily="2" charset="-122"/>
              </a:rPr>
              <a:t>顺序栈</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顺序栈：</a:t>
            </a:r>
            <a:endParaRPr lang="zh-CN" altLang="en-US" dirty="0">
              <a:latin typeface="华文楷体" pitchFamily="2" charset="-122"/>
              <a:ea typeface="华文楷体"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956599" y="3419061"/>
            <a:ext cx="5742375" cy="3180523"/>
          </a:xfrm>
          <a:prstGeom prst="rect">
            <a:avLst/>
          </a:prstGeom>
          <a:noFill/>
          <a:ln>
            <a:noFill/>
          </a:ln>
        </p:spPr>
      </p:pic>
      <p:sp>
        <p:nvSpPr>
          <p:cNvPr id="2" name="文本框 1"/>
          <p:cNvSpPr txBox="1"/>
          <p:nvPr/>
        </p:nvSpPr>
        <p:spPr>
          <a:xfrm>
            <a:off x="7275443" y="4055215"/>
            <a:ext cx="4546139" cy="1384995"/>
          </a:xfrm>
          <a:prstGeom prst="rect">
            <a:avLst/>
          </a:prstGeom>
          <a:noFill/>
        </p:spPr>
        <p:txBody>
          <a:bodyPr wrap="square" rtlCol="0">
            <a:spAutoFit/>
          </a:bodyPr>
          <a:lstStyle/>
          <a:p>
            <a:r>
              <a:rPr lang="en-US" altLang="zh-CN" sz="2800" dirty="0">
                <a:highlight>
                  <a:srgbClr val="FFFF00"/>
                </a:highlight>
                <a:latin typeface="华文楷体" pitchFamily="2" charset="-122"/>
                <a:ea typeface="华文楷体" pitchFamily="2" charset="-122"/>
              </a:rPr>
              <a:t>bottom</a:t>
            </a:r>
            <a:r>
              <a:rPr lang="zh-CN" altLang="en-US" sz="2800" dirty="0">
                <a:highlight>
                  <a:srgbClr val="FFFF00"/>
                </a:highlight>
                <a:latin typeface="华文楷体" pitchFamily="2" charset="-122"/>
                <a:ea typeface="华文楷体" pitchFamily="2" charset="-122"/>
              </a:rPr>
              <a:t>总是</a:t>
            </a:r>
            <a:r>
              <a:rPr lang="en-US" altLang="zh-CN" sz="2800" dirty="0">
                <a:highlight>
                  <a:srgbClr val="FFFF00"/>
                </a:highlight>
                <a:latin typeface="华文楷体" pitchFamily="2" charset="-122"/>
                <a:ea typeface="华文楷体" pitchFamily="2" charset="-122"/>
              </a:rPr>
              <a:t>0</a:t>
            </a:r>
            <a:r>
              <a:rPr lang="zh-CN" altLang="en-US" sz="2800" dirty="0">
                <a:highlight>
                  <a:srgbClr val="FFFF00"/>
                </a:highlight>
                <a:latin typeface="华文楷体" pitchFamily="2" charset="-122"/>
                <a:ea typeface="华文楷体" pitchFamily="2" charset="-122"/>
              </a:rPr>
              <a:t>，不需要记忆</a:t>
            </a:r>
            <a:endParaRPr lang="en-US" altLang="zh-CN" sz="2800" dirty="0">
              <a:highlight>
                <a:srgbClr val="FFFF00"/>
              </a:highlight>
              <a:latin typeface="华文楷体" pitchFamily="2" charset="-122"/>
              <a:ea typeface="华文楷体" pitchFamily="2" charset="-122"/>
            </a:endParaRPr>
          </a:p>
          <a:p>
            <a:r>
              <a:rPr lang="zh-CN" altLang="en-US" sz="2800" dirty="0">
                <a:highlight>
                  <a:srgbClr val="FFFF00"/>
                </a:highlight>
                <a:latin typeface="华文楷体" pitchFamily="2" charset="-122"/>
                <a:ea typeface="华文楷体" pitchFamily="2" charset="-122"/>
              </a:rPr>
              <a:t>栈空标志：</a:t>
            </a:r>
            <a:r>
              <a:rPr lang="en-US" altLang="zh-CN" sz="2800" dirty="0">
                <a:highlight>
                  <a:srgbClr val="FFFF00"/>
                </a:highlight>
                <a:latin typeface="华文楷体" pitchFamily="2" charset="-122"/>
                <a:ea typeface="华文楷体" pitchFamily="2" charset="-122"/>
              </a:rPr>
              <a:t>top=-1</a:t>
            </a:r>
            <a:endParaRPr lang="en-US" altLang="zh-CN" sz="2800" dirty="0">
              <a:highlight>
                <a:srgbClr val="FFFF00"/>
              </a:highlight>
              <a:latin typeface="华文楷体" pitchFamily="2" charset="-122"/>
              <a:ea typeface="华文楷体" pitchFamily="2" charset="-122"/>
            </a:endParaRPr>
          </a:p>
          <a:p>
            <a:r>
              <a:rPr lang="zh-CN" altLang="en-US" sz="2800" dirty="0">
                <a:highlight>
                  <a:srgbClr val="FFFF00"/>
                </a:highlight>
                <a:latin typeface="华文楷体" pitchFamily="2" charset="-122"/>
                <a:ea typeface="华文楷体" pitchFamily="2" charset="-122"/>
              </a:rPr>
              <a:t>栈满标志：</a:t>
            </a:r>
            <a:r>
              <a:rPr lang="en-US" altLang="zh-CN" sz="2800" dirty="0">
                <a:highlight>
                  <a:srgbClr val="FFFF00"/>
                </a:highlight>
                <a:latin typeface="华文楷体" pitchFamily="2" charset="-122"/>
                <a:ea typeface="华文楷体" pitchFamily="2" charset="-122"/>
              </a:rPr>
              <a:t>top=maxSize-1</a:t>
            </a:r>
            <a:endParaRPr lang="zh-CN" altLang="en-US" sz="2800" dirty="0">
              <a:highlight>
                <a:srgbClr val="FFFF00"/>
              </a:highlight>
              <a:latin typeface="华文楷体" pitchFamily="2" charset="-122"/>
              <a:ea typeface="华文楷体" pitchFamily="2" charset="-122"/>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513170"/>
            <a:ext cx="11162883" cy="766894"/>
          </a:xfrm>
        </p:spPr>
        <p:txBody>
          <a:bodyPr>
            <a:normAutofit/>
          </a:bodyPr>
          <a:lstStyle/>
          <a:p>
            <a:pPr>
              <a:buFont typeface="Wingdings" charset="2"/>
              <a:buChar char="Ø"/>
            </a:pPr>
            <a:r>
              <a:rPr lang="zh-CN" altLang="en-US" sz="2800" b="0" dirty="0">
                <a:ea typeface="华文楷体" pitchFamily="2" charset="-122"/>
                <a:cs typeface="Times New Roman" pitchFamily="18" charset="0"/>
              </a:rPr>
              <a:t>顺序栈的描述：数组指针</a:t>
            </a:r>
            <a:r>
              <a:rPr lang="en-US" altLang="zh-CN" sz="2800" b="0" dirty="0">
                <a:ea typeface="华文楷体" pitchFamily="2" charset="-122"/>
                <a:cs typeface="Times New Roman" pitchFamily="18" charset="0"/>
              </a:rPr>
              <a:t>array</a:t>
            </a:r>
            <a:r>
              <a:rPr lang="zh-CN" altLang="en-US" sz="2800" b="0" dirty="0">
                <a:ea typeface="华文楷体" pitchFamily="2" charset="-122"/>
                <a:cs typeface="Times New Roman" pitchFamily="18" charset="0"/>
              </a:rPr>
              <a:t>，数组大小</a:t>
            </a:r>
            <a:r>
              <a:rPr lang="en-US" altLang="zh-CN" sz="2800" b="0" dirty="0" err="1">
                <a:ea typeface="华文楷体" pitchFamily="2" charset="-122"/>
                <a:cs typeface="Times New Roman" pitchFamily="18" charset="0"/>
              </a:rPr>
              <a:t>maxSize</a:t>
            </a:r>
            <a:r>
              <a:rPr lang="zh-CN" altLang="en-US" sz="2800" b="0" dirty="0">
                <a:ea typeface="华文楷体" pitchFamily="2" charset="-122"/>
                <a:cs typeface="Times New Roman" pitchFamily="18" charset="0"/>
              </a:rPr>
              <a:t>，栈顶下标</a:t>
            </a:r>
            <a:r>
              <a:rPr lang="en-US" altLang="zh-CN" sz="2800" b="0" dirty="0">
                <a:ea typeface="华文楷体" pitchFamily="2" charset="-122"/>
                <a:cs typeface="Times New Roman" pitchFamily="18" charset="0"/>
              </a:rPr>
              <a:t>Top</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latin typeface="华文楷体" pitchFamily="2" charset="-122"/>
                <a:ea typeface="华文楷体" pitchFamily="2" charset="-122"/>
              </a:rPr>
              <a:t> </a:t>
            </a:r>
            <a:r>
              <a:rPr lang="zh-CN" altLang="en-US" dirty="0">
                <a:latin typeface="华文楷体" pitchFamily="2" charset="-122"/>
                <a:ea typeface="华文楷体" pitchFamily="2" charset="-122"/>
              </a:rPr>
              <a:t>顺序栈类的声明：</a:t>
            </a:r>
            <a:endParaRPr lang="zh-CN" altLang="en-US" dirty="0">
              <a:latin typeface="华文楷体" pitchFamily="2" charset="-122"/>
              <a:ea typeface="华文楷体" pitchFamily="2" charset="-122"/>
            </a:endParaRPr>
          </a:p>
        </p:txBody>
      </p:sp>
      <p:sp>
        <p:nvSpPr>
          <p:cNvPr id="3" name="文本框 2"/>
          <p:cNvSpPr txBox="1"/>
          <p:nvPr/>
        </p:nvSpPr>
        <p:spPr>
          <a:xfrm>
            <a:off x="874643" y="2087218"/>
            <a:ext cx="10614992" cy="4401205"/>
          </a:xfrm>
          <a:prstGeom prst="rect">
            <a:avLst/>
          </a:prstGeom>
          <a:noFill/>
        </p:spPr>
        <p:txBody>
          <a:bodyPr wrap="square" rtlCol="0">
            <a:spAutoFit/>
          </a:bodyPr>
          <a:lstStyle/>
          <a:p>
            <a:r>
              <a:rPr lang="en-US" altLang="zh-CN" sz="2800" dirty="0">
                <a:latin typeface="Times New Roman" pitchFamily="18" charset="0"/>
                <a:ea typeface="华文楷体" pitchFamily="2" charset="-122"/>
                <a:cs typeface="Times New Roman" pitchFamily="18" charset="0"/>
              </a:rPr>
              <a:t>class </a:t>
            </a:r>
            <a:r>
              <a:rPr lang="en-US" altLang="zh-CN" sz="2800" dirty="0" err="1">
                <a:latin typeface="Times New Roman" pitchFamily="18" charset="0"/>
                <a:ea typeface="华文楷体" pitchFamily="2" charset="-122"/>
                <a:cs typeface="Times New Roman" pitchFamily="18" charset="0"/>
              </a:rPr>
              <a:t>illegalSize</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class </a:t>
            </a:r>
            <a:r>
              <a:rPr lang="en-US" altLang="zh-CN" sz="2800" dirty="0" err="1">
                <a:latin typeface="Times New Roman" pitchFamily="18" charset="0"/>
                <a:ea typeface="华文楷体" pitchFamily="2" charset="-122"/>
                <a:cs typeface="Times New Roman" pitchFamily="18" charset="0"/>
              </a:rPr>
              <a:t>outOfBound</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template &lt;class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class </a:t>
            </a:r>
            <a:r>
              <a:rPr lang="en-US" altLang="zh-CN" sz="2800" dirty="0" err="1">
                <a:latin typeface="Times New Roman" pitchFamily="18" charset="0"/>
                <a:ea typeface="华文楷体" pitchFamily="2" charset="-122"/>
                <a:cs typeface="Times New Roman" pitchFamily="18" charset="0"/>
              </a:rPr>
              <a:t>seqStack</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private:</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 *array;    //</a:t>
            </a:r>
            <a:r>
              <a:rPr lang="zh-CN" altLang="zh-CN" sz="2800" dirty="0">
                <a:latin typeface="Times New Roman" pitchFamily="18" charset="0"/>
                <a:ea typeface="华文楷体" pitchFamily="2" charset="-122"/>
                <a:cs typeface="Times New Roman" pitchFamily="18" charset="0"/>
              </a:rPr>
              <a:t>栈存储数组，存放实际的数据元素。</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int</a:t>
            </a:r>
            <a:r>
              <a:rPr lang="en-US" altLang="zh-CN" sz="2800" dirty="0">
                <a:latin typeface="Times New Roman" pitchFamily="18" charset="0"/>
                <a:ea typeface="华文楷体" pitchFamily="2" charset="-122"/>
                <a:cs typeface="Times New Roman" pitchFamily="18" charset="0"/>
              </a:rPr>
              <a:t> Top;            //</a:t>
            </a:r>
            <a:r>
              <a:rPr lang="zh-CN" altLang="zh-CN" sz="2800" dirty="0">
                <a:latin typeface="Times New Roman" pitchFamily="18" charset="0"/>
                <a:ea typeface="华文楷体" pitchFamily="2" charset="-122"/>
                <a:cs typeface="Times New Roman" pitchFamily="18" charset="0"/>
              </a:rPr>
              <a:t>栈顶下标。</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int</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maxSize</a:t>
            </a:r>
            <a:r>
              <a:rPr lang="en-US" altLang="zh-CN" sz="2800" dirty="0">
                <a:latin typeface="Times New Roman" pitchFamily="18" charset="0"/>
                <a:ea typeface="华文楷体" pitchFamily="2" charset="-122"/>
                <a:cs typeface="Times New Roman" pitchFamily="18" charset="0"/>
              </a:rPr>
              <a:t>;	    //</a:t>
            </a:r>
            <a:r>
              <a:rPr lang="zh-CN" altLang="zh-CN" sz="2800" dirty="0">
                <a:latin typeface="Times New Roman" pitchFamily="18" charset="0"/>
                <a:ea typeface="华文楷体" pitchFamily="2" charset="-122"/>
                <a:cs typeface="Times New Roman" pitchFamily="18" charset="0"/>
              </a:rPr>
              <a:t>栈中最多能存放的元素个数。</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void </a:t>
            </a:r>
            <a:r>
              <a:rPr lang="en-US" altLang="zh-CN" sz="2800" dirty="0" err="1">
                <a:latin typeface="Times New Roman" pitchFamily="18" charset="0"/>
                <a:ea typeface="华文楷体" pitchFamily="2" charset="-122"/>
                <a:cs typeface="Times New Roman" pitchFamily="18" charset="0"/>
              </a:rPr>
              <a:t>doubleSpace</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顺序栈类的声明：</a:t>
            </a:r>
            <a:endParaRPr lang="zh-CN" altLang="en-US" dirty="0">
              <a:latin typeface="华文楷体" pitchFamily="2" charset="-122"/>
              <a:ea typeface="华文楷体" pitchFamily="2" charset="-122"/>
            </a:endParaRPr>
          </a:p>
        </p:txBody>
      </p:sp>
      <p:sp>
        <p:nvSpPr>
          <p:cNvPr id="3" name="文本框 2"/>
          <p:cNvSpPr txBox="1"/>
          <p:nvPr/>
        </p:nvSpPr>
        <p:spPr>
          <a:xfrm>
            <a:off x="134603" y="1605028"/>
            <a:ext cx="11913706" cy="3970318"/>
          </a:xfrm>
          <a:prstGeom prst="rect">
            <a:avLst/>
          </a:prstGeom>
          <a:noFill/>
        </p:spPr>
        <p:txBody>
          <a:bodyPr wrap="square" rtlCol="0">
            <a:spAutoFit/>
          </a:bodyPr>
          <a:lstStyle/>
          <a:p>
            <a:r>
              <a:rPr lang="en-US" altLang="zh-CN" dirty="0"/>
              <a:t> </a:t>
            </a:r>
            <a:r>
              <a:rPr lang="en-US" altLang="zh-CN" sz="2800" dirty="0">
                <a:latin typeface="Times New Roman" pitchFamily="18" charset="0"/>
                <a:ea typeface="华文楷体" pitchFamily="2" charset="-122"/>
                <a:cs typeface="Times New Roman" pitchFamily="18" charset="0"/>
              </a:rPr>
              <a:t>public:</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a:t>
            </a:r>
            <a:r>
              <a:rPr lang="en-US" altLang="zh-CN" sz="2800" dirty="0" err="1">
                <a:latin typeface="Times New Roman" pitchFamily="18" charset="0"/>
                <a:ea typeface="华文楷体" pitchFamily="2" charset="-122"/>
                <a:cs typeface="Times New Roman" pitchFamily="18" charset="0"/>
              </a:rPr>
              <a:t>int</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initSize</a:t>
            </a:r>
            <a:r>
              <a:rPr lang="en-US" altLang="zh-CN" sz="2800" dirty="0">
                <a:latin typeface="Times New Roman" pitchFamily="18" charset="0"/>
                <a:ea typeface="华文楷体" pitchFamily="2" charset="-122"/>
                <a:cs typeface="Times New Roman" pitchFamily="18" charset="0"/>
              </a:rPr>
              <a:t> = 100); //</a:t>
            </a:r>
            <a:r>
              <a:rPr lang="zh-CN" altLang="zh-CN" sz="2800" dirty="0">
                <a:latin typeface="Times New Roman" pitchFamily="18" charset="0"/>
                <a:ea typeface="华文楷体" pitchFamily="2" charset="-122"/>
                <a:cs typeface="Times New Roman" pitchFamily="18" charset="0"/>
              </a:rPr>
              <a:t>初始化顺序栈</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bool </a:t>
            </a:r>
            <a:r>
              <a:rPr lang="en-US" altLang="zh-CN" sz="2800" dirty="0" err="1">
                <a:latin typeface="Times New Roman" pitchFamily="18" charset="0"/>
                <a:ea typeface="华文楷体" pitchFamily="2" charset="-122"/>
                <a:cs typeface="Times New Roman" pitchFamily="18" charset="0"/>
              </a:rPr>
              <a:t>isEmpty</a:t>
            </a:r>
            <a:r>
              <a:rPr lang="en-US" altLang="zh-CN" sz="2800" dirty="0">
                <a:latin typeface="Times New Roman" pitchFamily="18" charset="0"/>
                <a:ea typeface="华文楷体" pitchFamily="2" charset="-122"/>
                <a:cs typeface="Times New Roman" pitchFamily="18" charset="0"/>
              </a:rPr>
              <a:t> () { return ( Top == -1 ); } ; //</a:t>
            </a:r>
            <a:r>
              <a:rPr lang="zh-CN" altLang="zh-CN" sz="2800" dirty="0">
                <a:latin typeface="Times New Roman" pitchFamily="18" charset="0"/>
                <a:ea typeface="华文楷体" pitchFamily="2" charset="-122"/>
                <a:cs typeface="Times New Roman" pitchFamily="18" charset="0"/>
              </a:rPr>
              <a:t>栈空返回</a:t>
            </a:r>
            <a:r>
              <a:rPr lang="en-US" altLang="zh-CN" sz="2800" dirty="0">
                <a:latin typeface="Times New Roman" pitchFamily="18" charset="0"/>
                <a:ea typeface="华文楷体" pitchFamily="2" charset="-122"/>
                <a:cs typeface="Times New Roman" pitchFamily="18" charset="0"/>
              </a:rPr>
              <a:t>true,</a:t>
            </a:r>
            <a:r>
              <a:rPr lang="zh-CN" altLang="zh-CN" sz="2800" dirty="0">
                <a:latin typeface="Times New Roman" pitchFamily="18" charset="0"/>
                <a:ea typeface="华文楷体" pitchFamily="2" charset="-122"/>
                <a:cs typeface="Times New Roman" pitchFamily="18" charset="0"/>
              </a:rPr>
              <a:t>否则返回</a:t>
            </a:r>
            <a:r>
              <a:rPr lang="en-US" altLang="zh-CN" sz="2800" dirty="0">
                <a:latin typeface="Times New Roman" pitchFamily="18" charset="0"/>
                <a:ea typeface="华文楷体" pitchFamily="2" charset="-122"/>
                <a:cs typeface="Times New Roman" pitchFamily="18" charset="0"/>
              </a:rPr>
              <a:t>false</a:t>
            </a:r>
            <a:r>
              <a:rPr lang="zh-CN"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bool </a:t>
            </a:r>
            <a:r>
              <a:rPr lang="en-US" altLang="zh-CN" sz="2800" dirty="0" err="1">
                <a:latin typeface="Times New Roman" pitchFamily="18" charset="0"/>
                <a:ea typeface="华文楷体" pitchFamily="2" charset="-122"/>
                <a:cs typeface="Times New Roman" pitchFamily="18" charset="0"/>
              </a:rPr>
              <a:t>isFull</a:t>
            </a:r>
            <a:r>
              <a:rPr lang="en-US" altLang="zh-CN" sz="2800" dirty="0">
                <a:latin typeface="Times New Roman" pitchFamily="18" charset="0"/>
                <a:ea typeface="华文楷体" pitchFamily="2" charset="-122"/>
                <a:cs typeface="Times New Roman" pitchFamily="18" charset="0"/>
              </a:rPr>
              <a:t> () { return (Top == maxSize-1); };//</a:t>
            </a:r>
            <a:r>
              <a:rPr lang="zh-CN" altLang="zh-CN" sz="2800" dirty="0">
                <a:latin typeface="Times New Roman" pitchFamily="18" charset="0"/>
                <a:ea typeface="华文楷体" pitchFamily="2" charset="-122"/>
                <a:cs typeface="Times New Roman" pitchFamily="18" charset="0"/>
              </a:rPr>
              <a:t>栈满返回</a:t>
            </a:r>
            <a:r>
              <a:rPr lang="en-US" altLang="zh-CN" sz="2800" dirty="0">
                <a:latin typeface="Times New Roman" pitchFamily="18" charset="0"/>
                <a:ea typeface="华文楷体" pitchFamily="2" charset="-122"/>
                <a:cs typeface="Times New Roman" pitchFamily="18" charset="0"/>
              </a:rPr>
              <a:t>true,</a:t>
            </a:r>
            <a:r>
              <a:rPr lang="zh-CN" altLang="zh-CN" sz="2800" dirty="0">
                <a:latin typeface="Times New Roman" pitchFamily="18" charset="0"/>
                <a:ea typeface="华文楷体" pitchFamily="2" charset="-122"/>
                <a:cs typeface="Times New Roman" pitchFamily="18" charset="0"/>
              </a:rPr>
              <a:t>否则返回</a:t>
            </a:r>
            <a:r>
              <a:rPr lang="en-US" altLang="zh-CN" sz="2800" dirty="0">
                <a:latin typeface="Times New Roman" pitchFamily="18" charset="0"/>
                <a:ea typeface="华文楷体" pitchFamily="2" charset="-122"/>
                <a:cs typeface="Times New Roman" pitchFamily="18" charset="0"/>
              </a:rPr>
              <a:t>false</a:t>
            </a:r>
            <a:r>
              <a:rPr lang="zh-CN"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 top ();// </a:t>
            </a:r>
            <a:r>
              <a:rPr lang="zh-CN" altLang="zh-CN" sz="2800" dirty="0">
                <a:latin typeface="Times New Roman" pitchFamily="18" charset="0"/>
                <a:ea typeface="华文楷体" pitchFamily="2" charset="-122"/>
                <a:cs typeface="Times New Roman" pitchFamily="18" charset="0"/>
              </a:rPr>
              <a:t>返回栈顶元素的值，不改变栈顶</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void push (</a:t>
            </a:r>
            <a:r>
              <a:rPr lang="en-US" altLang="zh-CN" sz="2800" dirty="0" err="1">
                <a:latin typeface="Times New Roman" pitchFamily="18" charset="0"/>
                <a:ea typeface="华文楷体" pitchFamily="2" charset="-122"/>
                <a:cs typeface="Times New Roman" pitchFamily="18" charset="0"/>
              </a:rPr>
              <a:t>const</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 &amp;e );//</a:t>
            </a:r>
            <a:r>
              <a:rPr lang="zh-CN" altLang="zh-CN" sz="2800" dirty="0">
                <a:latin typeface="Times New Roman" pitchFamily="18" charset="0"/>
                <a:ea typeface="华文楷体" pitchFamily="2" charset="-122"/>
                <a:cs typeface="Times New Roman" pitchFamily="18" charset="0"/>
              </a:rPr>
              <a:t>将元素</a:t>
            </a:r>
            <a:r>
              <a:rPr lang="en-US" altLang="zh-CN" sz="2800" dirty="0">
                <a:latin typeface="Times New Roman" pitchFamily="18" charset="0"/>
                <a:ea typeface="华文楷体" pitchFamily="2" charset="-122"/>
                <a:cs typeface="Times New Roman" pitchFamily="18" charset="0"/>
              </a:rPr>
              <a:t>e</a:t>
            </a:r>
            <a:r>
              <a:rPr lang="zh-CN" altLang="zh-CN" sz="2800" dirty="0">
                <a:latin typeface="Times New Roman" pitchFamily="18" charset="0"/>
                <a:ea typeface="华文楷体" pitchFamily="2" charset="-122"/>
                <a:cs typeface="Times New Roman" pitchFamily="18" charset="0"/>
              </a:rPr>
              <a:t>压入栈顶，使其成为新的栈顶。</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void pop (); //</a:t>
            </a:r>
            <a:r>
              <a:rPr lang="zh-CN" altLang="zh-CN" sz="2800" dirty="0">
                <a:latin typeface="Times New Roman" pitchFamily="18" charset="0"/>
                <a:ea typeface="华文楷体" pitchFamily="2" charset="-122"/>
                <a:cs typeface="Times New Roman" pitchFamily="18" charset="0"/>
              </a:rPr>
              <a:t>将栈顶元素弹栈。</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 delete []array;}; //</a:t>
            </a:r>
            <a:r>
              <a:rPr lang="zh-CN" altLang="zh-CN" sz="2800" dirty="0">
                <a:latin typeface="Times New Roman" pitchFamily="18" charset="0"/>
                <a:ea typeface="华文楷体" pitchFamily="2" charset="-122"/>
                <a:cs typeface="Times New Roman" pitchFamily="18" charset="0"/>
              </a:rPr>
              <a:t>释放栈占用的动态数组</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83288" y="754146"/>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顺序栈类成员函数的实现：</a:t>
            </a:r>
            <a:endParaRPr lang="zh-CN" altLang="en-US" dirty="0">
              <a:latin typeface="华文楷体" pitchFamily="2" charset="-122"/>
              <a:ea typeface="华文楷体" pitchFamily="2" charset="-122"/>
            </a:endParaRPr>
          </a:p>
        </p:txBody>
      </p:sp>
      <p:sp>
        <p:nvSpPr>
          <p:cNvPr id="3" name="文本框 2"/>
          <p:cNvSpPr txBox="1"/>
          <p:nvPr/>
        </p:nvSpPr>
        <p:spPr>
          <a:xfrm>
            <a:off x="278294" y="1328329"/>
            <a:ext cx="11913706" cy="5262979"/>
          </a:xfrm>
          <a:prstGeom prst="rect">
            <a:avLst/>
          </a:prstGeom>
          <a:noFill/>
        </p:spPr>
        <p:txBody>
          <a:bodyPr wrap="square" rtlCol="0">
            <a:spAutoFit/>
          </a:bodyPr>
          <a:lstStyle/>
          <a:p>
            <a:r>
              <a:rPr lang="en-US" altLang="zh-CN" sz="2800" dirty="0">
                <a:latin typeface="Times New Roman" pitchFamily="18" charset="0"/>
                <a:ea typeface="华文楷体" pitchFamily="2" charset="-122"/>
                <a:cs typeface="Times New Roman" pitchFamily="18" charset="0"/>
              </a:rPr>
              <a:t>template &lt;class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endParaRPr lang="zh-CN" altLang="zh-CN" sz="2800" dirty="0">
              <a:latin typeface="Times New Roman" pitchFamily="18" charset="0"/>
              <a:ea typeface="华文楷体" pitchFamily="2" charset="-122"/>
              <a:cs typeface="Times New Roman" pitchFamily="18" charset="0"/>
            </a:endParaRPr>
          </a:p>
          <a:p>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&lt;</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a:t>
            </a:r>
            <a:r>
              <a:rPr lang="en-US" altLang="zh-CN" sz="2800" dirty="0" err="1">
                <a:latin typeface="Times New Roman" pitchFamily="18" charset="0"/>
                <a:ea typeface="华文楷体" pitchFamily="2" charset="-122"/>
                <a:cs typeface="Times New Roman" pitchFamily="18" charset="0"/>
              </a:rPr>
              <a:t>int</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initSize</a:t>
            </a:r>
            <a:r>
              <a:rPr lang="en-US" altLang="zh-CN" sz="2800" dirty="0">
                <a:latin typeface="Times New Roman" pitchFamily="18" charset="0"/>
                <a:ea typeface="华文楷体" pitchFamily="2" charset="-122"/>
                <a:cs typeface="Times New Roman" pitchFamily="18" charset="0"/>
              </a:rPr>
              <a:t>)//</a:t>
            </a:r>
            <a:r>
              <a:rPr lang="zh-CN" altLang="zh-CN" sz="2800" dirty="0">
                <a:latin typeface="Times New Roman" pitchFamily="18" charset="0"/>
                <a:ea typeface="华文楷体" pitchFamily="2" charset="-122"/>
                <a:cs typeface="Times New Roman" pitchFamily="18" charset="0"/>
              </a:rPr>
              <a:t>初始化顺序栈</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array = new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a:t>
            </a:r>
            <a:r>
              <a:rPr lang="en-US" altLang="zh-CN" sz="2800" dirty="0" err="1">
                <a:latin typeface="Times New Roman" pitchFamily="18" charset="0"/>
                <a:ea typeface="华文楷体" pitchFamily="2" charset="-122"/>
                <a:cs typeface="Times New Roman" pitchFamily="18" charset="0"/>
              </a:rPr>
              <a:t>initSize</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if (!array) throw </a:t>
            </a:r>
            <a:r>
              <a:rPr lang="en-US" altLang="zh-CN" sz="2800" dirty="0" err="1">
                <a:latin typeface="Times New Roman" pitchFamily="18" charset="0"/>
                <a:ea typeface="华文楷体" pitchFamily="2" charset="-122"/>
                <a:cs typeface="Times New Roman" pitchFamily="18" charset="0"/>
              </a:rPr>
              <a:t>illegalSize</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Top=-1;    </a:t>
            </a:r>
            <a:r>
              <a:rPr lang="en-US" altLang="zh-CN" sz="2800" dirty="0" err="1">
                <a:latin typeface="Times New Roman" pitchFamily="18" charset="0"/>
                <a:ea typeface="华文楷体" pitchFamily="2" charset="-122"/>
                <a:cs typeface="Times New Roman" pitchFamily="18" charset="0"/>
              </a:rPr>
              <a:t>maxSize</a:t>
            </a:r>
            <a:r>
              <a:rPr lang="en-US" altLang="zh-CN" sz="2800" dirty="0">
                <a:latin typeface="Times New Roman" pitchFamily="18" charset="0"/>
                <a:ea typeface="华文楷体" pitchFamily="2" charset="-122"/>
                <a:cs typeface="Times New Roman" pitchFamily="18" charset="0"/>
              </a:rPr>
              <a:t>=</a:t>
            </a:r>
            <a:r>
              <a:rPr lang="en-US" altLang="zh-CN" sz="2800" dirty="0" err="1">
                <a:latin typeface="Times New Roman" pitchFamily="18" charset="0"/>
                <a:ea typeface="华文楷体" pitchFamily="2" charset="-122"/>
                <a:cs typeface="Times New Roman" pitchFamily="18" charset="0"/>
              </a:rPr>
              <a:t>initSize</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a:t>
            </a:r>
            <a:endParaRPr lang="en-US" altLang="zh-CN" sz="2800" dirty="0">
              <a:latin typeface="Times New Roman" pitchFamily="18" charset="0"/>
              <a:ea typeface="华文楷体" pitchFamily="2" charset="-122"/>
              <a:cs typeface="Times New Roman" pitchFamily="18" charset="0"/>
            </a:endParaRPr>
          </a:p>
          <a:p>
            <a:endParaRPr lang="en-US"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template &lt;class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endParaRPr lang="zh-CN" altLang="zh-CN" sz="2800" dirty="0">
              <a:latin typeface="Times New Roman" pitchFamily="18" charset="0"/>
              <a:ea typeface="华文楷体" pitchFamily="2" charset="-122"/>
              <a:cs typeface="Times New Roman" pitchFamily="18" charset="0"/>
            </a:endParaRPr>
          </a:p>
          <a:p>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&lt;</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&gt;::top ()// </a:t>
            </a:r>
            <a:r>
              <a:rPr lang="zh-CN" altLang="zh-CN" sz="2800" dirty="0">
                <a:latin typeface="Times New Roman" pitchFamily="18" charset="0"/>
                <a:ea typeface="华文楷体" pitchFamily="2" charset="-122"/>
                <a:cs typeface="Times New Roman" pitchFamily="18" charset="0"/>
              </a:rPr>
              <a:t>返回栈顶元素的值，不改变栈顶</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if (</a:t>
            </a:r>
            <a:r>
              <a:rPr lang="en-US" altLang="zh-CN" sz="2800" dirty="0" err="1">
                <a:latin typeface="Times New Roman" pitchFamily="18" charset="0"/>
                <a:ea typeface="华文楷体" pitchFamily="2" charset="-122"/>
                <a:cs typeface="Times New Roman" pitchFamily="18" charset="0"/>
              </a:rPr>
              <a:t>isEmpty</a:t>
            </a:r>
            <a:r>
              <a:rPr lang="en-US" altLang="zh-CN" sz="2800" dirty="0">
                <a:latin typeface="Times New Roman" pitchFamily="18" charset="0"/>
                <a:ea typeface="华文楷体" pitchFamily="2" charset="-122"/>
                <a:cs typeface="Times New Roman" pitchFamily="18" charset="0"/>
              </a:rPr>
              <a:t>()) throw </a:t>
            </a:r>
            <a:r>
              <a:rPr lang="en-US" altLang="zh-CN" sz="2800" dirty="0" err="1">
                <a:latin typeface="Times New Roman" pitchFamily="18" charset="0"/>
                <a:ea typeface="华文楷体" pitchFamily="2" charset="-122"/>
                <a:cs typeface="Times New Roman" pitchFamily="18" charset="0"/>
              </a:rPr>
              <a:t>outOfBound</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return array[Top];</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83288" y="754146"/>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顺序栈类成员函数的实现：</a:t>
            </a:r>
            <a:endParaRPr lang="zh-CN" altLang="en-US" dirty="0">
              <a:latin typeface="华文楷体" pitchFamily="2" charset="-122"/>
              <a:ea typeface="华文楷体" pitchFamily="2" charset="-122"/>
            </a:endParaRPr>
          </a:p>
        </p:txBody>
      </p:sp>
      <p:sp>
        <p:nvSpPr>
          <p:cNvPr id="3" name="文本框 2"/>
          <p:cNvSpPr txBox="1"/>
          <p:nvPr/>
        </p:nvSpPr>
        <p:spPr>
          <a:xfrm>
            <a:off x="278294" y="1328329"/>
            <a:ext cx="11913706" cy="5693866"/>
          </a:xfrm>
          <a:prstGeom prst="rect">
            <a:avLst/>
          </a:prstGeom>
          <a:noFill/>
        </p:spPr>
        <p:txBody>
          <a:bodyPr wrap="square" rtlCol="0">
            <a:spAutoFit/>
          </a:bodyPr>
          <a:lstStyle/>
          <a:p>
            <a:r>
              <a:rPr lang="en-US" altLang="zh-CN" sz="2800" dirty="0">
                <a:latin typeface="Times New Roman" pitchFamily="18" charset="0"/>
                <a:ea typeface="华文楷体" pitchFamily="2" charset="-122"/>
                <a:cs typeface="Times New Roman" pitchFamily="18" charset="0"/>
              </a:rPr>
              <a:t>template &lt;class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void </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&lt;</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&gt;::push(</a:t>
            </a:r>
            <a:r>
              <a:rPr lang="en-US" altLang="zh-CN" sz="2800" dirty="0" err="1">
                <a:latin typeface="Times New Roman" pitchFamily="18" charset="0"/>
                <a:ea typeface="华文楷体" pitchFamily="2" charset="-122"/>
                <a:cs typeface="Times New Roman" pitchFamily="18" charset="0"/>
              </a:rPr>
              <a:t>const</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 &amp;e )</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a:t>
            </a:r>
            <a:r>
              <a:rPr lang="zh-CN" altLang="zh-CN" sz="2800" dirty="0">
                <a:latin typeface="Times New Roman" pitchFamily="18" charset="0"/>
                <a:ea typeface="华文楷体" pitchFamily="2" charset="-122"/>
                <a:cs typeface="Times New Roman" pitchFamily="18" charset="0"/>
              </a:rPr>
              <a:t>将元素</a:t>
            </a:r>
            <a:r>
              <a:rPr lang="en-US" altLang="zh-CN" sz="2800" dirty="0">
                <a:latin typeface="Times New Roman" pitchFamily="18" charset="0"/>
                <a:ea typeface="华文楷体" pitchFamily="2" charset="-122"/>
                <a:cs typeface="Times New Roman" pitchFamily="18" charset="0"/>
              </a:rPr>
              <a:t>e</a:t>
            </a:r>
            <a:r>
              <a:rPr lang="zh-CN" altLang="zh-CN" sz="2800" dirty="0">
                <a:latin typeface="Times New Roman" pitchFamily="18" charset="0"/>
                <a:ea typeface="华文楷体" pitchFamily="2" charset="-122"/>
                <a:cs typeface="Times New Roman" pitchFamily="18" charset="0"/>
              </a:rPr>
              <a:t>压入栈顶，使其成为新的栈顶元素。</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if  (</a:t>
            </a:r>
            <a:r>
              <a:rPr lang="en-US" altLang="zh-CN" sz="2800" dirty="0" err="1">
                <a:latin typeface="Times New Roman" pitchFamily="18" charset="0"/>
                <a:ea typeface="华文楷体" pitchFamily="2" charset="-122"/>
                <a:cs typeface="Times New Roman" pitchFamily="18" charset="0"/>
              </a:rPr>
              <a:t>isFull</a:t>
            </a:r>
            <a:r>
              <a:rPr lang="en-US" altLang="zh-CN" sz="2800" dirty="0">
                <a:latin typeface="Times New Roman" pitchFamily="18" charset="0"/>
                <a:ea typeface="华文楷体" pitchFamily="2" charset="-122"/>
                <a:cs typeface="Times New Roman" pitchFamily="18" charset="0"/>
              </a:rPr>
              <a:t>()) </a:t>
            </a:r>
            <a:r>
              <a:rPr lang="en-US" altLang="zh-CN" sz="2800" dirty="0" err="1">
                <a:latin typeface="Times New Roman" pitchFamily="18" charset="0"/>
                <a:ea typeface="华文楷体" pitchFamily="2" charset="-122"/>
                <a:cs typeface="Times New Roman" pitchFamily="18" charset="0"/>
              </a:rPr>
              <a:t>doubleSpace</a:t>
            </a:r>
            <a:r>
              <a:rPr lang="en-US" altLang="zh-CN" sz="2800" dirty="0">
                <a:latin typeface="Times New Roman" pitchFamily="18" charset="0"/>
                <a:ea typeface="华文楷体" pitchFamily="2" charset="-122"/>
                <a:cs typeface="Times New Roman" pitchFamily="18" charset="0"/>
              </a:rPr>
              <a:t>();</a:t>
            </a:r>
            <a:endParaRPr lang="en-US"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t>
            </a:r>
            <a:r>
              <a:rPr lang="zh-CN" altLang="zh-CN" sz="2800" dirty="0">
                <a:latin typeface="Times New Roman" pitchFamily="18" charset="0"/>
                <a:ea typeface="华文楷体" pitchFamily="2" charset="-122"/>
                <a:cs typeface="Times New Roman" pitchFamily="18" charset="0"/>
              </a:rPr>
              <a:t>栈满时从新分配</a:t>
            </a:r>
            <a:r>
              <a:rPr lang="en-US" altLang="zh-CN" sz="2800" dirty="0">
                <a:latin typeface="Times New Roman" pitchFamily="18" charset="0"/>
                <a:ea typeface="华文楷体" pitchFamily="2" charset="-122"/>
                <a:cs typeface="Times New Roman" pitchFamily="18" charset="0"/>
              </a:rPr>
              <a:t>2</a:t>
            </a:r>
            <a:r>
              <a:rPr lang="zh-CN" altLang="zh-CN" sz="2800" dirty="0">
                <a:latin typeface="Times New Roman" pitchFamily="18" charset="0"/>
                <a:ea typeface="华文楷体" pitchFamily="2" charset="-122"/>
                <a:cs typeface="Times New Roman" pitchFamily="18" charset="0"/>
              </a:rPr>
              <a:t>倍的空间，并将原空间内容拷入</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array[++Top] = e;      	// </a:t>
            </a:r>
            <a:r>
              <a:rPr lang="zh-CN" altLang="zh-CN" sz="2800" dirty="0">
                <a:latin typeface="Times New Roman" pitchFamily="18" charset="0"/>
                <a:ea typeface="华文楷体" pitchFamily="2" charset="-122"/>
                <a:cs typeface="Times New Roman" pitchFamily="18" charset="0"/>
              </a:rPr>
              <a:t>新结点放入新的栈顶位置。</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template &lt;class </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void </a:t>
            </a:r>
            <a:r>
              <a:rPr lang="en-US" altLang="zh-CN" sz="2800" dirty="0" err="1">
                <a:latin typeface="Times New Roman" pitchFamily="18" charset="0"/>
                <a:ea typeface="华文楷体" pitchFamily="2" charset="-122"/>
                <a:cs typeface="Times New Roman" pitchFamily="18" charset="0"/>
              </a:rPr>
              <a:t>seqStack</a:t>
            </a:r>
            <a:r>
              <a:rPr lang="en-US" altLang="zh-CN" sz="2800" dirty="0">
                <a:latin typeface="Times New Roman" pitchFamily="18" charset="0"/>
                <a:ea typeface="华文楷体" pitchFamily="2" charset="-122"/>
                <a:cs typeface="Times New Roman" pitchFamily="18" charset="0"/>
              </a:rPr>
              <a:t>&lt;</a:t>
            </a:r>
            <a:r>
              <a:rPr lang="en-US" altLang="zh-CN" sz="2800" dirty="0" err="1">
                <a:latin typeface="Times New Roman" pitchFamily="18" charset="0"/>
                <a:ea typeface="华文楷体" pitchFamily="2" charset="-122"/>
                <a:cs typeface="Times New Roman" pitchFamily="18" charset="0"/>
              </a:rPr>
              <a:t>elemType</a:t>
            </a:r>
            <a:r>
              <a:rPr lang="en-US" altLang="zh-CN" sz="2800" dirty="0">
                <a:latin typeface="Times New Roman" pitchFamily="18" charset="0"/>
                <a:ea typeface="华文楷体" pitchFamily="2" charset="-122"/>
                <a:cs typeface="Times New Roman" pitchFamily="18" charset="0"/>
              </a:rPr>
              <a:t>&gt;::pop()//</a:t>
            </a:r>
            <a:r>
              <a:rPr lang="zh-CN" altLang="zh-CN" sz="2800" dirty="0">
                <a:latin typeface="Times New Roman" pitchFamily="18" charset="0"/>
                <a:ea typeface="华文楷体" pitchFamily="2" charset="-122"/>
                <a:cs typeface="Times New Roman" pitchFamily="18" charset="0"/>
              </a:rPr>
              <a:t>将栈顶元素弹栈。</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if (Top==-1) throw </a:t>
            </a:r>
            <a:r>
              <a:rPr lang="en-US" altLang="zh-CN" sz="2800" dirty="0" err="1">
                <a:latin typeface="Times New Roman" pitchFamily="18" charset="0"/>
                <a:ea typeface="华文楷体" pitchFamily="2" charset="-122"/>
                <a:cs typeface="Times New Roman" pitchFamily="18" charset="0"/>
              </a:rPr>
              <a:t>outOfBound</a:t>
            </a:r>
            <a:r>
              <a:rPr lang="en-US" altLang="zh-CN" sz="2800" dirty="0">
                <a:latin typeface="Times New Roman" pitchFamily="18" charset="0"/>
                <a:ea typeface="华文楷体" pitchFamily="2" charset="-122"/>
                <a:cs typeface="Times New Roman" pitchFamily="18" charset="0"/>
              </a:rPr>
              <a:t>();</a:t>
            </a:r>
            <a:endParaRPr lang="zh-CN" altLang="zh-CN" sz="2800" dirty="0">
              <a:latin typeface="Times New Roman" pitchFamily="18" charset="0"/>
              <a:ea typeface="华文楷体" pitchFamily="2" charset="-122"/>
              <a:cs typeface="Times New Roman" pitchFamily="18" charset="0"/>
            </a:endParaRPr>
          </a:p>
          <a:p>
            <a:r>
              <a:rPr lang="en-US" altLang="zh-CN" sz="2800" dirty="0">
                <a:latin typeface="Times New Roman" pitchFamily="18" charset="0"/>
                <a:ea typeface="华文楷体" pitchFamily="2" charset="-122"/>
                <a:cs typeface="Times New Roman" pitchFamily="18" charset="0"/>
              </a:rPr>
              <a:t>    Top--;</a:t>
            </a:r>
            <a:endParaRPr lang="zh-CN" altLang="zh-CN" sz="2800" dirty="0">
              <a:latin typeface="Times New Roman" pitchFamily="18" charset="0"/>
              <a:ea typeface="华文楷体" pitchFamily="2" charset="-122"/>
              <a:cs typeface="Times New Roman" pitchFamily="18" charset="0"/>
            </a:endParaRPr>
          </a:p>
          <a:p>
            <a:r>
              <a:rPr lang="en-US" altLang="zh-CN" sz="2800" dirty="0">
                <a:highlight>
                  <a:srgbClr val="FFFF00"/>
                </a:highlight>
                <a:latin typeface="Times New Roman" pitchFamily="18" charset="0"/>
                <a:ea typeface="华文楷体" pitchFamily="2" charset="-122"/>
                <a:cs typeface="Times New Roman" pitchFamily="18" charset="0"/>
              </a:rPr>
              <a:t>}//</a:t>
            </a:r>
            <a:r>
              <a:rPr lang="zh-CN" altLang="en-US" sz="2800" dirty="0">
                <a:highlight>
                  <a:srgbClr val="FFFF00"/>
                </a:highlight>
                <a:latin typeface="Times New Roman" pitchFamily="18" charset="0"/>
                <a:ea typeface="华文楷体" pitchFamily="2" charset="-122"/>
                <a:cs typeface="Times New Roman" pitchFamily="18" charset="0"/>
              </a:rPr>
              <a:t>出栈操作实际是把栈顶指针往下移一位，并不需要真的删除数据，下一次入栈可以直接覆盖。</a:t>
            </a:r>
            <a:endParaRPr lang="zh-CN" altLang="zh-CN" sz="2800" dirty="0">
              <a:highlight>
                <a:srgbClr val="FFFF00"/>
              </a:highlight>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highlight>
                  <a:srgbClr val="FFFF00"/>
                </a:highlight>
                <a:ea typeface="华文楷体" pitchFamily="2" charset="-122"/>
                <a:cs typeface="Times New Roman" pitchFamily="18" charset="0"/>
              </a:rPr>
              <a:t>函数</a:t>
            </a:r>
            <a:r>
              <a:rPr lang="en-US" altLang="zh-CN" sz="2800" b="0" dirty="0">
                <a:highlight>
                  <a:srgbClr val="FFFF00"/>
                </a:highlight>
                <a:ea typeface="华文楷体" pitchFamily="2" charset="-122"/>
                <a:cs typeface="Times New Roman" pitchFamily="18" charset="0"/>
              </a:rPr>
              <a:t>initialize(</a:t>
            </a:r>
            <a:r>
              <a:rPr lang="en-US" altLang="zh-CN" sz="2800" b="0" dirty="0" err="1">
                <a:highlight>
                  <a:srgbClr val="FFFF00"/>
                </a:highlight>
                <a:ea typeface="华文楷体" pitchFamily="2" charset="-122"/>
                <a:cs typeface="Times New Roman" pitchFamily="18" charset="0"/>
              </a:rPr>
              <a:t>seqStack</a:t>
            </a:r>
            <a:r>
              <a:rPr lang="en-US" altLang="zh-CN" sz="2800" b="0" dirty="0">
                <a:highlight>
                  <a:srgbClr val="FFFF00"/>
                </a:highlight>
                <a:ea typeface="华文楷体" pitchFamily="2" charset="-122"/>
                <a:cs typeface="Times New Roman" pitchFamily="18" charset="0"/>
              </a:rPr>
              <a:t>)</a:t>
            </a:r>
            <a:r>
              <a:rPr lang="zh-CN" altLang="zh-CN" sz="2800" b="0" dirty="0">
                <a:highlight>
                  <a:srgbClr val="FFFF00"/>
                </a:highlight>
                <a:ea typeface="华文楷体" pitchFamily="2" charset="-122"/>
                <a:cs typeface="Times New Roman" pitchFamily="18" charset="0"/>
              </a:rPr>
              <a:t>、</a:t>
            </a:r>
            <a:r>
              <a:rPr lang="en-US" altLang="zh-CN" sz="2800" b="0" dirty="0" err="1">
                <a:highlight>
                  <a:srgbClr val="FFFF00"/>
                </a:highlight>
                <a:ea typeface="华文楷体" pitchFamily="2" charset="-122"/>
                <a:cs typeface="Times New Roman" pitchFamily="18" charset="0"/>
              </a:rPr>
              <a:t>isEmpty</a:t>
            </a:r>
            <a:r>
              <a:rPr lang="zh-CN" altLang="zh-CN" sz="2800" b="0" dirty="0">
                <a:highlight>
                  <a:srgbClr val="FFFF00"/>
                </a:highlight>
                <a:ea typeface="华文楷体" pitchFamily="2" charset="-122"/>
                <a:cs typeface="Times New Roman" pitchFamily="18" charset="0"/>
              </a:rPr>
              <a:t>、</a:t>
            </a:r>
            <a:r>
              <a:rPr lang="en-US" altLang="zh-CN" sz="2800" b="0" dirty="0" err="1">
                <a:highlight>
                  <a:srgbClr val="FFFF00"/>
                </a:highlight>
                <a:ea typeface="华文楷体" pitchFamily="2" charset="-122"/>
                <a:cs typeface="Times New Roman" pitchFamily="18" charset="0"/>
              </a:rPr>
              <a:t>isFull</a:t>
            </a:r>
            <a:r>
              <a:rPr lang="zh-CN" altLang="zh-CN" sz="2800" b="0" dirty="0">
                <a:highlight>
                  <a:srgbClr val="FFFF00"/>
                </a:highlight>
                <a:ea typeface="华文楷体" pitchFamily="2" charset="-122"/>
                <a:cs typeface="Times New Roman" pitchFamily="18" charset="0"/>
              </a:rPr>
              <a:t>、</a:t>
            </a:r>
            <a:r>
              <a:rPr lang="en-US" altLang="zh-CN" sz="2800" b="0" dirty="0">
                <a:highlight>
                  <a:srgbClr val="FFFF00"/>
                </a:highlight>
                <a:ea typeface="华文楷体" pitchFamily="2" charset="-122"/>
                <a:cs typeface="Times New Roman" pitchFamily="18" charset="0"/>
              </a:rPr>
              <a:t>top</a:t>
            </a:r>
            <a:r>
              <a:rPr lang="zh-CN" altLang="zh-CN" sz="2800" b="0" dirty="0">
                <a:highlight>
                  <a:srgbClr val="FFFF00"/>
                </a:highlight>
                <a:ea typeface="华文楷体" pitchFamily="2" charset="-122"/>
                <a:cs typeface="Times New Roman" pitchFamily="18" charset="0"/>
              </a:rPr>
              <a:t>、</a:t>
            </a:r>
            <a:r>
              <a:rPr lang="en-US" altLang="zh-CN" sz="2800" b="0" dirty="0">
                <a:highlight>
                  <a:srgbClr val="FFFF00"/>
                </a:highlight>
                <a:ea typeface="华文楷体" pitchFamily="2" charset="-122"/>
                <a:cs typeface="Times New Roman" pitchFamily="18" charset="0"/>
              </a:rPr>
              <a:t>pop</a:t>
            </a:r>
            <a:r>
              <a:rPr lang="zh-CN" altLang="zh-CN" sz="2800" b="0" dirty="0">
                <a:highlight>
                  <a:srgbClr val="FFFF00"/>
                </a:highlight>
                <a:ea typeface="华文楷体" pitchFamily="2" charset="-122"/>
                <a:cs typeface="Times New Roman" pitchFamily="18" charset="0"/>
              </a:rPr>
              <a:t>、</a:t>
            </a:r>
            <a:r>
              <a:rPr lang="en-US" altLang="zh-CN" sz="2800" b="0" dirty="0">
                <a:highlight>
                  <a:srgbClr val="FFFF00"/>
                </a:highlight>
                <a:ea typeface="华文楷体" pitchFamily="2" charset="-122"/>
                <a:cs typeface="Times New Roman" pitchFamily="18" charset="0"/>
              </a:rPr>
              <a:t>destroy</a:t>
            </a:r>
            <a:r>
              <a:rPr lang="zh-CN" altLang="zh-CN" sz="2800" b="0" dirty="0">
                <a:highlight>
                  <a:srgbClr val="FFFF00"/>
                </a:highlight>
                <a:ea typeface="华文楷体" pitchFamily="2" charset="-122"/>
                <a:cs typeface="Times New Roman" pitchFamily="18" charset="0"/>
              </a:rPr>
              <a:t>（</a:t>
            </a:r>
            <a:r>
              <a:rPr lang="en-US" altLang="zh-CN" sz="2800" b="0" dirty="0">
                <a:highlight>
                  <a:srgbClr val="FFFF00"/>
                </a:highlight>
                <a:ea typeface="华文楷体" pitchFamily="2" charset="-122"/>
                <a:cs typeface="Times New Roman" pitchFamily="18" charset="0"/>
              </a:rPr>
              <a:t>~</a:t>
            </a:r>
            <a:r>
              <a:rPr lang="en-US" altLang="zh-CN" sz="2800" b="0" dirty="0" err="1">
                <a:highlight>
                  <a:srgbClr val="FFFF00"/>
                </a:highlight>
                <a:ea typeface="华文楷体" pitchFamily="2" charset="-122"/>
                <a:cs typeface="Times New Roman" pitchFamily="18" charset="0"/>
              </a:rPr>
              <a:t>seqStack</a:t>
            </a:r>
            <a:r>
              <a:rPr lang="zh-CN" altLang="zh-CN" sz="2800" b="0" dirty="0">
                <a:highlight>
                  <a:srgbClr val="FFFF00"/>
                </a:highlight>
                <a:ea typeface="华文楷体" pitchFamily="2" charset="-122"/>
                <a:cs typeface="Times New Roman" pitchFamily="18" charset="0"/>
              </a:rPr>
              <a:t>）的时间复杂度均为</a:t>
            </a:r>
            <a:r>
              <a:rPr lang="en-US" altLang="zh-CN" sz="2800" b="0" dirty="0">
                <a:highlight>
                  <a:srgbClr val="FFFF00"/>
                </a:highlight>
                <a:ea typeface="华文楷体" pitchFamily="2" charset="-122"/>
                <a:cs typeface="Times New Roman" pitchFamily="18" charset="0"/>
              </a:rPr>
              <a:t>O(1)</a:t>
            </a:r>
            <a:r>
              <a:rPr lang="zh-CN" altLang="zh-CN" sz="2800" b="0" dirty="0">
                <a:highlight>
                  <a:srgbClr val="FFFF00"/>
                </a:highlight>
                <a:ea typeface="华文楷体" pitchFamily="2" charset="-122"/>
                <a:cs typeface="Times New Roman" pitchFamily="18" charset="0"/>
              </a:rPr>
              <a:t>。</a:t>
            </a:r>
            <a:endParaRPr lang="en-US" altLang="zh-CN" sz="2800" b="0" dirty="0">
              <a:highlight>
                <a:srgbClr val="FFFF00"/>
              </a:highlight>
              <a:ea typeface="华文楷体" pitchFamily="2" charset="-122"/>
              <a:cs typeface="Times New Roman" pitchFamily="18" charset="0"/>
            </a:endParaRPr>
          </a:p>
          <a:p>
            <a:pPr marL="0" indent="0">
              <a:lnSpc>
                <a:spcPct val="115000"/>
              </a:lnSpc>
              <a:buNone/>
              <a:defRPr/>
            </a:pPr>
            <a:r>
              <a:rPr lang="en-US" altLang="zh-CN" sz="2800" b="0" dirty="0">
                <a:highlight>
                  <a:srgbClr val="FFFF00"/>
                </a:highlight>
                <a:ea typeface="华文楷体" pitchFamily="2" charset="-122"/>
                <a:cs typeface="Times New Roman" pitchFamily="18" charset="0"/>
              </a:rPr>
              <a:t>push</a:t>
            </a:r>
            <a:r>
              <a:rPr lang="zh-CN" altLang="zh-CN" sz="2800" b="0" dirty="0">
                <a:highlight>
                  <a:srgbClr val="FFFF00"/>
                </a:highlight>
                <a:ea typeface="华文楷体" pitchFamily="2" charset="-122"/>
                <a:cs typeface="Times New Roman" pitchFamily="18" charset="0"/>
              </a:rPr>
              <a:t>因某时可能扩大空间，造成</a:t>
            </a:r>
            <a:r>
              <a:rPr lang="en-US" altLang="zh-CN" sz="2800" b="0" dirty="0">
                <a:highlight>
                  <a:srgbClr val="FFFF00"/>
                </a:highlight>
                <a:ea typeface="华文楷体" pitchFamily="2" charset="-122"/>
                <a:cs typeface="Times New Roman" pitchFamily="18" charset="0"/>
              </a:rPr>
              <a:t>O(n)</a:t>
            </a:r>
            <a:r>
              <a:rPr lang="zh-CN" altLang="zh-CN" sz="2800" b="0" dirty="0">
                <a:highlight>
                  <a:srgbClr val="FFFF00"/>
                </a:highlight>
                <a:ea typeface="华文楷体" pitchFamily="2" charset="-122"/>
                <a:cs typeface="Times New Roman" pitchFamily="18" charset="0"/>
              </a:rPr>
              <a:t>时间消耗，但按照“分期付款式”法，分摊到单次的插入操作，时间复杂度仍为</a:t>
            </a:r>
            <a:r>
              <a:rPr lang="en-US" altLang="zh-CN" sz="2800" b="0" dirty="0">
                <a:highlight>
                  <a:srgbClr val="FFFF00"/>
                </a:highlight>
                <a:ea typeface="华文楷体" pitchFamily="2" charset="-122"/>
                <a:cs typeface="Times New Roman" pitchFamily="18" charset="0"/>
              </a:rPr>
              <a:t>O(1)</a:t>
            </a:r>
            <a:r>
              <a:rPr lang="zh-CN" altLang="zh-CN" sz="2800" b="0" dirty="0">
                <a:highlight>
                  <a:srgbClr val="FFFF00"/>
                </a:highlight>
                <a:ea typeface="华文楷体" pitchFamily="2" charset="-122"/>
                <a:cs typeface="Times New Roman" pitchFamily="18" charset="0"/>
              </a:rPr>
              <a:t>。</a:t>
            </a:r>
            <a:r>
              <a:rPr lang="en-US" altLang="zh-CN" sz="2800" b="0" dirty="0">
                <a:highlight>
                  <a:srgbClr val="FFFF00"/>
                </a:highlight>
                <a:ea typeface="华文楷体" pitchFamily="2" charset="-122"/>
                <a:cs typeface="Times New Roman" pitchFamily="18" charset="0"/>
              </a:rPr>
              <a:t>---</a:t>
            </a:r>
            <a:r>
              <a:rPr lang="zh-CN" altLang="en-US" sz="2800" dirty="0">
                <a:highlight>
                  <a:srgbClr val="FFFF00"/>
                </a:highlight>
                <a:ea typeface="华文楷体" pitchFamily="2" charset="-122"/>
                <a:cs typeface="Times New Roman" pitchFamily="18" charset="0"/>
              </a:rPr>
              <a:t>均摊法</a:t>
            </a:r>
            <a:endParaRPr lang="en-US" altLang="zh-CN" sz="2800" b="0" dirty="0">
              <a:highlight>
                <a:srgbClr val="FFFF00"/>
              </a:highlight>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基本操作效率分析：</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665847"/>
            <a:ext cx="11903716" cy="2309805"/>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编写程序从键盘上依次输入一串字符（以回车键结束）。要求将该串字符按照输入顺序的逆序在屏幕上输出。</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在程序中可以建立一个顺序栈，将输入的字符依次入栈，最后再依次出栈，便能得到逆序结果。</a:t>
            </a:r>
            <a:r>
              <a:rPr lang="zh-CN" altLang="en-US" sz="2800" b="0" dirty="0">
                <a:latin typeface="华文楷体" pitchFamily="2" charset="-122"/>
                <a:ea typeface="华文楷体" pitchFamily="2" charset="-122"/>
              </a:rPr>
              <a:t>  </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051118" cy="574183"/>
          </a:xfrm>
        </p:spPr>
        <p:txBody>
          <a:bodyPr/>
          <a:lstStyle/>
          <a:p>
            <a:pPr marL="838200" indent="-838200">
              <a:defRPr/>
            </a:pPr>
            <a:r>
              <a:rPr lang="zh-CN" altLang="en-US" dirty="0">
                <a:latin typeface="华文楷体" pitchFamily="2" charset="-122"/>
                <a:ea typeface="华文楷体" pitchFamily="2" charset="-122"/>
              </a:rPr>
              <a:t>顺序栈的应用（测试）</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06821"/>
            <a:ext cx="5158359" cy="4734953"/>
          </a:xfrm>
        </p:spPr>
        <p:txBody>
          <a:bodyPr>
            <a:noAutofit/>
          </a:bodyPr>
          <a:lstStyle/>
          <a:p>
            <a:pPr marL="0" indent="0">
              <a:buNone/>
            </a:pPr>
            <a:r>
              <a:rPr lang="en-US" altLang="zh-CN" sz="2800" b="0" dirty="0">
                <a:ea typeface="华文楷体" pitchFamily="2" charset="-122"/>
                <a:cs typeface="Times New Roman" pitchFamily="18" charset="0"/>
              </a:rPr>
              <a:t>#include &lt;</a:t>
            </a:r>
            <a:r>
              <a:rPr lang="en-US" altLang="zh-CN" sz="2800" b="0" dirty="0" err="1">
                <a:ea typeface="华文楷体" pitchFamily="2" charset="-122"/>
                <a:cs typeface="Times New Roman" pitchFamily="18" charset="0"/>
              </a:rPr>
              <a:t>iostream</a:t>
            </a:r>
            <a:r>
              <a:rPr lang="en-US" altLang="zh-CN" sz="2800" b="0" dirty="0">
                <a:ea typeface="华文楷体" pitchFamily="2" charset="-122"/>
                <a:cs typeface="Times New Roman" pitchFamily="18" charset="0"/>
              </a:rPr>
              <a:t>&gt;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#include "</a:t>
            </a:r>
            <a:r>
              <a:rPr lang="en-US" altLang="zh-CN" sz="2800" b="0" dirty="0" err="1">
                <a:ea typeface="华文楷体" pitchFamily="2" charset="-122"/>
                <a:cs typeface="Times New Roman" pitchFamily="18" charset="0"/>
              </a:rPr>
              <a:t>seqStack.h</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using namespace </a:t>
            </a:r>
            <a:r>
              <a:rPr lang="en-US" altLang="zh-CN" sz="2800" b="0" dirty="0" err="1">
                <a:ea typeface="华文楷体" pitchFamily="2" charset="-122"/>
                <a:cs typeface="Times New Roman" pitchFamily="18" charset="0"/>
              </a:rPr>
              <a:t>std</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int</a:t>
            </a:r>
            <a:r>
              <a:rPr lang="en-US" altLang="zh-CN" sz="2800" b="0" dirty="0">
                <a:ea typeface="华文楷体" pitchFamily="2" charset="-122"/>
                <a:cs typeface="Times New Roman" pitchFamily="18" charset="0"/>
              </a:rPr>
              <a:t> main()</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 </a:t>
            </a:r>
            <a:r>
              <a:rPr lang="zh-CN" altLang="zh-CN" sz="2800" b="0" dirty="0">
                <a:ea typeface="华文楷体" pitchFamily="2" charset="-122"/>
                <a:cs typeface="Times New Roman" pitchFamily="18" charset="0"/>
              </a:rPr>
              <a:t>声明一个栈。</a:t>
            </a:r>
            <a:endParaRPr lang="en-US"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seqStack</a:t>
            </a:r>
            <a:r>
              <a:rPr lang="en-US" altLang="zh-CN" sz="2800" b="0" dirty="0">
                <a:ea typeface="华文楷体" pitchFamily="2" charset="-122"/>
                <a:cs typeface="Times New Roman" pitchFamily="18" charset="0"/>
              </a:rPr>
              <a:t>&lt;char&gt; s;</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char </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dirty="0">
                <a:ea typeface="华文楷体" pitchFamily="2" charset="-122"/>
                <a:cs typeface="Times New Roman" pitchFamily="18" charset="0"/>
              </a:rPr>
              <a:t> </a:t>
            </a:r>
            <a:endParaRPr lang="zh-CN" altLang="zh-CN" sz="280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itchFamily="2" charset="-122"/>
                <a:ea typeface="华文楷体" pitchFamily="2" charset="-122"/>
              </a:rPr>
              <a:t>顺序栈结构的应用</a:t>
            </a:r>
            <a:r>
              <a:rPr lang="en-US" altLang="zh-CN" dirty="0">
                <a:latin typeface="华文楷体" pitchFamily="2" charset="-122"/>
                <a:ea typeface="华文楷体" pitchFamily="2" charset="-122"/>
              </a:rPr>
              <a:t>(main.cpp)</a:t>
            </a:r>
            <a:endParaRPr lang="zh-CN" altLang="en-US" dirty="0">
              <a:latin typeface="华文楷体" pitchFamily="2" charset="-122"/>
              <a:ea typeface="华文楷体" pitchFamily="2" charset="-122"/>
            </a:endParaRPr>
          </a:p>
        </p:txBody>
      </p:sp>
      <p:sp>
        <p:nvSpPr>
          <p:cNvPr id="4" name="Rectangle 3"/>
          <p:cNvSpPr txBox="1">
            <a14:cpLocks xmlns:a14="http://schemas.microsoft.com/office/drawing/2010/main" noChangeArrowheads="1"/>
          </p:cNvSpPr>
          <p:nvPr/>
        </p:nvSpPr>
        <p:spPr>
          <a:xfrm>
            <a:off x="5110002" y="1384449"/>
            <a:ext cx="7081998" cy="535117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charset="2"/>
              <a:buChar char="p"/>
              <a:defRPr sz="2400" b="1" kern="1200" baseline="0">
                <a:solidFill>
                  <a:schemeClr val="tx1"/>
                </a:solidFill>
                <a:latin typeface="Times New Roman"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charset="2"/>
              <a:buChar char="Ø"/>
              <a:defRPr sz="2000" b="1" kern="1200" baseline="0">
                <a:solidFill>
                  <a:schemeClr val="tx1"/>
                </a:solidFill>
                <a:latin typeface="Times New Roman"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itchFamily="34" charset="0"/>
              <a:buChar char="▪"/>
              <a:defRPr sz="1800" b="1" kern="1200" baseline="0">
                <a:solidFill>
                  <a:schemeClr val="tx1"/>
                </a:solidFill>
                <a:latin typeface="Times New Roman"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itchFamily="34" charset="0"/>
              <a:buChar char="▪"/>
              <a:defRPr sz="1600" b="1" kern="1200" baseline="0">
                <a:solidFill>
                  <a:schemeClr val="tx1"/>
                </a:solidFill>
                <a:latin typeface="Times New Roman"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itchFamily="34" charset="0"/>
              <a:buChar char="▪"/>
              <a:defRPr sz="1600" b="1" kern="1200" baseline="0">
                <a:solidFill>
                  <a:schemeClr val="tx1"/>
                </a:solidFill>
                <a:latin typeface="Times New Roman" pitchFamily="18" charset="0"/>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a:lstStyle>
          <a:p>
            <a:pPr marL="0" indent="0">
              <a:buFont typeface="Wingdings" charset="2"/>
              <a:buNone/>
            </a:pPr>
            <a:r>
              <a:rPr lang="en-US" altLang="zh-CN" sz="2800" b="0" dirty="0">
                <a:latin typeface="+mn-lt"/>
              </a:rPr>
              <a:t>   </a:t>
            </a:r>
            <a:r>
              <a:rPr lang="en-US" altLang="zh-CN"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从键盘输入若干字符（结束用回车），</a:t>
            </a:r>
            <a:endParaRPr lang="en-US"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a:t>
            </a:r>
            <a:r>
              <a:rPr lang="zh-CN" altLang="zh-CN" sz="2800" b="0" dirty="0">
                <a:ea typeface="华文楷体" pitchFamily="2" charset="-122"/>
                <a:cs typeface="Times New Roman" pitchFamily="18" charset="0"/>
              </a:rPr>
              <a:t>依照输入次序分别进栈</a:t>
            </a:r>
            <a:endParaRPr lang="zh-CN"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cout</a:t>
            </a:r>
            <a:r>
              <a:rPr lang="en-US" altLang="zh-CN" sz="2800" b="0" dirty="0">
                <a:ea typeface="华文楷体" pitchFamily="2" charset="-122"/>
                <a:cs typeface="Times New Roman" pitchFamily="18" charset="0"/>
              </a:rPr>
              <a:t>&lt;&lt;“Input the elements</a:t>
            </a:r>
            <a:r>
              <a:rPr lang="zh-CN" altLang="zh-CN"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&lt;&lt;press enter to an end: ";</a:t>
            </a:r>
            <a:endParaRPr lang="zh-CN"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 = </a:t>
            </a:r>
            <a:r>
              <a:rPr lang="en-US" altLang="zh-CN" sz="2800" b="0" dirty="0" err="1">
                <a:ea typeface="华文楷体" pitchFamily="2" charset="-122"/>
                <a:cs typeface="Times New Roman" pitchFamily="18" charset="0"/>
              </a:rPr>
              <a:t>cin.get</a:t>
            </a:r>
            <a:r>
              <a:rPr lang="en-US" altLang="zh-CN" sz="2800" b="0" dirty="0">
                <a:ea typeface="华文楷体" pitchFamily="2" charset="-122"/>
                <a:cs typeface="Times New Roman" pitchFamily="18" charset="0"/>
              </a:rPr>
              <a:t>(); </a:t>
            </a:r>
            <a:endParaRPr lang="zh-CN"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while ( </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!='\n')</a:t>
            </a:r>
            <a:endParaRPr lang="zh-CN" altLang="zh-CN" sz="2800" b="0" dirty="0">
              <a:ea typeface="华文楷体" pitchFamily="2" charset="-122"/>
              <a:cs typeface="Times New Roman" pitchFamily="18" charset="0"/>
            </a:endParaRPr>
          </a:p>
          <a:p>
            <a:pPr marL="0" indent="0">
              <a:buFont typeface="Wingdings" charset="2"/>
              <a:buNone/>
            </a:pPr>
            <a:r>
              <a:rPr lang="en-US" altLang="zh-CN" sz="2800" b="0" dirty="0">
                <a:ea typeface="华文楷体" pitchFamily="2" charset="-122"/>
                <a:cs typeface="Times New Roman" pitchFamily="18" charset="0"/>
              </a:rPr>
              <a:t>   { 	</a:t>
            </a:r>
            <a:r>
              <a:rPr lang="en-US" altLang="zh-CN" sz="2800" b="0" dirty="0" err="1">
                <a:ea typeface="华文楷体" pitchFamily="2" charset="-122"/>
                <a:cs typeface="Times New Roman" pitchFamily="18" charset="0"/>
              </a:rPr>
              <a:t>s.push</a:t>
            </a:r>
            <a:r>
              <a:rPr lang="en-US" altLang="zh-CN" sz="2800" b="0" dirty="0">
                <a:ea typeface="华文楷体" pitchFamily="2" charset="-122"/>
                <a:cs typeface="Times New Roman" pitchFamily="18" charset="0"/>
              </a:rPr>
              <a:t>(</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 = </a:t>
            </a:r>
            <a:r>
              <a:rPr lang="en-US" altLang="zh-CN" sz="2800" b="0" dirty="0" err="1">
                <a:ea typeface="华文楷体" pitchFamily="2" charset="-122"/>
                <a:cs typeface="Times New Roman" pitchFamily="18" charset="0"/>
              </a:rPr>
              <a:t>cin.get</a:t>
            </a:r>
            <a:r>
              <a:rPr lang="en-US" altLang="zh-CN" sz="2800" b="0" dirty="0">
                <a:ea typeface="华文楷体" pitchFamily="2" charset="-122"/>
                <a:cs typeface="Times New Roman" pitchFamily="18" charset="0"/>
              </a:rPr>
              <a:t>();   }</a:t>
            </a:r>
            <a:endParaRPr lang="zh-CN" altLang="zh-CN" sz="2800" b="0" dirty="0">
              <a:ea typeface="华文楷体" pitchFamily="2" charset="-122"/>
              <a:cs typeface="Times New Roman" pitchFamily="18" charset="0"/>
            </a:endParaRPr>
          </a:p>
        </p:txBody>
      </p:sp>
      <p:cxnSp>
        <p:nvCxnSpPr>
          <p:cNvPr id="3" name="直接连接符 2"/>
          <p:cNvCxnSpPr/>
          <p:nvPr/>
        </p:nvCxnSpPr>
        <p:spPr>
          <a:xfrm>
            <a:off x="4830417" y="1384449"/>
            <a:ext cx="39757" cy="547355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06821"/>
            <a:ext cx="10525490" cy="5112640"/>
          </a:xfrm>
        </p:spPr>
        <p:txBody>
          <a:bodyPr>
            <a:noAutofit/>
          </a:bodyPr>
          <a:lstStyle/>
          <a:p>
            <a:pPr marL="0" indent="0">
              <a:buNone/>
            </a:pPr>
            <a:r>
              <a:rPr lang="en-US" altLang="zh-CN" sz="2800" b="0" dirty="0">
                <a:ea typeface="华文楷体" pitchFamily="2" charset="-122"/>
                <a:cs typeface="Times New Roman" pitchFamily="18" charset="0"/>
              </a:rPr>
              <a:t>          //</a:t>
            </a:r>
            <a:r>
              <a:rPr lang="zh-CN" altLang="zh-CN" sz="2800" b="0" dirty="0">
                <a:ea typeface="华文楷体" pitchFamily="2" charset="-122"/>
                <a:cs typeface="Times New Roman" pitchFamily="18" charset="0"/>
              </a:rPr>
              <a:t>将栈中的结点逐个出栈，并输出到屏幕上。</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cout</a:t>
            </a:r>
            <a:r>
              <a:rPr lang="en-US" altLang="zh-CN" sz="2800" b="0" dirty="0">
                <a:ea typeface="华文楷体" pitchFamily="2" charset="-122"/>
                <a:cs typeface="Times New Roman" pitchFamily="18" charset="0"/>
              </a:rPr>
              <a:t>&lt;&lt;"output the elements in the stack one by one:";</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while ( !</a:t>
            </a:r>
            <a:r>
              <a:rPr lang="en-US" altLang="zh-CN" sz="2800" b="0" dirty="0" err="1">
                <a:ea typeface="华文楷体" pitchFamily="2" charset="-122"/>
                <a:cs typeface="Times New Roman" pitchFamily="18" charset="0"/>
              </a:rPr>
              <a:t>s.isEmpty</a:t>
            </a:r>
            <a:r>
              <a:rPr lang="en-US" altLang="zh-CN" sz="2800" b="0" dirty="0">
                <a:ea typeface="华文楷体" pitchFamily="2" charset="-122"/>
                <a:cs typeface="Times New Roman" pitchFamily="18" charset="0"/>
              </a:rPr>
              <a:t>() ) {</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 = </a:t>
            </a:r>
            <a:r>
              <a:rPr lang="en-US" altLang="zh-CN" sz="2800" b="0" dirty="0" err="1">
                <a:ea typeface="华文楷体" pitchFamily="2" charset="-122"/>
                <a:cs typeface="Times New Roman" pitchFamily="18" charset="0"/>
              </a:rPr>
              <a:t>s.top</a:t>
            </a: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s.pop</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cout</a:t>
            </a:r>
            <a:r>
              <a:rPr lang="en-US" altLang="zh-CN" sz="2800" b="0" dirty="0">
                <a:ea typeface="华文楷体" pitchFamily="2" charset="-122"/>
                <a:cs typeface="Times New Roman" pitchFamily="18" charset="0"/>
              </a:rPr>
              <a:t>&lt;&lt;</a:t>
            </a:r>
            <a:r>
              <a:rPr lang="en-US" altLang="zh-CN" sz="2800" b="0" dirty="0" err="1">
                <a:ea typeface="华文楷体" pitchFamily="2" charset="-122"/>
                <a:cs typeface="Times New Roman" pitchFamily="18" charset="0"/>
              </a:rPr>
              <a:t>ctemp</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 	</a:t>
            </a:r>
            <a:endParaRPr lang="en-US"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en-US" altLang="zh-CN" sz="2800" b="0" dirty="0" err="1">
                <a:ea typeface="华文楷体" pitchFamily="2" charset="-122"/>
                <a:cs typeface="Times New Roman" pitchFamily="18" charset="0"/>
              </a:rPr>
              <a:t>cout</a:t>
            </a:r>
            <a:r>
              <a:rPr lang="en-US" altLang="zh-CN" sz="2800" b="0" dirty="0">
                <a:ea typeface="华文楷体" pitchFamily="2" charset="-122"/>
                <a:cs typeface="Times New Roman" pitchFamily="18" charset="0"/>
              </a:rPr>
              <a:t>&lt;&lt;</a:t>
            </a:r>
            <a:r>
              <a:rPr lang="en-US" altLang="zh-CN" sz="2800" b="0" dirty="0" err="1">
                <a:ea typeface="华文楷体" pitchFamily="2" charset="-122"/>
                <a:cs typeface="Times New Roman" pitchFamily="18" charset="0"/>
              </a:rPr>
              <a:t>endl</a:t>
            </a: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return 0;  }</a:t>
            </a:r>
            <a:endParaRPr lang="zh-CN" altLang="zh-CN" sz="2800" b="0" dirty="0">
              <a:ea typeface="华文楷体" pitchFamily="2" charset="-122"/>
              <a:cs typeface="Times New Roman" pitchFamily="18" charset="0"/>
            </a:endParaRPr>
          </a:p>
          <a:p>
            <a:pPr marL="0" indent="0">
              <a:buNone/>
            </a:pPr>
            <a:endParaRPr lang="zh-CN" altLang="zh-CN" sz="2800" dirty="0">
              <a:latin typeface="+mn-lt"/>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zh-CN" dirty="0">
                <a:latin typeface="Times New Roman" pitchFamily="18" charset="0"/>
                <a:ea typeface="华文楷体" pitchFamily="2" charset="-122"/>
                <a:cs typeface="Times New Roman" pitchFamily="18" charset="0"/>
              </a:rPr>
              <a:t>顺序栈结构的应用</a:t>
            </a:r>
            <a:r>
              <a:rPr lang="en-US" altLang="zh-CN" dirty="0">
                <a:latin typeface="Times New Roman" pitchFamily="18" charset="0"/>
                <a:ea typeface="华文楷体" pitchFamily="2" charset="-122"/>
                <a:cs typeface="Times New Roman" pitchFamily="18" charset="0"/>
              </a:rPr>
              <a:t>(main.cpp)</a:t>
            </a:r>
            <a:endParaRPr lang="zh-CN" altLang="en-US"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328329"/>
            <a:ext cx="10525490" cy="5112640"/>
          </a:xfrm>
        </p:spPr>
        <p:txBody>
          <a:bodyPr>
            <a:noAutofit/>
          </a:bodyPr>
          <a:lstStyle/>
          <a:p>
            <a:pPr marL="0" indent="0">
              <a:buNone/>
            </a:pPr>
            <a:r>
              <a:rPr lang="zh-CN" altLang="zh-CN" sz="2800" b="0" dirty="0">
                <a:latin typeface="华文楷体" pitchFamily="2" charset="-122"/>
                <a:ea typeface="华文楷体" pitchFamily="2" charset="-122"/>
                <a:cs typeface="Times New Roman" pitchFamily="18" charset="0"/>
              </a:rPr>
              <a:t>在实际应用中，有时需要同时使用多个数据类型相同的栈。</a:t>
            </a:r>
            <a:endParaRPr lang="en-US" altLang="zh-CN" sz="2800" b="0" dirty="0">
              <a:latin typeface="华文楷体" pitchFamily="2" charset="-122"/>
              <a:ea typeface="华文楷体" pitchFamily="2" charset="-122"/>
              <a:cs typeface="Times New Roman" pitchFamily="18" charset="0"/>
            </a:endParaRPr>
          </a:p>
          <a:p>
            <a:pPr marL="0" indent="0">
              <a:buNone/>
            </a:pPr>
            <a:r>
              <a:rPr lang="zh-CN" altLang="zh-CN" sz="2800" b="0" dirty="0">
                <a:latin typeface="华文楷体" pitchFamily="2" charset="-122"/>
                <a:ea typeface="华文楷体" pitchFamily="2" charset="-122"/>
                <a:cs typeface="Times New Roman" pitchFamily="18" charset="0"/>
              </a:rPr>
              <a:t>栈中的元素个数因进栈、出栈操作动态地变化，所有栈不一定同时达到栈满，有时一些栈满而另一些栈尚余空间。</a:t>
            </a:r>
            <a:endParaRPr lang="en-US" altLang="zh-CN" sz="2800" b="0" dirty="0">
              <a:latin typeface="华文楷体" pitchFamily="2" charset="-122"/>
              <a:ea typeface="华文楷体" pitchFamily="2" charset="-122"/>
              <a:cs typeface="Times New Roman" pitchFamily="18" charset="0"/>
            </a:endParaRPr>
          </a:p>
          <a:p>
            <a:pPr marL="0" indent="0">
              <a:buNone/>
            </a:pPr>
            <a:r>
              <a:rPr lang="zh-CN" altLang="zh-CN" sz="2800" b="0" dirty="0">
                <a:latin typeface="华文楷体" pitchFamily="2" charset="-122"/>
                <a:ea typeface="华文楷体" pitchFamily="2" charset="-122"/>
                <a:cs typeface="Times New Roman" pitchFamily="18" charset="0"/>
              </a:rPr>
              <a:t>为了提高空间使用率，可以在同一块连续的空间中设置多个栈。</a:t>
            </a:r>
            <a:endParaRPr lang="en-US" altLang="zh-CN" sz="2800" b="0" dirty="0">
              <a:latin typeface="华文楷体" pitchFamily="2" charset="-122"/>
              <a:ea typeface="华文楷体" pitchFamily="2" charset="-122"/>
              <a:cs typeface="Times New Roman" pitchFamily="18" charset="0"/>
            </a:endParaRPr>
          </a:p>
          <a:p>
            <a:pPr marL="0" indent="0">
              <a:buNone/>
            </a:pPr>
            <a:r>
              <a:rPr lang="zh-CN" altLang="zh-CN" sz="2800" b="0" dirty="0">
                <a:latin typeface="华文楷体" pitchFamily="2" charset="-122"/>
                <a:ea typeface="华文楷体" pitchFamily="2" charset="-122"/>
                <a:cs typeface="Times New Roman" pitchFamily="18" charset="0"/>
              </a:rPr>
              <a:t>多个栈间共享空间，这些栈称为</a:t>
            </a:r>
            <a:r>
              <a:rPr lang="zh-CN" altLang="zh-CN" sz="2800" dirty="0">
                <a:highlight>
                  <a:srgbClr val="FFFF00"/>
                </a:highlight>
                <a:latin typeface="华文楷体" pitchFamily="2" charset="-122"/>
                <a:ea typeface="华文楷体" pitchFamily="2" charset="-122"/>
                <a:cs typeface="Times New Roman" pitchFamily="18" charset="0"/>
              </a:rPr>
              <a:t>“共享栈</a:t>
            </a:r>
            <a:r>
              <a:rPr lang="zh-CN" altLang="zh-CN" sz="2800" dirty="0">
                <a:latin typeface="华文楷体" pitchFamily="2" charset="-122"/>
                <a:ea typeface="华文楷体" pitchFamily="2" charset="-122"/>
                <a:cs typeface="Times New Roman" pitchFamily="18" charset="0"/>
              </a:rPr>
              <a:t>”</a:t>
            </a:r>
            <a:r>
              <a:rPr lang="zh-CN" altLang="zh-CN" sz="2800" b="0" dirty="0">
                <a:latin typeface="华文楷体" pitchFamily="2" charset="-122"/>
                <a:ea typeface="华文楷体" pitchFamily="2" charset="-122"/>
                <a:cs typeface="Times New Roman" pitchFamily="18" charset="0"/>
              </a:rPr>
              <a:t>。</a:t>
            </a:r>
            <a:endParaRPr lang="en-US" altLang="zh-CN" sz="2800" b="0" dirty="0">
              <a:latin typeface="华文楷体" pitchFamily="2" charset="-122"/>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cs typeface="Times New Roman" pitchFamily="18" charset="0"/>
            </a:endParaRPr>
          </a:p>
          <a:p>
            <a:pPr marL="0" indent="0">
              <a:buNone/>
            </a:pPr>
            <a:r>
              <a:rPr lang="zh-CN" altLang="zh-CN" sz="2800" b="0" dirty="0">
                <a:latin typeface="华文楷体" pitchFamily="2" charset="-122"/>
                <a:ea typeface="华文楷体" pitchFamily="2" charset="-122"/>
                <a:cs typeface="Times New Roman" pitchFamily="18" charset="0"/>
              </a:rPr>
              <a:t>共享栈的特点是每个栈拥有一个连续的小空间</a:t>
            </a:r>
            <a:r>
              <a:rPr lang="en-US" altLang="zh-CN" sz="2800" b="0" dirty="0">
                <a:latin typeface="华文楷体" pitchFamily="2" charset="-122"/>
                <a:ea typeface="华文楷体" pitchFamily="2" charset="-122"/>
                <a:cs typeface="Times New Roman" pitchFamily="18" charset="0"/>
              </a:rPr>
              <a:t>, </a:t>
            </a:r>
            <a:r>
              <a:rPr lang="zh-CN" altLang="zh-CN" sz="2800" b="0" dirty="0">
                <a:latin typeface="华文楷体" pitchFamily="2" charset="-122"/>
                <a:ea typeface="华文楷体" pitchFamily="2" charset="-122"/>
                <a:cs typeface="Times New Roman" pitchFamily="18" charset="0"/>
              </a:rPr>
              <a:t>所有共享栈拥有一个大的连续空间。 </a:t>
            </a:r>
            <a:endParaRPr lang="zh-CN" altLang="zh-CN" sz="2800" b="0" dirty="0">
              <a:latin typeface="华文楷体" pitchFamily="2" charset="-122"/>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共享栈：</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14:cpLocks xmlns:a14="http://schemas.microsoft.com/office/drawing/2010/main" noGrp="1"/>
          </p:cNvSpPr>
          <p:nvPr>
            <p:ph type="title"/>
          </p:nvPr>
        </p:nvSpPr>
        <p:spPr>
          <a:xfrm>
            <a:off x="459917" y="793902"/>
            <a:ext cx="11162884" cy="574183"/>
          </a:xfrm>
        </p:spPr>
        <p:txBody>
          <a:bodyPr/>
          <a:lstStyle/>
          <a:p>
            <a:r>
              <a:rPr lang="zh-CN" altLang="en-US" dirty="0">
                <a:latin typeface="华文楷体" pitchFamily="2" charset="-122"/>
                <a:ea typeface="华文楷体" pitchFamily="2" charset="-122"/>
              </a:rPr>
              <a:t>共享栈</a:t>
            </a:r>
            <a:endParaRPr lang="zh-CN" altLang="en-US" dirty="0">
              <a:latin typeface="华文楷体" pitchFamily="2" charset="-122"/>
              <a:ea typeface="华文楷体"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907782" y="1708183"/>
            <a:ext cx="7193214" cy="2559740"/>
          </a:xfrm>
          <a:prstGeom prst="rect">
            <a:avLst/>
          </a:prstGeom>
          <a:noFill/>
          <a:ln>
            <a:noFill/>
          </a:ln>
        </p:spPr>
      </p:pic>
      <p:sp>
        <p:nvSpPr>
          <p:cNvPr id="5" name="矩形 4"/>
          <p:cNvSpPr/>
          <p:nvPr/>
        </p:nvSpPr>
        <p:spPr>
          <a:xfrm>
            <a:off x="459917" y="4608021"/>
            <a:ext cx="10751422" cy="1384995"/>
          </a:xfrm>
          <a:prstGeom prst="rect">
            <a:avLst/>
          </a:prstGeom>
        </p:spPr>
        <p:txBody>
          <a:bodyPr wrap="square">
            <a:spAutoFit/>
          </a:bodyPr>
          <a:lstStyle/>
          <a:p>
            <a:r>
              <a:rPr lang="zh-CN" altLang="zh-CN" sz="2800" dirty="0">
                <a:highlight>
                  <a:srgbClr val="FFFF00"/>
                </a:highlight>
                <a:latin typeface="Times New Roman" pitchFamily="18" charset="0"/>
                <a:ea typeface="华文楷体" pitchFamily="2" charset="-122"/>
                <a:cs typeface="Times New Roman" pitchFamily="18" charset="0"/>
              </a:rPr>
              <a:t>假设有</a:t>
            </a:r>
            <a:r>
              <a:rPr lang="en-US" altLang="zh-CN" sz="2800" dirty="0">
                <a:highlight>
                  <a:srgbClr val="FFFF00"/>
                </a:highlight>
                <a:latin typeface="Times New Roman" pitchFamily="18" charset="0"/>
                <a:ea typeface="华文楷体" pitchFamily="2" charset="-122"/>
                <a:cs typeface="Times New Roman" pitchFamily="18" charset="0"/>
              </a:rPr>
              <a:t>m</a:t>
            </a:r>
            <a:r>
              <a:rPr lang="zh-CN" altLang="zh-CN" sz="2800" dirty="0">
                <a:highlight>
                  <a:srgbClr val="FFFF00"/>
                </a:highlight>
                <a:latin typeface="Times New Roman" pitchFamily="18" charset="0"/>
                <a:ea typeface="华文楷体" pitchFamily="2" charset="-122"/>
                <a:cs typeface="Times New Roman" pitchFamily="18" charset="0"/>
              </a:rPr>
              <a:t>个栈，第</a:t>
            </a:r>
            <a:r>
              <a:rPr lang="en-US" altLang="zh-CN" sz="2800" dirty="0" err="1">
                <a:highlight>
                  <a:srgbClr val="FFFF00"/>
                </a:highlight>
                <a:latin typeface="Times New Roman" pitchFamily="18" charset="0"/>
                <a:ea typeface="华文楷体" pitchFamily="2" charset="-122"/>
                <a:cs typeface="Times New Roman" pitchFamily="18" charset="0"/>
              </a:rPr>
              <a:t>i</a:t>
            </a:r>
            <a:r>
              <a:rPr lang="zh-CN" altLang="zh-CN" sz="2800" dirty="0">
                <a:highlight>
                  <a:srgbClr val="FFFF00"/>
                </a:highlight>
                <a:latin typeface="Times New Roman" pitchFamily="18" charset="0"/>
                <a:ea typeface="华文楷体" pitchFamily="2" charset="-122"/>
                <a:cs typeface="Times New Roman" pitchFamily="18" charset="0"/>
              </a:rPr>
              <a:t>个栈空的条件：</a:t>
            </a:r>
            <a:r>
              <a:rPr lang="en-US" altLang="zh-CN" sz="2800" dirty="0">
                <a:highlight>
                  <a:srgbClr val="FFFF00"/>
                </a:highlight>
                <a:latin typeface="Times New Roman" pitchFamily="18" charset="0"/>
                <a:ea typeface="华文楷体" pitchFamily="2" charset="-122"/>
                <a:cs typeface="Times New Roman" pitchFamily="18" charset="0"/>
              </a:rPr>
              <a:t>top[</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]=bottom[</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a:t>
            </a:r>
            <a:r>
              <a:rPr lang="zh-CN" altLang="zh-CN" sz="2800" dirty="0">
                <a:highlight>
                  <a:srgbClr val="FFFF00"/>
                </a:highlight>
                <a:latin typeface="Times New Roman" pitchFamily="18" charset="0"/>
                <a:ea typeface="华文楷体" pitchFamily="2" charset="-122"/>
                <a:cs typeface="Times New Roman" pitchFamily="18" charset="0"/>
              </a:rPr>
              <a:t>；</a:t>
            </a:r>
            <a:endParaRPr lang="en-US" altLang="zh-CN" sz="2800" dirty="0">
              <a:highlight>
                <a:srgbClr val="FFFF00"/>
              </a:highlight>
              <a:latin typeface="Times New Roman" pitchFamily="18" charset="0"/>
              <a:ea typeface="华文楷体" pitchFamily="2" charset="-122"/>
              <a:cs typeface="Times New Roman" pitchFamily="18" charset="0"/>
            </a:endParaRPr>
          </a:p>
          <a:p>
            <a:r>
              <a:rPr lang="zh-CN" altLang="zh-CN" sz="2800" dirty="0">
                <a:highlight>
                  <a:srgbClr val="FFFF00"/>
                </a:highlight>
                <a:latin typeface="Times New Roman" pitchFamily="18" charset="0"/>
                <a:ea typeface="华文楷体" pitchFamily="2" charset="-122"/>
                <a:cs typeface="Times New Roman" pitchFamily="18" charset="0"/>
              </a:rPr>
              <a:t>第</a:t>
            </a:r>
            <a:r>
              <a:rPr lang="en-US" altLang="zh-CN" sz="2800" dirty="0" err="1">
                <a:highlight>
                  <a:srgbClr val="FFFF00"/>
                </a:highlight>
                <a:latin typeface="Times New Roman" pitchFamily="18" charset="0"/>
                <a:ea typeface="华文楷体" pitchFamily="2" charset="-122"/>
                <a:cs typeface="Times New Roman" pitchFamily="18" charset="0"/>
              </a:rPr>
              <a:t>i</a:t>
            </a:r>
            <a:r>
              <a:rPr lang="zh-CN" altLang="zh-CN" sz="2800" dirty="0">
                <a:highlight>
                  <a:srgbClr val="FFFF00"/>
                </a:highlight>
                <a:latin typeface="Times New Roman" pitchFamily="18" charset="0"/>
                <a:ea typeface="华文楷体" pitchFamily="2" charset="-122"/>
                <a:cs typeface="Times New Roman" pitchFamily="18" charset="0"/>
              </a:rPr>
              <a:t>个栈栈满条件为</a:t>
            </a:r>
            <a:r>
              <a:rPr lang="en-US" altLang="zh-CN" sz="2800" dirty="0">
                <a:highlight>
                  <a:srgbClr val="FFFF00"/>
                </a:highlight>
                <a:latin typeface="Times New Roman" pitchFamily="18" charset="0"/>
                <a:ea typeface="华文楷体" pitchFamily="2" charset="-122"/>
                <a:cs typeface="Times New Roman" pitchFamily="18" charset="0"/>
              </a:rPr>
              <a:t>:    </a:t>
            </a:r>
            <a:r>
              <a:rPr lang="zh-CN" altLang="zh-CN" sz="2800" dirty="0">
                <a:highlight>
                  <a:srgbClr val="FFFF00"/>
                </a:highlight>
                <a:latin typeface="Times New Roman" pitchFamily="18" charset="0"/>
                <a:ea typeface="华文楷体" pitchFamily="2" charset="-122"/>
                <a:cs typeface="Times New Roman" pitchFamily="18" charset="0"/>
              </a:rPr>
              <a:t>当</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&lt;m-1</a:t>
            </a:r>
            <a:r>
              <a:rPr lang="zh-CN" altLang="zh-CN" sz="2800" dirty="0">
                <a:highlight>
                  <a:srgbClr val="FFFF00"/>
                </a:highlight>
                <a:latin typeface="Times New Roman" pitchFamily="18" charset="0"/>
                <a:ea typeface="华文楷体" pitchFamily="2" charset="-122"/>
                <a:cs typeface="Times New Roman" pitchFamily="18" charset="0"/>
              </a:rPr>
              <a:t>时，</a:t>
            </a:r>
            <a:r>
              <a:rPr lang="en-US" altLang="zh-CN" sz="2800" dirty="0">
                <a:highlight>
                  <a:srgbClr val="FFFF00"/>
                </a:highlight>
                <a:latin typeface="Times New Roman" pitchFamily="18" charset="0"/>
                <a:ea typeface="华文楷体" pitchFamily="2" charset="-122"/>
                <a:cs typeface="Times New Roman" pitchFamily="18" charset="0"/>
              </a:rPr>
              <a:t>top[</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]=bottom[i+1]</a:t>
            </a:r>
            <a:r>
              <a:rPr lang="zh-CN" altLang="zh-CN" sz="2800" dirty="0">
                <a:highlight>
                  <a:srgbClr val="FFFF00"/>
                </a:highlight>
                <a:latin typeface="Times New Roman" pitchFamily="18" charset="0"/>
                <a:ea typeface="华文楷体" pitchFamily="2" charset="-122"/>
                <a:cs typeface="Times New Roman" pitchFamily="18" charset="0"/>
              </a:rPr>
              <a:t>；</a:t>
            </a:r>
            <a:endParaRPr lang="en-US" altLang="zh-CN" sz="2800" dirty="0">
              <a:highlight>
                <a:srgbClr val="FFFF00"/>
              </a:highlight>
              <a:latin typeface="Times New Roman" pitchFamily="18" charset="0"/>
              <a:ea typeface="华文楷体" pitchFamily="2" charset="-122"/>
              <a:cs typeface="Times New Roman" pitchFamily="18" charset="0"/>
            </a:endParaRPr>
          </a:p>
          <a:p>
            <a:r>
              <a:rPr lang="en-US" altLang="zh-CN" sz="2800" dirty="0">
                <a:highlight>
                  <a:srgbClr val="FFFF00"/>
                </a:highlight>
                <a:latin typeface="Times New Roman" pitchFamily="18" charset="0"/>
                <a:ea typeface="华文楷体" pitchFamily="2" charset="-122"/>
                <a:cs typeface="Times New Roman" pitchFamily="18" charset="0"/>
              </a:rPr>
              <a:t>                                      </a:t>
            </a:r>
            <a:r>
              <a:rPr lang="zh-CN" altLang="zh-CN" sz="2800" dirty="0">
                <a:highlight>
                  <a:srgbClr val="FFFF00"/>
                </a:highlight>
                <a:latin typeface="Times New Roman" pitchFamily="18" charset="0"/>
                <a:ea typeface="华文楷体" pitchFamily="2" charset="-122"/>
                <a:cs typeface="Times New Roman" pitchFamily="18" charset="0"/>
              </a:rPr>
              <a:t>当</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=m-1</a:t>
            </a:r>
            <a:r>
              <a:rPr lang="zh-CN" altLang="zh-CN" sz="2800" dirty="0">
                <a:highlight>
                  <a:srgbClr val="FFFF00"/>
                </a:highlight>
                <a:latin typeface="Times New Roman" pitchFamily="18" charset="0"/>
                <a:ea typeface="华文楷体" pitchFamily="2" charset="-122"/>
                <a:cs typeface="Times New Roman" pitchFamily="18" charset="0"/>
              </a:rPr>
              <a:t>时，</a:t>
            </a:r>
            <a:r>
              <a:rPr lang="en-US" altLang="zh-CN" sz="2800" dirty="0">
                <a:highlight>
                  <a:srgbClr val="FFFF00"/>
                </a:highlight>
                <a:latin typeface="Times New Roman" pitchFamily="18" charset="0"/>
                <a:ea typeface="华文楷体" pitchFamily="2" charset="-122"/>
                <a:cs typeface="Times New Roman" pitchFamily="18" charset="0"/>
              </a:rPr>
              <a:t>top[</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a:t>
            </a:r>
            <a:r>
              <a:rPr lang="en-US" altLang="zh-CN" sz="2800" dirty="0" err="1">
                <a:highlight>
                  <a:srgbClr val="FFFF00"/>
                </a:highlight>
                <a:latin typeface="Times New Roman" pitchFamily="18" charset="0"/>
                <a:ea typeface="华文楷体" pitchFamily="2" charset="-122"/>
                <a:cs typeface="Times New Roman" pitchFamily="18" charset="0"/>
              </a:rPr>
              <a:t>maxSize</a:t>
            </a:r>
            <a:r>
              <a:rPr lang="zh-CN" altLang="zh-CN" sz="2800" dirty="0">
                <a:highlight>
                  <a:srgbClr val="FFFF00"/>
                </a:highlight>
                <a:latin typeface="Times New Roman" pitchFamily="18" charset="0"/>
                <a:ea typeface="华文楷体" pitchFamily="2" charset="-122"/>
                <a:cs typeface="Times New Roman" pitchFamily="18" charset="0"/>
              </a:rPr>
              <a:t>。</a:t>
            </a:r>
            <a:endParaRPr lang="zh-CN" altLang="en-US" sz="2800" dirty="0">
              <a:highlight>
                <a:srgbClr val="FFFF00"/>
              </a:highlight>
              <a:latin typeface="Times New Roman" pitchFamily="18" charset="0"/>
              <a:ea typeface="华文楷体" pitchFamily="2" charset="-122"/>
              <a:cs typeface="Times New Roman" pitchFamily="18" charset="0"/>
            </a:endParaRPr>
          </a:p>
        </p:txBody>
      </p:sp>
      <p:sp>
        <p:nvSpPr>
          <p:cNvPr id="2" name="文本框 1"/>
          <p:cNvSpPr txBox="1"/>
          <p:nvPr/>
        </p:nvSpPr>
        <p:spPr>
          <a:xfrm>
            <a:off x="744583" y="1881052"/>
            <a:ext cx="1632857" cy="1815882"/>
          </a:xfrm>
          <a:prstGeom prst="rect">
            <a:avLst/>
          </a:prstGeom>
          <a:noFill/>
        </p:spPr>
        <p:txBody>
          <a:bodyPr wrap="square" rtlCol="0">
            <a:spAutoFit/>
          </a:bodyPr>
          <a:lstStyle/>
          <a:p>
            <a:r>
              <a:rPr lang="en-US" altLang="zh-CN" sz="2800" dirty="0">
                <a:highlight>
                  <a:srgbClr val="FFFF00"/>
                </a:highlight>
                <a:latin typeface="华文楷体" pitchFamily="2" charset="-122"/>
                <a:ea typeface="华文楷体" pitchFamily="2" charset="-122"/>
              </a:rPr>
              <a:t>top</a:t>
            </a:r>
            <a:r>
              <a:rPr lang="zh-CN" altLang="en-US" sz="2800" dirty="0">
                <a:highlight>
                  <a:srgbClr val="FFFF00"/>
                </a:highlight>
                <a:latin typeface="华文楷体" pitchFamily="2" charset="-122"/>
                <a:ea typeface="华文楷体" pitchFamily="2" charset="-122"/>
              </a:rPr>
              <a:t>指向实际栈顶的后一个位置</a:t>
            </a:r>
            <a:endParaRPr lang="zh-CN" altLang="en-US" sz="2800" dirty="0">
              <a:highlight>
                <a:srgbClr val="FFFF00"/>
              </a:highlight>
              <a:latin typeface="华文楷体" pitchFamily="2" charset="-122"/>
              <a:ea typeface="华文楷体" pitchFamily="2" charset="-122"/>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14:cpLocks xmlns:a14="http://schemas.microsoft.com/office/drawing/2010/main" noGrp="1"/>
          </p:cNvSpPr>
          <p:nvPr>
            <p:ph type="title"/>
          </p:nvPr>
        </p:nvSpPr>
        <p:spPr>
          <a:xfrm>
            <a:off x="459917" y="793902"/>
            <a:ext cx="11162884" cy="574183"/>
          </a:xfrm>
        </p:spPr>
        <p:txBody>
          <a:bodyPr/>
          <a:lstStyle/>
          <a:p>
            <a:r>
              <a:rPr lang="zh-CN" altLang="en-US" dirty="0">
                <a:latin typeface="华文楷体" pitchFamily="2" charset="-122"/>
                <a:ea typeface="华文楷体" pitchFamily="2" charset="-122"/>
              </a:rPr>
              <a:t>双共享栈</a:t>
            </a:r>
            <a:endParaRPr lang="zh-CN" altLang="en-US" dirty="0">
              <a:latin typeface="华文楷体" pitchFamily="2" charset="-122"/>
              <a:ea typeface="华文楷体" pitchFamily="2" charset="-122"/>
            </a:endParaRPr>
          </a:p>
        </p:txBody>
      </p:sp>
      <p:sp>
        <p:nvSpPr>
          <p:cNvPr id="5" name="矩形 4"/>
          <p:cNvSpPr/>
          <p:nvPr/>
        </p:nvSpPr>
        <p:spPr>
          <a:xfrm>
            <a:off x="459917" y="1443861"/>
            <a:ext cx="10115318" cy="954107"/>
          </a:xfrm>
          <a:prstGeom prst="rect">
            <a:avLst/>
          </a:prstGeom>
        </p:spPr>
        <p:txBody>
          <a:bodyPr wrap="square">
            <a:spAutoFit/>
          </a:bodyPr>
          <a:lstStyle/>
          <a:p>
            <a:r>
              <a:rPr lang="zh-CN" altLang="zh-CN" sz="2800" dirty="0">
                <a:latin typeface="华文楷体" pitchFamily="2" charset="-122"/>
                <a:ea typeface="华文楷体" pitchFamily="2" charset="-122"/>
              </a:rPr>
              <a:t>可以将两个栈相向设置，即两个栈的栈底分别设置在连续空间的两个端点。</a:t>
            </a:r>
            <a:endParaRPr lang="zh-CN" altLang="en-US" sz="2800" dirty="0">
              <a:latin typeface="华文楷体" pitchFamily="2" charset="-122"/>
              <a:ea typeface="华文楷体"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567014" y="2273772"/>
            <a:ext cx="7491387" cy="2855637"/>
          </a:xfrm>
          <a:prstGeom prst="rect">
            <a:avLst/>
          </a:prstGeom>
          <a:noFill/>
          <a:ln>
            <a:noFill/>
          </a:ln>
        </p:spPr>
      </p:pic>
      <p:sp>
        <p:nvSpPr>
          <p:cNvPr id="2" name="文本框 1"/>
          <p:cNvSpPr txBox="1"/>
          <p:nvPr/>
        </p:nvSpPr>
        <p:spPr>
          <a:xfrm>
            <a:off x="587767" y="5159981"/>
            <a:ext cx="10907184" cy="1384995"/>
          </a:xfrm>
          <a:prstGeom prst="rect">
            <a:avLst/>
          </a:prstGeom>
          <a:noFill/>
        </p:spPr>
        <p:txBody>
          <a:bodyPr wrap="square" rtlCol="0">
            <a:spAutoFit/>
          </a:bodyPr>
          <a:lstStyle/>
          <a:p>
            <a:r>
              <a:rPr lang="zh-CN" altLang="zh-CN" sz="2800" dirty="0">
                <a:highlight>
                  <a:srgbClr val="FFFF00"/>
                </a:highlight>
                <a:latin typeface="Times New Roman" pitchFamily="18" charset="0"/>
                <a:ea typeface="华文楷体" pitchFamily="2" charset="-122"/>
                <a:cs typeface="Times New Roman" pitchFamily="18" charset="0"/>
              </a:rPr>
              <a:t>栈空的条件</a:t>
            </a:r>
            <a:r>
              <a:rPr lang="en-US" altLang="zh-CN" sz="2800" dirty="0">
                <a:highlight>
                  <a:srgbClr val="FFFF00"/>
                </a:highlight>
                <a:latin typeface="Times New Roman" pitchFamily="18" charset="0"/>
                <a:ea typeface="华文楷体" pitchFamily="2" charset="-122"/>
                <a:cs typeface="Times New Roman" pitchFamily="18" charset="0"/>
              </a:rPr>
              <a:t>top[</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]=bottom[</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 </a:t>
            </a:r>
            <a:r>
              <a:rPr lang="en-US" altLang="zh-CN" sz="2800" dirty="0" err="1">
                <a:highlight>
                  <a:srgbClr val="FFFF00"/>
                </a:highlight>
                <a:latin typeface="Times New Roman" pitchFamily="18" charset="0"/>
                <a:ea typeface="华文楷体" pitchFamily="2" charset="-122"/>
                <a:cs typeface="Times New Roman" pitchFamily="18" charset="0"/>
              </a:rPr>
              <a:t>i</a:t>
            </a:r>
            <a:r>
              <a:rPr lang="en-US" altLang="zh-CN" sz="2800" dirty="0">
                <a:highlight>
                  <a:srgbClr val="FFFF00"/>
                </a:highlight>
                <a:latin typeface="Times New Roman" pitchFamily="18" charset="0"/>
                <a:ea typeface="华文楷体" pitchFamily="2" charset="-122"/>
                <a:cs typeface="Times New Roman" pitchFamily="18" charset="0"/>
              </a:rPr>
              <a:t>=0</a:t>
            </a:r>
            <a:r>
              <a:rPr lang="zh-CN" altLang="zh-CN" sz="2800" dirty="0">
                <a:highlight>
                  <a:srgbClr val="FFFF00"/>
                </a:highlight>
                <a:latin typeface="Times New Roman" pitchFamily="18" charset="0"/>
                <a:ea typeface="华文楷体" pitchFamily="2" charset="-122"/>
                <a:cs typeface="Times New Roman" pitchFamily="18" charset="0"/>
              </a:rPr>
              <a:t>或</a:t>
            </a:r>
            <a:r>
              <a:rPr lang="en-US" altLang="zh-CN" sz="2800" dirty="0">
                <a:highlight>
                  <a:srgbClr val="FFFF00"/>
                </a:highlight>
                <a:latin typeface="Times New Roman" pitchFamily="18" charset="0"/>
                <a:ea typeface="华文楷体" pitchFamily="2" charset="-122"/>
                <a:cs typeface="Times New Roman" pitchFamily="18" charset="0"/>
              </a:rPr>
              <a:t>1</a:t>
            </a:r>
            <a:r>
              <a:rPr lang="zh-CN" altLang="zh-CN" sz="2800" dirty="0">
                <a:highlight>
                  <a:srgbClr val="FFFF00"/>
                </a:highlight>
                <a:latin typeface="Times New Roman" pitchFamily="18" charset="0"/>
                <a:ea typeface="华文楷体" pitchFamily="2" charset="-122"/>
                <a:cs typeface="Times New Roman" pitchFamily="18" charset="0"/>
              </a:rPr>
              <a:t>，两个栈不一定同时为空；</a:t>
            </a:r>
            <a:endParaRPr lang="en-US" altLang="zh-CN" sz="2800" dirty="0">
              <a:highlight>
                <a:srgbClr val="FFFF00"/>
              </a:highlight>
              <a:latin typeface="Times New Roman" pitchFamily="18" charset="0"/>
              <a:ea typeface="华文楷体" pitchFamily="2" charset="-122"/>
              <a:cs typeface="Times New Roman" pitchFamily="18" charset="0"/>
            </a:endParaRPr>
          </a:p>
          <a:p>
            <a:r>
              <a:rPr lang="zh-CN" altLang="zh-CN" sz="2800" dirty="0">
                <a:highlight>
                  <a:srgbClr val="FFFF00"/>
                </a:highlight>
                <a:latin typeface="Times New Roman" pitchFamily="18" charset="0"/>
                <a:ea typeface="华文楷体" pitchFamily="2" charset="-122"/>
                <a:cs typeface="Times New Roman" pitchFamily="18" charset="0"/>
              </a:rPr>
              <a:t>栈满的条件</a:t>
            </a:r>
            <a:r>
              <a:rPr lang="en-US" altLang="zh-CN" sz="2800" dirty="0">
                <a:highlight>
                  <a:srgbClr val="FFFF00"/>
                </a:highlight>
                <a:latin typeface="Times New Roman" pitchFamily="18" charset="0"/>
                <a:ea typeface="华文楷体" pitchFamily="2" charset="-122"/>
                <a:cs typeface="Times New Roman" pitchFamily="18" charset="0"/>
              </a:rPr>
              <a:t>top[0]=top[1]</a:t>
            </a:r>
            <a:r>
              <a:rPr lang="zh-CN" altLang="zh-CN" sz="2800" dirty="0">
                <a:highlight>
                  <a:srgbClr val="FFFF00"/>
                </a:highlight>
                <a:latin typeface="Times New Roman" pitchFamily="18" charset="0"/>
                <a:ea typeface="华文楷体" pitchFamily="2" charset="-122"/>
                <a:cs typeface="Times New Roman" pitchFamily="18" charset="0"/>
              </a:rPr>
              <a:t>，即两个栈当中只剩下一个空位置的时候栈满，两个栈必定同时栈满。</a:t>
            </a:r>
            <a:endParaRPr lang="zh-CN" altLang="en-US" sz="2800" dirty="0">
              <a:highlight>
                <a:srgbClr val="FFFF00"/>
              </a:highlight>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链式栈</a:t>
            </a:r>
            <a:endParaRPr lang="en-US" altLang="zh-CN" sz="2800" dirty="0">
              <a:solidFill>
                <a:srgbClr val="FF0000"/>
              </a:solidFill>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1283729"/>
          </a:xfrm>
        </p:spPr>
        <p:txBody>
          <a:bodyPr>
            <a:normAutofit/>
          </a:bodyPr>
          <a:lstStyle/>
          <a:p>
            <a:pPr>
              <a:buFont typeface="Wingdings" charset="2"/>
              <a:buChar char="Ø"/>
            </a:pPr>
            <a:r>
              <a:rPr lang="zh-CN" altLang="zh-CN" sz="2800" b="0" dirty="0">
                <a:latin typeface="华文楷体" pitchFamily="2" charset="-122"/>
                <a:ea typeface="华文楷体" pitchFamily="2" charset="-122"/>
              </a:rPr>
              <a:t>用不连续的空间和附加指针来存储元素及元素间的关系。</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栈顶指针</a:t>
            </a:r>
            <a:r>
              <a:rPr lang="en-US" altLang="zh-CN" sz="2800" b="0" dirty="0">
                <a:latin typeface="华文楷体" pitchFamily="2" charset="-122"/>
                <a:ea typeface="华文楷体" pitchFamily="2" charset="-122"/>
              </a:rPr>
              <a:t>top</a:t>
            </a:r>
            <a:r>
              <a:rPr lang="zh-CN" altLang="zh-CN" sz="2800" b="0" dirty="0">
                <a:latin typeface="华文楷体" pitchFamily="2" charset="-122"/>
                <a:ea typeface="华文楷体" pitchFamily="2" charset="-122"/>
              </a:rPr>
              <a:t>指向处于栈顶的结点，即单链表中的首结点。</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链式栈：</a:t>
            </a:r>
            <a:endParaRPr lang="zh-CN" altLang="en-US" dirty="0">
              <a:latin typeface="华文楷体" pitchFamily="2" charset="-122"/>
              <a:ea typeface="华文楷体"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112174" y="3180521"/>
            <a:ext cx="6031825" cy="3319670"/>
          </a:xfrm>
          <a:prstGeom prst="rect">
            <a:avLst/>
          </a:prstGeom>
          <a:noFill/>
          <a:ln>
            <a:noFill/>
          </a:ln>
        </p:spPr>
      </p:pic>
      <p:sp>
        <p:nvSpPr>
          <p:cNvPr id="2" name="文本框 1"/>
          <p:cNvSpPr txBox="1"/>
          <p:nvPr/>
        </p:nvSpPr>
        <p:spPr>
          <a:xfrm>
            <a:off x="8465905" y="5688355"/>
            <a:ext cx="3164441" cy="830997"/>
          </a:xfrm>
          <a:prstGeom prst="rect">
            <a:avLst/>
          </a:prstGeom>
          <a:noFill/>
        </p:spPr>
        <p:txBody>
          <a:bodyPr wrap="square" rtlCol="0">
            <a:spAutoFit/>
          </a:bodyPr>
          <a:lstStyle/>
          <a:p>
            <a:r>
              <a:rPr lang="zh-CN" altLang="en-US" sz="2400" dirty="0">
                <a:solidFill>
                  <a:srgbClr val="FF0000"/>
                </a:solidFill>
              </a:rPr>
              <a:t>问题：</a:t>
            </a:r>
            <a:endParaRPr lang="en-US" altLang="zh-CN" sz="2400" dirty="0">
              <a:solidFill>
                <a:srgbClr val="FF0000"/>
              </a:solidFill>
            </a:endParaRPr>
          </a:p>
          <a:p>
            <a:r>
              <a:rPr lang="zh-CN" altLang="en-US" sz="2400" dirty="0">
                <a:solidFill>
                  <a:srgbClr val="FF0000"/>
                </a:solidFill>
              </a:rPr>
              <a:t>为啥没有头结点了？</a:t>
            </a:r>
            <a:endParaRPr lang="zh-CN" altLang="en-US" sz="2400" dirty="0">
              <a:solidFill>
                <a:srgbClr val="FF0000"/>
              </a:solidFill>
            </a:endParaRPr>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4595805"/>
          </a:xfrm>
        </p:spPr>
        <p:txBody>
          <a:bodyPr>
            <a:normAutofit fontScale="92500" lnSpcReduction="20000"/>
          </a:bodyPr>
          <a:lstStyle/>
          <a:p>
            <a:pPr marL="0" lvl="0" indent="0">
              <a:buNone/>
            </a:pPr>
            <a:r>
              <a:rPr lang="zh-CN" altLang="zh-CN" sz="3000" b="0" dirty="0">
                <a:ea typeface="华文楷体" pitchFamily="2" charset="-122"/>
                <a:cs typeface="Times New Roman" pitchFamily="18" charset="0"/>
              </a:rPr>
              <a:t>进栈操作</a:t>
            </a:r>
            <a:r>
              <a:rPr lang="en-US" altLang="zh-CN" sz="3000" b="0" dirty="0">
                <a:ea typeface="华文楷体" pitchFamily="2" charset="-122"/>
                <a:cs typeface="Times New Roman" pitchFamily="18" charset="0"/>
              </a:rPr>
              <a:t>push</a:t>
            </a:r>
            <a:r>
              <a:rPr lang="zh-CN" altLang="zh-CN" sz="3000" b="0" dirty="0">
                <a:ea typeface="华文楷体" pitchFamily="2" charset="-122"/>
                <a:cs typeface="Times New Roman" pitchFamily="18" charset="0"/>
              </a:rPr>
              <a:t>的实现，按照以下操作顺序：</a:t>
            </a:r>
            <a:endParaRPr lang="zh-CN" altLang="zh-CN" sz="3000" b="0" dirty="0">
              <a:ea typeface="华文楷体" pitchFamily="2" charset="-122"/>
              <a:cs typeface="Times New Roman" pitchFamily="18" charset="0"/>
            </a:endParaRPr>
          </a:p>
          <a:p>
            <a:pPr marL="0" indent="0">
              <a:buNone/>
            </a:pPr>
            <a:r>
              <a:rPr lang="en-US" altLang="zh-CN" sz="3000" b="0" dirty="0">
                <a:ea typeface="华文楷体" pitchFamily="2" charset="-122"/>
                <a:cs typeface="Times New Roman" pitchFamily="18" charset="0"/>
              </a:rPr>
              <a:t>1</a:t>
            </a:r>
            <a:r>
              <a:rPr lang="zh-CN" altLang="zh-CN" sz="3000" b="0" dirty="0">
                <a:ea typeface="华文楷体" pitchFamily="2" charset="-122"/>
                <a:cs typeface="Times New Roman" pitchFamily="18" charset="0"/>
              </a:rPr>
              <a:t>）申请新的结点空间，</a:t>
            </a:r>
            <a:r>
              <a:rPr lang="en-US" altLang="zh-CN" sz="3000" b="0" dirty="0">
                <a:ea typeface="华文楷体" pitchFamily="2" charset="-122"/>
                <a:cs typeface="Times New Roman" pitchFamily="18" charset="0"/>
              </a:rPr>
              <a:t>data</a:t>
            </a:r>
            <a:r>
              <a:rPr lang="zh-CN" altLang="zh-CN" sz="3000" b="0" dirty="0">
                <a:ea typeface="华文楷体" pitchFamily="2" charset="-122"/>
                <a:cs typeface="Times New Roman" pitchFamily="18" charset="0"/>
              </a:rPr>
              <a:t>字段为进栈元素值，</a:t>
            </a:r>
            <a:r>
              <a:rPr lang="en-US" altLang="zh-CN" sz="3000" b="0" dirty="0">
                <a:ea typeface="华文楷体" pitchFamily="2" charset="-122"/>
                <a:cs typeface="Times New Roman" pitchFamily="18" charset="0"/>
              </a:rPr>
              <a:t>next</a:t>
            </a:r>
            <a:r>
              <a:rPr lang="zh-CN" altLang="zh-CN" sz="3000" b="0" dirty="0">
                <a:ea typeface="华文楷体" pitchFamily="2" charset="-122"/>
                <a:cs typeface="Times New Roman" pitchFamily="18" charset="0"/>
              </a:rPr>
              <a:t>字段指向首结点。 </a:t>
            </a:r>
            <a:endParaRPr lang="zh-CN" altLang="zh-CN" sz="3000" b="0" dirty="0">
              <a:ea typeface="华文楷体" pitchFamily="2" charset="-122"/>
              <a:cs typeface="Times New Roman" pitchFamily="18" charset="0"/>
            </a:endParaRPr>
          </a:p>
          <a:p>
            <a:pPr marL="0" indent="0">
              <a:buNone/>
            </a:pPr>
            <a:r>
              <a:rPr lang="en-US" altLang="zh-CN" sz="3000" b="0" dirty="0">
                <a:ea typeface="华文楷体" pitchFamily="2" charset="-122"/>
                <a:cs typeface="Times New Roman" pitchFamily="18" charset="0"/>
              </a:rPr>
              <a:t>2</a:t>
            </a:r>
            <a:r>
              <a:rPr lang="zh-CN" altLang="zh-CN" sz="3000" b="0" dirty="0">
                <a:ea typeface="华文楷体" pitchFamily="2" charset="-122"/>
                <a:cs typeface="Times New Roman" pitchFamily="18" charset="0"/>
              </a:rPr>
              <a:t>）栈顶指向新结点。</a:t>
            </a:r>
            <a:endParaRPr lang="en-US" altLang="zh-CN" sz="3000" b="0" dirty="0">
              <a:ea typeface="华文楷体" pitchFamily="2" charset="-122"/>
              <a:cs typeface="Times New Roman" pitchFamily="18" charset="0"/>
            </a:endParaRPr>
          </a:p>
          <a:p>
            <a:pPr marL="0" indent="0">
              <a:buNone/>
            </a:pPr>
            <a:endParaRPr lang="zh-CN" altLang="zh-CN" sz="3000" b="0" dirty="0">
              <a:ea typeface="华文楷体" pitchFamily="2" charset="-122"/>
              <a:cs typeface="Times New Roman" pitchFamily="18" charset="0"/>
            </a:endParaRPr>
          </a:p>
          <a:p>
            <a:pPr marL="0" lvl="0" indent="0">
              <a:buNone/>
            </a:pPr>
            <a:r>
              <a:rPr lang="zh-CN" altLang="zh-CN" sz="3000" b="0" dirty="0">
                <a:ea typeface="华文楷体" pitchFamily="2" charset="-122"/>
                <a:cs typeface="Times New Roman" pitchFamily="18" charset="0"/>
              </a:rPr>
              <a:t>出栈操作</a:t>
            </a:r>
            <a:r>
              <a:rPr lang="en-US" altLang="zh-CN" sz="3000" b="0" dirty="0">
                <a:ea typeface="华文楷体" pitchFamily="2" charset="-122"/>
                <a:cs typeface="Times New Roman" pitchFamily="18" charset="0"/>
              </a:rPr>
              <a:t>pop</a:t>
            </a:r>
            <a:r>
              <a:rPr lang="zh-CN" altLang="zh-CN" sz="3000" b="0" dirty="0">
                <a:ea typeface="华文楷体" pitchFamily="2" charset="-122"/>
                <a:cs typeface="Times New Roman" pitchFamily="18" charset="0"/>
              </a:rPr>
              <a:t>的实现，按照以下操作顺序：</a:t>
            </a:r>
            <a:endParaRPr lang="zh-CN" altLang="zh-CN" sz="3000" b="0" dirty="0">
              <a:ea typeface="华文楷体" pitchFamily="2" charset="-122"/>
              <a:cs typeface="Times New Roman" pitchFamily="18" charset="0"/>
            </a:endParaRPr>
          </a:p>
          <a:p>
            <a:pPr marL="0" indent="0">
              <a:buNone/>
            </a:pPr>
            <a:r>
              <a:rPr lang="en-US" altLang="zh-CN" sz="3000" b="0" dirty="0">
                <a:ea typeface="华文楷体" pitchFamily="2" charset="-122"/>
                <a:cs typeface="Times New Roman" pitchFamily="18" charset="0"/>
              </a:rPr>
              <a:t>1)   </a:t>
            </a:r>
            <a:r>
              <a:rPr lang="zh-CN" altLang="zh-CN" sz="3000" b="0" dirty="0">
                <a:ea typeface="华文楷体" pitchFamily="2" charset="-122"/>
                <a:cs typeface="Times New Roman" pitchFamily="18" charset="0"/>
              </a:rPr>
              <a:t>记住栈顶结点的地址。</a:t>
            </a:r>
            <a:endParaRPr lang="zh-CN" altLang="zh-CN" sz="3000" b="0" dirty="0">
              <a:ea typeface="华文楷体" pitchFamily="2" charset="-122"/>
              <a:cs typeface="Times New Roman" pitchFamily="18" charset="0"/>
            </a:endParaRPr>
          </a:p>
          <a:p>
            <a:pPr marL="0" indent="0">
              <a:buNone/>
            </a:pPr>
            <a:r>
              <a:rPr lang="en-US" altLang="zh-CN" sz="3000" b="0" dirty="0">
                <a:ea typeface="华文楷体" pitchFamily="2" charset="-122"/>
                <a:cs typeface="Times New Roman" pitchFamily="18" charset="0"/>
              </a:rPr>
              <a:t>2</a:t>
            </a:r>
            <a:r>
              <a:rPr lang="zh-CN" altLang="zh-CN" sz="3000" b="0" dirty="0">
                <a:ea typeface="华文楷体" pitchFamily="2" charset="-122"/>
                <a:cs typeface="Times New Roman" pitchFamily="18" charset="0"/>
              </a:rPr>
              <a:t>）将原栈顶的直接后继设为新的栈顶。 </a:t>
            </a:r>
            <a:endParaRPr lang="zh-CN" altLang="zh-CN" sz="3000" b="0" dirty="0">
              <a:ea typeface="华文楷体" pitchFamily="2" charset="-122"/>
              <a:cs typeface="Times New Roman" pitchFamily="18" charset="0"/>
            </a:endParaRPr>
          </a:p>
          <a:p>
            <a:pPr marL="0" indent="0">
              <a:buNone/>
            </a:pPr>
            <a:r>
              <a:rPr lang="en-US" altLang="zh-CN" sz="3000" b="0" dirty="0">
                <a:ea typeface="华文楷体" pitchFamily="2" charset="-122"/>
                <a:cs typeface="Times New Roman" pitchFamily="18" charset="0"/>
              </a:rPr>
              <a:t>3</a:t>
            </a:r>
            <a:r>
              <a:rPr lang="zh-CN" altLang="zh-CN" sz="3000" b="0" dirty="0">
                <a:ea typeface="华文楷体" pitchFamily="2" charset="-122"/>
                <a:cs typeface="Times New Roman" pitchFamily="18" charset="0"/>
              </a:rPr>
              <a:t>）释放原来栈顶结点空间。</a:t>
            </a:r>
            <a:endParaRPr lang="zh-CN" altLang="zh-CN" sz="3000" b="0" dirty="0">
              <a:ea typeface="华文楷体" pitchFamily="2" charset="-122"/>
              <a:cs typeface="Times New Roman"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链式栈基本操作分析：</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586458" y="754146"/>
            <a:ext cx="7305212" cy="574183"/>
          </a:xfrm>
        </p:spPr>
        <p:txBody>
          <a:bodyPr/>
          <a:lstStyle/>
          <a:p>
            <a:pPr marL="838200" indent="-838200">
              <a:defRPr/>
            </a:pPr>
            <a:r>
              <a:rPr lang="zh-CN" altLang="en-US" dirty="0">
                <a:latin typeface="华文楷体" pitchFamily="2" charset="-122"/>
                <a:ea typeface="华文楷体" pitchFamily="2" charset="-122"/>
              </a:rPr>
              <a:t>链式栈类的声明</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14:cpLocks xmlns:a14="http://schemas.microsoft.com/office/drawing/2010/main" noChangeArrowheads="1"/>
          </p:cNvSpPr>
          <p:nvPr/>
        </p:nvSpPr>
        <p:spPr bwMode="auto">
          <a:xfrm>
            <a:off x="288284" y="1328329"/>
            <a:ext cx="946205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pPr marL="0" marR="0" lvl="0" indent="28448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class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outOfBound</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template &lt;class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elemType</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&gt;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class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linkStack</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template &lt;class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elemType</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&gt;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class Node</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friend class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linkStack</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&lt;</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elemType</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&gt;;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private:</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elemType</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data;</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Node *next;</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public:</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Node(){next = NULL;}</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Node(</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const</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a:t>
            </a:r>
            <a:r>
              <a:rPr kumimoji="0" lang="en-US" altLang="zh-CN" sz="2400" b="0" i="0" u="none" strike="noStrike" cap="none" normalizeH="0" baseline="0" dirty="0" err="1">
                <a:ln>
                  <a:noFill/>
                </a:ln>
                <a:solidFill>
                  <a:schemeClr val="tx1"/>
                </a:solidFill>
                <a:effectLst/>
                <a:latin typeface="Times New Roman" pitchFamily="18" charset="0"/>
                <a:ea typeface="宋体" charset="-122"/>
                <a:cs typeface="Times New Roman" pitchFamily="18" charset="0"/>
              </a:rPr>
              <a:t>elemType</a:t>
            </a: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&amp;x, Node *p=NULL)</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        { data = x; next = p; }</a:t>
            </a:r>
            <a:endParaRPr kumimoji="0" lang="en-US" altLang="zh-CN" sz="3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269875"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itchFamily="18" charset="0"/>
                <a:ea typeface="宋体" charset="-122"/>
                <a:cs typeface="Times New Roman" pitchFamily="18" charset="0"/>
              </a:rPr>
              <a:t>};</a:t>
            </a:r>
            <a:endParaRPr kumimoji="0" lang="en-US" altLang="zh-CN" sz="48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itchFamily="2" charset="-122"/>
                <a:ea typeface="华文楷体" pitchFamily="2" charset="-122"/>
              </a:rPr>
              <a:t>链式栈类的声明</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14:cpLocks xmlns:a14="http://schemas.microsoft.com/office/drawing/2010/main" noChangeArrowheads="1"/>
          </p:cNvSpPr>
          <p:nvPr/>
        </p:nvSpPr>
        <p:spPr bwMode="auto">
          <a:xfrm>
            <a:off x="0" y="1328329"/>
            <a:ext cx="1229465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r>
              <a:rPr lang="en-US" altLang="zh-CN" sz="2400" dirty="0">
                <a:latin typeface="Times New Roman" pitchFamily="18" charset="0"/>
                <a:ea typeface="华文楷体" pitchFamily="2" charset="-122"/>
                <a:cs typeface="Times New Roman" pitchFamily="18" charset="0"/>
              </a:rPr>
              <a:t>template &lt;class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class </a:t>
            </a:r>
            <a:r>
              <a:rPr lang="en-US" altLang="zh-CN" sz="2400" dirty="0" err="1">
                <a:latin typeface="Times New Roman" pitchFamily="18" charset="0"/>
                <a:ea typeface="华文楷体" pitchFamily="2" charset="-122"/>
                <a:cs typeface="Times New Roman" pitchFamily="18" charset="0"/>
              </a:rPr>
              <a:t>linkStack</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private:</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Node&lt;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 *Top;</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public:</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linkStack</a:t>
            </a:r>
            <a:r>
              <a:rPr lang="en-US" altLang="zh-CN" sz="2400" dirty="0">
                <a:latin typeface="Times New Roman" pitchFamily="18" charset="0"/>
                <a:ea typeface="华文楷体" pitchFamily="2" charset="-122"/>
                <a:cs typeface="Times New Roman" pitchFamily="18" charset="0"/>
              </a:rPr>
              <a:t>(){ Top = NULL; }; //</a:t>
            </a:r>
            <a:r>
              <a:rPr lang="zh-CN" altLang="zh-CN" sz="2400" dirty="0">
                <a:latin typeface="Times New Roman" pitchFamily="18" charset="0"/>
                <a:ea typeface="华文楷体" pitchFamily="2" charset="-122"/>
                <a:cs typeface="Times New Roman" pitchFamily="18" charset="0"/>
              </a:rPr>
              <a:t>初始化栈，使其为空栈</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bool </a:t>
            </a:r>
            <a:r>
              <a:rPr lang="en-US" altLang="zh-CN" sz="2400" dirty="0" err="1">
                <a:latin typeface="Times New Roman" pitchFamily="18" charset="0"/>
                <a:ea typeface="华文楷体" pitchFamily="2" charset="-122"/>
                <a:cs typeface="Times New Roman" pitchFamily="18" charset="0"/>
              </a:rPr>
              <a:t>isEmpty</a:t>
            </a:r>
            <a:r>
              <a:rPr lang="en-US" altLang="zh-CN" sz="2400" dirty="0">
                <a:latin typeface="Times New Roman" pitchFamily="18" charset="0"/>
                <a:ea typeface="华文楷体" pitchFamily="2" charset="-122"/>
                <a:cs typeface="Times New Roman" pitchFamily="18" charset="0"/>
              </a:rPr>
              <a:t>(){ return (Top==NULL); }; //</a:t>
            </a:r>
            <a:r>
              <a:rPr lang="zh-CN" altLang="zh-CN" sz="2400" dirty="0">
                <a:latin typeface="Times New Roman" pitchFamily="18" charset="0"/>
                <a:ea typeface="华文楷体" pitchFamily="2" charset="-122"/>
                <a:cs typeface="Times New Roman" pitchFamily="18" charset="0"/>
              </a:rPr>
              <a:t>栈为空返回</a:t>
            </a:r>
            <a:r>
              <a:rPr lang="en-US" altLang="zh-CN" sz="2400" dirty="0">
                <a:latin typeface="Times New Roman" pitchFamily="18" charset="0"/>
                <a:ea typeface="华文楷体" pitchFamily="2" charset="-122"/>
                <a:cs typeface="Times New Roman" pitchFamily="18" charset="0"/>
              </a:rPr>
              <a:t>true,</a:t>
            </a:r>
            <a:r>
              <a:rPr lang="zh-CN" altLang="zh-CN" sz="2400" dirty="0">
                <a:latin typeface="Times New Roman" pitchFamily="18" charset="0"/>
                <a:ea typeface="华文楷体" pitchFamily="2" charset="-122"/>
                <a:cs typeface="Times New Roman" pitchFamily="18" charset="0"/>
              </a:rPr>
              <a:t>否则返回</a:t>
            </a:r>
            <a:r>
              <a:rPr lang="en-US" altLang="zh-CN" sz="2400" dirty="0">
                <a:latin typeface="Times New Roman" pitchFamily="18" charset="0"/>
                <a:ea typeface="华文楷体" pitchFamily="2" charset="-122"/>
                <a:cs typeface="Times New Roman" pitchFamily="18" charset="0"/>
              </a:rPr>
              <a:t>false</a:t>
            </a:r>
            <a:r>
              <a:rPr lang="zh-CN"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bool </a:t>
            </a:r>
            <a:r>
              <a:rPr lang="en-US" altLang="zh-CN" sz="2400" dirty="0" err="1">
                <a:latin typeface="Times New Roman" pitchFamily="18" charset="0"/>
                <a:ea typeface="华文楷体" pitchFamily="2" charset="-122"/>
                <a:cs typeface="Times New Roman" pitchFamily="18" charset="0"/>
              </a:rPr>
              <a:t>isFull</a:t>
            </a:r>
            <a:r>
              <a:rPr lang="en-US" altLang="zh-CN" sz="2400" dirty="0">
                <a:latin typeface="Times New Roman" pitchFamily="18" charset="0"/>
                <a:ea typeface="华文楷体" pitchFamily="2" charset="-122"/>
                <a:cs typeface="Times New Roman" pitchFamily="18" charset="0"/>
              </a:rPr>
              <a:t>(){ return false; }; //</a:t>
            </a:r>
            <a:r>
              <a:rPr lang="zh-CN" altLang="zh-CN" sz="2400" dirty="0">
                <a:latin typeface="Times New Roman" pitchFamily="18" charset="0"/>
                <a:ea typeface="华文楷体" pitchFamily="2" charset="-122"/>
                <a:cs typeface="Times New Roman" pitchFamily="18" charset="0"/>
              </a:rPr>
              <a:t>栈满</a:t>
            </a:r>
            <a:r>
              <a:rPr lang="en-US" altLang="zh-CN" sz="2400" dirty="0">
                <a:latin typeface="Times New Roman" pitchFamily="18" charset="0"/>
                <a:ea typeface="华文楷体" pitchFamily="2" charset="-122"/>
                <a:cs typeface="Times New Roman" pitchFamily="18" charset="0"/>
              </a:rPr>
              <a:t>true</a:t>
            </a:r>
            <a:r>
              <a:rPr lang="zh-CN" altLang="zh-CN" sz="2400" dirty="0">
                <a:latin typeface="Times New Roman" pitchFamily="18" charset="0"/>
                <a:ea typeface="华文楷体" pitchFamily="2" charset="-122"/>
                <a:cs typeface="Times New Roman" pitchFamily="18" charset="0"/>
              </a:rPr>
              <a:t>，否则</a:t>
            </a:r>
            <a:r>
              <a:rPr lang="en-US" altLang="zh-CN" sz="2400" dirty="0">
                <a:latin typeface="Times New Roman" pitchFamily="18" charset="0"/>
                <a:ea typeface="华文楷体" pitchFamily="2" charset="-122"/>
                <a:cs typeface="Times New Roman" pitchFamily="18" charset="0"/>
              </a:rPr>
              <a:t>false</a:t>
            </a:r>
            <a:r>
              <a:rPr lang="zh-CN" altLang="zh-CN" sz="2400" dirty="0">
                <a:latin typeface="Times New Roman" pitchFamily="18" charset="0"/>
                <a:ea typeface="华文楷体" pitchFamily="2" charset="-122"/>
                <a:cs typeface="Times New Roman" pitchFamily="18" charset="0"/>
              </a:rPr>
              <a:t>。结点空间不连续，故总能满足</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 top();</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void push(</a:t>
            </a:r>
            <a:r>
              <a:rPr lang="en-US" altLang="zh-CN" sz="2400" dirty="0" err="1">
                <a:latin typeface="Times New Roman" pitchFamily="18" charset="0"/>
                <a:ea typeface="华文楷体" pitchFamily="2" charset="-122"/>
                <a:cs typeface="Times New Roman" pitchFamily="18" charset="0"/>
              </a:rPr>
              <a:t>const</a:t>
            </a:r>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 &amp;e);</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void pop();</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linkStack</a:t>
            </a:r>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itchFamily="2" charset="-122"/>
                <a:ea typeface="华文楷体" pitchFamily="2" charset="-122"/>
              </a:rPr>
              <a:t>链式栈基本操作的实现</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14:cpLocks xmlns:a14="http://schemas.microsoft.com/office/drawing/2010/main" noChangeArrowheads="1"/>
          </p:cNvSpPr>
          <p:nvPr/>
        </p:nvSpPr>
        <p:spPr bwMode="auto">
          <a:xfrm>
            <a:off x="0" y="1625275"/>
            <a:ext cx="991925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r>
              <a:rPr lang="en-US" altLang="zh-CN" sz="2400" dirty="0">
                <a:latin typeface="Times New Roman" pitchFamily="18" charset="0"/>
                <a:ea typeface="华文楷体" pitchFamily="2" charset="-122"/>
                <a:cs typeface="Times New Roman" pitchFamily="18" charset="0"/>
              </a:rPr>
              <a:t>template &lt;class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a:t>
            </a:r>
            <a:endParaRPr lang="zh-CN" altLang="zh-CN" sz="2400" dirty="0">
              <a:latin typeface="Times New Roman" pitchFamily="18" charset="0"/>
              <a:ea typeface="华文楷体" pitchFamily="2" charset="-122"/>
              <a:cs typeface="Times New Roman" pitchFamily="18" charset="0"/>
            </a:endParaRPr>
          </a:p>
          <a:p>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linkStack</a:t>
            </a:r>
            <a:r>
              <a:rPr lang="en-US" altLang="zh-CN" sz="2400" dirty="0">
                <a:latin typeface="Times New Roman" pitchFamily="18" charset="0"/>
                <a:ea typeface="华文楷体" pitchFamily="2" charset="-122"/>
                <a:cs typeface="Times New Roman" pitchFamily="18" charset="0"/>
              </a:rPr>
              <a:t>&lt;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&gt;::top()</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if (!Top) throw </a:t>
            </a:r>
            <a:r>
              <a:rPr lang="en-US" altLang="zh-CN" sz="2400" dirty="0" err="1">
                <a:latin typeface="Times New Roman" pitchFamily="18" charset="0"/>
                <a:ea typeface="华文楷体" pitchFamily="2" charset="-122"/>
                <a:cs typeface="Times New Roman" pitchFamily="18" charset="0"/>
              </a:rPr>
              <a:t>outOfBound</a:t>
            </a:r>
            <a:r>
              <a:rPr lang="en-US" altLang="zh-CN" sz="2400" dirty="0">
                <a:latin typeface="Times New Roman" pitchFamily="18" charset="0"/>
                <a:ea typeface="华文楷体" pitchFamily="2" charset="-122"/>
                <a:cs typeface="Times New Roman" pitchFamily="18" charset="0"/>
              </a:rPr>
              <a:t>();//</a:t>
            </a:r>
            <a:r>
              <a:rPr lang="zh-CN" altLang="zh-CN" sz="2400" dirty="0">
                <a:latin typeface="Times New Roman" pitchFamily="18" charset="0"/>
                <a:ea typeface="华文楷体" pitchFamily="2" charset="-122"/>
                <a:cs typeface="Times New Roman" pitchFamily="18" charset="0"/>
              </a:rPr>
              <a:t>栈空</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return Top-&gt;data;</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template &lt;class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void </a:t>
            </a:r>
            <a:r>
              <a:rPr lang="en-US" altLang="zh-CN" sz="2400" dirty="0" err="1">
                <a:latin typeface="Times New Roman" pitchFamily="18" charset="0"/>
                <a:ea typeface="华文楷体" pitchFamily="2" charset="-122"/>
                <a:cs typeface="Times New Roman" pitchFamily="18" charset="0"/>
              </a:rPr>
              <a:t>linkStack</a:t>
            </a:r>
            <a:r>
              <a:rPr lang="en-US" altLang="zh-CN" sz="2400" dirty="0">
                <a:latin typeface="Times New Roman" pitchFamily="18" charset="0"/>
                <a:ea typeface="华文楷体" pitchFamily="2" charset="-122"/>
                <a:cs typeface="Times New Roman" pitchFamily="18" charset="0"/>
              </a:rPr>
              <a:t>&lt;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&gt;::push(</a:t>
            </a:r>
            <a:r>
              <a:rPr lang="en-US" altLang="zh-CN" sz="2400" dirty="0" err="1">
                <a:latin typeface="Times New Roman" pitchFamily="18" charset="0"/>
                <a:ea typeface="华文楷体" pitchFamily="2" charset="-122"/>
                <a:cs typeface="Times New Roman" pitchFamily="18" charset="0"/>
              </a:rPr>
              <a:t>const</a:t>
            </a:r>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 &amp;e)</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Top = new Node&lt;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&gt;(e, Top);  }</a:t>
            </a:r>
            <a:endParaRPr lang="zh-CN" altLang="zh-CN" sz="24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itchFamily="2" charset="-122"/>
                <a:ea typeface="华文楷体" pitchFamily="2" charset="-122"/>
              </a:rPr>
              <a:t>链式栈基本操作的实现</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14:cpLocks xmlns:a14="http://schemas.microsoft.com/office/drawing/2010/main" noChangeArrowheads="1"/>
          </p:cNvSpPr>
          <p:nvPr/>
        </p:nvSpPr>
        <p:spPr bwMode="auto">
          <a:xfrm>
            <a:off x="268406" y="1542247"/>
            <a:ext cx="991925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r>
              <a:rPr lang="en-US" altLang="zh-CN" sz="2400" dirty="0">
                <a:latin typeface="Times New Roman" pitchFamily="18" charset="0"/>
                <a:ea typeface="华文楷体" pitchFamily="2" charset="-122"/>
                <a:cs typeface="Times New Roman" pitchFamily="18" charset="0"/>
              </a:rPr>
              <a:t>template &lt;class </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void </a:t>
            </a:r>
            <a:r>
              <a:rPr lang="en-US" altLang="zh-CN" sz="2400" dirty="0" err="1">
                <a:latin typeface="Times New Roman" pitchFamily="18" charset="0"/>
                <a:ea typeface="华文楷体" pitchFamily="2" charset="-122"/>
                <a:cs typeface="Times New Roman" pitchFamily="18" charset="0"/>
              </a:rPr>
              <a:t>linkStack</a:t>
            </a:r>
            <a:r>
              <a:rPr lang="en-US" altLang="zh-CN" sz="2400" dirty="0">
                <a:latin typeface="Times New Roman" pitchFamily="18" charset="0"/>
                <a:ea typeface="华文楷体" pitchFamily="2" charset="-122"/>
                <a:cs typeface="Times New Roman" pitchFamily="18" charset="0"/>
              </a:rPr>
              <a:t>&lt;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&gt;::pop()</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Node&lt;</a:t>
            </a:r>
            <a:r>
              <a:rPr lang="en-US" altLang="zh-CN" sz="2400" dirty="0" err="1">
                <a:latin typeface="Times New Roman" pitchFamily="18" charset="0"/>
                <a:ea typeface="华文楷体" pitchFamily="2" charset="-122"/>
                <a:cs typeface="Times New Roman" pitchFamily="18" charset="0"/>
              </a:rPr>
              <a:t>elemType</a:t>
            </a:r>
            <a:r>
              <a:rPr lang="en-US" altLang="zh-CN" sz="2400" dirty="0">
                <a:latin typeface="Times New Roman" pitchFamily="18" charset="0"/>
                <a:ea typeface="华文楷体" pitchFamily="2" charset="-122"/>
                <a:cs typeface="Times New Roman" pitchFamily="18" charset="0"/>
              </a:rPr>
              <a:t>&gt; *</a:t>
            </a:r>
            <a:r>
              <a:rPr lang="en-US" altLang="zh-CN" sz="2400" dirty="0" err="1">
                <a:latin typeface="Times New Roman" pitchFamily="18" charset="0"/>
                <a:ea typeface="华文楷体" pitchFamily="2" charset="-122"/>
                <a:cs typeface="Times New Roman" pitchFamily="18" charset="0"/>
              </a:rPr>
              <a:t>tmp</a:t>
            </a:r>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if (!Top) throw </a:t>
            </a:r>
            <a:r>
              <a:rPr lang="en-US" altLang="zh-CN" sz="2400" dirty="0" err="1">
                <a:latin typeface="Times New Roman" pitchFamily="18" charset="0"/>
                <a:ea typeface="华文楷体" pitchFamily="2" charset="-122"/>
                <a:cs typeface="Times New Roman" pitchFamily="18" charset="0"/>
              </a:rPr>
              <a:t>outOfBound</a:t>
            </a:r>
            <a:r>
              <a:rPr lang="en-US" altLang="zh-CN" sz="2400" dirty="0">
                <a:latin typeface="Times New Roman" pitchFamily="18" charset="0"/>
                <a:ea typeface="华文楷体" pitchFamily="2" charset="-122"/>
                <a:cs typeface="Times New Roman" pitchFamily="18" charset="0"/>
              </a:rPr>
              <a:t>();//</a:t>
            </a:r>
            <a:r>
              <a:rPr lang="zh-CN" altLang="zh-CN" sz="2400" dirty="0">
                <a:latin typeface="Times New Roman" pitchFamily="18" charset="0"/>
                <a:ea typeface="华文楷体" pitchFamily="2" charset="-122"/>
                <a:cs typeface="Times New Roman" pitchFamily="18" charset="0"/>
              </a:rPr>
              <a:t>栈空</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r>
              <a:rPr lang="en-US" altLang="zh-CN" sz="2400" dirty="0" err="1">
                <a:latin typeface="Times New Roman" pitchFamily="18" charset="0"/>
                <a:ea typeface="华文楷体" pitchFamily="2" charset="-122"/>
                <a:cs typeface="Times New Roman" pitchFamily="18" charset="0"/>
              </a:rPr>
              <a:t>tmp</a:t>
            </a:r>
            <a:r>
              <a:rPr lang="en-US" altLang="zh-CN" sz="2400" dirty="0">
                <a:latin typeface="Times New Roman" pitchFamily="18" charset="0"/>
                <a:ea typeface="华文楷体" pitchFamily="2" charset="-122"/>
                <a:cs typeface="Times New Roman" pitchFamily="18" charset="0"/>
              </a:rPr>
              <a:t> = Top; //</a:t>
            </a:r>
            <a:r>
              <a:rPr lang="zh-CN" altLang="zh-CN" sz="2400" dirty="0">
                <a:latin typeface="Times New Roman" pitchFamily="18" charset="0"/>
                <a:ea typeface="华文楷体" pitchFamily="2" charset="-122"/>
                <a:cs typeface="Times New Roman" pitchFamily="18" charset="0"/>
              </a:rPr>
              <a:t>用</a:t>
            </a:r>
            <a:r>
              <a:rPr lang="en-US" altLang="zh-CN" sz="2400" dirty="0" err="1">
                <a:latin typeface="Times New Roman" pitchFamily="18" charset="0"/>
                <a:ea typeface="华文楷体" pitchFamily="2" charset="-122"/>
                <a:cs typeface="Times New Roman" pitchFamily="18" charset="0"/>
              </a:rPr>
              <a:t>tmp</a:t>
            </a:r>
            <a:r>
              <a:rPr lang="zh-CN" altLang="zh-CN" sz="2400" dirty="0">
                <a:latin typeface="Times New Roman" pitchFamily="18" charset="0"/>
                <a:ea typeface="华文楷体" pitchFamily="2" charset="-122"/>
                <a:cs typeface="Times New Roman" pitchFamily="18" charset="0"/>
              </a:rPr>
              <a:t>记住原栈顶结点空间，用于弹栈后的空间释放</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Top = Top-&gt;next; //</a:t>
            </a:r>
            <a:r>
              <a:rPr lang="zh-CN" altLang="zh-CN" sz="2400" dirty="0">
                <a:latin typeface="Times New Roman" pitchFamily="18" charset="0"/>
                <a:ea typeface="华文楷体" pitchFamily="2" charset="-122"/>
                <a:cs typeface="Times New Roman" pitchFamily="18" charset="0"/>
              </a:rPr>
              <a:t>实际将栈顶结点弹出栈</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    delete </a:t>
            </a:r>
            <a:r>
              <a:rPr lang="en-US" altLang="zh-CN" sz="2400" dirty="0" err="1">
                <a:latin typeface="Times New Roman" pitchFamily="18" charset="0"/>
                <a:ea typeface="华文楷体" pitchFamily="2" charset="-122"/>
                <a:cs typeface="Times New Roman" pitchFamily="18" charset="0"/>
              </a:rPr>
              <a:t>tmp</a:t>
            </a:r>
            <a:r>
              <a:rPr lang="en-US" altLang="zh-CN" sz="2400" dirty="0">
                <a:latin typeface="Times New Roman" pitchFamily="18" charset="0"/>
                <a:ea typeface="华文楷体" pitchFamily="2" charset="-122"/>
                <a:cs typeface="Times New Roman" pitchFamily="18" charset="0"/>
              </a:rPr>
              <a:t>;//</a:t>
            </a:r>
            <a:r>
              <a:rPr lang="zh-CN" altLang="zh-CN" sz="2400" dirty="0">
                <a:latin typeface="Times New Roman" pitchFamily="18" charset="0"/>
                <a:ea typeface="华文楷体" pitchFamily="2" charset="-122"/>
                <a:cs typeface="Times New Roman" pitchFamily="18" charset="0"/>
              </a:rPr>
              <a:t>释放原栈顶结点空间</a:t>
            </a:r>
            <a:endParaRPr lang="zh-CN" altLang="zh-CN" sz="2400" dirty="0">
              <a:latin typeface="Times New Roman" pitchFamily="18" charset="0"/>
              <a:ea typeface="华文楷体" pitchFamily="2" charset="-122"/>
              <a:cs typeface="Times New Roman" pitchFamily="18" charset="0"/>
            </a:endParaRPr>
          </a:p>
          <a:p>
            <a:r>
              <a:rPr lang="en-US" altLang="zh-CN" sz="2400" dirty="0">
                <a:latin typeface="Times New Roman" pitchFamily="18" charset="0"/>
                <a:ea typeface="华文楷体" pitchFamily="2" charset="-122"/>
                <a:cs typeface="Times New Roman" pitchFamily="18" charset="0"/>
              </a:rPr>
              <a:t>}</a:t>
            </a:r>
            <a:endParaRPr lang="zh-CN" altLang="zh-CN" sz="2400" dirty="0">
              <a:latin typeface="Times New Roman" pitchFamily="18" charset="0"/>
              <a:ea typeface="华文楷体" pitchFamily="2" charset="-122"/>
              <a:cs typeface="Times New Roman" pitchFamily="18" charset="0"/>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68406" y="754146"/>
            <a:ext cx="7305212" cy="574183"/>
          </a:xfrm>
        </p:spPr>
        <p:txBody>
          <a:bodyPr/>
          <a:lstStyle/>
          <a:p>
            <a:pPr marL="838200" indent="-838200">
              <a:defRPr/>
            </a:pPr>
            <a:r>
              <a:rPr lang="zh-CN" altLang="en-US" dirty="0">
                <a:latin typeface="华文楷体" pitchFamily="2" charset="-122"/>
                <a:ea typeface="华文楷体" pitchFamily="2" charset="-122"/>
              </a:rPr>
              <a:t>链式栈基本操作的实现</a:t>
            </a:r>
            <a:endParaRPr lang="zh-CN" altLang="en-US" dirty="0">
              <a:latin typeface="华文楷体" pitchFamily="2" charset="-122"/>
              <a:ea typeface="华文楷体" pitchFamily="2" charset="-122"/>
            </a:endParaRPr>
          </a:p>
        </p:txBody>
      </p:sp>
      <p:sp>
        <p:nvSpPr>
          <p:cNvPr id="2" name="Rectangle 2"/>
          <p:cNvSpPr>
            <a14:cpLocks xmlns:a14="http://schemas.microsoft.com/office/drawing/2010/main"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3"/>
          <p:cNvSpPr>
            <a14:cpLocks xmlns:a14="http://schemas.microsoft.com/office/drawing/2010/main" noChangeArrowheads="1"/>
          </p:cNvSpPr>
          <p:nvPr/>
        </p:nvSpPr>
        <p:spPr bwMode="auto">
          <a:xfrm>
            <a:off x="0" y="1625275"/>
            <a:ext cx="991925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269875" eaLnBrk="0" fontAlgn="base" hangingPunct="0">
              <a:spcBef>
                <a:spcPct val="0"/>
              </a:spcBef>
              <a:spcAft>
                <a:spcPct val="0"/>
              </a:spcAft>
              <a:defRPr>
                <a:solidFill>
                  <a:schemeClr val="tx1"/>
                </a:solidFill>
                <a:latin typeface="Arial" charset="0"/>
              </a:defRPr>
            </a:lvl1pPr>
            <a:lvl2pPr eaLnBrk="0" fontAlgn="base" hangingPunct="0">
              <a:spcBef>
                <a:spcPct val="0"/>
              </a:spcBef>
              <a:spcAft>
                <a:spcPct val="0"/>
              </a:spcAft>
              <a:defRPr>
                <a:solidFill>
                  <a:schemeClr val="tx1"/>
                </a:solidFill>
                <a:latin typeface="Arial" charset="0"/>
              </a:defRPr>
            </a:lvl2pPr>
            <a:lvl3pPr eaLnBrk="0" fontAlgn="base" hangingPunct="0">
              <a:spcBef>
                <a:spcPct val="0"/>
              </a:spcBef>
              <a:spcAft>
                <a:spcPct val="0"/>
              </a:spcAft>
              <a:defRPr>
                <a:solidFill>
                  <a:schemeClr val="tx1"/>
                </a:solidFill>
                <a:latin typeface="Arial" charset="0"/>
              </a:defRPr>
            </a:lvl3pPr>
            <a:lvl4pPr eaLnBrk="0" fontAlgn="base" hangingPunct="0">
              <a:spcBef>
                <a:spcPct val="0"/>
              </a:spcBef>
              <a:spcAft>
                <a:spcPct val="0"/>
              </a:spcAft>
              <a:defRPr>
                <a:solidFill>
                  <a:schemeClr val="tx1"/>
                </a:solidFill>
                <a:latin typeface="Arial" charset="0"/>
              </a:defRPr>
            </a:lvl4pPr>
            <a:lvl5pPr eaLnBrk="0" fontAlgn="base" hangingPunct="0">
              <a:spcBef>
                <a:spcPct val="0"/>
              </a:spcBef>
              <a:spcAft>
                <a:spcPct val="0"/>
              </a:spcAft>
              <a:defRPr>
                <a:solidFill>
                  <a:schemeClr val="tx1"/>
                </a:solidFill>
                <a:latin typeface="Arial" charset="0"/>
              </a:defRPr>
            </a:lvl5pPr>
            <a:lvl6pPr eaLnBrk="0" fontAlgn="base" hangingPunct="0">
              <a:spcBef>
                <a:spcPct val="0"/>
              </a:spcBef>
              <a:spcAft>
                <a:spcPct val="0"/>
              </a:spcAft>
              <a:defRPr>
                <a:solidFill>
                  <a:schemeClr val="tx1"/>
                </a:solidFill>
                <a:latin typeface="Arial" charset="0"/>
              </a:defRPr>
            </a:lvl6pPr>
            <a:lvl7pPr eaLnBrk="0" fontAlgn="base" hangingPunct="0">
              <a:spcBef>
                <a:spcPct val="0"/>
              </a:spcBef>
              <a:spcAft>
                <a:spcPct val="0"/>
              </a:spcAft>
              <a:defRPr>
                <a:solidFill>
                  <a:schemeClr val="tx1"/>
                </a:solidFill>
                <a:latin typeface="Arial" charset="0"/>
              </a:defRPr>
            </a:lvl7pPr>
            <a:lvl8pPr eaLnBrk="0" fontAlgn="base" hangingPunct="0">
              <a:spcBef>
                <a:spcPct val="0"/>
              </a:spcBef>
              <a:spcAft>
                <a:spcPct val="0"/>
              </a:spcAft>
              <a:defRPr>
                <a:solidFill>
                  <a:schemeClr val="tx1"/>
                </a:solidFill>
                <a:latin typeface="Arial" charset="0"/>
              </a:defRPr>
            </a:lvl8pPr>
            <a:lvl9pPr eaLnBrk="0" fontAlgn="base" hangingPunct="0">
              <a:spcBef>
                <a:spcPct val="0"/>
              </a:spcBef>
              <a:spcAft>
                <a:spcPct val="0"/>
              </a:spcAft>
              <a:defRPr>
                <a:solidFill>
                  <a:schemeClr val="tx1"/>
                </a:solidFill>
                <a:latin typeface="Arial" charset="0"/>
              </a:defRPr>
            </a:lvl9pPr>
          </a:lstStyle>
          <a:p>
            <a:r>
              <a:rPr lang="en-US" altLang="zh-CN" sz="2400" dirty="0">
                <a:latin typeface="Times New Roman" pitchFamily="18" charset="0"/>
                <a:cs typeface="Times New Roman" pitchFamily="18" charset="0"/>
              </a:rPr>
              <a:t>template &lt;class </a:t>
            </a:r>
            <a:r>
              <a:rPr lang="en-US" altLang="zh-CN" sz="2400" dirty="0" err="1">
                <a:latin typeface="Times New Roman" pitchFamily="18" charset="0"/>
                <a:cs typeface="Times New Roman" pitchFamily="18" charset="0"/>
              </a:rPr>
              <a:t>elemType</a:t>
            </a:r>
            <a:r>
              <a:rPr lang="en-US" altLang="zh-CN" sz="2400" dirty="0">
                <a:latin typeface="Times New Roman" pitchFamily="18" charset="0"/>
                <a:cs typeface="Times New Roman" pitchFamily="18" charset="0"/>
              </a:rPr>
              <a:t>&gt;</a:t>
            </a:r>
            <a:endParaRPr lang="zh-CN" altLang="zh-CN" sz="2400" dirty="0">
              <a:latin typeface="Times New Roman" pitchFamily="18" charset="0"/>
              <a:cs typeface="Times New Roman" pitchFamily="18" charset="0"/>
            </a:endParaRPr>
          </a:p>
          <a:p>
            <a:r>
              <a:rPr lang="en-US" altLang="zh-CN" sz="2400" dirty="0" err="1">
                <a:latin typeface="Times New Roman" pitchFamily="18" charset="0"/>
                <a:cs typeface="Times New Roman" pitchFamily="18" charset="0"/>
              </a:rPr>
              <a:t>linkStack</a:t>
            </a:r>
            <a:r>
              <a:rPr lang="en-US" altLang="zh-CN" sz="2400" dirty="0">
                <a:latin typeface="Times New Roman" pitchFamily="18" charset="0"/>
                <a:cs typeface="Times New Roman" pitchFamily="18" charset="0"/>
              </a:rPr>
              <a:t>&lt;</a:t>
            </a:r>
            <a:r>
              <a:rPr lang="en-US" altLang="zh-CN" sz="2400" dirty="0" err="1">
                <a:latin typeface="Times New Roman" pitchFamily="18" charset="0"/>
                <a:cs typeface="Times New Roman" pitchFamily="18" charset="0"/>
              </a:rPr>
              <a:t>elemType</a:t>
            </a:r>
            <a:r>
              <a:rPr lang="en-US" altLang="zh-CN" sz="2400" dirty="0">
                <a:latin typeface="Times New Roman" pitchFamily="18" charset="0"/>
                <a:cs typeface="Times New Roman" pitchFamily="18" charset="0"/>
              </a:rPr>
              <a:t>&gt;::~</a:t>
            </a:r>
            <a:r>
              <a:rPr lang="en-US" altLang="zh-CN" sz="2400" dirty="0" err="1">
                <a:latin typeface="Times New Roman" pitchFamily="18" charset="0"/>
                <a:cs typeface="Times New Roman" pitchFamily="18" charset="0"/>
              </a:rPr>
              <a:t>linkStack</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Node&lt;</a:t>
            </a:r>
            <a:r>
              <a:rPr lang="en-US" altLang="zh-CN" sz="2400" dirty="0" err="1">
                <a:latin typeface="Times New Roman" pitchFamily="18" charset="0"/>
                <a:cs typeface="Times New Roman" pitchFamily="18" charset="0"/>
              </a:rPr>
              <a:t>elemType</a:t>
            </a:r>
            <a:r>
              <a:rPr lang="en-US" altLang="zh-CN" sz="2400" dirty="0">
                <a:latin typeface="Times New Roman" pitchFamily="18" charset="0"/>
                <a:cs typeface="Times New Roman" pitchFamily="18" charset="0"/>
              </a:rPr>
              <a:t>&gt; *</a:t>
            </a:r>
            <a:r>
              <a:rPr lang="en-US" altLang="zh-CN" sz="2400" dirty="0" err="1">
                <a:latin typeface="Times New Roman" pitchFamily="18" charset="0"/>
                <a:cs typeface="Times New Roman" pitchFamily="18" charset="0"/>
              </a:rPr>
              <a:t>tmp</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while (Top)</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a:t>
            </a:r>
            <a:r>
              <a:rPr lang="en-US" altLang="zh-CN" sz="2400" dirty="0" err="1">
                <a:latin typeface="Times New Roman" pitchFamily="18" charset="0"/>
                <a:cs typeface="Times New Roman" pitchFamily="18" charset="0"/>
              </a:rPr>
              <a:t>tmp</a:t>
            </a:r>
            <a:r>
              <a:rPr lang="en-US" altLang="zh-CN" sz="2400" dirty="0">
                <a:latin typeface="Times New Roman" pitchFamily="18" charset="0"/>
                <a:cs typeface="Times New Roman" pitchFamily="18" charset="0"/>
              </a:rPr>
              <a:t> = Top;</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Top=Top-&gt;next;</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delete </a:t>
            </a:r>
            <a:r>
              <a:rPr lang="en-US" altLang="zh-CN" sz="2400" dirty="0" err="1">
                <a:latin typeface="Times New Roman" pitchFamily="18" charset="0"/>
                <a:cs typeface="Times New Roman" pitchFamily="18" charset="0"/>
              </a:rPr>
              <a:t>tmp</a:t>
            </a:r>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    }</a:t>
            </a:r>
            <a:endParaRPr lang="zh-CN" altLang="zh-CN" sz="2400" dirty="0">
              <a:latin typeface="Times New Roman" pitchFamily="18" charset="0"/>
              <a:cs typeface="Times New Roman" pitchFamily="18" charset="0"/>
            </a:endParaRPr>
          </a:p>
          <a:p>
            <a:r>
              <a:rPr lang="en-US" altLang="zh-CN" sz="2400" dirty="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705604"/>
            <a:ext cx="11903716" cy="4556049"/>
          </a:xfrm>
        </p:spPr>
        <p:txBody>
          <a:bodyPr>
            <a:normAutofit/>
          </a:bodyPr>
          <a:lstStyle/>
          <a:p>
            <a:pPr>
              <a:buFont typeface="Wingdings" charset="2"/>
              <a:buChar char="Ø"/>
            </a:pPr>
            <a:r>
              <a:rPr lang="zh-CN" altLang="zh-CN" sz="2800" b="0" dirty="0">
                <a:ea typeface="华文楷体" pitchFamily="2" charset="-122"/>
                <a:cs typeface="Times New Roman" pitchFamily="18" charset="0"/>
              </a:rPr>
              <a:t>析构函数将栈中的所有结点清除，</a:t>
            </a:r>
            <a:r>
              <a:rPr lang="zh-CN" altLang="en-US" sz="2800" b="0" dirty="0">
                <a:ea typeface="华文楷体" pitchFamily="2" charset="-122"/>
                <a:cs typeface="Times New Roman" pitchFamily="18" charset="0"/>
              </a:rPr>
              <a:t>空间回收，</a:t>
            </a:r>
            <a:r>
              <a:rPr lang="zh-CN" altLang="zh-CN" sz="2800" b="0" dirty="0">
                <a:ea typeface="华文楷体" pitchFamily="2" charset="-122"/>
                <a:cs typeface="Times New Roman" pitchFamily="18" charset="0"/>
              </a:rPr>
              <a:t>时间复杂度为</a:t>
            </a:r>
            <a:r>
              <a:rPr lang="en-US" altLang="zh-CN" sz="2800" b="0" dirty="0">
                <a:ea typeface="华文楷体" pitchFamily="2" charset="-122"/>
                <a:cs typeface="Times New Roman" pitchFamily="18" charset="0"/>
              </a:rPr>
              <a:t>O(n)</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构造函数、</a:t>
            </a:r>
            <a:r>
              <a:rPr lang="en-US" altLang="zh-CN" sz="2800" b="0" dirty="0" err="1">
                <a:ea typeface="华文楷体" pitchFamily="2" charset="-122"/>
                <a:cs typeface="Times New Roman" pitchFamily="18" charset="0"/>
              </a:rPr>
              <a:t>isEmpty</a:t>
            </a:r>
            <a:r>
              <a:rPr lang="zh-CN" altLang="zh-CN" sz="2800" b="0" dirty="0">
                <a:ea typeface="华文楷体" pitchFamily="2" charset="-122"/>
                <a:cs typeface="Times New Roman" pitchFamily="18" charset="0"/>
              </a:rPr>
              <a:t>、</a:t>
            </a:r>
            <a:r>
              <a:rPr lang="en-US" altLang="zh-CN" sz="2800" b="0" dirty="0" err="1">
                <a:ea typeface="华文楷体" pitchFamily="2" charset="-122"/>
                <a:cs typeface="Times New Roman" pitchFamily="18" charset="0"/>
              </a:rPr>
              <a:t>isFull</a:t>
            </a:r>
            <a:r>
              <a:rPr lang="zh-CN" altLang="zh-CN"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top</a:t>
            </a:r>
            <a:r>
              <a:rPr lang="zh-CN" altLang="zh-CN"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push</a:t>
            </a:r>
            <a:r>
              <a:rPr lang="zh-CN" altLang="zh-CN"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pop</a:t>
            </a:r>
            <a:r>
              <a:rPr lang="zh-CN" altLang="zh-CN" sz="2800" b="0" dirty="0">
                <a:ea typeface="华文楷体" pitchFamily="2" charset="-122"/>
                <a:cs typeface="Times New Roman" pitchFamily="18" charset="0"/>
              </a:rPr>
              <a:t>的时间复杂度均为</a:t>
            </a:r>
            <a:r>
              <a:rPr lang="en-US" altLang="zh-CN" sz="2800" b="0" dirty="0">
                <a:ea typeface="华文楷体" pitchFamily="2" charset="-122"/>
                <a:cs typeface="Times New Roman" pitchFamily="18" charset="0"/>
              </a:rPr>
              <a:t>O(1)</a:t>
            </a:r>
            <a:r>
              <a:rPr lang="zh-CN"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链式栈性能分析：</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栈的应用</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341246" y="2213206"/>
            <a:ext cx="3941876" cy="3251089"/>
          </a:xfrm>
        </p:spPr>
        <p:txBody>
          <a:bodyPr>
            <a:noAutofit/>
          </a:bodyPr>
          <a:lstStyle/>
          <a:p>
            <a:pPr marL="0" indent="0">
              <a:lnSpc>
                <a:spcPct val="115000"/>
              </a:lnSpc>
              <a:buNone/>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函数调用</a:t>
            </a:r>
            <a:endParaRPr lang="en-US" altLang="zh-CN" sz="2800" dirty="0">
              <a:solidFill>
                <a:srgbClr val="FF0000"/>
              </a:solidFill>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括号匹配</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表达式计算</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2" name="文本框 1"/>
          <p:cNvSpPr txBox="1"/>
          <p:nvPr/>
        </p:nvSpPr>
        <p:spPr>
          <a:xfrm>
            <a:off x="7469312" y="5048796"/>
            <a:ext cx="4161034" cy="830997"/>
          </a:xfrm>
          <a:prstGeom prst="rect">
            <a:avLst/>
          </a:prstGeom>
          <a:noFill/>
        </p:spPr>
        <p:txBody>
          <a:bodyPr wrap="square" rtlCol="0">
            <a:spAutoFit/>
          </a:bodyPr>
          <a:lstStyle/>
          <a:p>
            <a:r>
              <a:rPr lang="zh-CN" altLang="en-US" sz="2400" dirty="0">
                <a:solidFill>
                  <a:schemeClr val="accent2"/>
                </a:solidFill>
              </a:rPr>
              <a:t>函数的调用和返回</a:t>
            </a:r>
            <a:endParaRPr lang="en-US" altLang="zh-CN" sz="2400" dirty="0">
              <a:solidFill>
                <a:schemeClr val="accent2"/>
              </a:solidFill>
            </a:endParaRPr>
          </a:p>
          <a:p>
            <a:r>
              <a:rPr lang="zh-CN" altLang="en-US" sz="2400" dirty="0">
                <a:solidFill>
                  <a:schemeClr val="accent2"/>
                </a:solidFill>
              </a:rPr>
              <a:t>递归示例</a:t>
            </a:r>
            <a:endParaRPr lang="zh-CN" altLang="en-US" sz="2400" dirty="0">
              <a:solidFill>
                <a:schemeClr val="accent2"/>
              </a:solidFill>
            </a:endParaRPr>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341246" y="2213206"/>
            <a:ext cx="3941876" cy="3251089"/>
          </a:xfrm>
        </p:spPr>
        <p:txBody>
          <a:bodyPr>
            <a:noAutofit/>
          </a:bodyPr>
          <a:lstStyle/>
          <a:p>
            <a:pPr marL="0" indent="0">
              <a:lnSpc>
                <a:spcPct val="115000"/>
              </a:lnSpc>
              <a:buNone/>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函数调用</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括号匹配</a:t>
            </a:r>
            <a:endParaRPr lang="en-US" altLang="zh-CN" sz="2800" dirty="0">
              <a:solidFill>
                <a:srgbClr val="FF0000"/>
              </a:solidFill>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表达式计算</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40647" y="1558862"/>
            <a:ext cx="11162883" cy="1601781"/>
          </a:xfrm>
        </p:spPr>
        <p:txBody>
          <a:bodyPr>
            <a:normAutofit/>
          </a:bodyPr>
          <a:lstStyle/>
          <a:p>
            <a:pPr>
              <a:buFont typeface="Wingdings" charset="2"/>
              <a:buChar char="Ø"/>
            </a:pPr>
            <a:r>
              <a:rPr lang="zh-CN" altLang="en-US" b="0" dirty="0">
                <a:latin typeface="华文楷体" pitchFamily="2" charset="-122"/>
                <a:ea typeface="华文楷体" pitchFamily="2" charset="-122"/>
              </a:rPr>
              <a:t>编译器做</a:t>
            </a:r>
            <a:r>
              <a:rPr lang="zh-CN" altLang="zh-CN" b="0" dirty="0">
                <a:latin typeface="华文楷体" pitchFamily="2" charset="-122"/>
                <a:ea typeface="华文楷体" pitchFamily="2" charset="-122"/>
              </a:rPr>
              <a:t>语法检查的任务之一是检查符号是否配对，最简单的符号匹配问题是括号是否匹配，如开括号</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及</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后面必须依次跟随相应的闭括号</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及</a:t>
            </a:r>
            <a:r>
              <a:rPr lang="en-US" altLang="zh-CN" b="0" dirty="0">
                <a:latin typeface="华文楷体" pitchFamily="2" charset="-122"/>
                <a:ea typeface="华文楷体" pitchFamily="2" charset="-122"/>
              </a:rPr>
              <a:t> )</a:t>
            </a:r>
            <a:r>
              <a:rPr lang="zh-CN" altLang="zh-CN" b="0" dirty="0">
                <a:latin typeface="华文楷体" pitchFamily="2" charset="-122"/>
                <a:ea typeface="华文楷体" pitchFamily="2" charset="-122"/>
              </a:rPr>
              <a:t>。</a:t>
            </a:r>
            <a:endParaRPr lang="en-US" altLang="zh-CN" b="0" dirty="0">
              <a:latin typeface="华文楷体" pitchFamily="2" charset="-122"/>
              <a:ea typeface="华文楷体" pitchFamily="2" charset="-122"/>
            </a:endParaRPr>
          </a:p>
          <a:p>
            <a:pPr>
              <a:buFont typeface="Wingdings" charset="2"/>
              <a:buChar char="Ø"/>
            </a:pPr>
            <a:r>
              <a:rPr lang="zh-CN" altLang="zh-CN" b="0" dirty="0">
                <a:latin typeface="华文楷体" pitchFamily="2" charset="-122"/>
                <a:ea typeface="华文楷体" pitchFamily="2" charset="-122"/>
              </a:rPr>
              <a:t>如下段程序中的括号、引号是否匹配。</a:t>
            </a:r>
            <a:endParaRPr lang="zh-CN" altLang="zh-CN"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24093" y="774024"/>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括号配对：</a:t>
            </a:r>
            <a:endParaRPr lang="zh-CN" altLang="en-US" dirty="0">
              <a:latin typeface="华文楷体" pitchFamily="2" charset="-122"/>
              <a:ea typeface="华文楷体" pitchFamily="2" charset="-122"/>
            </a:endParaRPr>
          </a:p>
        </p:txBody>
      </p:sp>
      <p:sp>
        <p:nvSpPr>
          <p:cNvPr id="2" name="文本框 1"/>
          <p:cNvSpPr txBox="1"/>
          <p:nvPr/>
        </p:nvSpPr>
        <p:spPr>
          <a:xfrm>
            <a:off x="644411" y="3160643"/>
            <a:ext cx="9442174" cy="3816429"/>
          </a:xfrm>
          <a:prstGeom prst="rect">
            <a:avLst/>
          </a:prstGeom>
          <a:noFill/>
        </p:spPr>
        <p:txBody>
          <a:bodyPr wrap="square" rtlCol="0">
            <a:spAutoFit/>
          </a:bodyPr>
          <a:lstStyle/>
          <a:p>
            <a:r>
              <a:rPr lang="en-US" altLang="zh-CN" sz="2800" dirty="0" err="1">
                <a:latin typeface="Times New Roman" pitchFamily="18" charset="0"/>
                <a:cs typeface="Times New Roman" pitchFamily="18" charset="0"/>
              </a:rPr>
              <a:t>int</a:t>
            </a:r>
            <a:r>
              <a:rPr lang="en-US" altLang="zh-CN" sz="2800" dirty="0">
                <a:latin typeface="Times New Roman" pitchFamily="18" charset="0"/>
                <a:cs typeface="Times New Roman" pitchFamily="18" charset="0"/>
              </a:rPr>
              <a:t> main()</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int</a:t>
            </a:r>
            <a:r>
              <a:rPr lang="en-US" altLang="zh-CN" sz="2800" dirty="0">
                <a:latin typeface="Times New Roman" pitchFamily="18" charset="0"/>
                <a:cs typeface="Times New Roman" pitchFamily="18" charset="0"/>
              </a:rPr>
              <a:t> a[20], </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for (</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=0; </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&lt;20; </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   a[</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]=3*(19-i)/5*(12-6);</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cout</a:t>
            </a:r>
            <a:r>
              <a:rPr lang="en-US" altLang="zh-CN" sz="2800" dirty="0">
                <a:latin typeface="Times New Roman" pitchFamily="18" charset="0"/>
                <a:cs typeface="Times New Roman" pitchFamily="18" charset="0"/>
              </a:rPr>
              <a:t>&lt;&lt;a[</a:t>
            </a:r>
            <a:r>
              <a:rPr lang="en-US" altLang="zh-CN" sz="2800" dirty="0" err="1">
                <a:latin typeface="Times New Roman" pitchFamily="18" charset="0"/>
                <a:cs typeface="Times New Roman" pitchFamily="18" charset="0"/>
              </a:rPr>
              <a:t>i</a:t>
            </a:r>
            <a:r>
              <a:rPr lang="en-US" altLang="zh-CN" sz="2800" dirty="0">
                <a:latin typeface="Times New Roman" pitchFamily="18" charset="0"/>
                <a:cs typeface="Times New Roman" pitchFamily="18" charset="0"/>
              </a:rPr>
              <a:t>]&lt;&lt;</a:t>
            </a:r>
            <a:r>
              <a:rPr lang="zh-CN" altLang="zh-CN"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/t</a:t>
            </a:r>
            <a:r>
              <a:rPr lang="zh-CN" altLang="zh-CN" sz="2800" dirty="0">
                <a:latin typeface="Times New Roman" pitchFamily="18" charset="0"/>
                <a:cs typeface="Times New Roman" pitchFamily="18" charset="0"/>
              </a:rPr>
              <a:t>’</a:t>
            </a:r>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     return 0;</a:t>
            </a:r>
            <a:endParaRPr lang="zh-CN" altLang="zh-CN" sz="2800" dirty="0">
              <a:latin typeface="Times New Roman" pitchFamily="18" charset="0"/>
              <a:cs typeface="Times New Roman" pitchFamily="18" charset="0"/>
            </a:endParaRPr>
          </a:p>
          <a:p>
            <a:r>
              <a:rPr lang="en-US" altLang="zh-CN" sz="2800" dirty="0">
                <a:latin typeface="Times New Roman" pitchFamily="18" charset="0"/>
                <a:cs typeface="Times New Roman" pitchFamily="18" charset="0"/>
              </a:rPr>
              <a:t>}</a:t>
            </a:r>
            <a:endParaRPr lang="zh-CN" altLang="zh-CN" sz="2800" dirty="0">
              <a:latin typeface="Times New Roman" pitchFamily="18" charset="0"/>
              <a:cs typeface="Times New Roman" pitchFamily="18" charset="0"/>
            </a:endParaRPr>
          </a:p>
          <a:p>
            <a:endParaRPr lang="zh-CN" altLang="en-US" sz="2000" dirty="0">
              <a:latin typeface="Times New Roman" pitchFamily="18" charset="0"/>
              <a:cs typeface="Times New Roman" pitchFamily="18" charset="0"/>
            </a:endParaRPr>
          </a:p>
        </p:txBody>
      </p:sp>
      <p:sp>
        <p:nvSpPr>
          <p:cNvPr id="4" name="文本框 3"/>
          <p:cNvSpPr txBox="1"/>
          <p:nvPr/>
        </p:nvSpPr>
        <p:spPr>
          <a:xfrm>
            <a:off x="7076661" y="3001617"/>
            <a:ext cx="4426869" cy="923330"/>
          </a:xfrm>
          <a:prstGeom prst="rect">
            <a:avLst/>
          </a:prstGeom>
          <a:noFill/>
        </p:spPr>
        <p:txBody>
          <a:bodyPr wrap="square" rtlCol="0">
            <a:spAutoFit/>
          </a:bodyPr>
          <a:lstStyle/>
          <a:p>
            <a:r>
              <a:rPr lang="en-US" altLang="zh-CN" dirty="0">
                <a:latin typeface="Times New Roman" pitchFamily="18" charset="0"/>
                <a:cs typeface="Times New Roman" pitchFamily="18" charset="0"/>
              </a:rPr>
              <a:t>3*(19-</a:t>
            </a:r>
            <a:r>
              <a:rPr lang="en-US" altLang="zh-CN" dirty="0" err="1">
                <a:latin typeface="Times New Roman" pitchFamily="18" charset="0"/>
                <a:cs typeface="Times New Roman" pitchFamily="18" charset="0"/>
              </a:rPr>
              <a:t>i</a:t>
            </a:r>
            <a:r>
              <a:rPr lang="en-US" altLang="zh-CN" dirty="0">
                <a:latin typeface="Times New Roman" pitchFamily="18" charset="0"/>
                <a:cs typeface="Times New Roman" pitchFamily="18" charset="0"/>
              </a:rPr>
              <a:t>)/5*(12-6))</a:t>
            </a:r>
            <a:endParaRPr lang="en-US" altLang="zh-CN" dirty="0">
              <a:latin typeface="Times New Roman" pitchFamily="18" charset="0"/>
              <a:cs typeface="Times New Roman" pitchFamily="18" charset="0"/>
            </a:endParaRPr>
          </a:p>
          <a:p>
            <a:endParaRPr lang="en-US" altLang="zh-CN" dirty="0">
              <a:latin typeface="Times New Roman" pitchFamily="18" charset="0"/>
              <a:cs typeface="Times New Roman" pitchFamily="18" charset="0"/>
            </a:endParaRPr>
          </a:p>
          <a:p>
            <a:r>
              <a:rPr lang="en-US" altLang="zh-CN" dirty="0">
                <a:latin typeface="Times New Roman" pitchFamily="18" charset="0"/>
                <a:cs typeface="Times New Roman" pitchFamily="18" charset="0"/>
              </a:rPr>
              <a:t>3*(19-</a:t>
            </a:r>
            <a:r>
              <a:rPr lang="en-US" altLang="zh-CN" dirty="0" err="1">
                <a:latin typeface="Times New Roman" pitchFamily="18" charset="0"/>
                <a:cs typeface="Times New Roman" pitchFamily="18" charset="0"/>
              </a:rPr>
              <a:t>i</a:t>
            </a:r>
            <a:r>
              <a:rPr lang="en-US" altLang="zh-CN" dirty="0">
                <a:latin typeface="Times New Roman" pitchFamily="18" charset="0"/>
                <a:cs typeface="Times New Roman" pitchFamily="18" charset="0"/>
              </a:rPr>
              <a:t>)/5*((12-6)</a:t>
            </a:r>
            <a:endParaRPr lang="zh-CN" altLang="en-US" dirty="0"/>
          </a:p>
        </p:txBody>
      </p:sp>
      <p:sp>
        <p:nvSpPr>
          <p:cNvPr id="3" name="文本框 2"/>
          <p:cNvSpPr txBox="1"/>
          <p:nvPr/>
        </p:nvSpPr>
        <p:spPr>
          <a:xfrm>
            <a:off x="8065213" y="5601763"/>
            <a:ext cx="3760342" cy="461665"/>
          </a:xfrm>
          <a:prstGeom prst="rect">
            <a:avLst/>
          </a:prstGeom>
          <a:noFill/>
        </p:spPr>
        <p:txBody>
          <a:bodyPr wrap="square" rtlCol="0">
            <a:spAutoFit/>
          </a:bodyPr>
          <a:lstStyle/>
          <a:p>
            <a:r>
              <a:rPr lang="zh-CN" altLang="en-US" sz="2400" dirty="0">
                <a:solidFill>
                  <a:schemeClr val="accent2"/>
                </a:solidFill>
              </a:rPr>
              <a:t>表达式用栈检查示例</a:t>
            </a:r>
            <a:endParaRPr lang="zh-CN" altLang="en-US" sz="2400" dirty="0">
              <a:solidFill>
                <a:schemeClr val="accent2"/>
              </a:solidFill>
            </a:endParaRPr>
          </a:p>
        </p:txBody>
      </p:sp>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4595805"/>
          </a:xfrm>
        </p:spPr>
        <p:txBody>
          <a:bodyPr>
            <a:normAutofit fontScale="85000" lnSpcReduction="20000"/>
          </a:bodyPr>
          <a:lstStyle/>
          <a:p>
            <a:pPr marL="514350" lvl="0" indent="-514350">
              <a:buFont typeface="+mj-lt"/>
              <a:buAutoNum type="arabicPeriod"/>
            </a:pPr>
            <a:r>
              <a:rPr lang="zh-CN" altLang="zh-CN" sz="2800" b="0" dirty="0">
                <a:latin typeface="华文楷体" pitchFamily="2" charset="-122"/>
                <a:ea typeface="华文楷体" pitchFamily="2" charset="-122"/>
              </a:rPr>
              <a:t>首先创建一个字符栈。</a:t>
            </a:r>
            <a:endParaRPr lang="zh-CN" altLang="zh-CN" sz="2800" b="0" dirty="0">
              <a:latin typeface="华文楷体" pitchFamily="2" charset="-122"/>
              <a:ea typeface="华文楷体" pitchFamily="2" charset="-122"/>
            </a:endParaRPr>
          </a:p>
          <a:p>
            <a:pPr marL="514350" lvl="0" indent="-514350">
              <a:buFont typeface="+mj-lt"/>
              <a:buAutoNum type="arabicPeriod"/>
            </a:pPr>
            <a:r>
              <a:rPr lang="zh-CN" altLang="zh-CN" sz="2800" b="0" dirty="0">
                <a:latin typeface="华文楷体" pitchFamily="2" charset="-122"/>
                <a:ea typeface="华文楷体" pitchFamily="2" charset="-122"/>
              </a:rPr>
              <a:t>从源程序中读入字符。</a:t>
            </a:r>
            <a:endParaRPr lang="en-US" altLang="zh-CN" sz="2800" b="0" dirty="0">
              <a:latin typeface="华文楷体" pitchFamily="2" charset="-122"/>
              <a:ea typeface="华文楷体" pitchFamily="2" charset="-122"/>
            </a:endParaRPr>
          </a:p>
          <a:p>
            <a:pPr marL="514350" indent="-514350">
              <a:buFont typeface="+mj-lt"/>
              <a:buAutoNum type="arabicPeriod"/>
            </a:pPr>
            <a:r>
              <a:rPr lang="zh-CN" altLang="en-US" sz="2800" b="0" dirty="0">
                <a:latin typeface="华文楷体" pitchFamily="2" charset="-122"/>
                <a:ea typeface="华文楷体" pitchFamily="2" charset="-122"/>
              </a:rPr>
              <a:t>如果字符为结束符，转向</a:t>
            </a:r>
            <a:r>
              <a:rPr lang="en-US" altLang="zh-CN" sz="2800" b="0">
                <a:latin typeface="华文楷体" pitchFamily="2" charset="-122"/>
                <a:ea typeface="华文楷体" pitchFamily="2" charset="-122"/>
              </a:rPr>
              <a:t>5</a:t>
            </a:r>
            <a:r>
              <a:rPr lang="zh-CN" altLang="en-US" sz="2800" b="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457200" lvl="1" indent="0">
              <a:buNone/>
            </a:pPr>
            <a:r>
              <a:rPr lang="zh-CN" altLang="zh-CN" sz="2400" b="0" dirty="0">
                <a:latin typeface="华文楷体" pitchFamily="2" charset="-122"/>
                <a:ea typeface="华文楷体" pitchFamily="2" charset="-122"/>
              </a:rPr>
              <a:t>如果读入的是开括号，将其进栈。</a:t>
            </a:r>
            <a:endParaRPr lang="zh-CN" altLang="zh-CN" sz="2400" b="0" dirty="0">
              <a:latin typeface="华文楷体" pitchFamily="2" charset="-122"/>
              <a:ea typeface="华文楷体" pitchFamily="2" charset="-122"/>
            </a:endParaRPr>
          </a:p>
          <a:p>
            <a:pPr marL="457200" lvl="1" indent="0">
              <a:buNone/>
            </a:pPr>
            <a:r>
              <a:rPr lang="zh-CN" altLang="zh-CN" sz="2400" b="0" dirty="0">
                <a:latin typeface="华文楷体" pitchFamily="2" charset="-122"/>
                <a:ea typeface="华文楷体" pitchFamily="2" charset="-122"/>
              </a:rPr>
              <a:t>如果读入的是闭括号但栈是空的，说明少开括号，报错并结束。</a:t>
            </a:r>
            <a:endParaRPr lang="zh-CN" altLang="zh-CN" sz="2400" b="0" dirty="0">
              <a:latin typeface="华文楷体" pitchFamily="2" charset="-122"/>
              <a:ea typeface="华文楷体" pitchFamily="2" charset="-122"/>
            </a:endParaRPr>
          </a:p>
          <a:p>
            <a:pPr marL="457200" lvl="1" indent="0">
              <a:buNone/>
            </a:pPr>
            <a:r>
              <a:rPr lang="zh-CN" altLang="zh-CN" sz="2400" b="0" dirty="0">
                <a:latin typeface="华文楷体" pitchFamily="2" charset="-122"/>
                <a:ea typeface="华文楷体" pitchFamily="2" charset="-122"/>
              </a:rPr>
              <a:t>如果读入的是闭括号但栈不空，将栈中的开括号出栈。如果出栈的开括号和读入的闭括号不是同种类型（如一个为小括号，一个为中括号），说明不匹配，报错并结束。</a:t>
            </a:r>
            <a:endParaRPr lang="zh-CN" altLang="zh-CN" sz="2400" b="0" dirty="0">
              <a:latin typeface="华文楷体" pitchFamily="2" charset="-122"/>
              <a:ea typeface="华文楷体" pitchFamily="2" charset="-122"/>
            </a:endParaRPr>
          </a:p>
          <a:p>
            <a:pPr marL="514350" lvl="0" indent="-514350">
              <a:buFont typeface="+mj-lt"/>
              <a:buAutoNum type="arabicPeriod"/>
            </a:pPr>
            <a:r>
              <a:rPr lang="zh-CN" altLang="zh-CN" sz="2800" b="0" dirty="0">
                <a:latin typeface="华文楷体" pitchFamily="2" charset="-122"/>
                <a:ea typeface="华文楷体" pitchFamily="2" charset="-122"/>
              </a:rPr>
              <a:t>继续从源程序中读入下一个符号，转向</a:t>
            </a:r>
            <a:r>
              <a:rPr lang="en-US" altLang="zh-CN" sz="2800" b="0" dirty="0">
                <a:latin typeface="华文楷体" pitchFamily="2" charset="-122"/>
                <a:ea typeface="华文楷体" pitchFamily="2" charset="-122"/>
              </a:rPr>
              <a:t>3)</a:t>
            </a:r>
            <a:r>
              <a:rPr lang="zh-CN" altLang="zh-CN" sz="2800" b="0" dirty="0">
                <a:latin typeface="华文楷体" pitchFamily="2" charset="-122"/>
                <a:ea typeface="华文楷体" pitchFamily="2" charset="-122"/>
              </a:rPr>
              <a:t> 。</a:t>
            </a:r>
            <a:endParaRPr lang="zh-CN" altLang="zh-CN" sz="2800" b="0" dirty="0">
              <a:latin typeface="华文楷体" pitchFamily="2" charset="-122"/>
              <a:ea typeface="华文楷体" pitchFamily="2" charset="-122"/>
            </a:endParaRPr>
          </a:p>
          <a:p>
            <a:pPr marL="514350" lvl="0" indent="-514350">
              <a:buFont typeface="+mj-lt"/>
              <a:buAutoNum type="arabicPeriod"/>
            </a:pPr>
            <a:r>
              <a:rPr lang="zh-CN" altLang="zh-CN" sz="2800" b="0" dirty="0">
                <a:latin typeface="华文楷体" pitchFamily="2" charset="-122"/>
                <a:ea typeface="华文楷体" pitchFamily="2" charset="-122"/>
              </a:rPr>
              <a:t>如果栈非空，说明开括号多了，报错并结束；</a:t>
            </a:r>
            <a:endParaRPr lang="zh-CN" altLang="zh-CN" sz="2800" b="0" dirty="0">
              <a:latin typeface="华文楷体" pitchFamily="2" charset="-122"/>
              <a:ea typeface="华文楷体" pitchFamily="2" charset="-122"/>
            </a:endParaRPr>
          </a:p>
          <a:p>
            <a:pPr marL="514350" indent="-514350">
              <a:buFont typeface="+mj-lt"/>
              <a:buAutoNum type="arabicPeriod"/>
            </a:pPr>
            <a:r>
              <a:rPr lang="zh-CN" altLang="zh-CN" sz="2800" b="0" dirty="0">
                <a:latin typeface="华文楷体" pitchFamily="2" charset="-122"/>
                <a:ea typeface="华文楷体" pitchFamily="2" charset="-122"/>
              </a:rPr>
              <a:t>否则括号配对成功，结束。</a:t>
            </a: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括号匹配算法：</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486942"/>
            <a:ext cx="11903716" cy="5192154"/>
          </a:xfrm>
        </p:spPr>
        <p:txBody>
          <a:bodyPr>
            <a:normAutofit fontScale="77500" lnSpcReduction="20000"/>
          </a:bodyPr>
          <a:lstStyle/>
          <a:p>
            <a:pPr marL="0" indent="0">
              <a:buNone/>
            </a:pPr>
            <a:r>
              <a:rPr lang="en-US" altLang="zh-CN" sz="2600" b="0" dirty="0">
                <a:cs typeface="Times New Roman" pitchFamily="18" charset="0"/>
              </a:rPr>
              <a:t>#include &lt;</a:t>
            </a:r>
            <a:r>
              <a:rPr lang="en-US" altLang="zh-CN" sz="2600" b="0" dirty="0" err="1">
                <a:cs typeface="Times New Roman" pitchFamily="18" charset="0"/>
              </a:rPr>
              <a:t>iostream</a:t>
            </a:r>
            <a:r>
              <a:rPr lang="en-US" altLang="zh-CN" sz="2600" b="0" dirty="0">
                <a:cs typeface="Times New Roman" pitchFamily="18" charset="0"/>
              </a:rPr>
              <a:t>&gt;</a:t>
            </a:r>
            <a:endParaRPr lang="zh-CN" altLang="zh-CN" sz="2600" b="0" dirty="0">
              <a:cs typeface="Times New Roman" pitchFamily="18" charset="0"/>
            </a:endParaRPr>
          </a:p>
          <a:p>
            <a:pPr marL="0" indent="0">
              <a:buNone/>
            </a:pPr>
            <a:r>
              <a:rPr lang="en-US" altLang="zh-CN" sz="2600" b="0" dirty="0">
                <a:cs typeface="Times New Roman" pitchFamily="18" charset="0"/>
              </a:rPr>
              <a:t>#include "</a:t>
            </a:r>
            <a:r>
              <a:rPr lang="en-US" altLang="zh-CN" sz="2600" b="0" dirty="0" err="1">
                <a:cs typeface="Times New Roman" pitchFamily="18" charset="0"/>
              </a:rPr>
              <a:t>linkStack.h</a:t>
            </a:r>
            <a:r>
              <a:rPr lang="en-US" altLang="zh-CN" sz="2600" b="0" dirty="0">
                <a:cs typeface="Times New Roman" pitchFamily="18" charset="0"/>
              </a:rPr>
              <a:t>"</a:t>
            </a:r>
            <a:endParaRPr lang="zh-CN" altLang="zh-CN" sz="2600" b="0" dirty="0">
              <a:cs typeface="Times New Roman" pitchFamily="18" charset="0"/>
            </a:endParaRPr>
          </a:p>
          <a:p>
            <a:pPr marL="0" indent="0">
              <a:buNone/>
            </a:pPr>
            <a:r>
              <a:rPr lang="en-US" altLang="zh-CN" sz="2600" b="0" dirty="0">
                <a:cs typeface="Times New Roman" pitchFamily="18" charset="0"/>
              </a:rPr>
              <a:t>using namespace </a:t>
            </a:r>
            <a:r>
              <a:rPr lang="en-US" altLang="zh-CN" sz="2600" b="0" dirty="0" err="1">
                <a:cs typeface="Times New Roman" pitchFamily="18" charset="0"/>
              </a:rPr>
              <a:t>std</a:t>
            </a:r>
            <a:r>
              <a:rPr lang="en-US" altLang="zh-CN" sz="2600" b="0" dirty="0">
                <a:cs typeface="Times New Roman" pitchFamily="18" charset="0"/>
              </a:rPr>
              <a:t>;</a:t>
            </a: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int</a:t>
            </a:r>
            <a:r>
              <a:rPr lang="en-US" altLang="zh-CN" sz="2600" b="0" dirty="0">
                <a:cs typeface="Times New Roman" pitchFamily="18" charset="0"/>
              </a:rPr>
              <a:t> main()</a:t>
            </a:r>
            <a:endParaRPr lang="zh-CN" altLang="zh-CN" sz="2600" b="0" dirty="0">
              <a:cs typeface="Times New Roman" pitchFamily="18" charset="0"/>
            </a:endParaRPr>
          </a:p>
          <a:p>
            <a:pPr marL="0" indent="0">
              <a:buNone/>
            </a:pPr>
            <a:r>
              <a:rPr lang="en-US" altLang="zh-CN" sz="2600" b="0" dirty="0">
                <a:cs typeface="Times New Roman" pitchFamily="18" charset="0"/>
              </a:rPr>
              <a:t>{   char </a:t>
            </a:r>
            <a:r>
              <a:rPr lang="en-US" altLang="zh-CN" sz="2600" b="0" dirty="0" err="1">
                <a:cs typeface="Times New Roman" pitchFamily="18" charset="0"/>
              </a:rPr>
              <a:t>str</a:t>
            </a:r>
            <a:r>
              <a:rPr lang="en-US" altLang="zh-CN" sz="2600" b="0" dirty="0">
                <a:cs typeface="Times New Roman" pitchFamily="18" charset="0"/>
              </a:rPr>
              <a:t>[20];</a:t>
            </a: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linkStack</a:t>
            </a:r>
            <a:r>
              <a:rPr lang="en-US" altLang="zh-CN" sz="2600" b="0" dirty="0">
                <a:cs typeface="Times New Roman" pitchFamily="18" charset="0"/>
              </a:rPr>
              <a:t>&lt;char&gt; s;  //</a:t>
            </a:r>
            <a:r>
              <a:rPr lang="zh-CN" altLang="zh-CN" sz="2600" b="0" dirty="0">
                <a:cs typeface="Times New Roman" pitchFamily="18" charset="0"/>
              </a:rPr>
              <a:t>建立一个字符栈</a:t>
            </a:r>
            <a:endParaRPr lang="zh-CN" altLang="zh-CN" sz="2600" b="0" dirty="0">
              <a:cs typeface="Times New Roman" pitchFamily="18" charset="0"/>
            </a:endParaRPr>
          </a:p>
          <a:p>
            <a:pPr marL="0" indent="0">
              <a:buNone/>
            </a:pPr>
            <a:r>
              <a:rPr lang="en-US" altLang="zh-CN" sz="2600" b="0" dirty="0">
                <a:cs typeface="Times New Roman" pitchFamily="18" charset="0"/>
              </a:rPr>
              <a:t>    char </a:t>
            </a:r>
            <a:r>
              <a:rPr lang="en-US" altLang="zh-CN" sz="2600" b="0" dirty="0" err="1">
                <a:cs typeface="Times New Roman" pitchFamily="18" charset="0"/>
              </a:rPr>
              <a:t>ch</a:t>
            </a:r>
            <a:r>
              <a:rPr lang="en-US" altLang="zh-CN" sz="2600" b="0" dirty="0">
                <a:cs typeface="Times New Roman" pitchFamily="18" charset="0"/>
              </a:rPr>
              <a:t>;</a:t>
            </a: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int</a:t>
            </a:r>
            <a:r>
              <a:rPr lang="en-US" altLang="zh-CN" sz="2600" b="0" dirty="0">
                <a:cs typeface="Times New Roman" pitchFamily="18" charset="0"/>
              </a:rPr>
              <a:t> </a:t>
            </a:r>
            <a:r>
              <a:rPr lang="en-US" altLang="zh-CN" sz="2600" b="0" dirty="0" err="1">
                <a:cs typeface="Times New Roman" pitchFamily="18" charset="0"/>
              </a:rPr>
              <a:t>i</a:t>
            </a:r>
            <a:r>
              <a:rPr lang="en-US" altLang="zh-CN" sz="2600" b="0" dirty="0">
                <a:cs typeface="Times New Roman" pitchFamily="18" charset="0"/>
              </a:rPr>
              <a:t>;</a:t>
            </a:r>
            <a:endParaRPr lang="en-US" altLang="zh-CN" sz="2600" b="0" dirty="0">
              <a:cs typeface="Times New Roman" pitchFamily="18" charset="0"/>
            </a:endParaRPr>
          </a:p>
          <a:p>
            <a:pPr marL="0" indent="0">
              <a:buNone/>
            </a:pP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cout</a:t>
            </a:r>
            <a:r>
              <a:rPr lang="en-US" altLang="zh-CN" sz="2600" b="0" dirty="0">
                <a:cs typeface="Times New Roman" pitchFamily="18" charset="0"/>
              </a:rPr>
              <a:t>&lt;&lt;"Input the string: ";</a:t>
            </a: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cin.getline</a:t>
            </a:r>
            <a:r>
              <a:rPr lang="en-US" altLang="zh-CN" sz="2600" b="0" dirty="0">
                <a:cs typeface="Times New Roman" pitchFamily="18" charset="0"/>
              </a:rPr>
              <a:t>(</a:t>
            </a:r>
            <a:r>
              <a:rPr lang="en-US" altLang="zh-CN" sz="2600" b="0" dirty="0" err="1">
                <a:cs typeface="Times New Roman" pitchFamily="18" charset="0"/>
              </a:rPr>
              <a:t>str</a:t>
            </a:r>
            <a:r>
              <a:rPr lang="en-US" altLang="zh-CN" sz="2600" b="0" dirty="0">
                <a:cs typeface="Times New Roman" pitchFamily="18" charset="0"/>
              </a:rPr>
              <a:t>, 20, '\n');</a:t>
            </a:r>
            <a:endParaRPr lang="zh-CN" altLang="zh-CN" sz="2600" b="0" dirty="0">
              <a:cs typeface="Times New Roman" pitchFamily="18" charset="0"/>
            </a:endParaRPr>
          </a:p>
          <a:p>
            <a:pPr marL="0" indent="0">
              <a:buNone/>
            </a:pPr>
            <a:r>
              <a:rPr lang="en-US" altLang="zh-CN" sz="2600" b="0" dirty="0">
                <a:cs typeface="Times New Roman" pitchFamily="18" charset="0"/>
              </a:rPr>
              <a:t>    </a:t>
            </a:r>
            <a:r>
              <a:rPr lang="en-US" altLang="zh-CN" sz="2600" b="0" dirty="0" err="1">
                <a:cs typeface="Times New Roman" pitchFamily="18" charset="0"/>
              </a:rPr>
              <a:t>cout</a:t>
            </a:r>
            <a:r>
              <a:rPr lang="en-US" altLang="zh-CN" sz="2600" b="0" dirty="0">
                <a:cs typeface="Times New Roman" pitchFamily="18" charset="0"/>
              </a:rPr>
              <a:t>&lt;&lt;"</a:t>
            </a:r>
            <a:r>
              <a:rPr lang="en-US" altLang="zh-CN" sz="2600" b="0" dirty="0" err="1">
                <a:cs typeface="Times New Roman" pitchFamily="18" charset="0"/>
              </a:rPr>
              <a:t>str</a:t>
            </a:r>
            <a:r>
              <a:rPr lang="en-US" altLang="zh-CN" sz="2600" b="0" dirty="0">
                <a:cs typeface="Times New Roman" pitchFamily="18" charset="0"/>
              </a:rPr>
              <a:t>: "&lt;&lt;</a:t>
            </a:r>
            <a:r>
              <a:rPr lang="en-US" altLang="zh-CN" sz="2600" b="0" dirty="0" err="1">
                <a:cs typeface="Times New Roman" pitchFamily="18" charset="0"/>
              </a:rPr>
              <a:t>str</a:t>
            </a:r>
            <a:r>
              <a:rPr lang="en-US" altLang="zh-CN" sz="2600" b="0" dirty="0">
                <a:cs typeface="Times New Roman" pitchFamily="18" charset="0"/>
              </a:rPr>
              <a:t>&lt;&lt;</a:t>
            </a:r>
            <a:r>
              <a:rPr lang="en-US" altLang="zh-CN" sz="2600" b="0" dirty="0" err="1">
                <a:cs typeface="Times New Roman" pitchFamily="18" charset="0"/>
              </a:rPr>
              <a:t>endl</a:t>
            </a:r>
            <a:r>
              <a:rPr lang="en-US" altLang="zh-CN" sz="2600" b="0" dirty="0">
                <a:cs typeface="Times New Roman" pitchFamily="18" charset="0"/>
              </a:rPr>
              <a:t>;</a:t>
            </a:r>
            <a:endParaRPr lang="zh-CN" altLang="zh-CN" sz="2600" b="0" dirty="0">
              <a:cs typeface="Times New Roman" pitchFamily="18" charset="0"/>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itchFamily="2" charset="-122"/>
                <a:ea typeface="华文楷体" pitchFamily="2" charset="-122"/>
              </a:rPr>
              <a:t>核心而简单的算术表达式中括号匹配检测程序</a:t>
            </a:r>
            <a:r>
              <a:rPr lang="zh-CN" altLang="en-US" dirty="0">
                <a:latin typeface="华文楷体" pitchFamily="2" charset="-122"/>
                <a:ea typeface="华文楷体" pitchFamily="2" charset="-122"/>
              </a:rPr>
              <a:t>：</a:t>
            </a:r>
            <a:endParaRPr lang="zh-CN" altLang="en-US" dirty="0">
              <a:latin typeface="华文楷体" pitchFamily="2" charset="-122"/>
              <a:ea typeface="华文楷体" pitchFamily="2" charset="-122"/>
            </a:endParaRPr>
          </a:p>
        </p:txBody>
      </p:sp>
      <p:sp>
        <p:nvSpPr>
          <p:cNvPr id="2" name="矩形 1"/>
          <p:cNvSpPr/>
          <p:nvPr/>
        </p:nvSpPr>
        <p:spPr>
          <a:xfrm>
            <a:off x="7081104" y="1872734"/>
            <a:ext cx="4852610" cy="523220"/>
          </a:xfrm>
          <a:prstGeom prst="rect">
            <a:avLst/>
          </a:prstGeom>
        </p:spPr>
        <p:txBody>
          <a:bodyPr wrap="none">
            <a:spAutoFit/>
          </a:bodyPr>
          <a:lstStyle/>
          <a:p>
            <a:r>
              <a:rPr lang="zh-CN" altLang="en-US" sz="2800" b="1" dirty="0">
                <a:latin typeface="华文楷体" pitchFamily="2" charset="-122"/>
                <a:ea typeface="华文楷体" pitchFamily="2" charset="-122"/>
              </a:rPr>
              <a:t>（为简化，假设只有小括号）</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0" y="1586333"/>
            <a:ext cx="11903716" cy="4635562"/>
          </a:xfrm>
        </p:spPr>
        <p:txBody>
          <a:bodyPr>
            <a:noAutofit/>
          </a:bodyPr>
          <a:lstStyle/>
          <a:p>
            <a:pPr marL="0" indent="0">
              <a:buNone/>
            </a:pPr>
            <a:r>
              <a:rPr lang="en-US" altLang="zh-CN" sz="1600" b="0" dirty="0">
                <a:cs typeface="Times New Roman" pitchFamily="18" charset="0"/>
              </a:rPr>
              <a:t>      </a:t>
            </a:r>
            <a:r>
              <a:rPr lang="en-US" altLang="zh-CN" sz="2000" b="0" dirty="0" err="1">
                <a:cs typeface="Times New Roman" pitchFamily="18" charset="0"/>
              </a:rPr>
              <a:t>i</a:t>
            </a:r>
            <a:r>
              <a:rPr lang="en-US" altLang="zh-CN" sz="2000" b="0" dirty="0">
                <a:cs typeface="Times New Roman" pitchFamily="18" charset="0"/>
              </a:rPr>
              <a:t>=0;    </a:t>
            </a:r>
            <a:r>
              <a:rPr lang="en-US" altLang="zh-CN" sz="2000" b="0" dirty="0" err="1">
                <a:cs typeface="Times New Roman" pitchFamily="18" charset="0"/>
              </a:rPr>
              <a:t>ch</a:t>
            </a:r>
            <a:r>
              <a:rPr lang="en-US" altLang="zh-CN" sz="2000" b="0" dirty="0">
                <a:cs typeface="Times New Roman" pitchFamily="18" charset="0"/>
              </a:rPr>
              <a:t>=</a:t>
            </a:r>
            <a:r>
              <a:rPr lang="en-US" altLang="zh-CN" sz="2000" b="0" dirty="0" err="1">
                <a:cs typeface="Times New Roman" pitchFamily="18" charset="0"/>
              </a:rPr>
              <a:t>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while (</a:t>
            </a:r>
            <a:r>
              <a:rPr lang="en-US" altLang="zh-CN" sz="2000" b="0" dirty="0" err="1">
                <a:cs typeface="Times New Roman" pitchFamily="18" charset="0"/>
              </a:rPr>
              <a:t>ch</a:t>
            </a:r>
            <a:r>
              <a:rPr lang="en-US" altLang="zh-CN" sz="2000" b="0" dirty="0">
                <a:cs typeface="Times New Roman" pitchFamily="18" charset="0"/>
              </a:rPr>
              <a:t>!='\0')</a:t>
            </a:r>
            <a:endParaRPr lang="zh-CN" altLang="zh-CN" sz="2000" b="0" dirty="0">
              <a:cs typeface="Times New Roman" pitchFamily="18" charset="0"/>
            </a:endParaRPr>
          </a:p>
          <a:p>
            <a:pPr marL="0" indent="0">
              <a:buNone/>
            </a:pPr>
            <a:r>
              <a:rPr lang="en-US" altLang="zh-CN" sz="2000" b="0" dirty="0">
                <a:cs typeface="Times New Roman" pitchFamily="18" charset="0"/>
              </a:rPr>
              <a:t>    {   switch(</a:t>
            </a:r>
            <a:r>
              <a:rPr lang="en-US" altLang="zh-CN" sz="2000" b="0" dirty="0" err="1">
                <a:cs typeface="Times New Roman" pitchFamily="18" charset="0"/>
              </a:rPr>
              <a:t>ch</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  case '(':      </a:t>
            </a:r>
            <a:r>
              <a:rPr lang="en-US" altLang="zh-CN" sz="2000" b="0" dirty="0" err="1">
                <a:cs typeface="Times New Roman" pitchFamily="18" charset="0"/>
              </a:rPr>
              <a:t>s.push</a:t>
            </a:r>
            <a:r>
              <a:rPr lang="en-US" altLang="zh-CN" sz="2000" b="0" dirty="0">
                <a:cs typeface="Times New Roman" pitchFamily="18" charset="0"/>
              </a:rPr>
              <a:t>(</a:t>
            </a:r>
            <a:r>
              <a:rPr lang="en-US" altLang="zh-CN" sz="2000" b="0" dirty="0" err="1">
                <a:cs typeface="Times New Roman" pitchFamily="18" charset="0"/>
              </a:rPr>
              <a:t>ch</a:t>
            </a:r>
            <a:r>
              <a:rPr lang="en-US" altLang="zh-CN" sz="2000" b="0" dirty="0">
                <a:cs typeface="Times New Roman" pitchFamily="18" charset="0"/>
              </a:rPr>
              <a:t>);    break;</a:t>
            </a:r>
            <a:endParaRPr lang="zh-CN" altLang="zh-CN" sz="2000" b="0" dirty="0">
              <a:cs typeface="Times New Roman" pitchFamily="18" charset="0"/>
            </a:endParaRPr>
          </a:p>
          <a:p>
            <a:pPr marL="0" indent="0">
              <a:buNone/>
            </a:pPr>
            <a:r>
              <a:rPr lang="en-US" altLang="zh-CN" sz="2000" b="0" dirty="0">
                <a:cs typeface="Times New Roman" pitchFamily="18" charset="0"/>
              </a:rPr>
              <a:t>            case ')':      if (</a:t>
            </a:r>
            <a:r>
              <a:rPr lang="en-US" altLang="zh-CN" sz="2000" b="0" dirty="0" err="1">
                <a:cs typeface="Times New Roman" pitchFamily="18" charset="0"/>
              </a:rPr>
              <a:t>s.isEmpty</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    //</a:t>
            </a:r>
            <a:r>
              <a:rPr lang="zh-CN" altLang="zh-CN" sz="2000" b="0" dirty="0">
                <a:cs typeface="Times New Roman" pitchFamily="18" charset="0"/>
              </a:rPr>
              <a:t>读入一个闭括号，栈却空，找不到匹配的开括号</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cout</a:t>
            </a:r>
            <a:r>
              <a:rPr lang="en-US" altLang="zh-CN" sz="2000" b="0" dirty="0">
                <a:cs typeface="Times New Roman" pitchFamily="18" charset="0"/>
              </a:rPr>
              <a:t>&lt;&lt;"An opening bracket '(' is expected!\n";</a:t>
            </a:r>
            <a:endParaRPr lang="zh-CN" altLang="zh-CN" sz="2000" b="0" dirty="0">
              <a:cs typeface="Times New Roman" pitchFamily="18" charset="0"/>
            </a:endParaRPr>
          </a:p>
          <a:p>
            <a:pPr marL="0" indent="0">
              <a:buNone/>
            </a:pPr>
            <a:r>
              <a:rPr lang="en-US" altLang="zh-CN" sz="2000" b="0" dirty="0">
                <a:cs typeface="Times New Roman" pitchFamily="18" charset="0"/>
              </a:rPr>
              <a:t>                                   return 1;</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itchFamily="2" charset="-122"/>
                <a:ea typeface="华文楷体" pitchFamily="2" charset="-122"/>
              </a:rPr>
              <a:t>核心而简单的算术表达式中括号匹配检测程序</a:t>
            </a:r>
            <a:r>
              <a:rPr lang="zh-CN" altLang="en-US" dirty="0">
                <a:latin typeface="华文楷体" pitchFamily="2" charset="-122"/>
                <a:ea typeface="华文楷体" pitchFamily="2" charset="-122"/>
              </a:rPr>
              <a:t>：</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46577"/>
            <a:ext cx="11903716" cy="4635562"/>
          </a:xfrm>
        </p:spPr>
        <p:txBody>
          <a:bodyPr>
            <a:noAutofit/>
          </a:bodyPr>
          <a:lstStyle/>
          <a:p>
            <a:pPr marL="0" indent="0">
              <a:buNone/>
            </a:pPr>
            <a:r>
              <a:rPr lang="en-US" altLang="zh-CN" sz="1600" b="0" dirty="0">
                <a:cs typeface="Times New Roman" pitchFamily="18" charset="0"/>
              </a:rPr>
              <a:t>      </a:t>
            </a:r>
            <a:r>
              <a:rPr lang="en-US" altLang="zh-CN" dirty="0">
                <a:cs typeface="Times New Roman" pitchFamily="18" charset="0"/>
              </a:rPr>
              <a:t>             </a:t>
            </a:r>
            <a:r>
              <a:rPr lang="en-US" altLang="zh-CN" sz="2000" b="0" dirty="0">
                <a:cs typeface="Times New Roman" pitchFamily="18" charset="0"/>
              </a:rPr>
              <a:t>else      </a:t>
            </a:r>
            <a:r>
              <a:rPr lang="en-US" altLang="zh-CN" sz="2000" b="0" dirty="0" err="1">
                <a:cs typeface="Times New Roman" pitchFamily="18" charset="0"/>
              </a:rPr>
              <a:t>s.pop</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break;</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ch</a:t>
            </a:r>
            <a:r>
              <a:rPr lang="en-US" altLang="zh-CN" sz="2000" b="0" dirty="0">
                <a:cs typeface="Times New Roman" pitchFamily="18" charset="0"/>
              </a:rPr>
              <a:t>=</a:t>
            </a:r>
            <a:r>
              <a:rPr lang="en-US" altLang="zh-CN" sz="2000" b="0" dirty="0" err="1">
                <a:cs typeface="Times New Roman" pitchFamily="18" charset="0"/>
              </a:rPr>
              <a:t>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zh-CN" altLang="zh-CN" sz="2000" b="0" dirty="0">
              <a:cs typeface="Times New Roman" pitchFamily="18" charset="0"/>
            </a:endParaRPr>
          </a:p>
          <a:p>
            <a:pPr marL="0" indent="0">
              <a:buNone/>
            </a:pPr>
            <a:r>
              <a:rPr lang="en-US" altLang="zh-CN" sz="2000" b="0" dirty="0">
                <a:cs typeface="Times New Roman" pitchFamily="18" charset="0"/>
              </a:rPr>
              <a:t>     if (!</a:t>
            </a:r>
            <a:r>
              <a:rPr lang="en-US" altLang="zh-CN" sz="2000" b="0" dirty="0" err="1">
                <a:cs typeface="Times New Roman" pitchFamily="18" charset="0"/>
              </a:rPr>
              <a:t>s.isEmpty</a:t>
            </a:r>
            <a:r>
              <a:rPr lang="en-US" altLang="zh-CN" sz="2000" b="0" dirty="0">
                <a:cs typeface="Times New Roman" pitchFamily="18" charset="0"/>
              </a:rPr>
              <a:t>()) //</a:t>
            </a:r>
            <a:r>
              <a:rPr lang="zh-CN" altLang="zh-CN" sz="2000" b="0" dirty="0">
                <a:cs typeface="Times New Roman" pitchFamily="18" charset="0"/>
              </a:rPr>
              <a:t>式子读入结束，发现栈中还有多余的开括号</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cout</a:t>
            </a:r>
            <a:r>
              <a:rPr lang="en-US" altLang="zh-CN" sz="2000" b="0" dirty="0">
                <a:cs typeface="Times New Roman" pitchFamily="18" charset="0"/>
              </a:rPr>
              <a:t>&lt;&lt;"A closing bracket ')' is expected!\n";</a:t>
            </a:r>
            <a:endParaRPr lang="zh-CN" altLang="zh-CN" sz="2000" b="0" dirty="0">
              <a:cs typeface="Times New Roman" pitchFamily="18" charset="0"/>
            </a:endParaRPr>
          </a:p>
          <a:p>
            <a:pPr marL="0" indent="0">
              <a:buNone/>
            </a:pPr>
            <a:r>
              <a:rPr lang="en-US" altLang="zh-CN" sz="2000" b="0" dirty="0">
                <a:cs typeface="Times New Roman" pitchFamily="18" charset="0"/>
              </a:rPr>
              <a:t>     return 0;</a:t>
            </a:r>
            <a:endParaRPr lang="en-US" altLang="zh-CN" sz="2000" b="0" dirty="0">
              <a:cs typeface="Times New Roman" pitchFamily="18" charset="0"/>
            </a:endParaRPr>
          </a:p>
          <a:p>
            <a:pPr marL="0" indent="0">
              <a:buNone/>
            </a:pPr>
            <a:r>
              <a:rPr lang="en-US" altLang="zh-CN" sz="2000" b="0" dirty="0">
                <a:cs typeface="Times New Roman" pitchFamily="18" charset="0"/>
              </a:rPr>
              <a:t>}</a:t>
            </a:r>
            <a:endParaRPr lang="en-US" altLang="zh-CN"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zh-CN" dirty="0">
                <a:latin typeface="华文楷体" pitchFamily="2" charset="-122"/>
                <a:ea typeface="华文楷体" pitchFamily="2" charset="-122"/>
              </a:rPr>
              <a:t>核心而简单的算术表达式中括号匹配检测程序</a:t>
            </a:r>
            <a:r>
              <a:rPr lang="zh-CN" altLang="en-US" dirty="0">
                <a:latin typeface="华文楷体" pitchFamily="2" charset="-122"/>
                <a:ea typeface="华文楷体" pitchFamily="2" charset="-122"/>
              </a:rPr>
              <a:t>：</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341246" y="2213206"/>
            <a:ext cx="3941876" cy="3251089"/>
          </a:xfrm>
        </p:spPr>
        <p:txBody>
          <a:bodyPr>
            <a:noAutofit/>
          </a:bodyPr>
          <a:lstStyle/>
          <a:p>
            <a:pPr marL="0" indent="0">
              <a:lnSpc>
                <a:spcPct val="115000"/>
              </a:lnSpc>
              <a:buNone/>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函数调用</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括号匹配</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表达式计算</a:t>
            </a:r>
            <a:endParaRPr lang="en-US" altLang="zh-CN" sz="2800" dirty="0">
              <a:solidFill>
                <a:srgbClr val="FF0000"/>
              </a:solidFill>
              <a:latin typeface="华文楷体" pitchFamily="2" charset="-122"/>
              <a:ea typeface="华文楷体" pitchFamily="2" charset="-122"/>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517848" y="1539551"/>
            <a:ext cx="11303735" cy="5083317"/>
          </a:xfrm>
        </p:spPr>
        <p:txBody>
          <a:bodyPr>
            <a:normAutofit fontScale="85000" lnSpcReduction="10000"/>
          </a:bodyPr>
          <a:lstStyle/>
          <a:p>
            <a:pPr marL="0" indent="0">
              <a:buNone/>
            </a:pPr>
            <a:r>
              <a:rPr lang="zh-CN" altLang="zh-CN" sz="2800" b="0" dirty="0">
                <a:ea typeface="华文楷体" pitchFamily="2" charset="-122"/>
                <a:cs typeface="Times New Roman" pitchFamily="18" charset="0"/>
              </a:rPr>
              <a:t>算术表达式是</a:t>
            </a:r>
            <a:r>
              <a:rPr lang="zh-CN" altLang="en-US" sz="2800" b="0" dirty="0">
                <a:ea typeface="华文楷体" pitchFamily="2" charset="-122"/>
                <a:cs typeface="Times New Roman" pitchFamily="18" charset="0"/>
              </a:rPr>
              <a:t>编程语言中一个</a:t>
            </a:r>
            <a:r>
              <a:rPr lang="zh-CN" altLang="zh-CN" sz="2800" b="0" dirty="0">
                <a:ea typeface="华文楷体" pitchFamily="2" charset="-122"/>
                <a:cs typeface="Times New Roman" pitchFamily="18" charset="0"/>
              </a:rPr>
              <a:t>最基本的组成元素，由操作数、运算符及括号构成。</a:t>
            </a:r>
            <a:endParaRPr lang="en-US" altLang="zh-CN" sz="2800" b="0" dirty="0">
              <a:ea typeface="华文楷体" pitchFamily="2" charset="-122"/>
              <a:cs typeface="Times New Roman" pitchFamily="18" charset="0"/>
            </a:endParaRPr>
          </a:p>
          <a:p>
            <a:pPr marL="0" indent="0">
              <a:buNone/>
            </a:pPr>
            <a:r>
              <a:rPr lang="zh-CN" altLang="en-US" sz="2800" b="0" dirty="0">
                <a:ea typeface="华文楷体" pitchFamily="2" charset="-122"/>
                <a:cs typeface="Times New Roman" pitchFamily="18" charset="0"/>
              </a:rPr>
              <a:t>以下分析中，</a:t>
            </a:r>
            <a:r>
              <a:rPr lang="zh-CN" altLang="zh-CN" sz="2800" b="0" dirty="0">
                <a:ea typeface="华文楷体" pitchFamily="2" charset="-122"/>
                <a:cs typeface="Times New Roman" pitchFamily="18" charset="0"/>
              </a:rPr>
              <a:t>为了简化，限定操作数为一位整数；运算符为加、减、乘、除四种二元运算符；括号仅含有小括号，如：</a:t>
            </a:r>
            <a:r>
              <a:rPr lang="en-US" altLang="zh-CN" sz="2800" b="0" dirty="0">
                <a:ea typeface="华文楷体" pitchFamily="2" charset="-122"/>
                <a:cs typeface="Times New Roman" pitchFamily="18" charset="0"/>
              </a:rPr>
              <a:t>5*(7-2*3)+8/2</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算术表达式中运算符出现在两个操作数之间，这种形式称为</a:t>
            </a:r>
            <a:r>
              <a:rPr lang="zh-CN" altLang="zh-CN" sz="2800" dirty="0">
                <a:ea typeface="华文楷体" pitchFamily="2" charset="-122"/>
                <a:cs typeface="Times New Roman" pitchFamily="18" charset="0"/>
              </a:rPr>
              <a:t>中缀式</a:t>
            </a:r>
            <a:r>
              <a:rPr lang="zh-CN" altLang="en-US" sz="2800" b="0" dirty="0">
                <a:ea typeface="华文楷体" pitchFamily="2" charset="-122"/>
                <a:cs typeface="Times New Roman" pitchFamily="18" charset="0"/>
              </a:rPr>
              <a:t>，运算符在前称为</a:t>
            </a:r>
            <a:r>
              <a:rPr lang="zh-CN" altLang="en-US" sz="2800" dirty="0">
                <a:ea typeface="华文楷体" pitchFamily="2" charset="-122"/>
                <a:cs typeface="Times New Roman" pitchFamily="18" charset="0"/>
              </a:rPr>
              <a:t>前缀式或波兰式</a:t>
            </a:r>
            <a:r>
              <a:rPr lang="zh-CN" altLang="en-US" sz="2800" b="0" dirty="0">
                <a:ea typeface="华文楷体" pitchFamily="2" charset="-122"/>
                <a:cs typeface="Times New Roman" pitchFamily="18" charset="0"/>
              </a:rPr>
              <a:t>，运算符在后称</a:t>
            </a:r>
            <a:r>
              <a:rPr lang="zh-CN" altLang="en-US" sz="2800" dirty="0">
                <a:highlight>
                  <a:srgbClr val="FFFF00"/>
                </a:highlight>
                <a:ea typeface="华文楷体" pitchFamily="2" charset="-122"/>
                <a:cs typeface="Times New Roman" pitchFamily="18" charset="0"/>
              </a:rPr>
              <a:t>后缀式或逆波兰式</a:t>
            </a:r>
            <a:r>
              <a:rPr lang="zh-CN" altLang="en-US" sz="2800" b="0" dirty="0">
                <a:highlight>
                  <a:srgbClr val="FFFF00"/>
                </a:highlight>
                <a:ea typeface="华文楷体" pitchFamily="2" charset="-122"/>
                <a:cs typeface="Times New Roman" pitchFamily="18" charset="0"/>
              </a:rPr>
              <a:t>。</a:t>
            </a:r>
            <a:endParaRPr lang="en-US" altLang="zh-CN" sz="2800" b="0" dirty="0">
              <a:highlight>
                <a:srgbClr val="FFFF00"/>
              </a:highlight>
              <a:ea typeface="华文楷体" pitchFamily="2" charset="-122"/>
              <a:cs typeface="Times New Roman" pitchFamily="18" charset="0"/>
            </a:endParaRPr>
          </a:p>
          <a:p>
            <a:pPr marL="259080" indent="0">
              <a:buNone/>
            </a:pPr>
            <a:r>
              <a:rPr lang="zh-CN" altLang="zh-CN" sz="2800" b="0" dirty="0">
                <a:ea typeface="华文楷体" pitchFamily="2" charset="-122"/>
                <a:cs typeface="Times New Roman" pitchFamily="18" charset="0"/>
              </a:rPr>
              <a:t>中缀式有利于人的理解，但不便于计算机处理</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259080" indent="0">
              <a:buNone/>
            </a:pPr>
            <a:r>
              <a:rPr lang="zh-CN" altLang="en-US" sz="2800" b="0" dirty="0">
                <a:ea typeface="华文楷体" pitchFamily="2" charset="-122"/>
                <a:cs typeface="Times New Roman" pitchFamily="18" charset="0"/>
              </a:rPr>
              <a:t>前缀式不便于人理解，但可去掉括号；</a:t>
            </a:r>
            <a:endParaRPr lang="en-US" altLang="zh-CN" sz="2800" b="0" dirty="0">
              <a:ea typeface="华文楷体" pitchFamily="2" charset="-122"/>
              <a:cs typeface="Times New Roman" pitchFamily="18" charset="0"/>
            </a:endParaRPr>
          </a:p>
          <a:p>
            <a:pPr marL="259080" indent="0">
              <a:buNone/>
            </a:pPr>
            <a:r>
              <a:rPr lang="zh-CN" altLang="en-US" sz="2800" b="0" dirty="0">
                <a:ea typeface="华文楷体" pitchFamily="2" charset="-122"/>
                <a:cs typeface="Times New Roman" pitchFamily="18" charset="0"/>
              </a:rPr>
              <a:t>后缀式不便于人理解，可去掉括号，更便于计算机计算。</a:t>
            </a:r>
            <a:endParaRPr lang="en-US" altLang="zh-CN" sz="2800" b="0" dirty="0">
              <a:ea typeface="华文楷体" pitchFamily="2" charset="-122"/>
              <a:cs typeface="Times New Roman" pitchFamily="18" charset="0"/>
            </a:endParaRPr>
          </a:p>
          <a:p>
            <a:pPr marL="259080" indent="0">
              <a:buNone/>
            </a:pPr>
            <a:r>
              <a:rPr lang="zh-CN" altLang="zh-CN" sz="2800" b="0" dirty="0">
                <a:ea typeface="华文楷体" pitchFamily="2" charset="-122"/>
                <a:cs typeface="Times New Roman" pitchFamily="18" charset="0"/>
              </a:rPr>
              <a:t>在编译时，编译器首先要把中缀式转换成后缀式</a:t>
            </a:r>
            <a:r>
              <a:rPr lang="zh-CN" altLang="en-US"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340647" y="754146"/>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表达式计算：</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337659" cy="4595805"/>
          </a:xfrm>
        </p:spPr>
        <p:txBody>
          <a:bodyPr>
            <a:normAutofit fontScale="77500" lnSpcReduction="20000"/>
          </a:bodyPr>
          <a:lstStyle/>
          <a:p>
            <a:pPr marL="0" indent="0">
              <a:lnSpc>
                <a:spcPct val="115000"/>
              </a:lnSpc>
              <a:buNone/>
              <a:defRPr/>
            </a:pPr>
            <a:r>
              <a:rPr lang="zh-CN" altLang="en-US" sz="2800" b="0" dirty="0">
                <a:ea typeface="华文楷体" pitchFamily="2" charset="-122"/>
                <a:cs typeface="Times New Roman" pitchFamily="18" charset="0"/>
              </a:rPr>
              <a:t>表达式计算涉及到两个方面的工作：</a:t>
            </a:r>
            <a:endParaRPr lang="en-US" altLang="zh-CN" sz="2800" b="0" dirty="0">
              <a:ea typeface="华文楷体" pitchFamily="2" charset="-122"/>
              <a:cs typeface="Times New Roman" pitchFamily="18" charset="0"/>
            </a:endParaRPr>
          </a:p>
          <a:p>
            <a:pPr>
              <a:lnSpc>
                <a:spcPct val="115000"/>
              </a:lnSpc>
              <a:buFont typeface="Wingdings" charset="2"/>
              <a:buChar char="Ø"/>
              <a:defRPr/>
            </a:pPr>
            <a:r>
              <a:rPr lang="zh-CN" altLang="en-US" sz="2800" b="0" dirty="0">
                <a:ea typeface="华文楷体" pitchFamily="2" charset="-122"/>
                <a:cs typeface="Times New Roman" pitchFamily="18" charset="0"/>
              </a:rPr>
              <a:t>中缀式转换为后缀式</a:t>
            </a:r>
            <a:endParaRPr lang="en-US" altLang="zh-CN" sz="2800" b="0" dirty="0">
              <a:ea typeface="华文楷体" pitchFamily="2" charset="-122"/>
              <a:cs typeface="Times New Roman" pitchFamily="18" charset="0"/>
            </a:endParaRPr>
          </a:p>
          <a:p>
            <a:pPr>
              <a:lnSpc>
                <a:spcPct val="115000"/>
              </a:lnSpc>
              <a:buFont typeface="Wingdings" charset="2"/>
              <a:buChar char="Ø"/>
              <a:defRPr/>
            </a:pPr>
            <a:r>
              <a:rPr lang="zh-CN" altLang="en-US" sz="2800" b="0" dirty="0">
                <a:ea typeface="华文楷体" pitchFamily="2" charset="-122"/>
                <a:cs typeface="Times New Roman" pitchFamily="18" charset="0"/>
              </a:rPr>
              <a:t>后缀式计算</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ea typeface="华文楷体" pitchFamily="2" charset="-122"/>
              <a:cs typeface="Times New Roman" pitchFamily="18" charset="0"/>
            </a:endParaRPr>
          </a:p>
          <a:p>
            <a:pPr marL="0" indent="0">
              <a:lnSpc>
                <a:spcPct val="115000"/>
              </a:lnSpc>
              <a:buNone/>
              <a:defRPr/>
            </a:pPr>
            <a:r>
              <a:rPr lang="zh-CN" altLang="zh-CN" sz="2800" b="0" dirty="0">
                <a:ea typeface="华文楷体" pitchFamily="2" charset="-122"/>
                <a:cs typeface="Times New Roman" pitchFamily="18" charset="0"/>
              </a:rPr>
              <a:t>如，表达式</a:t>
            </a:r>
            <a:r>
              <a:rPr lang="en-US" altLang="zh-CN" sz="2800" b="0" dirty="0">
                <a:ea typeface="华文楷体" pitchFamily="2" charset="-122"/>
                <a:cs typeface="Times New Roman" pitchFamily="18" charset="0"/>
              </a:rPr>
              <a:t>5*(7-2*3)+8/2</a:t>
            </a:r>
            <a:r>
              <a:rPr lang="zh-CN" altLang="zh-CN" sz="2800" b="0" dirty="0">
                <a:ea typeface="华文楷体" pitchFamily="2" charset="-122"/>
                <a:cs typeface="Times New Roman" pitchFamily="18" charset="0"/>
              </a:rPr>
              <a:t>转换为后缀式为： </a:t>
            </a:r>
            <a:r>
              <a:rPr lang="en-US" altLang="zh-CN" sz="2800" b="0" dirty="0">
                <a:ea typeface="华文楷体" pitchFamily="2" charset="-122"/>
                <a:cs typeface="Times New Roman" pitchFamily="18" charset="0"/>
              </a:rPr>
              <a:t>5 7 2 3*-*8 2/+</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手工转换时，先计算的先转换。</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可以看出：</a:t>
            </a: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从左至右，操作数保持原来的相对位置，操作符是先计算的先出现。</a:t>
            </a: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后缀式经过一次从左到右的扫描即可计算出结果。</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表达式计算</a:t>
            </a:r>
            <a:endParaRPr lang="zh-CN" altLang="en-US" dirty="0">
              <a:latin typeface="华文楷体" pitchFamily="2" charset="-122"/>
              <a:ea typeface="华文楷体" pitchFamily="2" charset="-122"/>
            </a:endParaRPr>
          </a:p>
        </p:txBody>
      </p:sp>
      <p:sp>
        <p:nvSpPr>
          <p:cNvPr id="3" name="文本框 2"/>
          <p:cNvSpPr txBox="1"/>
          <p:nvPr/>
        </p:nvSpPr>
        <p:spPr>
          <a:xfrm>
            <a:off x="8408504" y="1967948"/>
            <a:ext cx="3458818" cy="1569660"/>
          </a:xfrm>
          <a:prstGeom prst="rect">
            <a:avLst/>
          </a:prstGeom>
          <a:noFill/>
        </p:spPr>
        <p:txBody>
          <a:bodyPr wrap="square" rtlCol="0">
            <a:spAutoFit/>
          </a:bodyPr>
          <a:lstStyle/>
          <a:p>
            <a:r>
              <a:rPr lang="zh-CN" altLang="en-US" sz="2400" dirty="0">
                <a:solidFill>
                  <a:schemeClr val="accent2"/>
                </a:solidFill>
              </a:rPr>
              <a:t>前缀式： ？</a:t>
            </a:r>
            <a:endParaRPr lang="en-US" altLang="zh-CN" sz="2400" dirty="0">
              <a:solidFill>
                <a:schemeClr val="accent2"/>
              </a:solidFill>
            </a:endParaRPr>
          </a:p>
          <a:p>
            <a:endParaRPr lang="en-US" altLang="zh-CN" dirty="0"/>
          </a:p>
          <a:p>
            <a:endParaRPr lang="en-US" altLang="zh-CN" dirty="0"/>
          </a:p>
          <a:p>
            <a:endParaRPr lang="en-US" altLang="zh-CN" dirty="0"/>
          </a:p>
          <a:p>
            <a:endParaRPr lang="zh-CN" altLang="en-US" dirty="0"/>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6"/>
            <a:ext cx="11337659" cy="2309806"/>
          </a:xfrm>
        </p:spPr>
        <p:txBody>
          <a:bodyPr>
            <a:normAutofit/>
          </a:bodyPr>
          <a:lstStyle/>
          <a:p>
            <a:pPr marL="0" indent="0">
              <a:lnSpc>
                <a:spcPct val="95000"/>
              </a:lnSpc>
              <a:buNone/>
              <a:defRPr/>
            </a:pPr>
            <a:r>
              <a:rPr lang="zh-CN" altLang="zh-CN" sz="2200" b="0" dirty="0">
                <a:ea typeface="华文楷体" pitchFamily="2" charset="-122"/>
                <a:cs typeface="Times New Roman" pitchFamily="18" charset="0"/>
              </a:rPr>
              <a:t>如，表达式</a:t>
            </a:r>
            <a:r>
              <a:rPr lang="en-US" altLang="zh-CN" sz="2200" b="0" dirty="0">
                <a:ea typeface="华文楷体" pitchFamily="2" charset="-122"/>
                <a:cs typeface="Times New Roman" pitchFamily="18" charset="0"/>
              </a:rPr>
              <a:t>5*(7-2*3)+8/2</a:t>
            </a:r>
            <a:r>
              <a:rPr lang="zh-CN" altLang="zh-CN" sz="2200" b="0" dirty="0">
                <a:ea typeface="华文楷体" pitchFamily="2" charset="-122"/>
                <a:cs typeface="Times New Roman" pitchFamily="18" charset="0"/>
              </a:rPr>
              <a:t>转换为后缀式为： </a:t>
            </a:r>
            <a:r>
              <a:rPr lang="en-US" altLang="zh-CN" sz="2200" b="0" dirty="0">
                <a:ea typeface="华文楷体" pitchFamily="2" charset="-122"/>
                <a:cs typeface="Times New Roman" pitchFamily="18" charset="0"/>
              </a:rPr>
              <a:t>5 7 2 3*-*8 2/+</a:t>
            </a:r>
            <a:r>
              <a:rPr lang="zh-CN" altLang="zh-CN" sz="2200" b="0" dirty="0">
                <a:ea typeface="华文楷体" pitchFamily="2" charset="-122"/>
                <a:cs typeface="Times New Roman" pitchFamily="18" charset="0"/>
              </a:rPr>
              <a:t>。</a:t>
            </a:r>
            <a:endParaRPr lang="en-US" altLang="zh-CN" sz="2200" b="0" dirty="0">
              <a:ea typeface="华文楷体" pitchFamily="2" charset="-122"/>
              <a:cs typeface="Times New Roman" pitchFamily="18" charset="0"/>
            </a:endParaRPr>
          </a:p>
          <a:p>
            <a:pPr marL="0" indent="0">
              <a:lnSpc>
                <a:spcPct val="95000"/>
              </a:lnSpc>
              <a:buNone/>
              <a:defRPr/>
            </a:pPr>
            <a:r>
              <a:rPr lang="zh-CN" altLang="en-US" sz="2200" b="0" dirty="0">
                <a:ea typeface="华文楷体" pitchFamily="2" charset="-122"/>
                <a:cs typeface="Times New Roman" pitchFamily="18" charset="0"/>
              </a:rPr>
              <a:t>手工转换时，先计算的先转换。</a:t>
            </a:r>
            <a:endParaRPr lang="en-US" altLang="zh-CN" sz="2200" b="0" dirty="0">
              <a:ea typeface="华文楷体" pitchFamily="2" charset="-122"/>
              <a:cs typeface="Times New Roman" pitchFamily="18" charset="0"/>
            </a:endParaRPr>
          </a:p>
          <a:p>
            <a:pPr marL="0" indent="0">
              <a:lnSpc>
                <a:spcPct val="95000"/>
              </a:lnSpc>
              <a:buNone/>
              <a:defRPr/>
            </a:pPr>
            <a:endParaRPr lang="en-US" altLang="zh-CN" sz="2200" b="0" dirty="0">
              <a:ea typeface="华文楷体" pitchFamily="2" charset="-122"/>
              <a:cs typeface="Times New Roman" pitchFamily="18" charset="0"/>
            </a:endParaRPr>
          </a:p>
          <a:p>
            <a:pPr marL="0" indent="0">
              <a:lnSpc>
                <a:spcPct val="95000"/>
              </a:lnSpc>
              <a:buNone/>
              <a:defRPr/>
            </a:pPr>
            <a:r>
              <a:rPr lang="zh-CN" altLang="en-US" sz="2200" b="0" dirty="0">
                <a:ea typeface="华文楷体" pitchFamily="2" charset="-122"/>
                <a:cs typeface="Times New Roman" pitchFamily="18" charset="0"/>
              </a:rPr>
              <a:t>在后缀式中可以看出：</a:t>
            </a:r>
            <a:endParaRPr lang="en-US" altLang="zh-CN" sz="2200" b="0" dirty="0">
              <a:ea typeface="华文楷体" pitchFamily="2" charset="-122"/>
              <a:cs typeface="Times New Roman" pitchFamily="18" charset="0"/>
            </a:endParaRPr>
          </a:p>
          <a:p>
            <a:pPr marL="0" indent="0">
              <a:lnSpc>
                <a:spcPct val="95000"/>
              </a:lnSpc>
              <a:buNone/>
              <a:defRPr/>
            </a:pPr>
            <a:r>
              <a:rPr lang="zh-CN" altLang="en-US" sz="2200" b="0" dirty="0">
                <a:ea typeface="华文楷体" pitchFamily="2" charset="-122"/>
                <a:cs typeface="Times New Roman" pitchFamily="18" charset="0"/>
              </a:rPr>
              <a:t>从左至右，操作数保持原来的相对位置，操作符是先计算的先出现。</a:t>
            </a:r>
            <a:endParaRPr lang="en-US" altLang="zh-CN" sz="2200" b="0" dirty="0">
              <a:ea typeface="华文楷体" pitchFamily="2" charset="-122"/>
              <a:cs typeface="Times New Roman" pitchFamily="18" charset="0"/>
            </a:endParaRPr>
          </a:p>
          <a:p>
            <a:pPr marL="0" indent="0">
              <a:lnSpc>
                <a:spcPct val="115000"/>
              </a:lnSpc>
              <a:buNone/>
              <a:defRPr/>
            </a:pPr>
            <a:endParaRPr lang="en-US" altLang="zh-CN" sz="2800" dirty="0">
              <a:ea typeface="华文楷体" pitchFamily="2" charset="-122"/>
              <a:cs typeface="Times New Roman" pitchFamily="18" charset="0"/>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后缀式的计算</a:t>
            </a:r>
            <a:endParaRPr lang="zh-CN" altLang="en-US" dirty="0">
              <a:latin typeface="华文楷体" pitchFamily="2" charset="-122"/>
              <a:ea typeface="华文楷体" pitchFamily="2" charset="-122"/>
            </a:endParaRPr>
          </a:p>
        </p:txBody>
      </p:sp>
      <p:sp>
        <p:nvSpPr>
          <p:cNvPr id="2" name="文本框 1"/>
          <p:cNvSpPr txBox="1"/>
          <p:nvPr/>
        </p:nvSpPr>
        <p:spPr>
          <a:xfrm>
            <a:off x="288284" y="4174435"/>
            <a:ext cx="10386342" cy="400110"/>
          </a:xfrm>
          <a:prstGeom prst="rect">
            <a:avLst/>
          </a:prstGeom>
          <a:noFill/>
        </p:spPr>
        <p:txBody>
          <a:bodyPr wrap="square" rtlCol="0">
            <a:spAutoFit/>
          </a:bodyPr>
          <a:lstStyle/>
          <a:p>
            <a:r>
              <a:rPr lang="zh-CN" altLang="en-US" sz="2000" b="1" dirty="0"/>
              <a:t>摆龙门阵：</a:t>
            </a:r>
            <a:endParaRPr lang="zh-CN" altLang="en-US" sz="2000" b="1" dirty="0"/>
          </a:p>
        </p:txBody>
      </p:sp>
    </p:spTree>
  </p:cSld>
  <p:clrMapOvr>
    <a:masterClrMapping/>
  </p:clrMapOvr>
  <p:transition spd="med">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itchFamily="2" charset="-122"/>
                <a:ea typeface="华文楷体" pitchFamily="2" charset="-122"/>
              </a:rPr>
              <a:t>计算后缀式：</a:t>
            </a:r>
            <a:r>
              <a:rPr lang="en-US" altLang="zh-CN" b="0" dirty="0">
                <a:latin typeface="华文楷体" pitchFamily="2" charset="-122"/>
                <a:ea typeface="华文楷体" pitchFamily="2" charset="-122"/>
              </a:rPr>
              <a:t> </a:t>
            </a:r>
            <a:r>
              <a:rPr lang="zh-CN" altLang="en-US" dirty="0">
                <a:latin typeface="华文楷体" pitchFamily="2" charset="-122"/>
                <a:ea typeface="华文楷体" pitchFamily="2" charset="-122"/>
              </a:rPr>
              <a:t>以</a:t>
            </a:r>
            <a:r>
              <a:rPr lang="en-US" altLang="zh-CN" dirty="0">
                <a:latin typeface="华文楷体" pitchFamily="2" charset="-122"/>
                <a:ea typeface="华文楷体" pitchFamily="2" charset="-122"/>
              </a:rPr>
              <a:t>5 7 2 3*-*8 2/+</a:t>
            </a:r>
            <a:r>
              <a:rPr lang="zh-CN" altLang="en-US" dirty="0">
                <a:latin typeface="华文楷体" pitchFamily="2" charset="-122"/>
                <a:ea typeface="华文楷体" pitchFamily="2" charset="-122"/>
              </a:rPr>
              <a:t>为例</a:t>
            </a:r>
            <a:endParaRPr lang="zh-CN" altLang="en-US" dirty="0">
              <a:latin typeface="华文楷体" pitchFamily="2" charset="-122"/>
              <a:ea typeface="华文楷体" pitchFamily="2" charset="-122"/>
            </a:endParaRPr>
          </a:p>
        </p:txBody>
      </p:sp>
      <p:graphicFrame>
        <p:nvGraphicFramePr>
          <p:cNvPr id="7" name="表格 6"/>
          <p:cNvGraphicFramePr>
            <a:graphicFrameLocks noGrp="1"/>
          </p:cNvGraphicFramePr>
          <p:nvPr/>
        </p:nvGraphicFramePr>
        <p:xfrm>
          <a:off x="447309" y="1590261"/>
          <a:ext cx="10088168" cy="4909930"/>
        </p:xfrm>
        <a:graphic>
          <a:graphicData uri="http://schemas.openxmlformats.org/drawingml/2006/table">
            <a:tbl>
              <a:tblPr>
                <a:tableStyleId>{5C22544A-7EE6-4342-B048-85BDC9FD1C3A}</a:tableStyleId>
              </a:tblPr>
              <a:tblGrid>
                <a:gridCol w="536829"/>
                <a:gridCol w="2658748"/>
                <a:gridCol w="1722803"/>
                <a:gridCol w="858640"/>
                <a:gridCol w="2586965"/>
                <a:gridCol w="1724183"/>
              </a:tblGrid>
              <a:tr h="797006">
                <a:tc>
                  <a:txBody>
                    <a:bodyPr/>
                    <a:lstStyle/>
                    <a:p>
                      <a:pPr algn="ctr">
                        <a:spcAft>
                          <a:spcPts val="0"/>
                        </a:spcAft>
                      </a:pPr>
                      <a:r>
                        <a:rPr lang="zh-CN" sz="2400" kern="100" dirty="0">
                          <a:effectLst/>
                        </a:rPr>
                        <a:t>步骤</a:t>
                      </a:r>
                      <a:endParaRPr lang="zh-CN" sz="2400" kern="100" dirty="0">
                        <a:effectLst/>
                        <a:latin typeface="Times New Roman" pitchFamily="18" charset="0"/>
                        <a:ea typeface="宋体" charset="-122"/>
                      </a:endParaRPr>
                    </a:p>
                  </a:txBody>
                  <a:tcPr marL="68580" marR="68580" marT="0" marB="0"/>
                </a:tc>
                <a:tc>
                  <a:txBody>
                    <a:bodyPr/>
                    <a:lstStyle/>
                    <a:p>
                      <a:pPr algn="ctr">
                        <a:spcAft>
                          <a:spcPts val="0"/>
                        </a:spcAft>
                      </a:pPr>
                      <a:r>
                        <a:rPr lang="zh-CN" sz="2400" kern="100" dirty="0">
                          <a:effectLst/>
                        </a:rPr>
                        <a:t>读剩的后缀式</a:t>
                      </a:r>
                      <a:endParaRPr lang="zh-CN" sz="2400" kern="100" dirty="0">
                        <a:effectLst/>
                        <a:latin typeface="Times New Roman" pitchFamily="18" charset="0"/>
                        <a:ea typeface="宋体" charset="-122"/>
                      </a:endParaRPr>
                    </a:p>
                  </a:txBody>
                  <a:tcPr marL="68580" marR="68580" marT="0" marB="0"/>
                </a:tc>
                <a:tc>
                  <a:txBody>
                    <a:bodyPr/>
                    <a:lstStyle/>
                    <a:p>
                      <a:pPr algn="ctr">
                        <a:spcAft>
                          <a:spcPts val="0"/>
                        </a:spcAft>
                      </a:pPr>
                      <a:r>
                        <a:rPr lang="zh-CN" sz="2400" kern="100">
                          <a:effectLst/>
                        </a:rPr>
                        <a:t>栈中内容</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zh-CN" sz="2400" kern="100">
                          <a:effectLst/>
                        </a:rPr>
                        <a:t>步骤</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zh-CN" sz="2400" kern="100">
                          <a:effectLst/>
                        </a:rPr>
                        <a:t>读剩的后缀式</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zh-CN" sz="2400" kern="100">
                          <a:effectLst/>
                        </a:rPr>
                        <a:t>栈中内容</a:t>
                      </a:r>
                      <a:endParaRPr lang="zh-CN" sz="2400" kern="100">
                        <a:effectLst/>
                        <a:latin typeface="Times New Roman" pitchFamily="18" charset="0"/>
                        <a:ea typeface="宋体" charset="-122"/>
                      </a:endParaRPr>
                    </a:p>
                  </a:txBody>
                  <a:tcPr marL="68580" marR="68580" marT="0" marB="0"/>
                </a:tc>
              </a:tr>
              <a:tr h="466872">
                <a:tc>
                  <a:txBody>
                    <a:bodyPr/>
                    <a:lstStyle/>
                    <a:p>
                      <a:pPr algn="ctr">
                        <a:spcAft>
                          <a:spcPts val="0"/>
                        </a:spcAft>
                      </a:pPr>
                      <a:r>
                        <a:rPr lang="en-US" sz="2400" kern="100" dirty="0">
                          <a:effectLst/>
                        </a:rPr>
                        <a:t>1</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10</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8</a:t>
                      </a:r>
                      <a:r>
                        <a:rPr lang="en-US" sz="2400" kern="100">
                          <a:effectLst/>
                        </a:rPr>
                        <a:t> </a:t>
                      </a:r>
                      <a:r>
                        <a:rPr lang="en-US" sz="2400" u="sng" kern="100">
                          <a:effectLst/>
                        </a:rPr>
                        <a:t>2</a:t>
                      </a:r>
                      <a:endParaRPr lang="zh-CN" sz="2400" kern="100">
                        <a:effectLst/>
                        <a:latin typeface="Times New Roman" pitchFamily="18" charset="0"/>
                        <a:ea typeface="宋体" charset="-122"/>
                      </a:endParaRPr>
                    </a:p>
                  </a:txBody>
                  <a:tcPr marL="68580" marR="68580" marT="0" marB="0"/>
                </a:tc>
              </a:tr>
              <a:tr h="444641">
                <a:tc>
                  <a:txBody>
                    <a:bodyPr/>
                    <a:lstStyle/>
                    <a:p>
                      <a:pPr algn="ctr">
                        <a:spcAft>
                          <a:spcPts val="0"/>
                        </a:spcAft>
                      </a:pPr>
                      <a:r>
                        <a:rPr lang="en-US" sz="2400" kern="100" dirty="0">
                          <a:effectLst/>
                        </a:rPr>
                        <a:t>2</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11</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4</a:t>
                      </a:r>
                      <a:endParaRPr lang="zh-CN" sz="2400" kern="100">
                        <a:effectLst/>
                        <a:latin typeface="Times New Roman" pitchFamily="18" charset="0"/>
                        <a:ea typeface="宋体" charset="-122"/>
                      </a:endParaRPr>
                    </a:p>
                  </a:txBody>
                  <a:tcPr marL="68580" marR="68580" marT="0" marB="0"/>
                </a:tc>
              </a:tr>
              <a:tr h="466872">
                <a:tc>
                  <a:txBody>
                    <a:bodyPr/>
                    <a:lstStyle/>
                    <a:p>
                      <a:pPr algn="ctr">
                        <a:spcAft>
                          <a:spcPts val="0"/>
                        </a:spcAft>
                      </a:pPr>
                      <a:r>
                        <a:rPr lang="en-US" sz="2400" kern="100" dirty="0">
                          <a:effectLst/>
                        </a:rPr>
                        <a:t>3</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a:effectLst/>
                        </a:rPr>
                        <a:t>2</a:t>
                      </a:r>
                      <a:r>
                        <a:rPr lang="en-US" sz="2400" kern="100">
                          <a:effectLst/>
                        </a:rPr>
                        <a:t> </a:t>
                      </a: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dirty="0">
                          <a:effectLst/>
                        </a:rPr>
                        <a:t>12</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9</a:t>
                      </a:r>
                      <a:endParaRPr lang="zh-CN" sz="2400" kern="100">
                        <a:effectLst/>
                        <a:latin typeface="Times New Roman" pitchFamily="18" charset="0"/>
                        <a:ea typeface="宋体" charset="-122"/>
                      </a:endParaRPr>
                    </a:p>
                  </a:txBody>
                  <a:tcPr marL="68580" marR="68580" marT="0" marB="0"/>
                </a:tc>
              </a:tr>
              <a:tr h="444641">
                <a:tc>
                  <a:txBody>
                    <a:bodyPr/>
                    <a:lstStyle/>
                    <a:p>
                      <a:pPr algn="ctr">
                        <a:spcAft>
                          <a:spcPts val="0"/>
                        </a:spcAft>
                      </a:pPr>
                      <a:r>
                        <a:rPr lang="en-US" sz="2400" kern="100" dirty="0">
                          <a:effectLst/>
                        </a:rPr>
                        <a:t>4</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a:effectLst/>
                        </a:rPr>
                        <a:t>3</a:t>
                      </a: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13</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r>
              <a:tr h="444641">
                <a:tc>
                  <a:txBody>
                    <a:bodyPr/>
                    <a:lstStyle/>
                    <a:p>
                      <a:pPr algn="ctr">
                        <a:spcAft>
                          <a:spcPts val="0"/>
                        </a:spcAft>
                      </a:pPr>
                      <a:r>
                        <a:rPr lang="en-US" sz="2400" kern="100" dirty="0">
                          <a:effectLst/>
                        </a:rPr>
                        <a:t>5</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kern="100" dirty="0">
                          <a:effectLst/>
                        </a:rPr>
                        <a:t>*-*</a:t>
                      </a:r>
                      <a:r>
                        <a:rPr lang="en-US" sz="2400" u="sng" kern="100" dirty="0">
                          <a:effectLst/>
                        </a:rPr>
                        <a:t>8</a:t>
                      </a:r>
                      <a:r>
                        <a:rPr lang="en-US" sz="2400" kern="100" dirty="0">
                          <a:effectLst/>
                        </a:rPr>
                        <a:t> </a:t>
                      </a:r>
                      <a:r>
                        <a:rPr lang="en-US" sz="2400" u="sng" kern="100" dirty="0">
                          <a:effectLst/>
                        </a:rPr>
                        <a:t>2</a:t>
                      </a:r>
                      <a:r>
                        <a:rPr lang="en-US" sz="2400" kern="100" dirty="0">
                          <a:effectLst/>
                        </a:rPr>
                        <a:t>/+</a:t>
                      </a:r>
                      <a:endParaRPr lang="zh-CN" sz="2400" kern="100" dirty="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2</a:t>
                      </a:r>
                      <a:r>
                        <a:rPr lang="en-US" sz="2400" kern="100">
                          <a:effectLst/>
                        </a:rPr>
                        <a:t> </a:t>
                      </a:r>
                      <a:r>
                        <a:rPr lang="en-US" sz="2400" u="sng" kern="100">
                          <a:effectLst/>
                        </a:rPr>
                        <a:t>3</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14</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r>
              <a:tr h="466872">
                <a:tc>
                  <a:txBody>
                    <a:bodyPr/>
                    <a:lstStyle/>
                    <a:p>
                      <a:pPr algn="ctr">
                        <a:spcAft>
                          <a:spcPts val="0"/>
                        </a:spcAft>
                      </a:pPr>
                      <a:r>
                        <a:rPr lang="en-US" sz="2400" kern="100" dirty="0">
                          <a:effectLst/>
                        </a:rPr>
                        <a:t>6</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7</a:t>
                      </a:r>
                      <a:r>
                        <a:rPr lang="en-US" sz="2400" kern="100">
                          <a:effectLst/>
                        </a:rPr>
                        <a:t> </a:t>
                      </a:r>
                      <a:r>
                        <a:rPr lang="en-US" sz="2400" u="sng" kern="100">
                          <a:effectLst/>
                        </a:rPr>
                        <a:t>6</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15</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r>
              <a:tr h="444641">
                <a:tc>
                  <a:txBody>
                    <a:bodyPr/>
                    <a:lstStyle/>
                    <a:p>
                      <a:pPr algn="ctr">
                        <a:spcAft>
                          <a:spcPts val="0"/>
                        </a:spcAft>
                      </a:pPr>
                      <a:r>
                        <a:rPr lang="en-US" sz="2400" kern="100" dirty="0">
                          <a:effectLst/>
                        </a:rPr>
                        <a:t>7</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a:t>
                      </a: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r>
                        <a:rPr lang="en-US" sz="2400" kern="100">
                          <a:effectLst/>
                        </a:rPr>
                        <a:t> </a:t>
                      </a:r>
                      <a:r>
                        <a:rPr lang="en-US" sz="2400" u="sng" kern="100">
                          <a:effectLst/>
                        </a:rPr>
                        <a:t>1</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16</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r>
              <a:tr h="466872">
                <a:tc>
                  <a:txBody>
                    <a:bodyPr/>
                    <a:lstStyle/>
                    <a:p>
                      <a:pPr algn="ctr">
                        <a:spcAft>
                          <a:spcPts val="0"/>
                        </a:spcAft>
                      </a:pPr>
                      <a:r>
                        <a:rPr lang="en-US" sz="2400" kern="100" dirty="0">
                          <a:effectLst/>
                        </a:rPr>
                        <a:t>8</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a:effectLst/>
                        </a:rPr>
                        <a:t>8</a:t>
                      </a:r>
                      <a:r>
                        <a:rPr lang="en-US" sz="2400" kern="100">
                          <a:effectLst/>
                        </a:rPr>
                        <a:t> </a:t>
                      </a:r>
                      <a:r>
                        <a:rPr lang="en-US" sz="2400" u="sng" kern="100">
                          <a:effectLst/>
                        </a:rPr>
                        <a:t>2</a:t>
                      </a:r>
                      <a:r>
                        <a:rPr lang="en-US" sz="2400" kern="100">
                          <a:effectLst/>
                        </a:rPr>
                        <a:t>/+</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a:effectLst/>
                        </a:rPr>
                        <a:t>5</a:t>
                      </a:r>
                      <a:endParaRPr lang="zh-CN" sz="2400" kern="100">
                        <a:effectLst/>
                        <a:latin typeface="Times New Roman" pitchFamily="18" charset="0"/>
                        <a:ea typeface="宋体" charset="-122"/>
                      </a:endParaRPr>
                    </a:p>
                  </a:txBody>
                  <a:tcPr marL="68580" marR="68580" marT="0" marB="0"/>
                </a:tc>
                <a:tc>
                  <a:txBody>
                    <a:bodyPr/>
                    <a:lstStyle/>
                    <a:p>
                      <a:pPr algn="ctr">
                        <a:spcAft>
                          <a:spcPts val="0"/>
                        </a:spcAft>
                      </a:pPr>
                      <a:r>
                        <a:rPr lang="en-US" sz="2400" kern="100">
                          <a:effectLst/>
                        </a:rPr>
                        <a:t>17</a:t>
                      </a:r>
                      <a:endParaRPr lang="zh-CN" sz="2400" kern="100">
                        <a:effectLst/>
                        <a:latin typeface="Times New Roman" pitchFamily="18" charset="0"/>
                        <a:ea typeface="宋体" charset="-122"/>
                      </a:endParaRPr>
                    </a:p>
                  </a:txBody>
                  <a:tcPr marL="68580" marR="68580" marT="0" marB="0"/>
                </a:tc>
                <a:tc>
                  <a:txBody>
                    <a:bodyPr/>
                    <a:lstStyle/>
                    <a:p>
                      <a:pPr algn="r">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c>
                  <a:txBody>
                    <a:bodyPr/>
                    <a:lstStyle/>
                    <a:p>
                      <a:pPr algn="just">
                        <a:spcAft>
                          <a:spcPts val="0"/>
                        </a:spcAft>
                      </a:pPr>
                      <a:r>
                        <a:rPr lang="en-US" sz="2400" kern="100">
                          <a:effectLst/>
                        </a:rPr>
                        <a:t> </a:t>
                      </a:r>
                      <a:endParaRPr lang="zh-CN" sz="2400" kern="100">
                        <a:effectLst/>
                        <a:latin typeface="Times New Roman" pitchFamily="18" charset="0"/>
                        <a:ea typeface="宋体" charset="-122"/>
                      </a:endParaRPr>
                    </a:p>
                  </a:txBody>
                  <a:tcPr marL="68580" marR="68580" marT="0" marB="0"/>
                </a:tc>
              </a:tr>
              <a:tr h="466872">
                <a:tc>
                  <a:txBody>
                    <a:bodyPr/>
                    <a:lstStyle/>
                    <a:p>
                      <a:pPr algn="ctr">
                        <a:spcAft>
                          <a:spcPts val="0"/>
                        </a:spcAft>
                      </a:pPr>
                      <a:r>
                        <a:rPr lang="en-US" sz="2400" kern="100" dirty="0">
                          <a:effectLst/>
                        </a:rPr>
                        <a:t>9</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u="sng" kern="100" dirty="0">
                          <a:effectLst/>
                        </a:rPr>
                        <a:t>2</a:t>
                      </a:r>
                      <a:r>
                        <a:rPr lang="en-US" sz="2400" kern="100" dirty="0">
                          <a:effectLst/>
                        </a:rPr>
                        <a:t>/+</a:t>
                      </a:r>
                      <a:endParaRPr lang="zh-CN" sz="2400" kern="100" dirty="0">
                        <a:effectLst/>
                        <a:latin typeface="Times New Roman" pitchFamily="18" charset="0"/>
                        <a:ea typeface="宋体" charset="-122"/>
                      </a:endParaRPr>
                    </a:p>
                  </a:txBody>
                  <a:tcPr marL="68580" marR="68580" marT="0" marB="0"/>
                </a:tc>
                <a:tc>
                  <a:txBody>
                    <a:bodyPr/>
                    <a:lstStyle/>
                    <a:p>
                      <a:pPr algn="just">
                        <a:spcAft>
                          <a:spcPts val="0"/>
                        </a:spcAft>
                      </a:pPr>
                      <a:r>
                        <a:rPr lang="en-US" sz="2400" u="sng" kern="100" dirty="0">
                          <a:effectLst/>
                        </a:rPr>
                        <a:t>5</a:t>
                      </a:r>
                      <a:r>
                        <a:rPr lang="en-US" sz="2400" kern="100" dirty="0">
                          <a:effectLst/>
                        </a:rPr>
                        <a:t> </a:t>
                      </a:r>
                      <a:r>
                        <a:rPr lang="en-US" sz="2400" u="sng" kern="100" dirty="0">
                          <a:effectLst/>
                        </a:rPr>
                        <a:t>8</a:t>
                      </a:r>
                      <a:endParaRPr lang="zh-CN" sz="2400" kern="100" dirty="0">
                        <a:effectLst/>
                        <a:latin typeface="Times New Roman" pitchFamily="18" charset="0"/>
                        <a:ea typeface="宋体" charset="-122"/>
                      </a:endParaRPr>
                    </a:p>
                  </a:txBody>
                  <a:tcPr marL="68580" marR="68580" marT="0" marB="0"/>
                </a:tc>
                <a:tc>
                  <a:txBody>
                    <a:bodyPr/>
                    <a:lstStyle/>
                    <a:p>
                      <a:pPr algn="ctr">
                        <a:spcAft>
                          <a:spcPts val="0"/>
                        </a:spcAft>
                      </a:pPr>
                      <a:r>
                        <a:rPr lang="en-US" sz="2400" kern="100" dirty="0">
                          <a:effectLst/>
                        </a:rPr>
                        <a:t>18</a:t>
                      </a:r>
                      <a:endParaRPr lang="zh-CN" sz="2400" kern="100" dirty="0">
                        <a:effectLst/>
                        <a:latin typeface="Times New Roman" pitchFamily="18" charset="0"/>
                        <a:ea typeface="宋体" charset="-122"/>
                      </a:endParaRPr>
                    </a:p>
                  </a:txBody>
                  <a:tcPr marL="68580" marR="68580" marT="0" marB="0"/>
                </a:tc>
                <a:tc>
                  <a:txBody>
                    <a:bodyPr/>
                    <a:lstStyle/>
                    <a:p>
                      <a:pPr algn="r">
                        <a:spcAft>
                          <a:spcPts val="0"/>
                        </a:spcAft>
                      </a:pPr>
                      <a:r>
                        <a:rPr lang="en-US" sz="2400" kern="100" dirty="0">
                          <a:effectLst/>
                        </a:rPr>
                        <a:t> </a:t>
                      </a:r>
                      <a:endParaRPr lang="zh-CN" sz="2400" kern="100" dirty="0">
                        <a:effectLst/>
                        <a:latin typeface="Times New Roman" pitchFamily="18" charset="0"/>
                        <a:ea typeface="宋体" charset="-122"/>
                      </a:endParaRPr>
                    </a:p>
                  </a:txBody>
                  <a:tcPr marL="68580" marR="68580" marT="0" marB="0"/>
                </a:tc>
                <a:tc>
                  <a:txBody>
                    <a:bodyPr/>
                    <a:lstStyle/>
                    <a:p>
                      <a:pPr algn="just">
                        <a:spcAft>
                          <a:spcPts val="0"/>
                        </a:spcAft>
                      </a:pPr>
                      <a:r>
                        <a:rPr lang="en-US" sz="2400" kern="100" dirty="0">
                          <a:effectLst/>
                        </a:rPr>
                        <a:t> </a:t>
                      </a:r>
                      <a:endParaRPr lang="zh-CN" sz="2400" kern="100" dirty="0">
                        <a:effectLst/>
                        <a:latin typeface="Times New Roman" pitchFamily="18" charset="0"/>
                        <a:ea typeface="宋体" charset="-122"/>
                      </a:endParaRPr>
                    </a:p>
                  </a:txBody>
                  <a:tcPr marL="68580" marR="68580" marT="0" marB="0"/>
                </a:tc>
              </a:tr>
            </a:tbl>
          </a:graphicData>
        </a:graphic>
      </p:graphicFrame>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665846"/>
            <a:ext cx="11903716" cy="4913857"/>
          </a:xfrm>
        </p:spPr>
        <p:txBody>
          <a:bodyPr>
            <a:normAutofit lnSpcReduction="10000"/>
          </a:bodyPr>
          <a:lstStyle/>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声明一个操作数栈，依次读入后缀式中的字符。</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若读到的是操作数，将其进栈；</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若读到的是运算符，将栈顶的两个操作数出栈。后弹出的操作数为被操作数，先弹出的为操作数。将出栈的两个操作数完成运算符所规定的运算后将结果进栈。</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继续读入后缀式中的字符，如上处理，最后直到后缀式中所有字符读入完毕。</a:t>
            </a:r>
            <a:endParaRPr lang="en-US" altLang="zh-CN" sz="2800" b="0" dirty="0">
              <a:latin typeface="华文楷体" pitchFamily="2" charset="-122"/>
              <a:ea typeface="华文楷体" pitchFamily="2" charset="-122"/>
            </a:endParaRPr>
          </a:p>
          <a:p>
            <a:pPr marL="514350" indent="-514350">
              <a:lnSpc>
                <a:spcPct val="115000"/>
              </a:lnSpc>
              <a:buFont typeface="+mj-lt"/>
              <a:buAutoNum type="arabicPeriod"/>
              <a:defRPr/>
            </a:pPr>
            <a:r>
              <a:rPr lang="zh-CN" altLang="zh-CN" sz="2800" b="0" dirty="0">
                <a:latin typeface="华文楷体" pitchFamily="2" charset="-122"/>
                <a:ea typeface="华文楷体" pitchFamily="2" charset="-122"/>
              </a:rPr>
              <a:t>当完成以上操作后，栈中只剩一个操作数，弹出该操作数，它就是表达式的计算结果。</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itchFamily="2" charset="-122"/>
                <a:ea typeface="华文楷体" pitchFamily="2" charset="-122"/>
              </a:rPr>
              <a:t>计算后缀式：</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06821"/>
            <a:ext cx="11903716" cy="5112640"/>
          </a:xfrm>
        </p:spPr>
        <p:txBody>
          <a:bodyPr>
            <a:noAutofit/>
          </a:bodyPr>
          <a:lstStyle/>
          <a:p>
            <a:pPr marL="0" indent="0">
              <a:buNone/>
            </a:pPr>
            <a:r>
              <a:rPr lang="en-US" altLang="zh-CN" sz="2000" b="0" dirty="0" err="1">
                <a:cs typeface="Times New Roman" pitchFamily="18" charset="0"/>
              </a:rPr>
              <a:t>int</a:t>
            </a:r>
            <a:r>
              <a:rPr lang="en-US" altLang="zh-CN" sz="2000" b="0" dirty="0">
                <a:cs typeface="Times New Roman" pitchFamily="18" charset="0"/>
              </a:rPr>
              <a:t> </a:t>
            </a:r>
            <a:r>
              <a:rPr lang="en-US" altLang="zh-CN" sz="2000" b="0" dirty="0" err="1">
                <a:cs typeface="Times New Roman" pitchFamily="18" charset="0"/>
              </a:rPr>
              <a:t>calcPost</a:t>
            </a:r>
            <a:r>
              <a:rPr lang="en-US" altLang="zh-CN" sz="2000" b="0" dirty="0">
                <a:cs typeface="Times New Roman" pitchFamily="18" charset="0"/>
              </a:rPr>
              <a:t>(char *</a:t>
            </a:r>
            <a:r>
              <a:rPr lang="en-US" altLang="zh-CN" sz="2000" b="0" dirty="0" err="1">
                <a:cs typeface="Times New Roman" pitchFamily="18" charset="0"/>
              </a:rPr>
              <a:t>sufStr</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int</a:t>
            </a:r>
            <a:r>
              <a:rPr lang="en-US" altLang="zh-CN" sz="2000" b="0" dirty="0">
                <a:cs typeface="Times New Roman" pitchFamily="18" charset="0"/>
              </a:rPr>
              <a:t> op1, op2, op;   </a:t>
            </a:r>
            <a:r>
              <a:rPr lang="en-US" altLang="zh-CN" sz="2000" b="0" dirty="0" err="1">
                <a:cs typeface="Times New Roman" pitchFamily="18" charset="0"/>
              </a:rPr>
              <a:t>int</a:t>
            </a:r>
            <a:r>
              <a:rPr lang="en-US" altLang="zh-CN" sz="2000" b="0" dirty="0">
                <a:cs typeface="Times New Roman" pitchFamily="18" charset="0"/>
              </a:rPr>
              <a:t> </a:t>
            </a:r>
            <a:r>
              <a:rPr lang="en-US" altLang="zh-CN" sz="2000" b="0" dirty="0" err="1">
                <a:cs typeface="Times New Roman" pitchFamily="18" charset="0"/>
              </a:rPr>
              <a:t>tmp</a:t>
            </a:r>
            <a:r>
              <a:rPr lang="en-US" altLang="zh-CN" sz="2000" b="0" dirty="0">
                <a:cs typeface="Times New Roman" pitchFamily="18" charset="0"/>
              </a:rPr>
              <a:t>, </a:t>
            </a:r>
            <a:r>
              <a:rPr lang="en-US" altLang="zh-CN" sz="2000" b="0" dirty="0" err="1">
                <a:cs typeface="Times New Roman" pitchFamily="18" charset="0"/>
              </a:rPr>
              <a:t>i</a:t>
            </a:r>
            <a:r>
              <a:rPr lang="en-US" altLang="zh-CN" sz="2000" b="0" dirty="0">
                <a:cs typeface="Times New Roman" pitchFamily="18" charset="0"/>
              </a:rPr>
              <a:t>;   </a:t>
            </a:r>
            <a:r>
              <a:rPr lang="en-US" altLang="zh-CN" sz="2000" b="0" dirty="0" err="1">
                <a:cs typeface="Times New Roman" pitchFamily="18" charset="0"/>
              </a:rPr>
              <a:t>linkStack</a:t>
            </a:r>
            <a:r>
              <a:rPr lang="en-US" altLang="zh-CN" sz="2000" b="0" dirty="0">
                <a:cs typeface="Times New Roman" pitchFamily="18" charset="0"/>
              </a:rPr>
              <a:t>&lt;</a:t>
            </a:r>
            <a:r>
              <a:rPr lang="en-US" altLang="zh-CN" sz="2000" b="0" dirty="0" err="1">
                <a:cs typeface="Times New Roman" pitchFamily="18" charset="0"/>
              </a:rPr>
              <a:t>int</a:t>
            </a:r>
            <a:r>
              <a:rPr lang="en-US" altLang="zh-CN" sz="2000" b="0" dirty="0">
                <a:cs typeface="Times New Roman" pitchFamily="18" charset="0"/>
              </a:rPr>
              <a:t>&gt; s;</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i</a:t>
            </a:r>
            <a:r>
              <a:rPr lang="en-US" altLang="zh-CN" sz="2000" b="0" dirty="0">
                <a:cs typeface="Times New Roman" pitchFamily="18" charset="0"/>
              </a:rPr>
              <a:t>=0;</a:t>
            </a:r>
            <a:endParaRPr lang="zh-CN" altLang="zh-CN" sz="2000" b="0" dirty="0">
              <a:cs typeface="Times New Roman" pitchFamily="18" charset="0"/>
            </a:endParaRPr>
          </a:p>
          <a:p>
            <a:pPr marL="0" indent="0">
              <a:buNone/>
            </a:pPr>
            <a:r>
              <a:rPr lang="en-US" altLang="zh-CN" sz="2000" b="0" dirty="0">
                <a:cs typeface="Times New Roman" pitchFamily="18" charset="0"/>
              </a:rPr>
              <a:t>    while (</a:t>
            </a:r>
            <a:r>
              <a:rPr lang="en-US" altLang="zh-CN" sz="2000" b="0" dirty="0" err="1">
                <a:cs typeface="Times New Roman" pitchFamily="18" charset="0"/>
              </a:rPr>
              <a:t>sufStr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]!='\0')</a:t>
            </a:r>
            <a:endParaRPr lang="zh-CN" altLang="zh-CN" sz="2000" b="0" dirty="0">
              <a:cs typeface="Times New Roman" pitchFamily="18" charset="0"/>
            </a:endParaRPr>
          </a:p>
          <a:p>
            <a:pPr marL="0" indent="0">
              <a:buNone/>
            </a:pPr>
            <a:r>
              <a:rPr lang="en-US" altLang="zh-CN" sz="2000" b="0" dirty="0">
                <a:cs typeface="Times New Roman" pitchFamily="18" charset="0"/>
              </a:rPr>
              <a:t>    {   if ((</a:t>
            </a:r>
            <a:r>
              <a:rPr lang="en-US" altLang="zh-CN" sz="2000" b="0" dirty="0" err="1">
                <a:cs typeface="Times New Roman" pitchFamily="18" charset="0"/>
              </a:rPr>
              <a:t>sufStr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]&gt;='0')&amp;&amp;(</a:t>
            </a:r>
            <a:r>
              <a:rPr lang="en-US" altLang="zh-CN" sz="2000" b="0" dirty="0" err="1">
                <a:cs typeface="Times New Roman" pitchFamily="18" charset="0"/>
              </a:rPr>
              <a:t>sufStr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]&lt;='9')) //</a:t>
            </a:r>
            <a:r>
              <a:rPr lang="zh-CN" altLang="zh-CN" sz="2000" b="0" dirty="0">
                <a:cs typeface="Times New Roman" pitchFamily="18" charset="0"/>
              </a:rPr>
              <a:t>数字转为整数后进栈</a:t>
            </a:r>
            <a:endParaRPr lang="zh-CN" altLang="zh-CN" sz="2000" b="0" dirty="0">
              <a:cs typeface="Times New Roman" pitchFamily="18" charset="0"/>
            </a:endParaRPr>
          </a:p>
          <a:p>
            <a:pPr marL="0" indent="0">
              <a:buNone/>
            </a:pPr>
            <a:r>
              <a:rPr lang="en-US" altLang="zh-CN" sz="2000" b="0" dirty="0">
                <a:cs typeface="Times New Roman" pitchFamily="18" charset="0"/>
              </a:rPr>
              <a:t>        {  </a:t>
            </a:r>
            <a:r>
              <a:rPr lang="en-US" altLang="zh-CN" sz="2000" b="0" dirty="0" err="1">
                <a:cs typeface="Times New Roman" pitchFamily="18" charset="0"/>
              </a:rPr>
              <a:t>tmp</a:t>
            </a:r>
            <a:r>
              <a:rPr lang="en-US" altLang="zh-CN" sz="2000" b="0" dirty="0">
                <a:cs typeface="Times New Roman" pitchFamily="18" charset="0"/>
              </a:rPr>
              <a:t> = </a:t>
            </a:r>
            <a:r>
              <a:rPr lang="en-US" altLang="zh-CN" sz="2000" b="0" dirty="0" err="1">
                <a:cs typeface="Times New Roman" pitchFamily="18" charset="0"/>
              </a:rPr>
              <a:t>sufStr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 - '0';</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s.push</a:t>
            </a:r>
            <a:r>
              <a:rPr lang="en-US" altLang="zh-CN" sz="2000" b="0" dirty="0">
                <a:cs typeface="Times New Roman" pitchFamily="18" charset="0"/>
              </a:rPr>
              <a:t>(</a:t>
            </a:r>
            <a:r>
              <a:rPr lang="en-US" altLang="zh-CN" sz="2000" b="0" dirty="0" err="1">
                <a:cs typeface="Times New Roman" pitchFamily="18" charset="0"/>
              </a:rPr>
              <a:t>tmp</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en-US" altLang="zh-CN" sz="2000" b="0" dirty="0">
              <a:cs typeface="Times New Roman" pitchFamily="18" charset="0"/>
            </a:endParaRPr>
          </a:p>
          <a:p>
            <a:pPr marL="0" indent="0">
              <a:buNone/>
            </a:pPr>
            <a:r>
              <a:rPr lang="en-US" altLang="zh-CN" sz="2000" b="0" dirty="0">
                <a:cs typeface="Times New Roman" pitchFamily="18" charset="0"/>
              </a:rPr>
              <a:t>        else</a:t>
            </a:r>
            <a:endParaRPr lang="zh-CN" altLang="zh-CN" sz="2000" b="0" dirty="0">
              <a:cs typeface="Times New Roman" pitchFamily="18" charset="0"/>
            </a:endParaRPr>
          </a:p>
          <a:p>
            <a:pPr marL="0" indent="0">
              <a:buNone/>
            </a:pPr>
            <a:r>
              <a:rPr lang="en-US" altLang="zh-CN" sz="2000" b="0" dirty="0">
                <a:cs typeface="Times New Roman" pitchFamily="18" charset="0"/>
              </a:rPr>
              <a:t>        {     op2 = </a:t>
            </a:r>
            <a:r>
              <a:rPr lang="en-US" altLang="zh-CN" sz="2000" b="0" dirty="0" err="1">
                <a:cs typeface="Times New Roman" pitchFamily="18" charset="0"/>
              </a:rPr>
              <a:t>s.top</a:t>
            </a:r>
            <a:r>
              <a:rPr lang="en-US" altLang="zh-CN" sz="2000" b="0" dirty="0">
                <a:cs typeface="Times New Roman" pitchFamily="18" charset="0"/>
              </a:rPr>
              <a:t>(); </a:t>
            </a:r>
            <a:r>
              <a:rPr lang="en-US" altLang="zh-CN" sz="2000" b="0" dirty="0" err="1">
                <a:cs typeface="Times New Roman" pitchFamily="18" charset="0"/>
              </a:rPr>
              <a:t>s.pop</a:t>
            </a:r>
            <a:r>
              <a:rPr lang="en-US" altLang="zh-CN" sz="2000" b="0" dirty="0">
                <a:cs typeface="Times New Roman" pitchFamily="18" charset="0"/>
              </a:rPr>
              <a:t>(); //</a:t>
            </a:r>
            <a:r>
              <a:rPr lang="zh-CN" altLang="zh-CN" sz="2000" b="0" dirty="0">
                <a:cs typeface="Times New Roman" pitchFamily="18" charset="0"/>
              </a:rPr>
              <a:t>栈顶整数出栈</a:t>
            </a:r>
            <a:r>
              <a:rPr lang="en-US" altLang="zh-CN" sz="2000" b="0" dirty="0">
                <a:cs typeface="Times New Roman" pitchFamily="18" charset="0"/>
              </a:rPr>
              <a:t>      op1 = </a:t>
            </a:r>
            <a:r>
              <a:rPr lang="en-US" altLang="zh-CN" sz="2000" b="0" dirty="0" err="1">
                <a:cs typeface="Times New Roman" pitchFamily="18" charset="0"/>
              </a:rPr>
              <a:t>s.top</a:t>
            </a:r>
            <a:r>
              <a:rPr lang="en-US" altLang="zh-CN" sz="2000" b="0" dirty="0">
                <a:cs typeface="Times New Roman" pitchFamily="18" charset="0"/>
              </a:rPr>
              <a:t>(); </a:t>
            </a:r>
            <a:r>
              <a:rPr lang="en-US" altLang="zh-CN" sz="2000" b="0" dirty="0" err="1">
                <a:cs typeface="Times New Roman" pitchFamily="18" charset="0"/>
              </a:rPr>
              <a:t>s.pop</a:t>
            </a:r>
            <a:r>
              <a:rPr lang="en-US" altLang="zh-CN" sz="2000" b="0" dirty="0">
                <a:cs typeface="Times New Roman" pitchFamily="18" charset="0"/>
              </a:rPr>
              <a:t>();</a:t>
            </a:r>
            <a:endParaRPr lang="en-US" altLang="zh-CN"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itchFamily="2" charset="-122"/>
                <a:ea typeface="华文楷体" pitchFamily="2" charset="-122"/>
              </a:rPr>
              <a:t>计算后缀式算法实现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28041" y="870717"/>
            <a:ext cx="10227315" cy="5669232"/>
          </a:xfrm>
        </p:spPr>
        <p:txBody>
          <a:bodyPr>
            <a:noAutofit/>
          </a:bodyPr>
          <a:lstStyle/>
          <a:p>
            <a:pPr marL="0" indent="0">
              <a:buNone/>
            </a:pPr>
            <a:r>
              <a:rPr lang="en-US" altLang="zh-CN" sz="2000" b="0" dirty="0">
                <a:cs typeface="Times New Roman" pitchFamily="18" charset="0"/>
              </a:rPr>
              <a:t>            switch (</a:t>
            </a:r>
            <a:r>
              <a:rPr lang="en-US" altLang="zh-CN" sz="2000" b="0" dirty="0" err="1">
                <a:cs typeface="Times New Roman" pitchFamily="18" charset="0"/>
              </a:rPr>
              <a:t>sufStr</a:t>
            </a:r>
            <a:r>
              <a:rPr lang="en-US" altLang="zh-CN" sz="2000" b="0" dirty="0">
                <a:cs typeface="Times New Roman" pitchFamily="18" charset="0"/>
              </a:rPr>
              <a:t>[</a:t>
            </a:r>
            <a:r>
              <a:rPr lang="en-US" altLang="zh-CN" sz="2000" b="0" dirty="0" err="1">
                <a:cs typeface="Times New Roman" pitchFamily="18" charset="0"/>
              </a:rPr>
              <a:t>i</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  case '*': op = op1*op2; break; //</a:t>
            </a:r>
            <a:r>
              <a:rPr lang="zh-CN" altLang="zh-CN" sz="2000" b="0" dirty="0">
                <a:cs typeface="Times New Roman" pitchFamily="18" charset="0"/>
              </a:rPr>
              <a:t>如果是运算符为</a:t>
            </a:r>
            <a:r>
              <a:rPr lang="en-US" altLang="zh-CN" sz="2000" b="0" dirty="0">
                <a:cs typeface="Times New Roman" pitchFamily="18" charset="0"/>
              </a:rPr>
              <a:t>'*',</a:t>
            </a:r>
            <a:r>
              <a:rPr lang="zh-CN" altLang="zh-CN" sz="2000" b="0" dirty="0">
                <a:cs typeface="Times New Roman" pitchFamily="18" charset="0"/>
              </a:rPr>
              <a:t>则做</a:t>
            </a:r>
            <a:r>
              <a:rPr lang="en-US" altLang="zh-CN" sz="2000" b="0" dirty="0">
                <a:cs typeface="Times New Roman" pitchFamily="18" charset="0"/>
              </a:rPr>
              <a:t>*</a:t>
            </a:r>
            <a:r>
              <a:rPr lang="zh-CN" altLang="zh-CN" sz="2000" b="0" dirty="0">
                <a:cs typeface="Times New Roman" pitchFamily="18" charset="0"/>
              </a:rPr>
              <a:t>运算</a:t>
            </a:r>
            <a:endParaRPr lang="zh-CN" altLang="zh-CN" sz="2000" b="0" dirty="0">
              <a:cs typeface="Times New Roman" pitchFamily="18" charset="0"/>
            </a:endParaRPr>
          </a:p>
          <a:p>
            <a:pPr marL="0" indent="0">
              <a:buNone/>
            </a:pPr>
            <a:r>
              <a:rPr lang="en-US" altLang="zh-CN" sz="2000" b="0" dirty="0">
                <a:cs typeface="Times New Roman" pitchFamily="18" charset="0"/>
              </a:rPr>
              <a:t>                case '/': op = op1/op2; break;</a:t>
            </a:r>
            <a:endParaRPr lang="zh-CN" altLang="zh-CN" sz="2000" b="0" dirty="0">
              <a:cs typeface="Times New Roman" pitchFamily="18" charset="0"/>
            </a:endParaRPr>
          </a:p>
          <a:p>
            <a:pPr marL="0" indent="0">
              <a:buNone/>
            </a:pPr>
            <a:r>
              <a:rPr lang="en-US" altLang="zh-CN" sz="2000" b="0" dirty="0">
                <a:cs typeface="Times New Roman" pitchFamily="18" charset="0"/>
              </a:rPr>
              <a:t>                case '+': op = op1+op2; break;</a:t>
            </a:r>
            <a:endParaRPr lang="zh-CN" altLang="zh-CN" sz="2000" b="0" dirty="0">
              <a:cs typeface="Times New Roman" pitchFamily="18" charset="0"/>
            </a:endParaRPr>
          </a:p>
          <a:p>
            <a:pPr marL="0" indent="0">
              <a:buNone/>
            </a:pPr>
            <a:r>
              <a:rPr lang="en-US" altLang="zh-CN" sz="2000" b="0" dirty="0">
                <a:cs typeface="Times New Roman" pitchFamily="18" charset="0"/>
              </a:rPr>
              <a:t>                case '-': op = op1-op2; break;      </a:t>
            </a:r>
            <a:endParaRPr lang="en-US" altLang="zh-CN" sz="2000" b="0" dirty="0">
              <a:cs typeface="Times New Roman" pitchFamily="18" charset="0"/>
            </a:endParaRPr>
          </a:p>
          <a:p>
            <a:pPr marL="0" indent="0">
              <a:buNone/>
            </a:pPr>
            <a:r>
              <a:rPr lang="en-US" altLang="zh-CN" sz="2000" b="0" dirty="0">
                <a:cs typeface="Times New Roman" pitchFamily="18" charset="0"/>
              </a:rPr>
              <a:t>            };</a:t>
            </a:r>
            <a:endParaRPr lang="zh-CN" altLang="zh-CN" sz="2000" b="0" dirty="0">
              <a:cs typeface="Times New Roman" pitchFamily="18" charset="0"/>
            </a:endParaRPr>
          </a:p>
          <a:p>
            <a:pPr marL="0" indent="0">
              <a:buNone/>
            </a:pPr>
            <a:r>
              <a:rPr lang="en-US" altLang="zh-CN" sz="2000" b="0" dirty="0">
                <a:cs typeface="Times New Roman" pitchFamily="18" charset="0"/>
              </a:rPr>
              <a:t>            </a:t>
            </a:r>
            <a:r>
              <a:rPr lang="en-US" altLang="zh-CN" sz="2000" b="0" dirty="0" err="1">
                <a:cs typeface="Times New Roman" pitchFamily="18" charset="0"/>
              </a:rPr>
              <a:t>s.push</a:t>
            </a:r>
            <a:r>
              <a:rPr lang="en-US" altLang="zh-CN" sz="2000" b="0" dirty="0">
                <a:cs typeface="Times New Roman" pitchFamily="18" charset="0"/>
              </a:rPr>
              <a:t>(op); //</a:t>
            </a:r>
            <a:r>
              <a:rPr lang="zh-CN" altLang="zh-CN" sz="2000" b="0" dirty="0">
                <a:cs typeface="Times New Roman" pitchFamily="18" charset="0"/>
              </a:rPr>
              <a:t>每一步计算结果进栈</a:t>
            </a:r>
            <a:endParaRPr lang="zh-CN" altLang="zh-CN" sz="2000" b="0" dirty="0">
              <a:cs typeface="Times New Roman" pitchFamily="18" charset="0"/>
            </a:endParaRPr>
          </a:p>
          <a:p>
            <a:pPr marL="0" indent="0">
              <a:buNone/>
            </a:pPr>
            <a:r>
              <a:rPr lang="en-US" altLang="zh-CN" sz="2000" b="0" dirty="0">
                <a:cs typeface="Times New Roman" pitchFamily="18" charset="0"/>
              </a:rPr>
              <a:t>        }    </a:t>
            </a:r>
            <a:r>
              <a:rPr lang="en-US" altLang="zh-CN" sz="2000" b="0" dirty="0" err="1">
                <a:cs typeface="Times New Roman" pitchFamily="18" charset="0"/>
              </a:rPr>
              <a:t>i</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 </a:t>
            </a:r>
            <a:endParaRPr lang="zh-CN" altLang="zh-CN" sz="2000" b="0" dirty="0">
              <a:cs typeface="Times New Roman" pitchFamily="18" charset="0"/>
            </a:endParaRPr>
          </a:p>
          <a:p>
            <a:pPr marL="0" indent="0">
              <a:buNone/>
            </a:pPr>
            <a:r>
              <a:rPr lang="en-US" altLang="zh-CN" sz="2000" b="0" dirty="0">
                <a:cs typeface="Times New Roman" pitchFamily="18" charset="0"/>
              </a:rPr>
              <a:t>    op = </a:t>
            </a:r>
            <a:r>
              <a:rPr lang="en-US" altLang="zh-CN" sz="2000" b="0" dirty="0" err="1">
                <a:cs typeface="Times New Roman" pitchFamily="18" charset="0"/>
              </a:rPr>
              <a:t>s.top</a:t>
            </a:r>
            <a:r>
              <a:rPr lang="en-US" altLang="zh-CN" sz="2000" b="0" dirty="0">
                <a:cs typeface="Times New Roman" pitchFamily="18" charset="0"/>
              </a:rPr>
              <a:t>(); </a:t>
            </a:r>
            <a:r>
              <a:rPr lang="en-US" altLang="zh-CN" sz="2000" b="0" dirty="0" err="1">
                <a:cs typeface="Times New Roman" pitchFamily="18" charset="0"/>
              </a:rPr>
              <a:t>s.pop</a:t>
            </a: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    return op;        }</a:t>
            </a:r>
            <a:endParaRPr lang="en-US" altLang="zh-CN" sz="2000" b="0" dirty="0">
              <a:cs typeface="Times New Roman" pitchFamily="18" charset="0"/>
            </a:endParaRPr>
          </a:p>
        </p:txBody>
      </p:sp>
      <p:sp>
        <p:nvSpPr>
          <p:cNvPr id="3" name="文本框 2"/>
          <p:cNvSpPr txBox="1"/>
          <p:nvPr/>
        </p:nvSpPr>
        <p:spPr>
          <a:xfrm>
            <a:off x="6738730" y="2862470"/>
            <a:ext cx="4711148" cy="1384995"/>
          </a:xfrm>
          <a:prstGeom prst="rect">
            <a:avLst/>
          </a:prstGeom>
          <a:noFill/>
        </p:spPr>
        <p:txBody>
          <a:bodyPr wrap="square" rtlCol="0">
            <a:spAutoFit/>
          </a:bodyPr>
          <a:lstStyle/>
          <a:p>
            <a:r>
              <a:rPr lang="zh-CN" altLang="en-US" sz="2800" dirty="0">
                <a:latin typeface="华文楷体" pitchFamily="2" charset="-122"/>
                <a:ea typeface="华文楷体" pitchFamily="2" charset="-122"/>
              </a:rPr>
              <a:t>从算法中可以看出，对后缀式字符串从左到右一次扫描即可计算完毕。</a:t>
            </a:r>
            <a:endParaRPr lang="zh-CN" altLang="en-US" sz="2800" dirty="0">
              <a:latin typeface="华文楷体" pitchFamily="2" charset="-122"/>
              <a:ea typeface="华文楷体" pitchFamily="2" charset="-122"/>
            </a:endParaRPr>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6"/>
            <a:ext cx="11903716" cy="3619498"/>
          </a:xfrm>
        </p:spPr>
        <p:txBody>
          <a:bodyPr>
            <a:normAutofit/>
          </a:bodyPr>
          <a:lstStyle/>
          <a:p>
            <a:pPr marL="0" indent="0">
              <a:lnSpc>
                <a:spcPct val="115000"/>
              </a:lnSpc>
              <a:buNone/>
              <a:defRPr/>
            </a:pPr>
            <a:r>
              <a:rPr lang="zh-CN" altLang="zh-CN" sz="2800" b="0" dirty="0">
                <a:ea typeface="华文楷体" pitchFamily="2" charset="-122"/>
                <a:cs typeface="Times New Roman" pitchFamily="18" charset="0"/>
              </a:rPr>
              <a:t>表达式</a:t>
            </a:r>
            <a:r>
              <a:rPr lang="en-US" altLang="zh-CN" sz="2800" b="0" dirty="0">
                <a:ea typeface="华文楷体" pitchFamily="2" charset="-122"/>
                <a:cs typeface="Times New Roman" pitchFamily="18" charset="0"/>
              </a:rPr>
              <a:t>5*(7-2*3)+8/2</a:t>
            </a:r>
            <a:r>
              <a:rPr lang="zh-CN" altLang="zh-CN" sz="2800" b="0" dirty="0">
                <a:ea typeface="华文楷体" pitchFamily="2" charset="-122"/>
                <a:cs typeface="Times New Roman" pitchFamily="18" charset="0"/>
              </a:rPr>
              <a:t>转换为后缀式为： </a:t>
            </a:r>
            <a:r>
              <a:rPr lang="en-US" altLang="zh-CN" sz="2800" b="0" dirty="0">
                <a:ea typeface="华文楷体" pitchFamily="2" charset="-122"/>
                <a:cs typeface="Times New Roman" pitchFamily="18" charset="0"/>
              </a:rPr>
              <a:t>5 7 2 3*-*8 2/+</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手工转换时，先计算的先转换，即按照计算的优先级来。</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观察后缀式，可以看出：</a:t>
            </a:r>
            <a:endParaRPr lang="en-US" altLang="zh-CN" sz="2800" b="0" dirty="0">
              <a:ea typeface="华文楷体" pitchFamily="2" charset="-122"/>
              <a:cs typeface="Times New Roman" pitchFamily="18" charset="0"/>
            </a:endParaRPr>
          </a:p>
          <a:p>
            <a:pPr marL="0" indent="0">
              <a:lnSpc>
                <a:spcPct val="115000"/>
              </a:lnSpc>
              <a:buNone/>
              <a:defRPr/>
            </a:pPr>
            <a:r>
              <a:rPr lang="zh-CN" altLang="en-US" sz="2800" b="0" dirty="0">
                <a:ea typeface="华文楷体" pitchFamily="2" charset="-122"/>
                <a:cs typeface="Times New Roman" pitchFamily="18" charset="0"/>
              </a:rPr>
              <a:t>从左至右，操作数保持原来的相对位置，操作符是先计算的先出现。</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dirty="0">
              <a:ea typeface="华文楷体" pitchFamily="2" charset="-122"/>
              <a:cs typeface="Times New Roman" pitchFamily="18" charset="0"/>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中缀式转后缀式</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6"/>
            <a:ext cx="11903716" cy="481005"/>
          </a:xfrm>
        </p:spPr>
        <p:txBody>
          <a:bodyPr>
            <a:noAutofit/>
          </a:bodyPr>
          <a:lstStyle/>
          <a:p>
            <a:pPr marL="0" indent="0">
              <a:lnSpc>
                <a:spcPct val="115000"/>
              </a:lnSpc>
              <a:buNone/>
              <a:defRPr/>
            </a:pPr>
            <a:r>
              <a:rPr lang="zh-CN" altLang="zh-CN" b="0" dirty="0">
                <a:ea typeface="华文楷体" pitchFamily="2" charset="-122"/>
                <a:cs typeface="Times New Roman" pitchFamily="18" charset="0"/>
              </a:rPr>
              <a:t>设立一个用于保存运算符的堆栈，先将一个底垫</a:t>
            </a:r>
            <a:r>
              <a:rPr lang="en-US" altLang="zh-CN" b="0" dirty="0">
                <a:ea typeface="华文楷体" pitchFamily="2" charset="-122"/>
                <a:cs typeface="Times New Roman" pitchFamily="18" charset="0"/>
              </a:rPr>
              <a:t>’#’</a:t>
            </a:r>
            <a:r>
              <a:rPr lang="zh-CN" altLang="zh-CN" b="0" dirty="0">
                <a:ea typeface="华文楷体" pitchFamily="2" charset="-122"/>
                <a:cs typeface="Times New Roman" pitchFamily="18" charset="0"/>
              </a:rPr>
              <a:t>压栈，设其优先级为最低。</a:t>
            </a:r>
            <a:endParaRPr lang="en-US" altLang="zh-CN"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fontScale="90000"/>
          </a:bodyPr>
          <a:lstStyle/>
          <a:p>
            <a:pPr marL="838200" indent="-838200">
              <a:defRPr/>
            </a:pPr>
            <a:r>
              <a:rPr lang="zh-CN" altLang="en-US" dirty="0">
                <a:latin typeface="Times New Roman" pitchFamily="18" charset="0"/>
                <a:ea typeface="华文楷体" pitchFamily="2" charset="-122"/>
                <a:cs typeface="Times New Roman" pitchFamily="18" charset="0"/>
              </a:rPr>
              <a:t>中缀式转后缀式算法示例：</a:t>
            </a:r>
            <a:r>
              <a:rPr lang="en-US" altLang="zh-CN" b="0" dirty="0">
                <a:latin typeface="Times New Roman" pitchFamily="18" charset="0"/>
                <a:ea typeface="华文楷体" pitchFamily="2" charset="-122"/>
                <a:cs typeface="Times New Roman" pitchFamily="18" charset="0"/>
              </a:rPr>
              <a:t>5*(7-2*3)+8/2</a:t>
            </a:r>
            <a:r>
              <a:rPr lang="zh-CN" altLang="zh-CN" b="0" dirty="0">
                <a:latin typeface="Times New Roman" pitchFamily="18" charset="0"/>
                <a:ea typeface="华文楷体" pitchFamily="2" charset="-122"/>
                <a:cs typeface="Times New Roman" pitchFamily="18" charset="0"/>
              </a:rPr>
              <a:t>转换为 </a:t>
            </a:r>
            <a:r>
              <a:rPr lang="en-US" altLang="zh-CN" b="0" dirty="0">
                <a:latin typeface="Times New Roman" pitchFamily="18" charset="0"/>
                <a:ea typeface="华文楷体" pitchFamily="2" charset="-122"/>
                <a:cs typeface="Times New Roman" pitchFamily="18" charset="0"/>
              </a:rPr>
              <a:t>5 7 2 3*-*8 2/+</a:t>
            </a:r>
            <a:endParaRPr lang="zh-CN" altLang="en-US" dirty="0">
              <a:latin typeface="Times New Roman" pitchFamily="18" charset="0"/>
              <a:ea typeface="华文楷体" pitchFamily="2" charset="-122"/>
              <a:cs typeface="Times New Roman"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925831" y="2285588"/>
            <a:ext cx="6496465" cy="4433264"/>
          </a:xfrm>
          <a:prstGeom prst="rect">
            <a:avLst/>
          </a:prstGeom>
          <a:noFill/>
          <a:ln>
            <a:noFill/>
          </a:ln>
        </p:spPr>
      </p:pic>
      <p:sp>
        <p:nvSpPr>
          <p:cNvPr id="2" name="文本框 1"/>
          <p:cNvSpPr txBox="1"/>
          <p:nvPr/>
        </p:nvSpPr>
        <p:spPr>
          <a:xfrm>
            <a:off x="288284" y="2484783"/>
            <a:ext cx="2236255" cy="369332"/>
          </a:xfrm>
          <a:prstGeom prst="rect">
            <a:avLst/>
          </a:prstGeom>
          <a:noFill/>
        </p:spPr>
        <p:txBody>
          <a:bodyPr wrap="square" rtlCol="0">
            <a:spAutoFit/>
          </a:bodyPr>
          <a:lstStyle/>
          <a:p>
            <a:r>
              <a:rPr lang="zh-CN" altLang="en-US" dirty="0"/>
              <a:t>摆龙门阵：</a:t>
            </a:r>
            <a:endParaRPr lang="zh-CN" altLang="en-US" dirty="0"/>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5291545"/>
          </a:xfrm>
        </p:spPr>
        <p:txBody>
          <a:bodyPr>
            <a:normAutofit/>
          </a:bodyPr>
          <a:lstStyle/>
          <a:p>
            <a:pPr>
              <a:lnSpc>
                <a:spcPct val="115000"/>
              </a:lnSpc>
              <a:buFont typeface="Wingdings" charset="2"/>
              <a:buChar char="Ø"/>
              <a:defRPr/>
            </a:pPr>
            <a:r>
              <a:rPr lang="zh-CN" altLang="zh-CN" sz="2800" b="0" dirty="0">
                <a:latin typeface="华文楷体" pitchFamily="2" charset="-122"/>
                <a:ea typeface="华文楷体" pitchFamily="2" charset="-122"/>
              </a:rPr>
              <a:t>对一个中缀表达式，从左至右顺序读入各操作数、运算符。</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zh-CN" sz="2800" b="0" dirty="0">
                <a:latin typeface="华文楷体" pitchFamily="2" charset="-122"/>
                <a:ea typeface="华文楷体" pitchFamily="2" charset="-122"/>
              </a:rPr>
              <a:t>当读入的是操作数时，直接输出 </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如：输出到屏幕或追加到保存后缀式的字符串中</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zh-CN" sz="2800" b="0" dirty="0">
                <a:latin typeface="华文楷体" pitchFamily="2" charset="-122"/>
                <a:ea typeface="华文楷体" pitchFamily="2" charset="-122"/>
              </a:rPr>
              <a:t>当读入的是操作符时，当读入的运算符优先级高时，</a:t>
            </a:r>
            <a:r>
              <a:rPr lang="zh-CN" altLang="en-US" sz="2800" b="0" dirty="0">
                <a:latin typeface="华文楷体" pitchFamily="2" charset="-122"/>
                <a:ea typeface="华文楷体" pitchFamily="2" charset="-122"/>
              </a:rPr>
              <a:t>因不知是否后续读入的操作符优先级更高，</a:t>
            </a:r>
            <a:r>
              <a:rPr lang="zh-CN" altLang="zh-CN" sz="2800" b="0" dirty="0">
                <a:latin typeface="华文楷体" pitchFamily="2" charset="-122"/>
                <a:ea typeface="华文楷体" pitchFamily="2" charset="-122"/>
              </a:rPr>
              <a:t>只能将本次读入的运算符暂存，继续读入中缀式。当读入的运算符优先级低时，才可能计算刚才暂存的运算符</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即输出</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；在暂存机构中，越是后面存入的操作符，优先级越高，越先出来进行计算，这种结构就是</a:t>
            </a:r>
            <a:r>
              <a:rPr lang="zh-CN" altLang="zh-CN" sz="2800" dirty="0">
                <a:latin typeface="华文楷体" pitchFamily="2" charset="-122"/>
                <a:ea typeface="华文楷体" pitchFamily="2" charset="-122"/>
              </a:rPr>
              <a:t>栈</a:t>
            </a:r>
            <a:r>
              <a:rPr lang="zh-CN" altLang="zh-CN" sz="2800" b="0" dirty="0">
                <a:latin typeface="华文楷体" pitchFamily="2" charset="-122"/>
                <a:ea typeface="华文楷体" pitchFamily="2" charset="-122"/>
              </a:rPr>
              <a:t>，处于栈顶的运算符的优先级最高。</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en-US" sz="2800" b="0" dirty="0">
                <a:latin typeface="华文楷体" pitchFamily="2" charset="-122"/>
                <a:ea typeface="华文楷体" pitchFamily="2" charset="-122"/>
              </a:rPr>
              <a:t>相同运算符，先进栈的优先级高于后进栈的。</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中缀式转后缀式算法分析：</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6"/>
            <a:ext cx="11903716" cy="3083922"/>
          </a:xfrm>
        </p:spPr>
        <p:txBody>
          <a:bodyPr>
            <a:normAutofit/>
          </a:bodyPr>
          <a:lstStyle/>
          <a:p>
            <a:pPr>
              <a:lnSpc>
                <a:spcPct val="115000"/>
              </a:lnSpc>
              <a:buFont typeface="Wingdings" charset="2"/>
              <a:buChar char="Ø"/>
              <a:defRPr/>
            </a:pPr>
            <a:r>
              <a:rPr lang="zh-CN" altLang="zh-CN" sz="2800" b="0" dirty="0">
                <a:latin typeface="华文楷体" pitchFamily="2" charset="-122"/>
                <a:ea typeface="华文楷体" pitchFamily="2" charset="-122"/>
              </a:rPr>
              <a:t>表达式中的括号也可以看作是一种操作符，其中开括号具有两面性：即将进入栈的开括号，优先级最高；已经在栈顶的开括号，优先级最低。括号在后缀式中是要消失的，消失靠闭括号。当读入一个闭括号时，计算之前进栈的运算符，直到遇到一个开括号，然后开闭括号双双消失即可。</a:t>
            </a:r>
            <a:endParaRPr lang="zh-CN" altLang="zh-CN" sz="2800" b="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中缀式转后缀式算法分析：</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5291545"/>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对一个中缀表达式，从左至右顺序读入各操作数、运算符。</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zh-CN" sz="2800" b="0" dirty="0">
                <a:latin typeface="华文楷体" pitchFamily="2" charset="-122"/>
                <a:ea typeface="华文楷体" pitchFamily="2" charset="-122"/>
              </a:rPr>
              <a:t>当读入的是操作数时，直接输出 </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en-US" sz="2800" b="0" dirty="0">
                <a:latin typeface="华文楷体" pitchFamily="2" charset="-122"/>
                <a:ea typeface="华文楷体" pitchFamily="2" charset="-122"/>
              </a:rPr>
              <a:t>当读入的符号是开括号，直接进栈。</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en-US" sz="2800" b="0" dirty="0">
                <a:latin typeface="华文楷体" pitchFamily="2" charset="-122"/>
                <a:ea typeface="华文楷体" pitchFamily="2" charset="-122"/>
              </a:rPr>
              <a:t>当读入的符号是闭括号，反复进行栈顶元素出栈、输出，直到弹栈的是开括号。</a:t>
            </a:r>
            <a:endParaRPr lang="en-US" altLang="zh-CN" sz="2800" b="0" dirty="0">
              <a:latin typeface="华文楷体" pitchFamily="2" charset="-122"/>
              <a:ea typeface="华文楷体" pitchFamily="2" charset="-122"/>
            </a:endParaRPr>
          </a:p>
          <a:p>
            <a:pPr>
              <a:lnSpc>
                <a:spcPct val="115000"/>
              </a:lnSpc>
              <a:buFont typeface="Wingdings" charset="2"/>
              <a:buChar char="Ø"/>
              <a:defRPr/>
            </a:pPr>
            <a:r>
              <a:rPr lang="zh-CN" altLang="zh-CN" sz="2800" b="0" dirty="0">
                <a:latin typeface="华文楷体" pitchFamily="2" charset="-122"/>
                <a:ea typeface="华文楷体" pitchFamily="2" charset="-122"/>
              </a:rPr>
              <a:t>当读入的是操作符时，</a:t>
            </a:r>
            <a:r>
              <a:rPr lang="zh-CN" altLang="en-US" sz="2800" b="0" dirty="0">
                <a:latin typeface="华文楷体" pitchFamily="2" charset="-122"/>
                <a:ea typeface="华文楷体" pitchFamily="2" charset="-122"/>
              </a:rPr>
              <a:t>如果栈顶操作符的优先级更高，反复弹栈、输出直到栈顶元素优先级低于读入操作符的优先级，读入操作符压栈；如果栈顶操作符的优先级低，</a:t>
            </a:r>
            <a:r>
              <a:rPr lang="zh-CN" altLang="zh-CN" sz="2800" b="0" dirty="0">
                <a:latin typeface="华文楷体" pitchFamily="2" charset="-122"/>
                <a:ea typeface="华文楷体" pitchFamily="2" charset="-122"/>
              </a:rPr>
              <a:t>读入的运算符</a:t>
            </a:r>
            <a:r>
              <a:rPr lang="zh-CN" altLang="en-US" sz="2800" b="0" dirty="0">
                <a:latin typeface="华文楷体" pitchFamily="2" charset="-122"/>
                <a:ea typeface="华文楷体" pitchFamily="2" charset="-122"/>
              </a:rPr>
              <a:t>进栈。</a:t>
            </a:r>
            <a:endParaRPr lang="en-US" altLang="zh-CN" sz="2800" b="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中缀式转后缀式算法：</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486943"/>
            <a:ext cx="8815959" cy="4556049"/>
          </a:xfrm>
        </p:spPr>
        <p:txBody>
          <a:bodyPr>
            <a:normAutofit/>
          </a:bodyPr>
          <a:lstStyle/>
          <a:p>
            <a:pPr marL="0" indent="0">
              <a:buNone/>
            </a:pPr>
            <a:r>
              <a:rPr lang="en-US" altLang="zh-CN" b="0" dirty="0"/>
              <a:t>void </a:t>
            </a:r>
            <a:r>
              <a:rPr lang="en-US" altLang="zh-CN" b="0" dirty="0" err="1"/>
              <a:t>inToSufForm</a:t>
            </a:r>
            <a:r>
              <a:rPr lang="en-US" altLang="zh-CN" b="0" dirty="0"/>
              <a:t>(char *</a:t>
            </a:r>
            <a:r>
              <a:rPr lang="en-US" altLang="zh-CN" b="0" dirty="0" err="1"/>
              <a:t>inStr</a:t>
            </a:r>
            <a:r>
              <a:rPr lang="en-US" altLang="zh-CN" b="0" dirty="0"/>
              <a:t>, char *</a:t>
            </a:r>
            <a:r>
              <a:rPr lang="en-US" altLang="zh-CN" b="0" dirty="0" err="1"/>
              <a:t>sufStr</a:t>
            </a:r>
            <a:r>
              <a:rPr lang="en-US" altLang="zh-CN" b="0" dirty="0"/>
              <a:t>)</a:t>
            </a:r>
            <a:endParaRPr lang="zh-CN" altLang="zh-CN" b="0" dirty="0"/>
          </a:p>
          <a:p>
            <a:pPr marL="0" indent="0">
              <a:buNone/>
            </a:pPr>
            <a:r>
              <a:rPr lang="en-US" altLang="zh-CN" b="0" dirty="0"/>
              <a:t>{  </a:t>
            </a:r>
            <a:r>
              <a:rPr lang="en-US" altLang="zh-CN" b="0" dirty="0" err="1"/>
              <a:t>linkStack</a:t>
            </a:r>
            <a:r>
              <a:rPr lang="en-US" altLang="zh-CN" b="0" dirty="0"/>
              <a:t>&lt;char&gt; s; //</a:t>
            </a:r>
            <a:r>
              <a:rPr lang="zh-CN" altLang="zh-CN" b="0" dirty="0"/>
              <a:t>用字符栈</a:t>
            </a:r>
            <a:r>
              <a:rPr lang="en-US" altLang="zh-CN" b="0" dirty="0"/>
              <a:t>         </a:t>
            </a:r>
            <a:r>
              <a:rPr lang="en-US" altLang="zh-CN" b="0" dirty="0" err="1"/>
              <a:t>int</a:t>
            </a:r>
            <a:r>
              <a:rPr lang="en-US" altLang="zh-CN" b="0" dirty="0"/>
              <a:t> </a:t>
            </a:r>
            <a:r>
              <a:rPr lang="en-US" altLang="zh-CN" b="0" dirty="0" err="1"/>
              <a:t>i,j</a:t>
            </a:r>
            <a:r>
              <a:rPr lang="en-US" altLang="zh-CN" b="0" dirty="0"/>
              <a:t>;   char </a:t>
            </a:r>
            <a:r>
              <a:rPr lang="en-US" altLang="zh-CN" b="0" dirty="0" err="1"/>
              <a:t>topCh</a:t>
            </a:r>
            <a:r>
              <a:rPr lang="en-US" altLang="zh-CN" b="0" dirty="0"/>
              <a:t>;</a:t>
            </a:r>
            <a:endParaRPr lang="zh-CN" altLang="zh-CN" b="0" dirty="0"/>
          </a:p>
          <a:p>
            <a:pPr marL="0" indent="0">
              <a:buNone/>
            </a:pPr>
            <a:r>
              <a:rPr lang="en-US" altLang="zh-CN" b="0" dirty="0"/>
              <a:t>    </a:t>
            </a:r>
            <a:endParaRPr lang="en-US" altLang="zh-CN" b="0" dirty="0"/>
          </a:p>
          <a:p>
            <a:pPr marL="0" indent="0">
              <a:buNone/>
            </a:pPr>
            <a:r>
              <a:rPr lang="en-US" altLang="zh-CN" b="0" dirty="0"/>
              <a:t>    </a:t>
            </a:r>
            <a:r>
              <a:rPr lang="en-US" altLang="zh-CN" b="0" dirty="0" err="1"/>
              <a:t>s.push</a:t>
            </a:r>
            <a:r>
              <a:rPr lang="en-US" altLang="zh-CN" b="0" dirty="0"/>
              <a:t>('#'); //</a:t>
            </a:r>
            <a:r>
              <a:rPr lang="zh-CN" altLang="zh-CN" b="0" dirty="0"/>
              <a:t>铺垫一个底垫</a:t>
            </a:r>
            <a:r>
              <a:rPr lang="en-US" altLang="zh-CN" b="0" dirty="0"/>
              <a:t>               </a:t>
            </a:r>
            <a:r>
              <a:rPr lang="en-US" altLang="zh-CN" b="0" dirty="0" err="1"/>
              <a:t>i</a:t>
            </a:r>
            <a:r>
              <a:rPr lang="en-US" altLang="zh-CN" b="0" dirty="0"/>
              <a:t>=0;j=0</a:t>
            </a:r>
            <a:endParaRPr lang="en-US" altLang="zh-CN" b="0" dirty="0"/>
          </a:p>
          <a:p>
            <a:pPr marL="0" indent="0">
              <a:buNone/>
            </a:pPr>
            <a:r>
              <a:rPr lang="en-US" altLang="zh-CN" b="0" dirty="0"/>
              <a:t>    while (</a:t>
            </a:r>
            <a:r>
              <a:rPr lang="en-US" altLang="zh-CN" b="0" dirty="0" err="1"/>
              <a:t>inStr</a:t>
            </a:r>
            <a:r>
              <a:rPr lang="en-US" altLang="zh-CN" b="0" dirty="0"/>
              <a:t>[</a:t>
            </a:r>
            <a:r>
              <a:rPr lang="en-US" altLang="zh-CN" b="0" dirty="0" err="1"/>
              <a:t>i</a:t>
            </a:r>
            <a:r>
              <a:rPr lang="en-US" altLang="zh-CN" b="0" dirty="0"/>
              <a:t>]!='\0')</a:t>
            </a:r>
            <a:endParaRPr lang="zh-CN" altLang="zh-CN" b="0" dirty="0"/>
          </a:p>
          <a:p>
            <a:pPr marL="0" indent="0">
              <a:buNone/>
            </a:pPr>
            <a:r>
              <a:rPr lang="en-US" altLang="zh-CN" b="0" dirty="0"/>
              <a:t>    {      if ((</a:t>
            </a:r>
            <a:r>
              <a:rPr lang="en-US" altLang="zh-CN" b="0" dirty="0" err="1"/>
              <a:t>inStr</a:t>
            </a:r>
            <a:r>
              <a:rPr lang="en-US" altLang="zh-CN" b="0" dirty="0"/>
              <a:t>[</a:t>
            </a:r>
            <a:r>
              <a:rPr lang="en-US" altLang="zh-CN" b="0" dirty="0" err="1"/>
              <a:t>i</a:t>
            </a:r>
            <a:r>
              <a:rPr lang="en-US" altLang="zh-CN" b="0" dirty="0"/>
              <a:t>]&gt;='0')&amp;&amp;(</a:t>
            </a:r>
            <a:r>
              <a:rPr lang="en-US" altLang="zh-CN" b="0" dirty="0" err="1"/>
              <a:t>inStr</a:t>
            </a:r>
            <a:r>
              <a:rPr lang="en-US" altLang="zh-CN" b="0" dirty="0"/>
              <a:t>[</a:t>
            </a:r>
            <a:r>
              <a:rPr lang="en-US" altLang="zh-CN" b="0" dirty="0" err="1"/>
              <a:t>i</a:t>
            </a:r>
            <a:r>
              <a:rPr lang="en-US" altLang="zh-CN" b="0" dirty="0"/>
              <a:t>]&lt;='9'))</a:t>
            </a:r>
            <a:endParaRPr lang="zh-CN" altLang="zh-CN" b="0" dirty="0"/>
          </a:p>
          <a:p>
            <a:pPr marL="0" indent="0">
              <a:buNone/>
            </a:pPr>
            <a:r>
              <a:rPr lang="en-US" altLang="zh-CN" b="0"/>
              <a:t>                  sufStr</a:t>
            </a:r>
            <a:r>
              <a:rPr lang="en-US" altLang="zh-CN" b="0" dirty="0"/>
              <a:t>[</a:t>
            </a:r>
            <a:r>
              <a:rPr lang="en-US" altLang="zh-CN" b="0" dirty="0" err="1"/>
              <a:t>j++</a:t>
            </a:r>
            <a:r>
              <a:rPr lang="en-US" altLang="zh-CN" b="0" dirty="0"/>
              <a:t>]=</a:t>
            </a:r>
            <a:r>
              <a:rPr lang="en-US" altLang="zh-CN" b="0" dirty="0" err="1"/>
              <a:t>inStr</a:t>
            </a:r>
            <a:r>
              <a:rPr lang="en-US" altLang="zh-CN" b="0" dirty="0"/>
              <a:t>[</a:t>
            </a:r>
            <a:r>
              <a:rPr lang="en-US" altLang="zh-CN" b="0" dirty="0" err="1"/>
              <a:t>i</a:t>
            </a:r>
            <a:r>
              <a:rPr lang="en-US" altLang="zh-CN" b="0" dirty="0"/>
              <a:t>++];</a:t>
            </a:r>
            <a:endParaRPr lang="zh-CN" altLang="zh-CN" b="0" dirty="0"/>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中缀转后缀式算法实现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328329"/>
            <a:ext cx="11903716" cy="5251375"/>
          </a:xfrm>
        </p:spPr>
        <p:txBody>
          <a:bodyPr>
            <a:noAutofit/>
          </a:bodyPr>
          <a:lstStyle/>
          <a:p>
            <a:pPr marL="0" indent="0">
              <a:buNone/>
            </a:pPr>
            <a:r>
              <a:rPr lang="en-US" altLang="zh-CN" b="0" dirty="0">
                <a:ea typeface="华文楷体" pitchFamily="2" charset="-122"/>
                <a:cs typeface="Times New Roman" pitchFamily="18" charset="0"/>
              </a:rPr>
              <a:t>else {   switch (</a:t>
            </a:r>
            <a:r>
              <a:rPr lang="en-US" altLang="zh-CN" b="0" dirty="0" err="1">
                <a:ea typeface="华文楷体" pitchFamily="2" charset="-122"/>
                <a:cs typeface="Times New Roman" pitchFamily="18" charset="0"/>
              </a:rPr>
              <a:t>inStr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   case '(':   </a:t>
            </a:r>
            <a:r>
              <a:rPr lang="en-US" altLang="zh-CN" b="0" dirty="0" err="1">
                <a:ea typeface="华文楷体" pitchFamily="2" charset="-122"/>
                <a:cs typeface="Times New Roman" pitchFamily="18" charset="0"/>
              </a:rPr>
              <a:t>s.push</a:t>
            </a:r>
            <a:r>
              <a:rPr lang="en-US" altLang="zh-CN" b="0" dirty="0">
                <a:ea typeface="华文楷体" pitchFamily="2" charset="-122"/>
                <a:cs typeface="Times New Roman" pitchFamily="18" charset="0"/>
              </a:rPr>
              <a:t>('('); break; //</a:t>
            </a:r>
            <a:r>
              <a:rPr lang="zh-CN" altLang="zh-CN" b="0" dirty="0">
                <a:ea typeface="华文楷体" pitchFamily="2" charset="-122"/>
                <a:cs typeface="Times New Roman" pitchFamily="18" charset="0"/>
              </a:rPr>
              <a:t>优先级最高，直接入栈</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case ')':   //</a:t>
            </a:r>
            <a:r>
              <a:rPr lang="zh-CN" altLang="zh-CN" b="0" dirty="0">
                <a:ea typeface="华文楷体" pitchFamily="2" charset="-122"/>
                <a:cs typeface="Times New Roman" pitchFamily="18" charset="0"/>
              </a:rPr>
              <a:t>弹栈，弹出元素进入后缀式，直到弹出一个左括号</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s.pop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while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sufStr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j++</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s.pop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字符不入栈</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break;</a:t>
            </a:r>
            <a:endParaRPr lang="zh-CN" altLang="zh-CN"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中缀转后缀式算法实现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328329"/>
            <a:ext cx="11903716" cy="5251375"/>
          </a:xfrm>
        </p:spPr>
        <p:txBody>
          <a:bodyPr>
            <a:noAutofit/>
          </a:bodyPr>
          <a:lstStyle/>
          <a:p>
            <a:pPr marL="0" indent="0">
              <a:buNone/>
            </a:pPr>
            <a:r>
              <a:rPr lang="en-US" altLang="zh-CN" b="0" dirty="0">
                <a:ea typeface="华文楷体" pitchFamily="2" charset="-122"/>
                <a:cs typeface="Times New Roman" pitchFamily="18" charset="0"/>
              </a:rPr>
              <a:t>                case '*':</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case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while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a:t>
            </a:r>
            <a:r>
              <a:rPr lang="en-US" altLang="zh-CN" b="0" dirty="0">
                <a:ea typeface="华文楷体" pitchFamily="2" charset="-122"/>
                <a:cs typeface="Times New Roman" pitchFamily="18" charset="0"/>
              </a:rPr>
              <a:t>/</a:t>
            </a:r>
            <a:r>
              <a:rPr lang="zh-CN" altLang="zh-CN" b="0" dirty="0">
                <a:ea typeface="华文楷体" pitchFamily="2" charset="-122"/>
                <a:cs typeface="Times New Roman" pitchFamily="18" charset="0"/>
              </a:rPr>
              <a:t>为左结合，故后来者优先级低</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s.pop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sufStr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j++</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s.push</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inStr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a:t>
            </a:r>
            <a:r>
              <a:rPr lang="en-US" altLang="zh-CN" b="0" dirty="0">
                <a:ea typeface="华文楷体" pitchFamily="2" charset="-122"/>
                <a:cs typeface="Times New Roman" pitchFamily="18" charset="0"/>
              </a:rPr>
              <a:t>]);  break;</a:t>
            </a:r>
            <a:endParaRPr lang="zh-CN" altLang="zh-CN"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中缀转后缀式算法实现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0" y="612712"/>
            <a:ext cx="11903716" cy="6245288"/>
          </a:xfrm>
        </p:spPr>
        <p:txBody>
          <a:bodyPr>
            <a:noAutofit/>
          </a:bodyPr>
          <a:lstStyle/>
          <a:p>
            <a:pPr marL="0" indent="0">
              <a:buNone/>
            </a:pPr>
            <a:r>
              <a:rPr lang="en-US" altLang="zh-CN" b="0" dirty="0">
                <a:ea typeface="华文楷体" pitchFamily="2" charset="-122"/>
                <a:cs typeface="Times New Roman" pitchFamily="18" charset="0"/>
              </a:rPr>
              <a:t>                case '+':</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case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while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!='(')&amp;&amp;(</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只有左括号和底垫优先级比</a:t>
            </a:r>
            <a:r>
              <a:rPr lang="en-US" altLang="zh-CN" b="0" dirty="0">
                <a:ea typeface="华文楷体" pitchFamily="2" charset="-122"/>
                <a:cs typeface="Times New Roman" pitchFamily="18" charset="0"/>
              </a:rPr>
              <a:t>+</a:t>
            </a:r>
            <a:r>
              <a:rPr lang="zh-CN" altLang="zh-CN" b="0" dirty="0">
                <a:ea typeface="华文楷体" pitchFamily="2" charset="-122"/>
                <a:cs typeface="Times New Roman" pitchFamily="18" charset="0"/>
              </a:rPr>
              <a:t>、</a:t>
            </a:r>
            <a:r>
              <a:rPr lang="en-US" altLang="zh-CN" b="0" dirty="0">
                <a:ea typeface="华文楷体" pitchFamily="2" charset="-122"/>
                <a:cs typeface="Times New Roman" pitchFamily="18" charset="0"/>
              </a:rPr>
              <a:t>-</a:t>
            </a:r>
            <a:r>
              <a:rPr lang="zh-CN" altLang="zh-CN" b="0" dirty="0">
                <a:ea typeface="华文楷体" pitchFamily="2" charset="-122"/>
                <a:cs typeface="Times New Roman" pitchFamily="18" charset="0"/>
              </a:rPr>
              <a:t>低</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s.pop</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sufStr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j++</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     }</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s.push</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inStr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break;</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}//switch</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i</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}//else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}//while</a:t>
            </a:r>
            <a:endParaRPr lang="zh-CN" altLang="zh-CN" b="0" dirty="0">
              <a:ea typeface="华文楷体" pitchFamily="2" charset="-122"/>
              <a:cs typeface="Times New Roman" pitchFamily="18" charset="0"/>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77078" y="612712"/>
            <a:ext cx="7832035" cy="6245288"/>
          </a:xfrm>
        </p:spPr>
        <p:txBody>
          <a:bodyPr>
            <a:noAutofit/>
          </a:bodyPr>
          <a:lstStyle/>
          <a:p>
            <a:pPr marL="0" indent="0">
              <a:buNone/>
            </a:pP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将栈中还没有弹出的操作符弹空</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while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sufStr</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j++</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s.pop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topCh</a:t>
            </a:r>
            <a:r>
              <a:rPr lang="en-US" altLang="zh-CN" b="0" dirty="0">
                <a:ea typeface="华文楷体" pitchFamily="2" charset="-122"/>
                <a:cs typeface="Times New Roman" pitchFamily="18" charset="0"/>
              </a:rPr>
              <a:t> = </a:t>
            </a:r>
            <a:r>
              <a:rPr lang="en-US" altLang="zh-CN" b="0" dirty="0" err="1">
                <a:ea typeface="华文楷体" pitchFamily="2" charset="-122"/>
                <a:cs typeface="Times New Roman" pitchFamily="18" charset="0"/>
              </a:rPr>
              <a:t>s.top</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sufStr</a:t>
            </a:r>
            <a:r>
              <a:rPr lang="en-US" altLang="zh-CN" b="0" dirty="0">
                <a:ea typeface="华文楷体" pitchFamily="2" charset="-122"/>
                <a:cs typeface="Times New Roman" pitchFamily="18" charset="0"/>
              </a:rPr>
              <a:t>[j]='\0'; //</a:t>
            </a:r>
            <a:r>
              <a:rPr lang="zh-CN" altLang="zh-CN" b="0" dirty="0">
                <a:ea typeface="华文楷体" pitchFamily="2" charset="-122"/>
                <a:cs typeface="Times New Roman" pitchFamily="18" charset="0"/>
              </a:rPr>
              <a:t>后缀字符串加结束符</a:t>
            </a:r>
            <a:r>
              <a:rPr lang="en-US" altLang="zh-CN" b="0" dirty="0">
                <a:ea typeface="华文楷体" pitchFamily="2" charset="-122"/>
                <a:cs typeface="Times New Roman" pitchFamily="18" charset="0"/>
              </a:rPr>
              <a:t>'\0'</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p:txBody>
      </p:sp>
      <p:sp>
        <p:nvSpPr>
          <p:cNvPr id="2" name="文本框 1"/>
          <p:cNvSpPr txBox="1"/>
          <p:nvPr/>
        </p:nvSpPr>
        <p:spPr>
          <a:xfrm>
            <a:off x="6822041" y="4530903"/>
            <a:ext cx="4335694" cy="1384995"/>
          </a:xfrm>
          <a:prstGeom prst="rect">
            <a:avLst/>
          </a:prstGeom>
          <a:noFill/>
        </p:spPr>
        <p:txBody>
          <a:bodyPr wrap="square" rtlCol="0">
            <a:spAutoFit/>
          </a:bodyPr>
          <a:lstStyle/>
          <a:p>
            <a:r>
              <a:rPr lang="zh-CN" altLang="en-US" sz="2800" dirty="0">
                <a:solidFill>
                  <a:schemeClr val="accent2"/>
                </a:solidFill>
              </a:rPr>
              <a:t>思考：</a:t>
            </a:r>
            <a:endParaRPr lang="en-US" altLang="zh-CN" sz="2800" dirty="0">
              <a:solidFill>
                <a:schemeClr val="accent2"/>
              </a:solidFill>
            </a:endParaRPr>
          </a:p>
          <a:p>
            <a:r>
              <a:rPr lang="zh-CN" altLang="en-US" sz="2800" dirty="0">
                <a:solidFill>
                  <a:schemeClr val="accent2"/>
                </a:solidFill>
              </a:rPr>
              <a:t>转换表达式和计算表达式，可以合二为一吗？</a:t>
            </a:r>
            <a:endParaRPr lang="zh-CN" altLang="en-US" sz="2800" dirty="0">
              <a:solidFill>
                <a:schemeClr val="accent2"/>
              </a:solidFill>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87067" y="1626503"/>
            <a:ext cx="7225698" cy="2547932"/>
          </a:xfrm>
        </p:spPr>
        <p:txBody>
          <a:bodyPr>
            <a:noAutofit/>
          </a:bodyPr>
          <a:lstStyle/>
          <a:p>
            <a:pPr marL="0" indent="0">
              <a:buNone/>
            </a:pPr>
            <a:r>
              <a:rPr lang="en-US" altLang="zh-CN" b="0" dirty="0">
                <a:ea typeface="华文楷体" pitchFamily="2" charset="-122"/>
                <a:cs typeface="Times New Roman" pitchFamily="18" charset="0"/>
              </a:rPr>
              <a:t>                A. 1</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2</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3</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4</a:t>
            </a:r>
            <a:endParaRPr lang="en-US"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 4</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3</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2</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1</a:t>
            </a:r>
            <a:endParaRPr lang="en-US"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C. 1</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2</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4</a:t>
            </a:r>
            <a:r>
              <a:rPr lang="zh-CN" altLang="en-US" b="0" dirty="0">
                <a:ea typeface="华文楷体" pitchFamily="2" charset="-122"/>
                <a:cs typeface="Times New Roman" pitchFamily="18" charset="0"/>
              </a:rPr>
              <a:t>、</a:t>
            </a:r>
            <a:r>
              <a:rPr lang="en-US" altLang="zh-CN" b="0" dirty="0">
                <a:ea typeface="华文楷体" pitchFamily="2" charset="-122"/>
                <a:cs typeface="Times New Roman" pitchFamily="18" charset="0"/>
              </a:rPr>
              <a:t>3</a:t>
            </a:r>
            <a:endParaRPr lang="en-US" altLang="zh-CN" b="0" dirty="0">
              <a:ea typeface="华文楷体" pitchFamily="2" charset="-122"/>
              <a:cs typeface="Times New Roman" pitchFamily="18" charset="0"/>
            </a:endParaRPr>
          </a:p>
          <a:p>
            <a:pPr marL="0" indent="0">
              <a:buNone/>
            </a:pPr>
            <a:r>
              <a:rPr lang="en-US" altLang="zh-CN" b="0" dirty="0">
                <a:highlight>
                  <a:srgbClr val="FFFF00"/>
                </a:highlight>
                <a:ea typeface="华文楷体" pitchFamily="2" charset="-122"/>
                <a:cs typeface="Times New Roman" pitchFamily="18" charset="0"/>
              </a:rPr>
              <a:t>                D. 1</a:t>
            </a:r>
            <a:r>
              <a:rPr lang="zh-CN" altLang="en-US" b="0" dirty="0">
                <a:highlight>
                  <a:srgbClr val="FFFF00"/>
                </a:highlight>
                <a:ea typeface="华文楷体" pitchFamily="2" charset="-122"/>
                <a:cs typeface="Times New Roman" pitchFamily="18" charset="0"/>
              </a:rPr>
              <a:t>、</a:t>
            </a:r>
            <a:r>
              <a:rPr lang="en-US" altLang="zh-CN" b="0" dirty="0">
                <a:highlight>
                  <a:srgbClr val="FFFF00"/>
                </a:highlight>
                <a:ea typeface="华文楷体" pitchFamily="2" charset="-122"/>
                <a:cs typeface="Times New Roman" pitchFamily="18" charset="0"/>
              </a:rPr>
              <a:t>4</a:t>
            </a:r>
            <a:r>
              <a:rPr lang="zh-CN" altLang="en-US" b="0" dirty="0">
                <a:highlight>
                  <a:srgbClr val="FFFF00"/>
                </a:highlight>
                <a:ea typeface="华文楷体" pitchFamily="2" charset="-122"/>
                <a:cs typeface="Times New Roman" pitchFamily="18" charset="0"/>
              </a:rPr>
              <a:t>、</a:t>
            </a:r>
            <a:r>
              <a:rPr lang="en-US" altLang="zh-CN" b="0" dirty="0">
                <a:highlight>
                  <a:srgbClr val="FFFF00"/>
                </a:highlight>
                <a:ea typeface="华文楷体" pitchFamily="2" charset="-122"/>
                <a:cs typeface="Times New Roman" pitchFamily="18" charset="0"/>
              </a:rPr>
              <a:t>2</a:t>
            </a:r>
            <a:r>
              <a:rPr lang="zh-CN" altLang="en-US" b="0" dirty="0">
                <a:highlight>
                  <a:srgbClr val="FFFF00"/>
                </a:highlight>
                <a:ea typeface="华文楷体" pitchFamily="2" charset="-122"/>
                <a:cs typeface="Times New Roman" pitchFamily="18" charset="0"/>
              </a:rPr>
              <a:t>、</a:t>
            </a:r>
            <a:r>
              <a:rPr lang="en-US" altLang="zh-CN" b="0" dirty="0">
                <a:highlight>
                  <a:srgbClr val="FFFF00"/>
                </a:highlight>
                <a:ea typeface="华文楷体" pitchFamily="2" charset="-122"/>
                <a:cs typeface="Times New Roman" pitchFamily="18" charset="0"/>
              </a:rPr>
              <a:t>3</a:t>
            </a:r>
            <a:endParaRPr lang="zh-CN" altLang="zh-CN" b="0" dirty="0">
              <a:highlight>
                <a:srgbClr val="FFFF00"/>
              </a:highlight>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487067" y="576470"/>
            <a:ext cx="11162884" cy="840168"/>
          </a:xfrm>
        </p:spPr>
        <p:txBody>
          <a:bodyPr>
            <a:normAutofit fontScale="90000"/>
          </a:bodyPr>
          <a:lstStyle/>
          <a:p>
            <a:pPr marL="838200" indent="-838200">
              <a:defRPr/>
            </a:pPr>
            <a:r>
              <a:rPr lang="zh-CN" altLang="en-US" dirty="0">
                <a:latin typeface="华文楷体" pitchFamily="2" charset="-122"/>
                <a:ea typeface="华文楷体" pitchFamily="2" charset="-122"/>
              </a:rPr>
              <a:t>练习：已知入栈顺序为</a:t>
            </a:r>
            <a:r>
              <a:rPr lang="en-US" altLang="zh-CN" dirty="0">
                <a:latin typeface="华文楷体" pitchFamily="2" charset="-122"/>
                <a:ea typeface="华文楷体" pitchFamily="2" charset="-122"/>
              </a:rPr>
              <a:t>1</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2</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3</a:t>
            </a:r>
            <a:r>
              <a:rPr lang="zh-CN" altLang="en-US" dirty="0">
                <a:latin typeface="华文楷体" pitchFamily="2" charset="-122"/>
                <a:ea typeface="华文楷体" pitchFamily="2" charset="-122"/>
              </a:rPr>
              <a:t>、</a:t>
            </a:r>
            <a:r>
              <a:rPr lang="en-US" altLang="zh-CN" dirty="0">
                <a:latin typeface="华文楷体" pitchFamily="2" charset="-122"/>
                <a:ea typeface="华文楷体" pitchFamily="2" charset="-122"/>
              </a:rPr>
              <a:t>4</a:t>
            </a:r>
            <a:r>
              <a:rPr lang="zh-CN" altLang="en-US" dirty="0">
                <a:latin typeface="华文楷体" pitchFamily="2" charset="-122"/>
                <a:ea typeface="华文楷体" pitchFamily="2" charset="-122"/>
              </a:rPr>
              <a:t>，以下出栈顺序哪个是错误的？</a:t>
            </a:r>
            <a:endParaRPr lang="zh-CN" altLang="en-US" dirty="0">
              <a:latin typeface="华文楷体" pitchFamily="2" charset="-122"/>
              <a:ea typeface="华文楷体" pitchFamily="2" charset="-122"/>
            </a:endParaRPr>
          </a:p>
        </p:txBody>
      </p:sp>
      <p:sp>
        <p:nvSpPr>
          <p:cNvPr id="2" name="文本框 1"/>
          <p:cNvSpPr txBox="1"/>
          <p:nvPr/>
        </p:nvSpPr>
        <p:spPr>
          <a:xfrm>
            <a:off x="6780944" y="3986373"/>
            <a:ext cx="4561726" cy="830997"/>
          </a:xfrm>
          <a:prstGeom prst="rect">
            <a:avLst/>
          </a:prstGeom>
          <a:noFill/>
        </p:spPr>
        <p:txBody>
          <a:bodyPr wrap="square" rtlCol="0">
            <a:spAutoFit/>
          </a:bodyPr>
          <a:lstStyle/>
          <a:p>
            <a:r>
              <a:rPr lang="en-US" altLang="zh-CN" sz="2400" dirty="0">
                <a:solidFill>
                  <a:schemeClr val="accent2"/>
                </a:solidFill>
              </a:rPr>
              <a:t>8</a:t>
            </a:r>
            <a:r>
              <a:rPr lang="zh-CN" altLang="en-US" sz="2400" dirty="0">
                <a:solidFill>
                  <a:schemeClr val="accent2"/>
                </a:solidFill>
              </a:rPr>
              <a:t>个元素情况如何判断？</a:t>
            </a:r>
            <a:endParaRPr lang="en-US" altLang="zh-CN" sz="2400" dirty="0">
              <a:solidFill>
                <a:schemeClr val="accent2"/>
              </a:solidFill>
            </a:endParaRPr>
          </a:p>
          <a:p>
            <a:r>
              <a:rPr lang="en-US" altLang="zh-CN" sz="2400" dirty="0">
                <a:solidFill>
                  <a:schemeClr val="accent2"/>
                </a:solidFill>
              </a:rPr>
              <a:t>N</a:t>
            </a:r>
            <a:r>
              <a:rPr lang="zh-CN" altLang="en-US" sz="2400" dirty="0">
                <a:solidFill>
                  <a:schemeClr val="accent2"/>
                </a:solidFill>
              </a:rPr>
              <a:t>个元素的一般情况如何判断？</a:t>
            </a:r>
            <a:endParaRPr lang="zh-CN" altLang="en-US" sz="2400" dirty="0">
              <a:solidFill>
                <a:schemeClr val="accent2"/>
              </a:solidFill>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solidFill>
                  <a:srgbClr val="FF0000"/>
                </a:solidFill>
                <a:latin typeface="华文楷体" pitchFamily="2" charset="-122"/>
                <a:ea typeface="华文楷体" pitchFamily="2" charset="-122"/>
              </a:rPr>
              <a:t>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205833"/>
          </a:xfrm>
        </p:spPr>
        <p:txBody>
          <a:bodyPr>
            <a:normAutofit/>
          </a:bodyPr>
          <a:lstStyle/>
          <a:p>
            <a:pPr>
              <a:buFont typeface="Wingdings" charset="2"/>
              <a:buChar char="Ø"/>
            </a:pPr>
            <a:r>
              <a:rPr lang="zh-CN" altLang="zh-CN" sz="2800" b="0" dirty="0">
                <a:latin typeface="华文楷体" pitchFamily="2" charset="-122"/>
                <a:ea typeface="华文楷体" pitchFamily="2" charset="-122"/>
              </a:rPr>
              <a:t>如果元素到达线性结构的时间越早，离开</a:t>
            </a:r>
            <a:r>
              <a:rPr lang="zh-CN" altLang="en-US" sz="2800" b="0" dirty="0">
                <a:latin typeface="华文楷体" pitchFamily="2" charset="-122"/>
                <a:ea typeface="华文楷体" pitchFamily="2" charset="-122"/>
              </a:rPr>
              <a:t>的</a:t>
            </a:r>
            <a:r>
              <a:rPr lang="zh-CN" altLang="zh-CN" sz="2800" b="0" dirty="0">
                <a:latin typeface="华文楷体" pitchFamily="2" charset="-122"/>
                <a:ea typeface="华文楷体" pitchFamily="2" charset="-122"/>
              </a:rPr>
              <a:t>时间就越早，这种线性结构称为</a:t>
            </a:r>
            <a:r>
              <a:rPr lang="zh-CN" altLang="zh-CN" sz="2800" dirty="0">
                <a:latin typeface="华文楷体" pitchFamily="2" charset="-122"/>
                <a:ea typeface="华文楷体" pitchFamily="2" charset="-122"/>
              </a:rPr>
              <a:t>队（</a:t>
            </a:r>
            <a:r>
              <a:rPr lang="en-US" altLang="zh-CN" sz="2800" dirty="0">
                <a:latin typeface="华文楷体" pitchFamily="2" charset="-122"/>
                <a:ea typeface="华文楷体" pitchFamily="2" charset="-122"/>
              </a:rPr>
              <a:t>Queue</a:t>
            </a:r>
            <a:r>
              <a:rPr lang="zh-CN" altLang="zh-CN" sz="2800" dirty="0">
                <a:latin typeface="华文楷体" pitchFamily="2" charset="-122"/>
                <a:ea typeface="华文楷体" pitchFamily="2" charset="-122"/>
              </a:rPr>
              <a:t>）或者队列</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因为元素之间的关系是由到达、离开的时间决定的，因此队列通常被称为时间有序表。</a:t>
            </a:r>
            <a:endParaRPr lang="en-US" altLang="zh-CN" sz="2800" b="0" dirty="0">
              <a:latin typeface="华文楷体" pitchFamily="2" charset="-122"/>
              <a:ea typeface="华文楷体" pitchFamily="2" charset="-122"/>
            </a:endParaRPr>
          </a:p>
          <a:p>
            <a:pPr>
              <a:buFont typeface="Wingdings" charset="2"/>
              <a:buChar char="Ø"/>
            </a:pPr>
            <a:r>
              <a:rPr lang="zh-CN" altLang="zh-CN" sz="2800" b="0" dirty="0">
                <a:latin typeface="华文楷体" pitchFamily="2" charset="-122"/>
                <a:ea typeface="华文楷体" pitchFamily="2" charset="-122"/>
              </a:rPr>
              <a:t>而到达和离开的含义就是插入和删除操作，因此队列可以看作是插入和删除操作位置受限的线性表。</a:t>
            </a:r>
            <a:endParaRPr lang="zh-CN"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队列的定义：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2734841"/>
          </a:xfrm>
        </p:spPr>
        <p:txBody>
          <a:bodyPr>
            <a:normAutofit fontScale="85000" lnSpcReduction="20000"/>
          </a:bodyPr>
          <a:lstStyle/>
          <a:p>
            <a:pPr>
              <a:buFont typeface="Wingdings" charset="2"/>
              <a:buChar char="Ø"/>
            </a:pPr>
            <a:r>
              <a:rPr lang="zh-CN" altLang="zh-CN" sz="2800" b="0" dirty="0">
                <a:ea typeface="华文楷体" pitchFamily="2" charset="-122"/>
                <a:cs typeface="Times New Roman" pitchFamily="18" charset="0"/>
              </a:rPr>
              <a:t>客户在银行窗口前排队存取款、计算机系统中打印管理器对打印队列的处理都采用了</a:t>
            </a:r>
            <a:r>
              <a:rPr lang="zh-CN" altLang="en-US" sz="2800" b="0" dirty="0">
                <a:highlight>
                  <a:srgbClr val="FFFF00"/>
                </a:highlight>
                <a:ea typeface="华文楷体" pitchFamily="2" charset="-122"/>
                <a:cs typeface="Times New Roman" pitchFamily="18" charset="0"/>
              </a:rPr>
              <a:t>先进先出</a:t>
            </a:r>
            <a:r>
              <a:rPr lang="zh-CN" altLang="zh-CN" sz="2800" b="0" dirty="0">
                <a:ea typeface="华文楷体" pitchFamily="2" charset="-122"/>
                <a:cs typeface="Times New Roman" pitchFamily="18" charset="0"/>
              </a:rPr>
              <a:t>服务</a:t>
            </a:r>
            <a:r>
              <a:rPr lang="en-US" altLang="zh-CN" sz="2800" b="0" dirty="0">
                <a:highlight>
                  <a:srgbClr val="FFFF00"/>
                </a:highlight>
                <a:ea typeface="华文楷体" pitchFamily="2" charset="-122"/>
                <a:cs typeface="Times New Roman" pitchFamily="18" charset="0"/>
              </a:rPr>
              <a:t>(FIFO, First In First Out)</a:t>
            </a:r>
            <a:r>
              <a:rPr lang="zh-CN" altLang="zh-CN" sz="2800" b="0" dirty="0">
                <a:ea typeface="华文楷体" pitchFamily="2" charset="-122"/>
                <a:cs typeface="Times New Roman" pitchFamily="18" charset="0"/>
              </a:rPr>
              <a:t>的方式。</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可以将队列想象为一段管道，元素从一端流入，从另一端流出。流入端称为</a:t>
            </a:r>
            <a:r>
              <a:rPr lang="zh-CN" altLang="zh-CN" sz="2800" dirty="0">
                <a:ea typeface="华文楷体" pitchFamily="2" charset="-122"/>
                <a:cs typeface="Times New Roman" pitchFamily="18" charset="0"/>
              </a:rPr>
              <a:t>队尾</a:t>
            </a:r>
            <a:r>
              <a:rPr lang="zh-CN" altLang="zh-CN" sz="2800" b="0" dirty="0">
                <a:ea typeface="华文楷体" pitchFamily="2" charset="-122"/>
                <a:cs typeface="Times New Roman" pitchFamily="18" charset="0"/>
              </a:rPr>
              <a:t>，流出端称为</a:t>
            </a:r>
            <a:r>
              <a:rPr lang="zh-CN" altLang="zh-CN" sz="2800" dirty="0">
                <a:ea typeface="华文楷体" pitchFamily="2" charset="-122"/>
                <a:cs typeface="Times New Roman" pitchFamily="18" charset="0"/>
              </a:rPr>
              <a:t>队首</a:t>
            </a:r>
            <a:r>
              <a:rPr lang="zh-CN" altLang="zh-CN" dirty="0">
                <a:ea typeface="华文楷体" pitchFamily="2" charset="-122"/>
                <a:cs typeface="Times New Roman" pitchFamily="18" charset="0"/>
              </a:rPr>
              <a:t>。</a:t>
            </a:r>
            <a:endParaRPr lang="en-US" altLang="zh-CN" dirty="0">
              <a:ea typeface="华文楷体" pitchFamily="2" charset="-122"/>
              <a:cs typeface="Times New Roman" pitchFamily="18" charset="0"/>
            </a:endParaRPr>
          </a:p>
          <a:p>
            <a:pPr>
              <a:buFont typeface="Wingdings" charset="2"/>
              <a:buChar char="Ø"/>
            </a:pPr>
            <a:r>
              <a:rPr lang="zh-CN" altLang="zh-CN" sz="2900" b="0" dirty="0">
                <a:ea typeface="华文楷体" pitchFamily="2" charset="-122"/>
                <a:cs typeface="Times New Roman" pitchFamily="18" charset="0"/>
              </a:rPr>
              <a:t>元素从队首删除的操作，称为</a:t>
            </a:r>
            <a:r>
              <a:rPr lang="zh-CN" altLang="zh-CN" sz="2900" dirty="0">
                <a:highlight>
                  <a:srgbClr val="FFFF00"/>
                </a:highlight>
                <a:ea typeface="华文楷体" pitchFamily="2" charset="-122"/>
                <a:cs typeface="Times New Roman" pitchFamily="18" charset="0"/>
              </a:rPr>
              <a:t>出队</a:t>
            </a:r>
            <a:r>
              <a:rPr lang="zh-CN" altLang="zh-CN" sz="2900" b="0" dirty="0">
                <a:highlight>
                  <a:srgbClr val="FFFF00"/>
                </a:highlight>
                <a:ea typeface="华文楷体" pitchFamily="2" charset="-122"/>
                <a:cs typeface="Times New Roman" pitchFamily="18" charset="0"/>
              </a:rPr>
              <a:t>（</a:t>
            </a:r>
            <a:r>
              <a:rPr lang="en-US" altLang="zh-CN" sz="2900" b="0" dirty="0" err="1">
                <a:highlight>
                  <a:srgbClr val="FFFF00"/>
                </a:highlight>
                <a:ea typeface="华文楷体" pitchFamily="2" charset="-122"/>
                <a:cs typeface="Times New Roman" pitchFamily="18" charset="0"/>
              </a:rPr>
              <a:t>deQueue</a:t>
            </a:r>
            <a:r>
              <a:rPr lang="zh-CN" altLang="zh-CN" sz="2900" b="0" dirty="0">
                <a:ea typeface="华文楷体" pitchFamily="2" charset="-122"/>
                <a:cs typeface="Times New Roman" pitchFamily="18" charset="0"/>
              </a:rPr>
              <a:t>）；元素在队尾位置插入的操作，称为</a:t>
            </a:r>
            <a:r>
              <a:rPr lang="zh-CN" altLang="zh-CN" sz="2900" dirty="0">
                <a:highlight>
                  <a:srgbClr val="FFFF00"/>
                </a:highlight>
                <a:ea typeface="华文楷体" pitchFamily="2" charset="-122"/>
                <a:cs typeface="Times New Roman" pitchFamily="18" charset="0"/>
              </a:rPr>
              <a:t>进队</a:t>
            </a:r>
            <a:r>
              <a:rPr lang="zh-CN" altLang="zh-CN" sz="2900" b="0" dirty="0">
                <a:highlight>
                  <a:srgbClr val="FFFF00"/>
                </a:highlight>
                <a:ea typeface="华文楷体" pitchFamily="2" charset="-122"/>
                <a:cs typeface="Times New Roman" pitchFamily="18" charset="0"/>
              </a:rPr>
              <a:t>（</a:t>
            </a:r>
            <a:r>
              <a:rPr lang="en-US" altLang="zh-CN" sz="2900" b="0" dirty="0" err="1">
                <a:highlight>
                  <a:srgbClr val="FFFF00"/>
                </a:highlight>
                <a:ea typeface="华文楷体" pitchFamily="2" charset="-122"/>
                <a:cs typeface="Times New Roman" pitchFamily="18" charset="0"/>
              </a:rPr>
              <a:t>enQueue</a:t>
            </a:r>
            <a:r>
              <a:rPr lang="zh-CN" altLang="zh-CN" sz="2900" b="0" dirty="0">
                <a:ea typeface="华文楷体" pitchFamily="2" charset="-122"/>
                <a:cs typeface="Times New Roman" pitchFamily="18" charset="0"/>
              </a:rPr>
              <a:t>）。</a:t>
            </a:r>
            <a:endParaRPr lang="en-US" altLang="zh-CN" sz="29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队列的定义：</a:t>
            </a:r>
            <a:endParaRPr lang="zh-CN" altLang="en-US" dirty="0">
              <a:latin typeface="华文楷体" pitchFamily="2" charset="-122"/>
              <a:ea typeface="华文楷体"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286332" y="4657518"/>
            <a:ext cx="4863756" cy="1663769"/>
          </a:xfrm>
          <a:prstGeom prst="rect">
            <a:avLst/>
          </a:prstGeom>
          <a:noFill/>
          <a:ln>
            <a:noFill/>
          </a:ln>
        </p:spPr>
      </p:pic>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6"/>
            <a:ext cx="11903716" cy="2130902"/>
          </a:xfrm>
        </p:spPr>
        <p:txBody>
          <a:bodyPr>
            <a:normAutofit/>
          </a:bodyPr>
          <a:lstStyle/>
          <a:p>
            <a:pPr marL="0" indent="0">
              <a:lnSpc>
                <a:spcPct val="115000"/>
              </a:lnSpc>
              <a:buNone/>
              <a:defRPr/>
            </a:pPr>
            <a:r>
              <a:rPr lang="zh-CN" altLang="zh-CN" sz="2800" b="0" dirty="0">
                <a:ea typeface="华文楷体" pitchFamily="2" charset="-122"/>
                <a:cs typeface="Times New Roman" pitchFamily="18" charset="0"/>
              </a:rPr>
              <a:t>队列的基本操作包括</a:t>
            </a:r>
            <a:r>
              <a:rPr lang="en-US"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lnSpc>
                <a:spcPct val="115000"/>
              </a:lnSpc>
              <a:buNone/>
              <a:defRPr/>
            </a:pPr>
            <a:r>
              <a:rPr lang="zh-CN" altLang="zh-CN" sz="2800" b="0" dirty="0">
                <a:ea typeface="华文楷体" pitchFamily="2" charset="-122"/>
                <a:cs typeface="Times New Roman" pitchFamily="18" charset="0"/>
              </a:rPr>
              <a:t>构造队列</a:t>
            </a:r>
            <a:r>
              <a:rPr lang="en-US" altLang="zh-CN" sz="2800" b="0" dirty="0">
                <a:ea typeface="华文楷体" pitchFamily="2" charset="-122"/>
                <a:cs typeface="Times New Roman" pitchFamily="18" charset="0"/>
              </a:rPr>
              <a:t>initialize</a:t>
            </a:r>
            <a:r>
              <a:rPr lang="zh-CN" altLang="zh-CN" sz="2800" b="0" dirty="0">
                <a:ea typeface="华文楷体" pitchFamily="2" charset="-122"/>
                <a:cs typeface="Times New Roman" pitchFamily="18" charset="0"/>
              </a:rPr>
              <a:t>、判队空</a:t>
            </a:r>
            <a:r>
              <a:rPr lang="en-US" altLang="zh-CN" sz="2800" b="0" dirty="0" err="1">
                <a:ea typeface="华文楷体" pitchFamily="2" charset="-122"/>
                <a:cs typeface="Times New Roman" pitchFamily="18" charset="0"/>
              </a:rPr>
              <a:t>isEmpty</a:t>
            </a:r>
            <a:r>
              <a:rPr lang="zh-CN" altLang="zh-CN" sz="2800" b="0" dirty="0">
                <a:ea typeface="华文楷体" pitchFamily="2" charset="-122"/>
                <a:cs typeface="Times New Roman" pitchFamily="18" charset="0"/>
              </a:rPr>
              <a:t>、判队满</a:t>
            </a:r>
            <a:r>
              <a:rPr lang="en-US" altLang="zh-CN" sz="2800" b="0" dirty="0" err="1">
                <a:ea typeface="华文楷体" pitchFamily="2" charset="-122"/>
                <a:cs typeface="Times New Roman" pitchFamily="18" charset="0"/>
              </a:rPr>
              <a:t>isFull</a:t>
            </a:r>
            <a:r>
              <a:rPr lang="zh-CN" altLang="zh-CN" sz="2800" b="0" dirty="0">
                <a:ea typeface="华文楷体" pitchFamily="2" charset="-122"/>
                <a:cs typeface="Times New Roman" pitchFamily="18" charset="0"/>
              </a:rPr>
              <a:t>、读队首元素</a:t>
            </a:r>
            <a:r>
              <a:rPr lang="en-US" altLang="zh-CN" sz="2800" b="0" dirty="0">
                <a:ea typeface="华文楷体" pitchFamily="2" charset="-122"/>
                <a:cs typeface="Times New Roman" pitchFamily="18" charset="0"/>
              </a:rPr>
              <a:t>front</a:t>
            </a:r>
            <a:r>
              <a:rPr lang="zh-CN" altLang="en-US"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 </a:t>
            </a:r>
            <a:endParaRPr lang="en-US" altLang="zh-CN" sz="2800" b="0" dirty="0">
              <a:ea typeface="华文楷体" pitchFamily="2" charset="-122"/>
              <a:cs typeface="Times New Roman" pitchFamily="18" charset="0"/>
            </a:endParaRPr>
          </a:p>
          <a:p>
            <a:pPr marL="0" indent="0">
              <a:lnSpc>
                <a:spcPct val="115000"/>
              </a:lnSpc>
              <a:buNone/>
              <a:defRPr/>
            </a:pPr>
            <a:r>
              <a:rPr lang="zh-CN" altLang="zh-CN" sz="2800" b="0" dirty="0">
                <a:ea typeface="华文楷体" pitchFamily="2" charset="-122"/>
                <a:cs typeface="Times New Roman" pitchFamily="18" charset="0"/>
              </a:rPr>
              <a:t>进</a:t>
            </a:r>
            <a:r>
              <a:rPr lang="zh-CN" altLang="en-US" sz="2800" b="0" dirty="0">
                <a:ea typeface="华文楷体" pitchFamily="2" charset="-122"/>
                <a:cs typeface="Times New Roman" pitchFamily="18" charset="0"/>
              </a:rPr>
              <a:t>队</a:t>
            </a:r>
            <a:r>
              <a:rPr lang="en-US" altLang="zh-CN" sz="2800" b="0" dirty="0" err="1">
                <a:ea typeface="华文楷体" pitchFamily="2" charset="-122"/>
                <a:cs typeface="Times New Roman" pitchFamily="18" charset="0"/>
              </a:rPr>
              <a:t>enQueue</a:t>
            </a:r>
            <a:r>
              <a:rPr lang="zh-CN" altLang="zh-CN" sz="2800" b="0" dirty="0">
                <a:ea typeface="华文楷体" pitchFamily="2" charset="-122"/>
                <a:cs typeface="Times New Roman" pitchFamily="18" charset="0"/>
              </a:rPr>
              <a:t>、出队</a:t>
            </a:r>
            <a:r>
              <a:rPr lang="en-US" altLang="zh-CN" sz="2800" b="0" dirty="0" err="1">
                <a:ea typeface="华文楷体" pitchFamily="2" charset="-122"/>
                <a:cs typeface="Times New Roman" pitchFamily="18" charset="0"/>
              </a:rPr>
              <a:t>deQueue</a:t>
            </a:r>
            <a:r>
              <a:rPr lang="zh-CN" altLang="en-US"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销毁队列</a:t>
            </a:r>
            <a:r>
              <a:rPr lang="en-US" altLang="zh-CN" sz="2800" b="0" dirty="0">
                <a:ea typeface="华文楷体" pitchFamily="2" charset="-122"/>
                <a:cs typeface="Times New Roman" pitchFamily="18" charset="0"/>
              </a:rPr>
              <a:t>destroy</a:t>
            </a:r>
            <a:r>
              <a:rPr lang="zh-CN" altLang="zh-CN" sz="2800" b="0" dirty="0">
                <a:ea typeface="华文楷体" pitchFamily="2" charset="-122"/>
                <a:cs typeface="Times New Roman" pitchFamily="18" charset="0"/>
              </a:rPr>
              <a:t>。 </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itchFamily="2" charset="-122"/>
                <a:ea typeface="华文楷体" pitchFamily="2" charset="-122"/>
              </a:rPr>
              <a:t>队列的基本操作：</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0" y="1328329"/>
            <a:ext cx="11903716" cy="5371057"/>
          </a:xfrm>
        </p:spPr>
        <p:txBody>
          <a:bodyPr>
            <a:noAutofit/>
          </a:bodyPr>
          <a:lstStyle/>
          <a:p>
            <a:pPr marL="0" indent="0">
              <a:buNone/>
            </a:pPr>
            <a:r>
              <a:rPr lang="en-US" altLang="zh-CN" sz="2000" dirty="0">
                <a:ea typeface="华文楷体" pitchFamily="2" charset="-122"/>
                <a:cs typeface="Times New Roman" pitchFamily="18" charset="0"/>
              </a:rPr>
              <a:t>     </a:t>
            </a:r>
            <a:r>
              <a:rPr lang="en-US" altLang="zh-CN" sz="2000" b="0" dirty="0">
                <a:ea typeface="华文楷体" pitchFamily="2" charset="-122"/>
                <a:cs typeface="Times New Roman" pitchFamily="18" charset="0"/>
              </a:rPr>
              <a:t>Data: { x</a:t>
            </a:r>
            <a:r>
              <a:rPr lang="en-US" altLang="zh-CN" sz="2000" b="0" baseline="-25000" dirty="0">
                <a:ea typeface="华文楷体" pitchFamily="2" charset="-122"/>
                <a:cs typeface="Times New Roman" pitchFamily="18" charset="0"/>
              </a:rPr>
              <a:t>i </a:t>
            </a:r>
            <a:r>
              <a:rPr lang="en-US" altLang="zh-CN" sz="2000" b="0" dirty="0">
                <a:ea typeface="华文楷体" pitchFamily="2" charset="-122"/>
                <a:cs typeface="Times New Roman" pitchFamily="18" charset="0"/>
              </a:rPr>
              <a:t>| x</a:t>
            </a:r>
            <a:r>
              <a:rPr lang="en-US" altLang="zh-CN" sz="2000" b="0" baseline="-25000" dirty="0">
                <a:ea typeface="华文楷体" pitchFamily="2" charset="-122"/>
                <a:cs typeface="Times New Roman" pitchFamily="18" charset="0"/>
              </a:rPr>
              <a:t>i</a:t>
            </a:r>
            <a:r>
              <a:rPr lang="en-US" altLang="zh-CN" sz="2000" b="0" dirty="0">
                <a:ea typeface="华文楷体" pitchFamily="2" charset="-122"/>
                <a:cs typeface="Times New Roman" pitchFamily="18" charset="0"/>
                <a:sym typeface="Symbol" pitchFamily="18" charset="2"/>
              </a:rPr>
              <a:t></a:t>
            </a:r>
            <a:r>
              <a:rPr lang="en-US" altLang="zh-CN" sz="2000" b="0" dirty="0">
                <a:ea typeface="华文楷体" pitchFamily="2" charset="-122"/>
                <a:cs typeface="Times New Roman" pitchFamily="18" charset="0"/>
              </a:rPr>
              <a:t> </a:t>
            </a:r>
            <a:r>
              <a:rPr lang="en-US" altLang="zh-CN" sz="2000" b="0" dirty="0" err="1">
                <a:ea typeface="华文楷体" pitchFamily="2" charset="-122"/>
                <a:cs typeface="Times New Roman" pitchFamily="18" charset="0"/>
              </a:rPr>
              <a:t>ElemSet</a:t>
            </a:r>
            <a:r>
              <a:rPr lang="en-US" altLang="zh-CN" sz="2000" b="0" dirty="0">
                <a:ea typeface="华文楷体" pitchFamily="2" charset="-122"/>
                <a:cs typeface="Times New Roman" pitchFamily="18" charset="0"/>
              </a:rPr>
              <a:t>, </a:t>
            </a:r>
            <a:r>
              <a:rPr lang="en-US" altLang="zh-CN" sz="2000" b="0" dirty="0" err="1">
                <a:ea typeface="华文楷体" pitchFamily="2" charset="-122"/>
                <a:cs typeface="Times New Roman" pitchFamily="18" charset="0"/>
              </a:rPr>
              <a:t>i</a:t>
            </a:r>
            <a:r>
              <a:rPr lang="en-US" altLang="zh-CN" sz="2000" b="0" dirty="0">
                <a:ea typeface="华文楷体" pitchFamily="2" charset="-122"/>
                <a:cs typeface="Times New Roman" pitchFamily="18" charset="0"/>
              </a:rPr>
              <a:t>=1,2,3,……n, n &gt; 0} </a:t>
            </a:r>
            <a:r>
              <a:rPr lang="zh-CN" altLang="zh-CN" sz="2000" b="0" dirty="0">
                <a:ea typeface="华文楷体" pitchFamily="2" charset="-122"/>
                <a:cs typeface="Times New Roman" pitchFamily="18" charset="0"/>
              </a:rPr>
              <a:t>或 </a:t>
            </a:r>
            <a:r>
              <a:rPr lang="en-US" altLang="zh-CN" sz="2000" b="0" dirty="0">
                <a:ea typeface="华文楷体" pitchFamily="2" charset="-122"/>
                <a:cs typeface="Times New Roman" pitchFamily="18" charset="0"/>
              </a:rPr>
              <a:t>Φ; </a:t>
            </a:r>
            <a:r>
              <a:rPr lang="en-US" altLang="zh-CN" sz="2000" b="0" dirty="0" err="1">
                <a:ea typeface="华文楷体" pitchFamily="2" charset="-122"/>
                <a:cs typeface="Times New Roman" pitchFamily="18" charset="0"/>
              </a:rPr>
              <a:t>ElemSet</a:t>
            </a:r>
            <a:r>
              <a:rPr lang="zh-CN" altLang="zh-CN" sz="2000" b="0" dirty="0">
                <a:ea typeface="华文楷体" pitchFamily="2" charset="-122"/>
                <a:cs typeface="Times New Roman" pitchFamily="18" charset="0"/>
              </a:rPr>
              <a:t>为元素集合。</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Relation: {&lt;x</a:t>
            </a:r>
            <a:r>
              <a:rPr lang="en-US" altLang="zh-CN" sz="2000" b="0" baseline="-25000" dirty="0">
                <a:ea typeface="华文楷体" pitchFamily="2" charset="-122"/>
                <a:cs typeface="Times New Roman" pitchFamily="18" charset="0"/>
              </a:rPr>
              <a:t>i</a:t>
            </a:r>
            <a:r>
              <a:rPr lang="en-US" altLang="zh-CN" sz="2000" b="0" dirty="0">
                <a:ea typeface="华文楷体" pitchFamily="2" charset="-122"/>
                <a:cs typeface="Times New Roman" pitchFamily="18" charset="0"/>
              </a:rPr>
              <a:t>,x</a:t>
            </a:r>
            <a:r>
              <a:rPr lang="en-US" altLang="zh-CN" sz="2000" b="0" baseline="-25000" dirty="0">
                <a:ea typeface="华文楷体" pitchFamily="2" charset="-122"/>
                <a:cs typeface="Times New Roman" pitchFamily="18" charset="0"/>
              </a:rPr>
              <a:t>i+1</a:t>
            </a:r>
            <a:r>
              <a:rPr lang="en-US" altLang="zh-CN" sz="2000" b="0" dirty="0">
                <a:ea typeface="华文楷体" pitchFamily="2" charset="-122"/>
                <a:cs typeface="Times New Roman" pitchFamily="18" charset="0"/>
              </a:rPr>
              <a:t>&gt;|x</a:t>
            </a:r>
            <a:r>
              <a:rPr lang="en-US" altLang="zh-CN" sz="2000" b="0" baseline="-25000" dirty="0">
                <a:ea typeface="华文楷体" pitchFamily="2" charset="-122"/>
                <a:cs typeface="Times New Roman" pitchFamily="18" charset="0"/>
              </a:rPr>
              <a:t>i</a:t>
            </a:r>
            <a:r>
              <a:rPr lang="en-US" altLang="zh-CN" sz="2000" b="0" dirty="0">
                <a:ea typeface="华文楷体" pitchFamily="2" charset="-122"/>
                <a:cs typeface="Times New Roman" pitchFamily="18" charset="0"/>
              </a:rPr>
              <a:t>,x</a:t>
            </a:r>
            <a:r>
              <a:rPr lang="en-US" altLang="zh-CN" sz="2000" b="0" baseline="-25000" dirty="0">
                <a:ea typeface="华文楷体" pitchFamily="2" charset="-122"/>
                <a:cs typeface="Times New Roman" pitchFamily="18" charset="0"/>
              </a:rPr>
              <a:t>i+1</a:t>
            </a:r>
            <a:r>
              <a:rPr lang="en-US" altLang="zh-CN" sz="2000" b="0" dirty="0">
                <a:ea typeface="华文楷体" pitchFamily="2" charset="-122"/>
                <a:cs typeface="Times New Roman" pitchFamily="18" charset="0"/>
                <a:sym typeface="Symbol" pitchFamily="18" charset="2"/>
              </a:rPr>
              <a:t></a:t>
            </a:r>
            <a:r>
              <a:rPr lang="en-US" altLang="zh-CN" sz="2000" b="0" dirty="0">
                <a:ea typeface="华文楷体" pitchFamily="2" charset="-122"/>
                <a:cs typeface="Times New Roman" pitchFamily="18" charset="0"/>
              </a:rPr>
              <a:t>ElemSet, </a:t>
            </a:r>
            <a:r>
              <a:rPr lang="en-US" altLang="zh-CN" sz="2000" b="0" dirty="0" err="1">
                <a:ea typeface="华文楷体" pitchFamily="2" charset="-122"/>
                <a:cs typeface="Times New Roman" pitchFamily="18" charset="0"/>
              </a:rPr>
              <a:t>i</a:t>
            </a:r>
            <a:r>
              <a:rPr lang="en-US" altLang="zh-CN" sz="2000" b="0" dirty="0">
                <a:ea typeface="华文楷体" pitchFamily="2" charset="-122"/>
                <a:cs typeface="Times New Roman" pitchFamily="18" charset="0"/>
              </a:rPr>
              <a:t>=1,2,3,</a:t>
            </a:r>
            <a:r>
              <a:rPr lang="zh-CN" altLang="zh-CN" sz="2000" b="0" dirty="0">
                <a:ea typeface="华文楷体" pitchFamily="2" charset="-122"/>
                <a:cs typeface="Times New Roman" pitchFamily="18" charset="0"/>
              </a:rPr>
              <a:t>……</a:t>
            </a:r>
            <a:r>
              <a:rPr lang="en-US" altLang="zh-CN" sz="2000" b="0" dirty="0">
                <a:ea typeface="华文楷体" pitchFamily="2" charset="-122"/>
                <a:cs typeface="Times New Roman" pitchFamily="18" charset="0"/>
              </a:rPr>
              <a:t>n-1}, x</a:t>
            </a:r>
            <a:r>
              <a:rPr lang="en-US" altLang="zh-CN" sz="2000" b="0" baseline="-25000" dirty="0">
                <a:ea typeface="华文楷体" pitchFamily="2" charset="-122"/>
                <a:cs typeface="Times New Roman" pitchFamily="18" charset="0"/>
              </a:rPr>
              <a:t>1</a:t>
            </a:r>
            <a:r>
              <a:rPr lang="zh-CN" altLang="zh-CN" sz="2000" b="0" dirty="0">
                <a:ea typeface="华文楷体" pitchFamily="2" charset="-122"/>
                <a:cs typeface="Times New Roman" pitchFamily="18" charset="0"/>
              </a:rPr>
              <a:t>为队首，</a:t>
            </a:r>
            <a:r>
              <a:rPr lang="en-US" altLang="zh-CN" sz="2000" b="0" dirty="0" err="1">
                <a:ea typeface="华文楷体" pitchFamily="2" charset="-122"/>
                <a:cs typeface="Times New Roman" pitchFamily="18" charset="0"/>
              </a:rPr>
              <a:t>x</a:t>
            </a:r>
            <a:r>
              <a:rPr lang="en-US" altLang="zh-CN" sz="2000" b="0" baseline="-25000" dirty="0" err="1">
                <a:ea typeface="华文楷体" pitchFamily="2" charset="-122"/>
                <a:cs typeface="Times New Roman" pitchFamily="18" charset="0"/>
              </a:rPr>
              <a:t>n</a:t>
            </a:r>
            <a:r>
              <a:rPr lang="zh-CN" altLang="zh-CN" sz="2000" b="0" dirty="0">
                <a:ea typeface="华文楷体" pitchFamily="2" charset="-122"/>
                <a:cs typeface="Times New Roman" pitchFamily="18" charset="0"/>
              </a:rPr>
              <a:t>为队尾。</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Operations:</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initialize    </a:t>
            </a:r>
            <a:r>
              <a:rPr lang="zh-CN" altLang="zh-CN" sz="2000" b="0" dirty="0">
                <a:ea typeface="华文楷体" pitchFamily="2" charset="-122"/>
                <a:cs typeface="Times New Roman" pitchFamily="18" charset="0"/>
              </a:rPr>
              <a:t>前提</a:t>
            </a:r>
            <a:r>
              <a:rPr lang="zh-CN" altLang="en-US" sz="2000" b="0" dirty="0">
                <a:ea typeface="华文楷体" pitchFamily="2" charset="-122"/>
                <a:cs typeface="Times New Roman" pitchFamily="18" charset="0"/>
              </a:rPr>
              <a:t>：</a:t>
            </a:r>
            <a:r>
              <a:rPr lang="zh-CN" altLang="zh-CN" sz="2000" b="0" dirty="0">
                <a:ea typeface="华文楷体" pitchFamily="2" charset="-122"/>
                <a:cs typeface="Times New Roman" pitchFamily="18" charset="0"/>
              </a:rPr>
              <a:t>无</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结果</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分配相应空间及初始化。</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a:t>
            </a:r>
            <a:r>
              <a:rPr lang="en-US" altLang="zh-CN" sz="2000" b="0" dirty="0" err="1">
                <a:ea typeface="华文楷体" pitchFamily="2" charset="-122"/>
                <a:cs typeface="Times New Roman" pitchFamily="18" charset="0"/>
              </a:rPr>
              <a:t>isEmpty</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前提</a:t>
            </a:r>
            <a:r>
              <a:rPr lang="zh-CN" altLang="en-US" sz="2000" b="0" dirty="0">
                <a:ea typeface="华文楷体" pitchFamily="2" charset="-122"/>
                <a:cs typeface="Times New Roman" pitchFamily="18" charset="0"/>
              </a:rPr>
              <a:t>：</a:t>
            </a:r>
            <a:r>
              <a:rPr lang="zh-CN" altLang="zh-CN" sz="2000" b="0" dirty="0">
                <a:ea typeface="华文楷体" pitchFamily="2" charset="-122"/>
                <a:cs typeface="Times New Roman" pitchFamily="18" charset="0"/>
              </a:rPr>
              <a:t>无</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结果：</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队</a:t>
            </a:r>
            <a:r>
              <a:rPr lang="en-US" altLang="zh-CN" sz="2000" b="0" dirty="0">
                <a:ea typeface="华文楷体" pitchFamily="2" charset="-122"/>
                <a:cs typeface="Times New Roman" pitchFamily="18" charset="0"/>
              </a:rPr>
              <a:t>Queue</a:t>
            </a:r>
            <a:r>
              <a:rPr lang="zh-CN" altLang="zh-CN" sz="2000" b="0" dirty="0">
                <a:ea typeface="华文楷体" pitchFamily="2" charset="-122"/>
                <a:cs typeface="Times New Roman" pitchFamily="18" charset="0"/>
              </a:rPr>
              <a:t>为空返回</a:t>
            </a:r>
            <a:r>
              <a:rPr lang="en-US" altLang="zh-CN" sz="2000" b="0" dirty="0">
                <a:ea typeface="华文楷体" pitchFamily="2" charset="-122"/>
                <a:cs typeface="Times New Roman" pitchFamily="18" charset="0"/>
              </a:rPr>
              <a:t>true</a:t>
            </a:r>
            <a:r>
              <a:rPr lang="zh-CN" altLang="zh-CN" sz="2000" b="0" dirty="0">
                <a:ea typeface="华文楷体" pitchFamily="2" charset="-122"/>
                <a:cs typeface="Times New Roman" pitchFamily="18" charset="0"/>
              </a:rPr>
              <a:t>，否则返回</a:t>
            </a:r>
            <a:r>
              <a:rPr lang="en-US" altLang="zh-CN" sz="2000" b="0" dirty="0">
                <a:ea typeface="华文楷体" pitchFamily="2" charset="-122"/>
                <a:cs typeface="Times New Roman" pitchFamily="18" charset="0"/>
              </a:rPr>
              <a:t>false</a:t>
            </a:r>
            <a:r>
              <a:rPr lang="zh-CN" altLang="zh-CN" sz="2000" b="0" dirty="0">
                <a:ea typeface="华文楷体" pitchFamily="2" charset="-122"/>
                <a:cs typeface="Times New Roman" pitchFamily="18" charset="0"/>
              </a:rPr>
              <a:t>。</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a:t>
            </a:r>
            <a:r>
              <a:rPr lang="en-US" altLang="zh-CN" sz="2000" b="0" dirty="0" err="1">
                <a:ea typeface="华文楷体" pitchFamily="2" charset="-122"/>
                <a:cs typeface="Times New Roman" pitchFamily="18" charset="0"/>
              </a:rPr>
              <a:t>isFull</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前提：无</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结果：</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队</a:t>
            </a:r>
            <a:r>
              <a:rPr lang="en-US" altLang="zh-CN" sz="2000" b="0" dirty="0">
                <a:ea typeface="华文楷体" pitchFamily="2" charset="-122"/>
                <a:cs typeface="Times New Roman" pitchFamily="18" charset="0"/>
              </a:rPr>
              <a:t>Queue</a:t>
            </a:r>
            <a:r>
              <a:rPr lang="zh-CN" altLang="zh-CN" sz="2000" b="0" dirty="0">
                <a:ea typeface="华文楷体" pitchFamily="2" charset="-122"/>
                <a:cs typeface="Times New Roman" pitchFamily="18" charset="0"/>
              </a:rPr>
              <a:t>为满返回</a:t>
            </a:r>
            <a:r>
              <a:rPr lang="en-US" altLang="zh-CN" sz="2000" b="0" dirty="0">
                <a:ea typeface="华文楷体" pitchFamily="2" charset="-122"/>
                <a:cs typeface="Times New Roman" pitchFamily="18" charset="0"/>
              </a:rPr>
              <a:t>true</a:t>
            </a:r>
            <a:r>
              <a:rPr lang="zh-CN" altLang="zh-CN" sz="2000" b="0" dirty="0">
                <a:ea typeface="华文楷体" pitchFamily="2" charset="-122"/>
                <a:cs typeface="Times New Roman" pitchFamily="18" charset="0"/>
              </a:rPr>
              <a:t>，否则返回</a:t>
            </a:r>
            <a:r>
              <a:rPr lang="en-US" altLang="zh-CN" sz="2000" b="0" dirty="0">
                <a:ea typeface="华文楷体" pitchFamily="2" charset="-122"/>
                <a:cs typeface="Times New Roman" pitchFamily="18" charset="0"/>
              </a:rPr>
              <a:t>false</a:t>
            </a:r>
            <a:r>
              <a:rPr lang="zh-CN" altLang="zh-CN" sz="2000" b="0" dirty="0">
                <a:ea typeface="华文楷体" pitchFamily="2" charset="-122"/>
                <a:cs typeface="Times New Roman" pitchFamily="18" charset="0"/>
              </a:rPr>
              <a:t>。</a:t>
            </a:r>
            <a:endParaRPr lang="zh-CN" altLang="zh-CN" sz="2000" b="0" dirty="0">
              <a:ea typeface="华文楷体" pitchFamily="2" charset="-122"/>
              <a:cs typeface="Times New Roman" pitchFamily="18" charset="0"/>
            </a:endParaRPr>
          </a:p>
          <a:p>
            <a:pPr marL="0" indent="0">
              <a:buNone/>
            </a:pPr>
            <a:r>
              <a:rPr lang="en-US" altLang="zh-CN" sz="2000" b="0" dirty="0">
                <a:ea typeface="华文楷体" pitchFamily="2" charset="-122"/>
                <a:cs typeface="Times New Roman" pitchFamily="18" charset="0"/>
              </a:rPr>
              <a:t>	front           </a:t>
            </a:r>
            <a:r>
              <a:rPr lang="zh-CN" altLang="zh-CN" sz="2000" b="0" dirty="0">
                <a:ea typeface="华文楷体" pitchFamily="2" charset="-122"/>
                <a:cs typeface="Times New Roman" pitchFamily="18" charset="0"/>
              </a:rPr>
              <a:t>前提：队</a:t>
            </a:r>
            <a:r>
              <a:rPr lang="en-US" altLang="zh-CN" sz="2000" b="0" dirty="0">
                <a:ea typeface="华文楷体" pitchFamily="2" charset="-122"/>
                <a:cs typeface="Times New Roman" pitchFamily="18" charset="0"/>
              </a:rPr>
              <a:t>Queue</a:t>
            </a:r>
            <a:r>
              <a:rPr lang="zh-CN" altLang="zh-CN" sz="2000" b="0" dirty="0">
                <a:ea typeface="华文楷体" pitchFamily="2" charset="-122"/>
                <a:cs typeface="Times New Roman" pitchFamily="18" charset="0"/>
              </a:rPr>
              <a:t>非空。</a:t>
            </a:r>
            <a:r>
              <a:rPr lang="zh-CN" altLang="en-US" sz="2000" b="0" dirty="0">
                <a:ea typeface="华文楷体" pitchFamily="2" charset="-122"/>
                <a:cs typeface="Times New Roman" pitchFamily="18" charset="0"/>
              </a:rPr>
              <a:t>结果</a:t>
            </a:r>
            <a:r>
              <a:rPr lang="zh-CN" altLang="zh-CN" sz="2000" b="0" dirty="0">
                <a:ea typeface="华文楷体" pitchFamily="2" charset="-122"/>
                <a:cs typeface="Times New Roman" pitchFamily="18" charset="0"/>
              </a:rPr>
              <a:t>：</a:t>
            </a:r>
            <a:r>
              <a:rPr lang="en-US" altLang="zh-CN" sz="2000" b="0" dirty="0">
                <a:ea typeface="华文楷体" pitchFamily="2" charset="-122"/>
                <a:cs typeface="Times New Roman" pitchFamily="18" charset="0"/>
              </a:rPr>
              <a:t>	</a:t>
            </a:r>
            <a:r>
              <a:rPr lang="zh-CN" altLang="zh-CN" sz="2000" b="0" dirty="0">
                <a:ea typeface="华文楷体" pitchFamily="2" charset="-122"/>
                <a:cs typeface="Times New Roman" pitchFamily="18" charset="0"/>
              </a:rPr>
              <a:t>返回相应队首元素的数据值，队首元素不变。</a:t>
            </a:r>
            <a:endParaRPr lang="en-US" altLang="zh-CN" sz="2000" b="0" dirty="0">
              <a:ea typeface="华文楷体" pitchFamily="2" charset="-122"/>
              <a:cs typeface="Times New Roman" pitchFamily="18" charset="0"/>
            </a:endParaRPr>
          </a:p>
          <a:p>
            <a:pPr marL="0" lvl="0" indent="0" defTabSz="-635"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itchFamily="2" charset="-122"/>
                <a:cs typeface="Times New Roman" pitchFamily="18" charset="0"/>
                <a:sym typeface="Symbol" pitchFamily="18" charset="2"/>
              </a:rPr>
              <a:t>			  </a:t>
            </a:r>
            <a:r>
              <a:rPr lang="en-US" altLang="zh-CN" sz="2000" b="0" dirty="0" err="1">
                <a:ea typeface="华文楷体" pitchFamily="2" charset="-122"/>
                <a:cs typeface="Times New Roman" pitchFamily="18" charset="0"/>
                <a:sym typeface="Symbol" pitchFamily="18" charset="2"/>
              </a:rPr>
              <a:t>enqueue</a:t>
            </a:r>
            <a:r>
              <a:rPr lang="en-US" altLang="zh-CN" sz="2000" b="0" dirty="0">
                <a:ea typeface="华文楷体" pitchFamily="2" charset="-122"/>
                <a:cs typeface="Times New Roman" pitchFamily="18" charset="0"/>
                <a:sym typeface="Symbol" pitchFamily="18" charset="2"/>
              </a:rPr>
              <a:t>      </a:t>
            </a:r>
            <a:r>
              <a:rPr lang="zh-CN" altLang="en-US" sz="2000" b="0" dirty="0">
                <a:ea typeface="华文楷体" pitchFamily="2" charset="-122"/>
                <a:cs typeface="Times New Roman" pitchFamily="18" charset="0"/>
                <a:sym typeface="Symbol" pitchFamily="18" charset="2"/>
              </a:rPr>
              <a:t>前提：队</a:t>
            </a:r>
            <a:r>
              <a:rPr lang="en-US" altLang="zh-CN" sz="2000" b="0" dirty="0">
                <a:ea typeface="华文楷体" pitchFamily="2" charset="-122"/>
                <a:cs typeface="Times New Roman" pitchFamily="18" charset="0"/>
                <a:sym typeface="Symbol" pitchFamily="18" charset="2"/>
              </a:rPr>
              <a:t>Queue</a:t>
            </a:r>
            <a:r>
              <a:rPr lang="zh-CN" altLang="en-US" sz="2000" b="0" dirty="0">
                <a:ea typeface="华文楷体" pitchFamily="2" charset="-122"/>
                <a:cs typeface="Times New Roman" pitchFamily="18" charset="0"/>
                <a:sym typeface="Symbol" pitchFamily="18" charset="2"/>
              </a:rPr>
              <a:t>非满，已知待进队的数据值。</a:t>
            </a:r>
            <a:endParaRPr lang="zh-CN" altLang="en-US" sz="2000" b="0" dirty="0">
              <a:ea typeface="华文楷体" pitchFamily="2" charset="-122"/>
              <a:cs typeface="Times New Roman" pitchFamily="18" charset="0"/>
              <a:sym typeface="Symbol" pitchFamily="18" charset="2"/>
            </a:endParaRPr>
          </a:p>
          <a:p>
            <a:pPr marL="0" lvl="0" indent="0" defTabSz="-635"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itchFamily="2" charset="-122"/>
                <a:cs typeface="Times New Roman" pitchFamily="18" charset="0"/>
                <a:sym typeface="Symbol" pitchFamily="18" charset="2"/>
              </a:rPr>
              <a:t>                                   结果：将该数据值的元素队进队，使其成为新的队尾元素。</a:t>
            </a:r>
            <a:endParaRPr lang="en-US" altLang="zh-CN" sz="2000" b="0" dirty="0">
              <a:ea typeface="华文楷体" pitchFamily="2" charset="-122"/>
              <a:cs typeface="Times New Roman" pitchFamily="18" charset="0"/>
              <a:sym typeface="Symbol" pitchFamily="18" charset="2"/>
            </a:endParaRPr>
          </a:p>
          <a:p>
            <a:pPr marL="0" lvl="0" indent="0" defTabSz="-635"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en-US" altLang="zh-CN" sz="2000" b="0" dirty="0">
                <a:ea typeface="华文楷体" pitchFamily="2" charset="-122"/>
                <a:cs typeface="Times New Roman" pitchFamily="18" charset="0"/>
                <a:sym typeface="Symbol" pitchFamily="18" charset="2"/>
              </a:rPr>
              <a:t>              </a:t>
            </a:r>
            <a:r>
              <a:rPr lang="en-US" altLang="zh-CN" sz="2000" b="0" dirty="0" err="1">
                <a:ea typeface="华文楷体" pitchFamily="2" charset="-122"/>
                <a:cs typeface="Times New Roman" pitchFamily="18" charset="0"/>
                <a:sym typeface="Symbol" pitchFamily="18" charset="2"/>
              </a:rPr>
              <a:t>dequeue</a:t>
            </a:r>
            <a:r>
              <a:rPr lang="en-US" altLang="zh-CN" sz="2000" b="0" dirty="0">
                <a:ea typeface="华文楷体" pitchFamily="2" charset="-122"/>
                <a:cs typeface="Times New Roman" pitchFamily="18" charset="0"/>
                <a:sym typeface="Symbol" pitchFamily="18" charset="2"/>
              </a:rPr>
              <a:t>      </a:t>
            </a:r>
            <a:r>
              <a:rPr lang="zh-CN" altLang="en-US" sz="2000" b="0" dirty="0">
                <a:ea typeface="华文楷体" pitchFamily="2" charset="-122"/>
                <a:cs typeface="Times New Roman" pitchFamily="18" charset="0"/>
                <a:sym typeface="Symbol" pitchFamily="18" charset="2"/>
              </a:rPr>
              <a:t>前提：队</a:t>
            </a:r>
            <a:r>
              <a:rPr lang="en-US" altLang="zh-CN" sz="2000" b="0" dirty="0">
                <a:ea typeface="华文楷体" pitchFamily="2" charset="-122"/>
                <a:cs typeface="Times New Roman" pitchFamily="18" charset="0"/>
                <a:sym typeface="Symbol" pitchFamily="18" charset="2"/>
              </a:rPr>
              <a:t>Queue</a:t>
            </a:r>
            <a:r>
              <a:rPr lang="zh-CN" altLang="en-US" sz="2000" b="0" dirty="0">
                <a:ea typeface="华文楷体" pitchFamily="2" charset="-122"/>
                <a:cs typeface="Times New Roman" pitchFamily="18" charset="0"/>
                <a:sym typeface="Symbol" pitchFamily="18" charset="2"/>
              </a:rPr>
              <a:t>非空。结果：	将队首元素出队，该元素不再成为队首元素。</a:t>
            </a:r>
            <a:endParaRPr lang="zh-CN" altLang="en-US" sz="2000" b="0" dirty="0">
              <a:ea typeface="华文楷体" pitchFamily="2" charset="-122"/>
              <a:cs typeface="Times New Roman" pitchFamily="18" charset="0"/>
              <a:sym typeface="Symbol" pitchFamily="18" charset="2"/>
            </a:endParaRPr>
          </a:p>
          <a:p>
            <a:pPr marL="0" lvl="0" indent="0" defTabSz="-635" fontAlgn="base">
              <a:spcAft>
                <a:spcPct val="0"/>
              </a:spcAft>
              <a:buNone/>
              <a:tabLst>
                <a:tab pos="266700" algn="l"/>
                <a:tab pos="533400" algn="l"/>
                <a:tab pos="800100" algn="l"/>
                <a:tab pos="1066800" algn="l"/>
                <a:tab pos="1333500" algn="l"/>
                <a:tab pos="1600200" algn="l"/>
                <a:tab pos="1866900" algn="l"/>
                <a:tab pos="2133600" algn="l"/>
                <a:tab pos="2400300" algn="l"/>
                <a:tab pos="4819650" algn="l"/>
              </a:tabLst>
            </a:pPr>
            <a:r>
              <a:rPr lang="zh-CN" altLang="en-US" sz="2000" b="0" dirty="0">
                <a:ea typeface="华文楷体" pitchFamily="2" charset="-122"/>
                <a:cs typeface="Times New Roman" pitchFamily="18" charset="0"/>
                <a:sym typeface="Symbol" pitchFamily="18" charset="2"/>
              </a:rPr>
              <a:t>			 </a:t>
            </a:r>
            <a:r>
              <a:rPr lang="en-US" altLang="zh-CN" sz="2000" b="0" dirty="0">
                <a:ea typeface="华文楷体" pitchFamily="2" charset="-122"/>
                <a:cs typeface="Times New Roman" pitchFamily="18" charset="0"/>
                <a:sym typeface="Symbol" pitchFamily="18" charset="2"/>
              </a:rPr>
              <a:t>destroy        </a:t>
            </a:r>
            <a:r>
              <a:rPr lang="zh-CN" altLang="en-US" sz="2000" b="0" dirty="0">
                <a:ea typeface="华文楷体" pitchFamily="2" charset="-122"/>
                <a:cs typeface="Times New Roman" pitchFamily="18" charset="0"/>
                <a:sym typeface="Symbol" pitchFamily="18" charset="2"/>
              </a:rPr>
              <a:t>前提：无。结果：销毁并释放队</a:t>
            </a:r>
            <a:r>
              <a:rPr lang="en-US" altLang="zh-CN" sz="2000" b="0" dirty="0">
                <a:ea typeface="华文楷体" pitchFamily="2" charset="-122"/>
                <a:cs typeface="Times New Roman" pitchFamily="18" charset="0"/>
                <a:sym typeface="Symbol" pitchFamily="18" charset="2"/>
              </a:rPr>
              <a:t>Queue</a:t>
            </a:r>
            <a:r>
              <a:rPr lang="zh-CN" altLang="en-US" sz="2000" b="0" dirty="0">
                <a:ea typeface="华文楷体" pitchFamily="2" charset="-122"/>
                <a:cs typeface="Times New Roman" pitchFamily="18" charset="0"/>
                <a:sym typeface="Symbol" pitchFamily="18" charset="2"/>
              </a:rPr>
              <a:t>占用的空间。 </a:t>
            </a:r>
            <a:endParaRPr lang="zh-CN" altLang="en-US" sz="2000" b="0" dirty="0">
              <a:ea typeface="华文楷体" pitchFamily="2" charset="-122"/>
              <a:cs typeface="Times New Roman" pitchFamily="18" charset="0"/>
              <a:sym typeface="Symbol" pitchFamily="18" charset="2"/>
            </a:endParaRPr>
          </a:p>
          <a:p>
            <a:pPr marL="0" indent="0">
              <a:buNone/>
            </a:pPr>
            <a:endParaRPr lang="zh-CN" altLang="zh-CN" sz="2000" dirty="0">
              <a:ea typeface="华文楷体" pitchFamily="2" charset="-122"/>
              <a:cs typeface="Times New Roman" pitchFamily="18" charset="0"/>
            </a:endParaRPr>
          </a:p>
          <a:p>
            <a:pPr marL="0" indent="0">
              <a:buNone/>
              <a:defRPr/>
            </a:pPr>
            <a:endParaRPr lang="en-US" altLang="zh-CN" sz="200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normAutofit/>
          </a:bodyPr>
          <a:lstStyle/>
          <a:p>
            <a:pPr marL="838200" indent="-838200">
              <a:defRPr/>
            </a:pPr>
            <a:r>
              <a:rPr lang="zh-CN" altLang="en-US" dirty="0">
                <a:latin typeface="华文楷体" pitchFamily="2" charset="-122"/>
                <a:ea typeface="华文楷体" pitchFamily="2" charset="-122"/>
              </a:rPr>
              <a:t>队列的抽象数据类型：</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solidFill>
                  <a:srgbClr val="FF0000"/>
                </a:solidFill>
                <a:latin typeface="华文楷体" pitchFamily="2" charset="-122"/>
                <a:ea typeface="华文楷体" pitchFamily="2" charset="-122"/>
              </a:rPr>
              <a:t>顺序循环队列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205833"/>
          </a:xfrm>
        </p:spPr>
        <p:txBody>
          <a:bodyPr>
            <a:normAutofit/>
          </a:bodyPr>
          <a:lstStyle/>
          <a:p>
            <a:pPr marL="0" indent="0">
              <a:buNone/>
            </a:pPr>
            <a:r>
              <a:rPr lang="zh-CN" altLang="zh-CN" sz="2800" b="0" dirty="0">
                <a:ea typeface="华文楷体" pitchFamily="2" charset="-122"/>
                <a:cs typeface="Times New Roman" pitchFamily="18" charset="0"/>
              </a:rPr>
              <a:t>用一组连续的空间存储队列中的元素及元素间关系，这样存储的队列称</a:t>
            </a:r>
            <a:r>
              <a:rPr lang="zh-CN" altLang="zh-CN" sz="2800" dirty="0">
                <a:ea typeface="华文楷体" pitchFamily="2" charset="-122"/>
                <a:cs typeface="Times New Roman" pitchFamily="18" charset="0"/>
              </a:rPr>
              <a:t>顺序队列</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队列中的元素个数最多为 </a:t>
            </a:r>
            <a:r>
              <a:rPr lang="en-US" altLang="zh-CN" sz="2800" b="0" dirty="0" err="1">
                <a:ea typeface="华文楷体" pitchFamily="2" charset="-122"/>
                <a:cs typeface="Times New Roman" pitchFamily="18" charset="0"/>
              </a:rPr>
              <a:t>maxSize</a:t>
            </a:r>
            <a:r>
              <a:rPr lang="zh-CN" altLang="zh-CN" sz="2800" b="0" dirty="0">
                <a:ea typeface="华文楷体" pitchFamily="2" charset="-122"/>
                <a:cs typeface="Times New Roman" pitchFamily="18" charset="0"/>
              </a:rPr>
              <a:t>个，其下标的范围从</a:t>
            </a:r>
            <a:r>
              <a:rPr lang="en-US" altLang="zh-CN" sz="2800" b="0" dirty="0">
                <a:ea typeface="华文楷体" pitchFamily="2" charset="-122"/>
                <a:cs typeface="Times New Roman" pitchFamily="18" charset="0"/>
              </a:rPr>
              <a:t>0</a:t>
            </a:r>
            <a:r>
              <a:rPr lang="zh-CN" altLang="zh-CN" sz="2800" b="0" dirty="0">
                <a:ea typeface="华文楷体" pitchFamily="2" charset="-122"/>
                <a:cs typeface="Times New Roman" pitchFamily="18" charset="0"/>
              </a:rPr>
              <a:t>到</a:t>
            </a:r>
            <a:r>
              <a:rPr lang="en-US" altLang="zh-CN" sz="2800" b="0" dirty="0">
                <a:ea typeface="华文楷体" pitchFamily="2" charset="-122"/>
                <a:cs typeface="Times New Roman" pitchFamily="18" charset="0"/>
              </a:rPr>
              <a:t>maxSize-1</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zh-CN" altLang="zh-CN" sz="2800" b="0" dirty="0">
                <a:ea typeface="华文楷体" pitchFamily="2" charset="-122"/>
                <a:cs typeface="Times New Roman" pitchFamily="18" charset="0"/>
              </a:rPr>
              <a:t>使用队首指针</a:t>
            </a:r>
            <a:r>
              <a:rPr lang="en-US" altLang="zh-CN" sz="2800" b="0" dirty="0">
                <a:ea typeface="华文楷体" pitchFamily="2" charset="-122"/>
                <a:cs typeface="Times New Roman" pitchFamily="18" charset="0"/>
              </a:rPr>
              <a:t>Front</a:t>
            </a:r>
            <a:r>
              <a:rPr lang="zh-CN" altLang="zh-CN" sz="2800" b="0" dirty="0">
                <a:ea typeface="华文楷体" pitchFamily="2" charset="-122"/>
                <a:cs typeface="Times New Roman" pitchFamily="18" charset="0"/>
              </a:rPr>
              <a:t>指示队首元素</a:t>
            </a:r>
            <a:r>
              <a:rPr lang="zh-CN" altLang="en-US" sz="2800" b="0" dirty="0">
                <a:ea typeface="华文楷体" pitchFamily="2" charset="-122"/>
                <a:cs typeface="Times New Roman" pitchFamily="18" charset="0"/>
              </a:rPr>
              <a:t>，使用</a:t>
            </a:r>
            <a:r>
              <a:rPr lang="zh-CN" altLang="zh-CN" sz="2800" b="0" dirty="0">
                <a:ea typeface="华文楷体" pitchFamily="2" charset="-122"/>
                <a:cs typeface="Times New Roman" pitchFamily="18" charset="0"/>
              </a:rPr>
              <a:t>队尾指针</a:t>
            </a:r>
            <a:r>
              <a:rPr lang="en-US" altLang="zh-CN" sz="2800" b="0" dirty="0">
                <a:ea typeface="华文楷体" pitchFamily="2" charset="-122"/>
                <a:cs typeface="Times New Roman" pitchFamily="18" charset="0"/>
              </a:rPr>
              <a:t>Rear</a:t>
            </a:r>
            <a:r>
              <a:rPr lang="zh-CN" altLang="en-US" sz="2800" b="0" dirty="0">
                <a:ea typeface="华文楷体" pitchFamily="2" charset="-122"/>
                <a:cs typeface="Times New Roman" pitchFamily="18" charset="0"/>
              </a:rPr>
              <a:t>指示队尾元素</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   </a:t>
            </a:r>
            <a:r>
              <a:rPr lang="zh-CN" altLang="en-US" sz="2800" b="0" dirty="0">
                <a:ea typeface="华文楷体" pitchFamily="2" charset="-122"/>
                <a:cs typeface="Times New Roman" pitchFamily="18" charset="0"/>
              </a:rPr>
              <a:t>便于出队进队操作。</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顺序队列：</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205833"/>
          </a:xfrm>
        </p:spPr>
        <p:txBody>
          <a:bodyPr>
            <a:normAutofit/>
          </a:bodyPr>
          <a:lstStyle/>
          <a:p>
            <a:pPr marL="0" indent="0">
              <a:lnSpc>
                <a:spcPct val="130000"/>
              </a:lnSpc>
              <a:buNone/>
            </a:pPr>
            <a:r>
              <a:rPr lang="zh-CN" altLang="en-US" sz="2800" b="0" dirty="0">
                <a:ea typeface="华文楷体" pitchFamily="2" charset="-122"/>
                <a:cs typeface="Times New Roman" pitchFamily="18" charset="0"/>
              </a:rPr>
              <a:t>顺序队列的三种组织方式</a:t>
            </a:r>
            <a:endParaRPr lang="zh-CN" altLang="en-US" sz="2800" b="0" dirty="0">
              <a:ea typeface="华文楷体" pitchFamily="2" charset="-122"/>
              <a:cs typeface="Times New Roman" pitchFamily="18" charset="0"/>
            </a:endParaRPr>
          </a:p>
          <a:p>
            <a:pPr lvl="1">
              <a:lnSpc>
                <a:spcPct val="130000"/>
              </a:lnSpc>
            </a:pPr>
            <a:r>
              <a:rPr lang="zh-CN" altLang="en-US" sz="2800" b="0" dirty="0">
                <a:ea typeface="华文楷体" pitchFamily="2" charset="-122"/>
                <a:cs typeface="Times New Roman" pitchFamily="18" charset="0"/>
              </a:rPr>
              <a:t>队头位置固定</a:t>
            </a:r>
            <a:endParaRPr lang="zh-CN" altLang="en-US" sz="2800" b="0" dirty="0">
              <a:ea typeface="华文楷体" pitchFamily="2" charset="-122"/>
              <a:cs typeface="Times New Roman" pitchFamily="18" charset="0"/>
            </a:endParaRPr>
          </a:p>
          <a:p>
            <a:pPr lvl="1">
              <a:lnSpc>
                <a:spcPct val="130000"/>
              </a:lnSpc>
            </a:pPr>
            <a:r>
              <a:rPr lang="zh-CN" altLang="en-US" sz="2800" b="0" dirty="0">
                <a:ea typeface="华文楷体" pitchFamily="2" charset="-122"/>
                <a:cs typeface="Times New Roman" pitchFamily="18" charset="0"/>
              </a:rPr>
              <a:t>队头位置不固定</a:t>
            </a:r>
            <a:endParaRPr lang="zh-CN" altLang="en-US" sz="2800" b="0" dirty="0">
              <a:ea typeface="华文楷体" pitchFamily="2" charset="-122"/>
              <a:cs typeface="Times New Roman" pitchFamily="18" charset="0"/>
            </a:endParaRPr>
          </a:p>
          <a:p>
            <a:pPr lvl="1">
              <a:lnSpc>
                <a:spcPct val="130000"/>
              </a:lnSpc>
            </a:pPr>
            <a:r>
              <a:rPr lang="zh-CN" altLang="en-US" sz="2800" b="0" dirty="0">
                <a:ea typeface="华文楷体" pitchFamily="2" charset="-122"/>
                <a:cs typeface="Times New Roman" pitchFamily="18" charset="0"/>
              </a:rPr>
              <a:t>循环队列 </a:t>
            </a:r>
            <a:endParaRPr lang="zh-CN" altLang="en-US"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顺序队列：</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14:cpLocks xmlns:a14="http://schemas.microsoft.com/office/drawing/2010/main" noRot="1" noChangeArrowheads="1"/>
          </p:cNvSpPr>
          <p:nvPr/>
        </p:nvSpPr>
        <p:spPr>
          <a:xfrm>
            <a:off x="467134" y="470815"/>
            <a:ext cx="7772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a:solidFill>
                  <a:schemeClr val="accent1"/>
                </a:solidFill>
                <a:latin typeface="+mj-lt"/>
                <a:ea typeface="+mj-ea"/>
                <a:cs typeface="+mj-cs"/>
              </a:defRPr>
            </a:lvl1pPr>
          </a:lstStyle>
          <a:p>
            <a:r>
              <a:rPr lang="zh-CN" altLang="en-US" sz="4000" dirty="0">
                <a:latin typeface="楷体_GB2312" pitchFamily="49" charset="-122"/>
                <a:ea typeface="楷体_GB2312" pitchFamily="49" charset="-122"/>
              </a:rPr>
              <a:t>队头位置固定</a:t>
            </a:r>
            <a:endParaRPr lang="zh-CN" altLang="en-US" sz="4000" dirty="0">
              <a:solidFill>
                <a:srgbClr val="FF0000"/>
              </a:solidFill>
            </a:endParaRPr>
          </a:p>
        </p:txBody>
      </p:sp>
      <p:sp>
        <p:nvSpPr>
          <p:cNvPr id="6" name="Rectangle 3"/>
          <p:cNvSpPr>
            <a14:cpLocks xmlns:a14="http://schemas.microsoft.com/office/drawing/2010/main" noGrp="1" noChangeArrowheads="1"/>
          </p:cNvSpPr>
          <p:nvPr>
            <p:ph idx="4294967295"/>
          </p:nvPr>
        </p:nvSpPr>
        <p:spPr>
          <a:xfrm>
            <a:off x="162714" y="1597613"/>
            <a:ext cx="2961367" cy="4752975"/>
          </a:xfrm>
          <a:prstGeom prst="rect">
            <a:avLst/>
          </a:prstGeom>
        </p:spPr>
        <p:txBody>
          <a:bodyPr/>
          <a:lstStyle/>
          <a:p>
            <a:pPr marL="0" indent="0">
              <a:lnSpc>
                <a:spcPct val="140000"/>
              </a:lnSpc>
              <a:buNone/>
            </a:pPr>
            <a:r>
              <a:rPr lang="en-US" altLang="zh-CN" dirty="0">
                <a:latin typeface="楷体_GB2312" pitchFamily="49" charset="-122"/>
                <a:ea typeface="楷体_GB2312" pitchFamily="49" charset="-122"/>
              </a:rPr>
              <a:t>a)</a:t>
            </a:r>
            <a:r>
              <a:rPr lang="zh-CN" altLang="en-US" dirty="0">
                <a:latin typeface="楷体_GB2312" pitchFamily="49" charset="-122"/>
                <a:ea typeface="楷体_GB2312" pitchFamily="49" charset="-122"/>
              </a:rPr>
              <a:t>队头固定在下标</a:t>
            </a:r>
            <a:r>
              <a:rPr lang="en-US" altLang="zh-CN" dirty="0">
                <a:latin typeface="楷体_GB2312" pitchFamily="49" charset="-122"/>
                <a:ea typeface="楷体_GB2312" pitchFamily="49" charset="-122"/>
              </a:rPr>
              <a:t>0</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pPr marL="0" indent="0">
              <a:lnSpc>
                <a:spcPct val="140000"/>
              </a:lnSpc>
              <a:buNone/>
            </a:pPr>
            <a:r>
              <a:rPr lang="en-US" altLang="zh-CN" dirty="0">
                <a:latin typeface="楷体_GB2312" pitchFamily="49" charset="-122"/>
                <a:ea typeface="楷体_GB2312" pitchFamily="49" charset="-122"/>
              </a:rPr>
              <a:t>b)</a:t>
            </a:r>
            <a:r>
              <a:rPr lang="zh-CN" altLang="en-US" dirty="0">
                <a:latin typeface="楷体_GB2312" pitchFamily="49" charset="-122"/>
                <a:ea typeface="楷体_GB2312" pitchFamily="49" charset="-122"/>
              </a:rPr>
              <a:t>用一个变量指出队尾位置；</a:t>
            </a:r>
            <a:endParaRPr lang="en-US" altLang="zh-CN" dirty="0">
              <a:latin typeface="楷体_GB2312" pitchFamily="49" charset="-122"/>
              <a:ea typeface="楷体_GB2312" pitchFamily="49" charset="-122"/>
            </a:endParaRPr>
          </a:p>
          <a:p>
            <a:pPr marL="0" indent="0">
              <a:lnSpc>
                <a:spcPct val="140000"/>
              </a:lnSpc>
              <a:buNone/>
            </a:pPr>
            <a:r>
              <a:rPr lang="en-US" altLang="zh-CN" dirty="0">
                <a:latin typeface="楷体_GB2312" pitchFamily="49" charset="-122"/>
                <a:ea typeface="楷体_GB2312" pitchFamily="49" charset="-122"/>
              </a:rPr>
              <a:t>c)</a:t>
            </a:r>
            <a:r>
              <a:rPr lang="zh-CN" altLang="en-US" dirty="0">
                <a:latin typeface="楷体_GB2312" pitchFamily="49" charset="-122"/>
                <a:ea typeface="楷体_GB2312" pitchFamily="49" charset="-122"/>
              </a:rPr>
              <a:t>队列为空时，队尾位置为</a:t>
            </a:r>
            <a:r>
              <a:rPr lang="en-US" altLang="zh-CN" dirty="0">
                <a:latin typeface="楷体_GB2312" pitchFamily="49" charset="-122"/>
                <a:ea typeface="楷体_GB2312" pitchFamily="49" charset="-122"/>
              </a:rPr>
              <a:t>-1</a:t>
            </a:r>
            <a:r>
              <a:rPr lang="zh-CN" altLang="en-US" dirty="0">
                <a:latin typeface="楷体_GB2312" pitchFamily="49" charset="-122"/>
                <a:ea typeface="楷体_GB2312" pitchFamily="49" charset="-122"/>
              </a:rPr>
              <a:t>。</a:t>
            </a:r>
            <a:endParaRPr lang="en-US" altLang="zh-CN" dirty="0">
              <a:latin typeface="楷体_GB2312" pitchFamily="49" charset="-122"/>
              <a:ea typeface="楷体_GB2312" pitchFamily="49" charset="-122"/>
            </a:endParaRPr>
          </a:p>
          <a:p>
            <a:endParaRPr lang="en-US" altLang="zh-CN" sz="3200" dirty="0">
              <a:latin typeface="楷体_GB2312" pitchFamily="49" charset="-122"/>
              <a:ea typeface="楷体_GB2312" pitchFamily="49" charset="-122"/>
            </a:endParaRPr>
          </a:p>
        </p:txBody>
      </p:sp>
      <p:sp>
        <p:nvSpPr>
          <p:cNvPr id="7" name="灯片编号占位符 4"/>
          <p:cNvSpPr txBox="1"/>
          <p:nvPr/>
        </p:nvSpPr>
        <p:spPr>
          <a:xfrm>
            <a:off x="4648200" y="6506818"/>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spcBef>
                <a:spcPct val="20000"/>
              </a:spcBef>
              <a:buChar char="•"/>
              <a:defRPr kumimoji="1" sz="3200" kern="1200">
                <a:solidFill>
                  <a:schemeClr val="tx1"/>
                </a:solidFill>
                <a:latin typeface="Times New Roman" pitchFamily="18" charset="0"/>
                <a:ea typeface="宋体" charset="-122"/>
                <a:cs typeface="+mn-cs"/>
              </a:defRPr>
            </a:lvl1pPr>
            <a:lvl2pPr marL="742950" indent="-285750" algn="l" defTabSz="914400" rtl="0" eaLnBrk="1" latinLnBrk="0" hangingPunct="1">
              <a:spcBef>
                <a:spcPct val="20000"/>
              </a:spcBef>
              <a:buChar char="–"/>
              <a:defRPr kumimoji="1" sz="2800" kern="1200">
                <a:solidFill>
                  <a:schemeClr val="tx1"/>
                </a:solidFill>
                <a:latin typeface="Times New Roman" pitchFamily="18" charset="0"/>
                <a:ea typeface="宋体" charset="-122"/>
                <a:cs typeface="+mn-cs"/>
              </a:defRPr>
            </a:lvl2pPr>
            <a:lvl3pPr marL="1143000" indent="-228600" algn="l" defTabSz="914400" rtl="0" eaLnBrk="1" latinLnBrk="0" hangingPunct="1">
              <a:spcBef>
                <a:spcPct val="20000"/>
              </a:spcBef>
              <a:buChar char="•"/>
              <a:defRPr kumimoji="1" sz="2400" kern="1200">
                <a:solidFill>
                  <a:schemeClr val="tx1"/>
                </a:solidFill>
                <a:latin typeface="Times New Roman" pitchFamily="18" charset="0"/>
                <a:ea typeface="宋体" charset="-122"/>
                <a:cs typeface="+mn-cs"/>
              </a:defRPr>
            </a:lvl3pPr>
            <a:lvl4pPr marL="16002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4pPr>
            <a:lvl5pPr marL="20574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9pPr>
          </a:lstStyle>
          <a:p>
            <a:pPr algn="ctr">
              <a:spcBef>
                <a:spcPct val="0"/>
              </a:spcBef>
              <a:buFontTx/>
              <a:buNone/>
            </a:pPr>
            <a:fld id="{A79AFBCB-B9CF-4446-B09D-D2A2760E6828}" type="slidenum">
              <a:rPr kumimoji="0" lang="en-US" altLang="zh-CN" sz="1200" smtClean="0">
                <a:latin typeface="Arial" charset="0"/>
              </a:rPr>
            </a:fld>
            <a:endParaRPr kumimoji="0" lang="en-US" altLang="zh-CN" sz="1200">
              <a:latin typeface="Arial" charset="0"/>
            </a:endParaRPr>
          </a:p>
        </p:txBody>
      </p:sp>
      <p:grpSp>
        <p:nvGrpSpPr>
          <p:cNvPr id="8" name="Group 63"/>
          <p:cNvGrpSpPr/>
          <p:nvPr/>
        </p:nvGrpSpPr>
        <p:grpSpPr bwMode="auto">
          <a:xfrm>
            <a:off x="3575459" y="1333939"/>
            <a:ext cx="8459787" cy="4213225"/>
            <a:chOff x="431" y="1026"/>
            <a:chExt cx="5329" cy="2654"/>
          </a:xfrm>
        </p:grpSpPr>
        <p:grpSp>
          <p:nvGrpSpPr>
            <p:cNvPr id="9" name="Group 4"/>
            <p:cNvGrpSpPr/>
            <p:nvPr/>
          </p:nvGrpSpPr>
          <p:grpSpPr bwMode="auto">
            <a:xfrm>
              <a:off x="431" y="1389"/>
              <a:ext cx="4896" cy="326"/>
              <a:chOff x="431" y="1389"/>
              <a:chExt cx="4896" cy="326"/>
            </a:xfrm>
          </p:grpSpPr>
          <p:sp>
            <p:nvSpPr>
              <p:cNvPr id="43" name="Rectangle 5"/>
              <p:cNvSpPr>
                <a14:cpLocks xmlns:a14="http://schemas.microsoft.com/office/drawing/2010/main" noChangeArrowheads="1"/>
              </p:cNvSpPr>
              <p:nvPr/>
            </p:nvSpPr>
            <p:spPr bwMode="auto">
              <a:xfrm>
                <a:off x="4837"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4" name="Rectangle 6"/>
              <p:cNvSpPr>
                <a14:cpLocks xmlns:a14="http://schemas.microsoft.com/office/drawing/2010/main" noChangeArrowheads="1"/>
              </p:cNvSpPr>
              <p:nvPr/>
            </p:nvSpPr>
            <p:spPr bwMode="auto">
              <a:xfrm>
                <a:off x="4348"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5" name="Rectangle 7"/>
              <p:cNvSpPr>
                <a14:cpLocks xmlns:a14="http://schemas.microsoft.com/office/drawing/2010/main" noChangeArrowheads="1"/>
              </p:cNvSpPr>
              <p:nvPr/>
            </p:nvSpPr>
            <p:spPr bwMode="auto">
              <a:xfrm>
                <a:off x="3858"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6" name="Rectangle 8"/>
              <p:cNvSpPr>
                <a14:cpLocks xmlns:a14="http://schemas.microsoft.com/office/drawing/2010/main" noChangeArrowheads="1"/>
              </p:cNvSpPr>
              <p:nvPr/>
            </p:nvSpPr>
            <p:spPr bwMode="auto">
              <a:xfrm>
                <a:off x="3369"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7" name="Rectangle 9"/>
              <p:cNvSpPr>
                <a14:cpLocks xmlns:a14="http://schemas.microsoft.com/office/drawing/2010/main" noChangeArrowheads="1"/>
              </p:cNvSpPr>
              <p:nvPr/>
            </p:nvSpPr>
            <p:spPr bwMode="auto">
              <a:xfrm>
                <a:off x="287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f</a:t>
                </a:r>
                <a:endParaRPr lang="en-US" altLang="zh-CN"/>
              </a:p>
            </p:txBody>
          </p:sp>
          <p:sp>
            <p:nvSpPr>
              <p:cNvPr id="48" name="Rectangle 10"/>
              <p:cNvSpPr>
                <a14:cpLocks xmlns:a14="http://schemas.microsoft.com/office/drawing/2010/main" noChangeArrowheads="1"/>
              </p:cNvSpPr>
              <p:nvPr/>
            </p:nvSpPr>
            <p:spPr bwMode="auto">
              <a:xfrm>
                <a:off x="238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e</a:t>
                </a:r>
                <a:endParaRPr lang="en-US" altLang="zh-CN"/>
              </a:p>
            </p:txBody>
          </p:sp>
          <p:sp>
            <p:nvSpPr>
              <p:cNvPr id="49" name="Rectangle 11"/>
              <p:cNvSpPr>
                <a14:cpLocks xmlns:a14="http://schemas.microsoft.com/office/drawing/2010/main" noChangeArrowheads="1"/>
              </p:cNvSpPr>
              <p:nvPr/>
            </p:nvSpPr>
            <p:spPr bwMode="auto">
              <a:xfrm>
                <a:off x="1900"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d</a:t>
                </a:r>
                <a:endParaRPr lang="en-US" altLang="zh-CN"/>
              </a:p>
            </p:txBody>
          </p:sp>
          <p:sp>
            <p:nvSpPr>
              <p:cNvPr id="50" name="Rectangle 12"/>
              <p:cNvSpPr>
                <a14:cpLocks xmlns:a14="http://schemas.microsoft.com/office/drawing/2010/main" noChangeArrowheads="1"/>
              </p:cNvSpPr>
              <p:nvPr/>
            </p:nvSpPr>
            <p:spPr bwMode="auto">
              <a:xfrm>
                <a:off x="1410"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c</a:t>
                </a:r>
                <a:endParaRPr lang="en-US" altLang="zh-CN"/>
              </a:p>
            </p:txBody>
          </p:sp>
          <p:sp>
            <p:nvSpPr>
              <p:cNvPr id="51" name="Rectangle 13"/>
              <p:cNvSpPr>
                <a14:cpLocks xmlns:a14="http://schemas.microsoft.com/office/drawing/2010/main" noChangeArrowheads="1"/>
              </p:cNvSpPr>
              <p:nvPr/>
            </p:nvSpPr>
            <p:spPr bwMode="auto">
              <a:xfrm>
                <a:off x="921"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b</a:t>
                </a:r>
                <a:endParaRPr lang="en-US" altLang="zh-CN"/>
              </a:p>
            </p:txBody>
          </p:sp>
          <p:sp>
            <p:nvSpPr>
              <p:cNvPr id="52" name="Rectangle 14"/>
              <p:cNvSpPr>
                <a14:cpLocks xmlns:a14="http://schemas.microsoft.com/office/drawing/2010/main" noChangeArrowheads="1"/>
              </p:cNvSpPr>
              <p:nvPr/>
            </p:nvSpPr>
            <p:spPr bwMode="auto">
              <a:xfrm>
                <a:off x="431"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a</a:t>
                </a:r>
                <a:endParaRPr lang="en-US" altLang="zh-CN"/>
              </a:p>
            </p:txBody>
          </p:sp>
          <p:sp>
            <p:nvSpPr>
              <p:cNvPr id="53" name="Line 15"/>
              <p:cNvSpPr>
                <a14:cpLocks xmlns:a14="http://schemas.microsoft.com/office/drawing/2010/main" noChangeShapeType="1"/>
              </p:cNvSpPr>
              <p:nvPr/>
            </p:nvSpPr>
            <p:spPr bwMode="auto">
              <a:xfrm>
                <a:off x="431" y="1389"/>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 name="Line 16"/>
              <p:cNvSpPr>
                <a14:cpLocks xmlns:a14="http://schemas.microsoft.com/office/drawing/2010/main" noChangeShapeType="1"/>
              </p:cNvSpPr>
              <p:nvPr/>
            </p:nvSpPr>
            <p:spPr bwMode="auto">
              <a:xfrm>
                <a:off x="431" y="1715"/>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17"/>
              <p:cNvSpPr>
                <a14:cpLocks xmlns:a14="http://schemas.microsoft.com/office/drawing/2010/main" noChangeShapeType="1"/>
              </p:cNvSpPr>
              <p:nvPr/>
            </p:nvSpPr>
            <p:spPr bwMode="auto">
              <a:xfrm>
                <a:off x="431"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 name="Line 18"/>
              <p:cNvSpPr>
                <a14:cpLocks xmlns:a14="http://schemas.microsoft.com/office/drawing/2010/main" noChangeShapeType="1"/>
              </p:cNvSpPr>
              <p:nvPr/>
            </p:nvSpPr>
            <p:spPr bwMode="auto">
              <a:xfrm>
                <a:off x="921"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19"/>
              <p:cNvSpPr>
                <a14:cpLocks xmlns:a14="http://schemas.microsoft.com/office/drawing/2010/main" noChangeShapeType="1"/>
              </p:cNvSpPr>
              <p:nvPr/>
            </p:nvSpPr>
            <p:spPr bwMode="auto">
              <a:xfrm>
                <a:off x="141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20"/>
              <p:cNvSpPr>
                <a14:cpLocks xmlns:a14="http://schemas.microsoft.com/office/drawing/2010/main" noChangeShapeType="1"/>
              </p:cNvSpPr>
              <p:nvPr/>
            </p:nvSpPr>
            <p:spPr bwMode="auto">
              <a:xfrm>
                <a:off x="190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Line 21"/>
              <p:cNvSpPr>
                <a14:cpLocks xmlns:a14="http://schemas.microsoft.com/office/drawing/2010/main" noChangeShapeType="1"/>
              </p:cNvSpPr>
              <p:nvPr/>
            </p:nvSpPr>
            <p:spPr bwMode="auto">
              <a:xfrm>
                <a:off x="238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 name="Line 22"/>
              <p:cNvSpPr>
                <a14:cpLocks xmlns:a14="http://schemas.microsoft.com/office/drawing/2010/main" noChangeShapeType="1"/>
              </p:cNvSpPr>
              <p:nvPr/>
            </p:nvSpPr>
            <p:spPr bwMode="auto">
              <a:xfrm>
                <a:off x="287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Line 23"/>
              <p:cNvSpPr>
                <a14:cpLocks xmlns:a14="http://schemas.microsoft.com/office/drawing/2010/main" noChangeShapeType="1"/>
              </p:cNvSpPr>
              <p:nvPr/>
            </p:nvSpPr>
            <p:spPr bwMode="auto">
              <a:xfrm>
                <a:off x="336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 name="Line 24"/>
              <p:cNvSpPr>
                <a14:cpLocks xmlns:a14="http://schemas.microsoft.com/office/drawing/2010/main" noChangeShapeType="1"/>
              </p:cNvSpPr>
              <p:nvPr/>
            </p:nvSpPr>
            <p:spPr bwMode="auto">
              <a:xfrm>
                <a:off x="385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25"/>
              <p:cNvSpPr>
                <a14:cpLocks xmlns:a14="http://schemas.microsoft.com/office/drawing/2010/main" noChangeShapeType="1"/>
              </p:cNvSpPr>
              <p:nvPr/>
            </p:nvSpPr>
            <p:spPr bwMode="auto">
              <a:xfrm>
                <a:off x="434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26"/>
              <p:cNvSpPr>
                <a14:cpLocks xmlns:a14="http://schemas.microsoft.com/office/drawing/2010/main" noChangeShapeType="1"/>
              </p:cNvSpPr>
              <p:nvPr/>
            </p:nvSpPr>
            <p:spPr bwMode="auto">
              <a:xfrm>
                <a:off x="4837"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27"/>
              <p:cNvSpPr>
                <a14:cpLocks xmlns:a14="http://schemas.microsoft.com/office/drawing/2010/main" noChangeShapeType="1"/>
              </p:cNvSpPr>
              <p:nvPr/>
            </p:nvSpPr>
            <p:spPr bwMode="auto">
              <a:xfrm>
                <a:off x="5327"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 name="Text Box 28"/>
            <p:cNvSpPr txBox="1">
              <a14:cpLocks xmlns:a14="http://schemas.microsoft.com/office/drawing/2010/main" noChangeArrowheads="1"/>
            </p:cNvSpPr>
            <p:nvPr/>
          </p:nvSpPr>
          <p:spPr bwMode="auto">
            <a:xfrm>
              <a:off x="476" y="1071"/>
              <a:ext cx="3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0</a:t>
              </a:r>
              <a:endParaRPr lang="en-US" altLang="zh-CN" sz="2000" b="1">
                <a:latin typeface="Arial" charset="0"/>
                <a:ea typeface="黑体" pitchFamily="49" charset="-122"/>
              </a:endParaRPr>
            </a:p>
          </p:txBody>
        </p:sp>
        <p:sp>
          <p:nvSpPr>
            <p:cNvPr id="11" name="Text Box 29"/>
            <p:cNvSpPr txBox="1">
              <a14:cpLocks xmlns:a14="http://schemas.microsoft.com/office/drawing/2010/main" noChangeArrowheads="1"/>
            </p:cNvSpPr>
            <p:nvPr/>
          </p:nvSpPr>
          <p:spPr bwMode="auto">
            <a:xfrm>
              <a:off x="4740" y="1026"/>
              <a:ext cx="10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Maxsize - 1</a:t>
              </a:r>
              <a:endParaRPr lang="en-US" altLang="zh-CN" sz="2000" b="1">
                <a:latin typeface="Arial" charset="0"/>
                <a:ea typeface="黑体" pitchFamily="49" charset="-122"/>
              </a:endParaRPr>
            </a:p>
          </p:txBody>
        </p:sp>
        <p:sp>
          <p:nvSpPr>
            <p:cNvPr id="12" name="Text Box 30"/>
            <p:cNvSpPr txBox="1">
              <a14:cpLocks xmlns:a14="http://schemas.microsoft.com/office/drawing/2010/main" noChangeArrowheads="1"/>
            </p:cNvSpPr>
            <p:nvPr/>
          </p:nvSpPr>
          <p:spPr bwMode="auto">
            <a:xfrm>
              <a:off x="2880" y="2024"/>
              <a:ext cx="4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rear</a:t>
              </a:r>
              <a:endParaRPr lang="en-US" altLang="zh-CN" sz="2000" b="1">
                <a:latin typeface="Arial" charset="0"/>
                <a:ea typeface="黑体" pitchFamily="49" charset="-122"/>
              </a:endParaRPr>
            </a:p>
          </p:txBody>
        </p:sp>
        <p:sp>
          <p:nvSpPr>
            <p:cNvPr id="13" name="Line 31"/>
            <p:cNvSpPr>
              <a14:cpLocks xmlns:a14="http://schemas.microsoft.com/office/drawing/2010/main" noChangeShapeType="1"/>
            </p:cNvSpPr>
            <p:nvPr/>
          </p:nvSpPr>
          <p:spPr bwMode="auto">
            <a:xfrm flipV="1">
              <a:off x="3107" y="1661"/>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Text Box 33"/>
            <p:cNvSpPr txBox="1">
              <a14:cpLocks xmlns:a14="http://schemas.microsoft.com/office/drawing/2010/main" noChangeArrowheads="1"/>
            </p:cNvSpPr>
            <p:nvPr/>
          </p:nvSpPr>
          <p:spPr bwMode="auto">
            <a:xfrm>
              <a:off x="522" y="2115"/>
              <a:ext cx="222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800" b="1">
                  <a:latin typeface="Arial" charset="0"/>
                  <a:ea typeface="黑体" pitchFamily="49" charset="-122"/>
                </a:rPr>
                <a:t>a</a:t>
              </a:r>
              <a:r>
                <a:rPr lang="zh-CN" altLang="en-US" sz="2800" b="1">
                  <a:latin typeface="Arial" charset="0"/>
                  <a:ea typeface="黑体" pitchFamily="49" charset="-122"/>
                </a:rPr>
                <a:t>出队</a:t>
              </a:r>
              <a:endParaRPr lang="zh-CN" altLang="en-US" sz="2800" b="1">
                <a:latin typeface="Arial" charset="0"/>
                <a:ea typeface="黑体" pitchFamily="49" charset="-122"/>
              </a:endParaRPr>
            </a:p>
          </p:txBody>
        </p:sp>
        <p:grpSp>
          <p:nvGrpSpPr>
            <p:cNvPr id="15" name="Group 34"/>
            <p:cNvGrpSpPr/>
            <p:nvPr/>
          </p:nvGrpSpPr>
          <p:grpSpPr bwMode="auto">
            <a:xfrm>
              <a:off x="431" y="2818"/>
              <a:ext cx="4896" cy="326"/>
              <a:chOff x="431" y="1389"/>
              <a:chExt cx="4896" cy="326"/>
            </a:xfrm>
          </p:grpSpPr>
          <p:sp>
            <p:nvSpPr>
              <p:cNvPr id="20" name="Rectangle 35"/>
              <p:cNvSpPr>
                <a14:cpLocks xmlns:a14="http://schemas.microsoft.com/office/drawing/2010/main" noChangeArrowheads="1"/>
              </p:cNvSpPr>
              <p:nvPr/>
            </p:nvSpPr>
            <p:spPr bwMode="auto">
              <a:xfrm>
                <a:off x="4837"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1" name="Rectangle 36"/>
              <p:cNvSpPr>
                <a14:cpLocks xmlns:a14="http://schemas.microsoft.com/office/drawing/2010/main" noChangeArrowheads="1"/>
              </p:cNvSpPr>
              <p:nvPr/>
            </p:nvSpPr>
            <p:spPr bwMode="auto">
              <a:xfrm>
                <a:off x="4348"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2" name="Rectangle 37"/>
              <p:cNvSpPr>
                <a14:cpLocks xmlns:a14="http://schemas.microsoft.com/office/drawing/2010/main" noChangeArrowheads="1"/>
              </p:cNvSpPr>
              <p:nvPr/>
            </p:nvSpPr>
            <p:spPr bwMode="auto">
              <a:xfrm>
                <a:off x="3858"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3" name="Rectangle 38"/>
              <p:cNvSpPr>
                <a14:cpLocks xmlns:a14="http://schemas.microsoft.com/office/drawing/2010/main" noChangeArrowheads="1"/>
              </p:cNvSpPr>
              <p:nvPr/>
            </p:nvSpPr>
            <p:spPr bwMode="auto">
              <a:xfrm>
                <a:off x="3369"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4" name="Rectangle 39"/>
              <p:cNvSpPr>
                <a14:cpLocks xmlns:a14="http://schemas.microsoft.com/office/drawing/2010/main" noChangeArrowheads="1"/>
              </p:cNvSpPr>
              <p:nvPr/>
            </p:nvSpPr>
            <p:spPr bwMode="auto">
              <a:xfrm>
                <a:off x="287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5" name="Rectangle 40"/>
              <p:cNvSpPr>
                <a14:cpLocks xmlns:a14="http://schemas.microsoft.com/office/drawing/2010/main" noChangeArrowheads="1"/>
              </p:cNvSpPr>
              <p:nvPr/>
            </p:nvSpPr>
            <p:spPr bwMode="auto">
              <a:xfrm>
                <a:off x="238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f</a:t>
                </a:r>
                <a:endParaRPr lang="en-US" altLang="zh-CN"/>
              </a:p>
            </p:txBody>
          </p:sp>
          <p:sp>
            <p:nvSpPr>
              <p:cNvPr id="26" name="Rectangle 41"/>
              <p:cNvSpPr>
                <a14:cpLocks xmlns:a14="http://schemas.microsoft.com/office/drawing/2010/main" noChangeArrowheads="1"/>
              </p:cNvSpPr>
              <p:nvPr/>
            </p:nvSpPr>
            <p:spPr bwMode="auto">
              <a:xfrm>
                <a:off x="1900"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e</a:t>
                </a:r>
                <a:endParaRPr lang="en-US" altLang="zh-CN"/>
              </a:p>
            </p:txBody>
          </p:sp>
          <p:sp>
            <p:nvSpPr>
              <p:cNvPr id="27" name="Rectangle 42"/>
              <p:cNvSpPr>
                <a14:cpLocks xmlns:a14="http://schemas.microsoft.com/office/drawing/2010/main" noChangeArrowheads="1"/>
              </p:cNvSpPr>
              <p:nvPr/>
            </p:nvSpPr>
            <p:spPr bwMode="auto">
              <a:xfrm>
                <a:off x="1410"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d</a:t>
                </a:r>
                <a:endParaRPr lang="en-US" altLang="zh-CN"/>
              </a:p>
            </p:txBody>
          </p:sp>
          <p:sp>
            <p:nvSpPr>
              <p:cNvPr id="28" name="Rectangle 43"/>
              <p:cNvSpPr>
                <a14:cpLocks xmlns:a14="http://schemas.microsoft.com/office/drawing/2010/main" noChangeArrowheads="1"/>
              </p:cNvSpPr>
              <p:nvPr/>
            </p:nvSpPr>
            <p:spPr bwMode="auto">
              <a:xfrm>
                <a:off x="921"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c</a:t>
                </a:r>
                <a:endParaRPr lang="en-US" altLang="zh-CN"/>
              </a:p>
            </p:txBody>
          </p:sp>
          <p:sp>
            <p:nvSpPr>
              <p:cNvPr id="29" name="Rectangle 44"/>
              <p:cNvSpPr>
                <a14:cpLocks xmlns:a14="http://schemas.microsoft.com/office/drawing/2010/main" noChangeArrowheads="1"/>
              </p:cNvSpPr>
              <p:nvPr/>
            </p:nvSpPr>
            <p:spPr bwMode="auto">
              <a:xfrm>
                <a:off x="431"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a:t>b</a:t>
                </a:r>
                <a:endParaRPr lang="en-US" altLang="zh-CN"/>
              </a:p>
            </p:txBody>
          </p:sp>
          <p:sp>
            <p:nvSpPr>
              <p:cNvPr id="30" name="Line 45"/>
              <p:cNvSpPr>
                <a14:cpLocks xmlns:a14="http://schemas.microsoft.com/office/drawing/2010/main" noChangeShapeType="1"/>
              </p:cNvSpPr>
              <p:nvPr/>
            </p:nvSpPr>
            <p:spPr bwMode="auto">
              <a:xfrm>
                <a:off x="431" y="1389"/>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 name="Line 46"/>
              <p:cNvSpPr>
                <a14:cpLocks xmlns:a14="http://schemas.microsoft.com/office/drawing/2010/main" noChangeShapeType="1"/>
              </p:cNvSpPr>
              <p:nvPr/>
            </p:nvSpPr>
            <p:spPr bwMode="auto">
              <a:xfrm>
                <a:off x="431" y="1715"/>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 name="Line 47"/>
              <p:cNvSpPr>
                <a14:cpLocks xmlns:a14="http://schemas.microsoft.com/office/drawing/2010/main" noChangeShapeType="1"/>
              </p:cNvSpPr>
              <p:nvPr/>
            </p:nvSpPr>
            <p:spPr bwMode="auto">
              <a:xfrm>
                <a:off x="431"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48"/>
              <p:cNvSpPr>
                <a14:cpLocks xmlns:a14="http://schemas.microsoft.com/office/drawing/2010/main" noChangeShapeType="1"/>
              </p:cNvSpPr>
              <p:nvPr/>
            </p:nvSpPr>
            <p:spPr bwMode="auto">
              <a:xfrm>
                <a:off x="921"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49"/>
              <p:cNvSpPr>
                <a14:cpLocks xmlns:a14="http://schemas.microsoft.com/office/drawing/2010/main" noChangeShapeType="1"/>
              </p:cNvSpPr>
              <p:nvPr/>
            </p:nvSpPr>
            <p:spPr bwMode="auto">
              <a:xfrm>
                <a:off x="141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50"/>
              <p:cNvSpPr>
                <a14:cpLocks xmlns:a14="http://schemas.microsoft.com/office/drawing/2010/main" noChangeShapeType="1"/>
              </p:cNvSpPr>
              <p:nvPr/>
            </p:nvSpPr>
            <p:spPr bwMode="auto">
              <a:xfrm>
                <a:off x="190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51"/>
              <p:cNvSpPr>
                <a14:cpLocks xmlns:a14="http://schemas.microsoft.com/office/drawing/2010/main" noChangeShapeType="1"/>
              </p:cNvSpPr>
              <p:nvPr/>
            </p:nvSpPr>
            <p:spPr bwMode="auto">
              <a:xfrm>
                <a:off x="238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52"/>
              <p:cNvSpPr>
                <a14:cpLocks xmlns:a14="http://schemas.microsoft.com/office/drawing/2010/main" noChangeShapeType="1"/>
              </p:cNvSpPr>
              <p:nvPr/>
            </p:nvSpPr>
            <p:spPr bwMode="auto">
              <a:xfrm>
                <a:off x="287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53"/>
              <p:cNvSpPr>
                <a14:cpLocks xmlns:a14="http://schemas.microsoft.com/office/drawing/2010/main" noChangeShapeType="1"/>
              </p:cNvSpPr>
              <p:nvPr/>
            </p:nvSpPr>
            <p:spPr bwMode="auto">
              <a:xfrm>
                <a:off x="336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54"/>
              <p:cNvSpPr>
                <a14:cpLocks xmlns:a14="http://schemas.microsoft.com/office/drawing/2010/main" noChangeShapeType="1"/>
              </p:cNvSpPr>
              <p:nvPr/>
            </p:nvSpPr>
            <p:spPr bwMode="auto">
              <a:xfrm>
                <a:off x="385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55"/>
              <p:cNvSpPr>
                <a14:cpLocks xmlns:a14="http://schemas.microsoft.com/office/drawing/2010/main" noChangeShapeType="1"/>
              </p:cNvSpPr>
              <p:nvPr/>
            </p:nvSpPr>
            <p:spPr bwMode="auto">
              <a:xfrm>
                <a:off x="434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56"/>
              <p:cNvSpPr>
                <a14:cpLocks xmlns:a14="http://schemas.microsoft.com/office/drawing/2010/main" noChangeShapeType="1"/>
              </p:cNvSpPr>
              <p:nvPr/>
            </p:nvSpPr>
            <p:spPr bwMode="auto">
              <a:xfrm>
                <a:off x="4837"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57"/>
              <p:cNvSpPr>
                <a14:cpLocks xmlns:a14="http://schemas.microsoft.com/office/drawing/2010/main" noChangeShapeType="1"/>
              </p:cNvSpPr>
              <p:nvPr/>
            </p:nvSpPr>
            <p:spPr bwMode="auto">
              <a:xfrm>
                <a:off x="5327"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6" name="Text Box 58"/>
            <p:cNvSpPr txBox="1">
              <a14:cpLocks xmlns:a14="http://schemas.microsoft.com/office/drawing/2010/main" noChangeArrowheads="1"/>
            </p:cNvSpPr>
            <p:nvPr/>
          </p:nvSpPr>
          <p:spPr bwMode="auto">
            <a:xfrm>
              <a:off x="476" y="2500"/>
              <a:ext cx="3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0</a:t>
              </a:r>
              <a:endParaRPr lang="en-US" altLang="zh-CN" sz="2000" b="1">
                <a:latin typeface="Arial" charset="0"/>
                <a:ea typeface="黑体" pitchFamily="49" charset="-122"/>
              </a:endParaRPr>
            </a:p>
          </p:txBody>
        </p:sp>
        <p:sp>
          <p:nvSpPr>
            <p:cNvPr id="17" name="Text Box 59"/>
            <p:cNvSpPr txBox="1">
              <a14:cpLocks xmlns:a14="http://schemas.microsoft.com/office/drawing/2010/main" noChangeArrowheads="1"/>
            </p:cNvSpPr>
            <p:nvPr/>
          </p:nvSpPr>
          <p:spPr bwMode="auto">
            <a:xfrm>
              <a:off x="4740" y="2455"/>
              <a:ext cx="10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Maxsize - 1</a:t>
              </a:r>
              <a:endParaRPr lang="en-US" altLang="zh-CN" sz="2000" b="1">
                <a:latin typeface="Arial" charset="0"/>
                <a:ea typeface="黑体" pitchFamily="49" charset="-122"/>
              </a:endParaRPr>
            </a:p>
          </p:txBody>
        </p:sp>
        <p:sp>
          <p:nvSpPr>
            <p:cNvPr id="18" name="Text Box 60"/>
            <p:cNvSpPr txBox="1">
              <a14:cpLocks xmlns:a14="http://schemas.microsoft.com/office/drawing/2010/main" noChangeArrowheads="1"/>
            </p:cNvSpPr>
            <p:nvPr/>
          </p:nvSpPr>
          <p:spPr bwMode="auto">
            <a:xfrm>
              <a:off x="2426" y="3430"/>
              <a:ext cx="4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rear</a:t>
              </a:r>
              <a:endParaRPr lang="en-US" altLang="zh-CN" sz="2000" b="1">
                <a:latin typeface="Arial" charset="0"/>
                <a:ea typeface="黑体" pitchFamily="49" charset="-122"/>
              </a:endParaRPr>
            </a:p>
          </p:txBody>
        </p:sp>
        <p:sp>
          <p:nvSpPr>
            <p:cNvPr id="19" name="Line 61"/>
            <p:cNvSpPr>
              <a14:cpLocks xmlns:a14="http://schemas.microsoft.com/office/drawing/2010/main" noChangeShapeType="1"/>
            </p:cNvSpPr>
            <p:nvPr/>
          </p:nvSpPr>
          <p:spPr bwMode="auto">
            <a:xfrm flipV="1">
              <a:off x="2653" y="3067"/>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cxnSp>
        <p:nvCxnSpPr>
          <p:cNvPr id="66" name="直接连接符 65"/>
          <p:cNvCxnSpPr/>
          <p:nvPr/>
        </p:nvCxnSpPr>
        <p:spPr>
          <a:xfrm>
            <a:off x="3213511" y="1512452"/>
            <a:ext cx="0" cy="4728755"/>
          </a:xfrm>
          <a:prstGeom prst="line">
            <a:avLst/>
          </a:prstGeom>
          <a:ln w="28575"/>
        </p:spPr>
        <p:style>
          <a:lnRef idx="1">
            <a:schemeClr val="dk1"/>
          </a:lnRef>
          <a:fillRef idx="0">
            <a:schemeClr val="dk1"/>
          </a:fillRef>
          <a:effectRef idx="0">
            <a:schemeClr val="dk1"/>
          </a:effectRef>
          <a:fontRef idx="minor">
            <a:schemeClr val="tx1"/>
          </a:fontRef>
        </p:style>
      </p:cxnSp>
      <p:sp>
        <p:nvSpPr>
          <p:cNvPr id="67" name="文本框 66"/>
          <p:cNvSpPr txBox="1"/>
          <p:nvPr/>
        </p:nvSpPr>
        <p:spPr>
          <a:xfrm flipH="1">
            <a:off x="3575458" y="5757881"/>
            <a:ext cx="7332027" cy="523220"/>
          </a:xfrm>
          <a:prstGeom prst="rect">
            <a:avLst/>
          </a:prstGeom>
          <a:noFill/>
        </p:spPr>
        <p:txBody>
          <a:bodyPr wrap="square" rtlCol="0">
            <a:spAutoFit/>
          </a:bodyPr>
          <a:lstStyle/>
          <a:p>
            <a:pPr>
              <a:spcBef>
                <a:spcPct val="50000"/>
              </a:spcBef>
            </a:pPr>
            <a:r>
              <a:rPr lang="zh-CN" altLang="en-US" sz="2800">
                <a:latin typeface="Arial" charset="0"/>
                <a:ea typeface="黑体" pitchFamily="49" charset="-122"/>
              </a:rPr>
              <a:t>缺点：出队会引起大量的数据移动</a:t>
            </a:r>
            <a:endParaRPr lang="zh-CN" altLang="en-US" sz="2800" dirty="0">
              <a:latin typeface="Arial" charset="0"/>
              <a:ea typeface="黑体" pitchFamily="49" charset="-122"/>
            </a:endParaRPr>
          </a:p>
        </p:txBody>
      </p:sp>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txBox="1"/>
          <p:nvPr/>
        </p:nvSpPr>
        <p:spPr>
          <a:xfrm>
            <a:off x="6019802" y="6387548"/>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spcBef>
                <a:spcPct val="20000"/>
              </a:spcBef>
              <a:buChar char="•"/>
              <a:defRPr kumimoji="1" sz="3200" kern="1200">
                <a:solidFill>
                  <a:schemeClr val="tx1"/>
                </a:solidFill>
                <a:latin typeface="Times New Roman" pitchFamily="18" charset="0"/>
                <a:ea typeface="宋体" charset="-122"/>
                <a:cs typeface="+mn-cs"/>
              </a:defRPr>
            </a:lvl1pPr>
            <a:lvl2pPr marL="742950" indent="-285750" algn="l" defTabSz="914400" rtl="0" eaLnBrk="1" latinLnBrk="0" hangingPunct="1">
              <a:spcBef>
                <a:spcPct val="20000"/>
              </a:spcBef>
              <a:buChar char="–"/>
              <a:defRPr kumimoji="1" sz="2800" kern="1200">
                <a:solidFill>
                  <a:schemeClr val="tx1"/>
                </a:solidFill>
                <a:latin typeface="Times New Roman" pitchFamily="18" charset="0"/>
                <a:ea typeface="宋体" charset="-122"/>
                <a:cs typeface="+mn-cs"/>
              </a:defRPr>
            </a:lvl2pPr>
            <a:lvl3pPr marL="1143000" indent="-228600" algn="l" defTabSz="914400" rtl="0" eaLnBrk="1" latinLnBrk="0" hangingPunct="1">
              <a:spcBef>
                <a:spcPct val="20000"/>
              </a:spcBef>
              <a:buChar char="•"/>
              <a:defRPr kumimoji="1" sz="2400" kern="1200">
                <a:solidFill>
                  <a:schemeClr val="tx1"/>
                </a:solidFill>
                <a:latin typeface="Times New Roman" pitchFamily="18" charset="0"/>
                <a:ea typeface="宋体" charset="-122"/>
                <a:cs typeface="+mn-cs"/>
              </a:defRPr>
            </a:lvl3pPr>
            <a:lvl4pPr marL="16002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4pPr>
            <a:lvl5pPr marL="20574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9pPr>
          </a:lstStyle>
          <a:p>
            <a:pPr algn="ctr">
              <a:spcBef>
                <a:spcPct val="0"/>
              </a:spcBef>
              <a:buFontTx/>
              <a:buNone/>
            </a:pPr>
            <a:fld id="{A79AFBCB-B9CF-4446-B09D-D2A2760E6828}" type="slidenum">
              <a:rPr kumimoji="0" lang="en-US" altLang="zh-CN" sz="1200" smtClean="0">
                <a:latin typeface="Arial" charset="0"/>
              </a:rPr>
            </a:fld>
            <a:endParaRPr kumimoji="0" lang="en-US" altLang="zh-CN" sz="1200">
              <a:latin typeface="Arial" charset="0"/>
            </a:endParaRPr>
          </a:p>
        </p:txBody>
      </p:sp>
      <p:sp>
        <p:nvSpPr>
          <p:cNvPr id="6" name="灯片编号占位符 2"/>
          <p:cNvSpPr txBox="1"/>
          <p:nvPr/>
        </p:nvSpPr>
        <p:spPr>
          <a:xfrm>
            <a:off x="8891453" y="6387548"/>
            <a:ext cx="1905000" cy="457200"/>
          </a:xfrm>
          <a:prstGeom prst="rect">
            <a:avLst/>
          </a:prstGeom>
          <a:noFill/>
        </p:spPr>
        <p:txBody>
          <a:bodyPr vert="horz" lIns="91440" tIns="45720" rIns="91440" bIns="45720" rtlCol="0" anchor="ctr"/>
          <a:lstStyle>
            <a:defPPr>
              <a:defRPr lang="zh-CN"/>
            </a:defPPr>
            <a:lvl1pPr marL="0" algn="r" defTabSz="914400" rtl="0" eaLnBrk="1" latinLnBrk="0" hangingPunct="1">
              <a:spcBef>
                <a:spcPct val="20000"/>
              </a:spcBef>
              <a:buChar char="•"/>
              <a:defRPr kumimoji="1" sz="3200" kern="1200">
                <a:solidFill>
                  <a:schemeClr val="tx1"/>
                </a:solidFill>
                <a:latin typeface="Times New Roman" pitchFamily="18" charset="0"/>
                <a:ea typeface="宋体" charset="-122"/>
                <a:cs typeface="+mn-cs"/>
              </a:defRPr>
            </a:lvl1pPr>
            <a:lvl2pPr marL="742950" indent="-285750" algn="l" defTabSz="914400" rtl="0" eaLnBrk="1" latinLnBrk="0" hangingPunct="1">
              <a:spcBef>
                <a:spcPct val="20000"/>
              </a:spcBef>
              <a:buChar char="–"/>
              <a:defRPr kumimoji="1" sz="2800" kern="1200">
                <a:solidFill>
                  <a:schemeClr val="tx1"/>
                </a:solidFill>
                <a:latin typeface="Times New Roman" pitchFamily="18" charset="0"/>
                <a:ea typeface="宋体" charset="-122"/>
                <a:cs typeface="+mn-cs"/>
              </a:defRPr>
            </a:lvl2pPr>
            <a:lvl3pPr marL="1143000" indent="-228600" algn="l" defTabSz="914400" rtl="0" eaLnBrk="1" latinLnBrk="0" hangingPunct="1">
              <a:spcBef>
                <a:spcPct val="20000"/>
              </a:spcBef>
              <a:buChar char="•"/>
              <a:defRPr kumimoji="1" sz="2400" kern="1200">
                <a:solidFill>
                  <a:schemeClr val="tx1"/>
                </a:solidFill>
                <a:latin typeface="Times New Roman" pitchFamily="18" charset="0"/>
                <a:ea typeface="宋体" charset="-122"/>
                <a:cs typeface="+mn-cs"/>
              </a:defRPr>
            </a:lvl3pPr>
            <a:lvl4pPr marL="16002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4pPr>
            <a:lvl5pPr marL="2057400" indent="-228600" algn="l" defTabSz="914400" rtl="0" eaLnBrk="1" latinLnBrk="0" hangingPunct="1">
              <a:spcBef>
                <a:spcPct val="20000"/>
              </a:spcBef>
              <a:buChar char="»"/>
              <a:defRPr kumimoji="1" sz="2000" kern="1200">
                <a:solidFill>
                  <a:schemeClr val="tx1"/>
                </a:solidFill>
                <a:latin typeface="Times New Roman" pitchFamily="18" charset="0"/>
                <a:ea typeface="宋体" charset="-122"/>
                <a:cs typeface="+mn-cs"/>
              </a:defRPr>
            </a:lvl5pPr>
            <a:lvl6pPr marL="25146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6pPr>
            <a:lvl7pPr marL="29718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7pPr>
            <a:lvl8pPr marL="34290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8pPr>
            <a:lvl9pPr marL="3886200" indent="-228600" algn="l" defTabSz="914400" rtl="0" eaLnBrk="0" fontAlgn="base" latinLnBrk="0" hangingPunct="0">
              <a:spcBef>
                <a:spcPct val="20000"/>
              </a:spcBef>
              <a:spcAft>
                <a:spcPct val="0"/>
              </a:spcAft>
              <a:buChar char="»"/>
              <a:defRPr kumimoji="1" sz="2000" kern="1200">
                <a:solidFill>
                  <a:schemeClr val="tx1"/>
                </a:solidFill>
                <a:latin typeface="Times New Roman" pitchFamily="18" charset="0"/>
                <a:ea typeface="宋体" charset="-122"/>
                <a:cs typeface="+mn-cs"/>
              </a:defRPr>
            </a:lvl9pPr>
          </a:lstStyle>
          <a:p>
            <a:pPr>
              <a:spcBef>
                <a:spcPct val="50000"/>
              </a:spcBef>
              <a:buFontTx/>
              <a:buNone/>
            </a:pPr>
            <a:fld id="{680482C1-1C98-4CA6-86E1-0736FA2A70AE}" type="slidenum">
              <a:rPr kumimoji="0" lang="en-US" altLang="zh-CN" sz="1400" smtClean="0">
                <a:latin typeface="Arial" charset="0"/>
              </a:rPr>
            </a:fld>
            <a:endParaRPr kumimoji="0" lang="en-US" altLang="zh-CN" sz="1400">
              <a:latin typeface="Arial" charset="0"/>
            </a:endParaRPr>
          </a:p>
        </p:txBody>
      </p:sp>
      <p:grpSp>
        <p:nvGrpSpPr>
          <p:cNvPr id="7" name="Group 94"/>
          <p:cNvGrpSpPr/>
          <p:nvPr/>
        </p:nvGrpSpPr>
        <p:grpSpPr bwMode="auto">
          <a:xfrm>
            <a:off x="2523696" y="1192920"/>
            <a:ext cx="8964612" cy="4716463"/>
            <a:chOff x="113" y="300"/>
            <a:chExt cx="5647" cy="2971"/>
          </a:xfrm>
        </p:grpSpPr>
        <p:grpSp>
          <p:nvGrpSpPr>
            <p:cNvPr id="8" name="Group 5"/>
            <p:cNvGrpSpPr/>
            <p:nvPr/>
          </p:nvGrpSpPr>
          <p:grpSpPr bwMode="auto">
            <a:xfrm>
              <a:off x="431" y="663"/>
              <a:ext cx="4896" cy="326"/>
              <a:chOff x="431" y="1389"/>
              <a:chExt cx="4896" cy="326"/>
            </a:xfrm>
          </p:grpSpPr>
          <p:sp>
            <p:nvSpPr>
              <p:cNvPr id="45" name="Rectangle 6"/>
              <p:cNvSpPr>
                <a14:cpLocks xmlns:a14="http://schemas.microsoft.com/office/drawing/2010/main" noChangeArrowheads="1"/>
              </p:cNvSpPr>
              <p:nvPr/>
            </p:nvSpPr>
            <p:spPr bwMode="auto">
              <a:xfrm>
                <a:off x="4837"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6" name="Rectangle 7"/>
              <p:cNvSpPr>
                <a14:cpLocks xmlns:a14="http://schemas.microsoft.com/office/drawing/2010/main" noChangeArrowheads="1"/>
              </p:cNvSpPr>
              <p:nvPr/>
            </p:nvSpPr>
            <p:spPr bwMode="auto">
              <a:xfrm>
                <a:off x="4348"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7" name="Rectangle 8"/>
              <p:cNvSpPr>
                <a14:cpLocks xmlns:a14="http://schemas.microsoft.com/office/drawing/2010/main" noChangeArrowheads="1"/>
              </p:cNvSpPr>
              <p:nvPr/>
            </p:nvSpPr>
            <p:spPr bwMode="auto">
              <a:xfrm>
                <a:off x="3858"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8" name="Rectangle 9"/>
              <p:cNvSpPr>
                <a14:cpLocks xmlns:a14="http://schemas.microsoft.com/office/drawing/2010/main" noChangeArrowheads="1"/>
              </p:cNvSpPr>
              <p:nvPr/>
            </p:nvSpPr>
            <p:spPr bwMode="auto">
              <a:xfrm>
                <a:off x="3369"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49" name="Rectangle 10"/>
              <p:cNvSpPr>
                <a14:cpLocks xmlns:a14="http://schemas.microsoft.com/office/drawing/2010/main" noChangeArrowheads="1"/>
              </p:cNvSpPr>
              <p:nvPr/>
            </p:nvSpPr>
            <p:spPr bwMode="auto">
              <a:xfrm>
                <a:off x="287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f</a:t>
                </a:r>
                <a:endParaRPr lang="en-US" altLang="zh-CN" sz="3600" dirty="0">
                  <a:effectLst/>
                </a:endParaRPr>
              </a:p>
            </p:txBody>
          </p:sp>
          <p:sp>
            <p:nvSpPr>
              <p:cNvPr id="50" name="Rectangle 11"/>
              <p:cNvSpPr>
                <a14:cpLocks xmlns:a14="http://schemas.microsoft.com/office/drawing/2010/main" noChangeArrowheads="1"/>
              </p:cNvSpPr>
              <p:nvPr/>
            </p:nvSpPr>
            <p:spPr bwMode="auto">
              <a:xfrm>
                <a:off x="238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e</a:t>
                </a:r>
                <a:endParaRPr lang="en-US" altLang="zh-CN" sz="3600" dirty="0">
                  <a:effectLst/>
                </a:endParaRPr>
              </a:p>
            </p:txBody>
          </p:sp>
          <p:sp>
            <p:nvSpPr>
              <p:cNvPr id="51" name="Rectangle 12"/>
              <p:cNvSpPr>
                <a14:cpLocks xmlns:a14="http://schemas.microsoft.com/office/drawing/2010/main" noChangeArrowheads="1"/>
              </p:cNvSpPr>
              <p:nvPr/>
            </p:nvSpPr>
            <p:spPr bwMode="auto">
              <a:xfrm>
                <a:off x="1900"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d</a:t>
                </a:r>
                <a:endParaRPr lang="en-US" altLang="zh-CN" sz="3600" dirty="0">
                  <a:effectLst/>
                </a:endParaRPr>
              </a:p>
            </p:txBody>
          </p:sp>
          <p:sp>
            <p:nvSpPr>
              <p:cNvPr id="52" name="Rectangle 13"/>
              <p:cNvSpPr>
                <a14:cpLocks xmlns:a14="http://schemas.microsoft.com/office/drawing/2010/main" noChangeArrowheads="1"/>
              </p:cNvSpPr>
              <p:nvPr/>
            </p:nvSpPr>
            <p:spPr bwMode="auto">
              <a:xfrm>
                <a:off x="1410"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c</a:t>
                </a:r>
                <a:endParaRPr lang="en-US" altLang="zh-CN" sz="3600" dirty="0">
                  <a:effectLst/>
                </a:endParaRPr>
              </a:p>
            </p:txBody>
          </p:sp>
          <p:sp>
            <p:nvSpPr>
              <p:cNvPr id="53" name="Rectangle 14"/>
              <p:cNvSpPr>
                <a14:cpLocks xmlns:a14="http://schemas.microsoft.com/office/drawing/2010/main" noChangeArrowheads="1"/>
              </p:cNvSpPr>
              <p:nvPr/>
            </p:nvSpPr>
            <p:spPr bwMode="auto">
              <a:xfrm>
                <a:off x="921"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b</a:t>
                </a:r>
                <a:endParaRPr lang="en-US" altLang="zh-CN" sz="3600" dirty="0">
                  <a:effectLst/>
                </a:endParaRPr>
              </a:p>
            </p:txBody>
          </p:sp>
          <p:sp>
            <p:nvSpPr>
              <p:cNvPr id="54" name="Rectangle 15"/>
              <p:cNvSpPr>
                <a14:cpLocks xmlns:a14="http://schemas.microsoft.com/office/drawing/2010/main" noChangeArrowheads="1"/>
              </p:cNvSpPr>
              <p:nvPr/>
            </p:nvSpPr>
            <p:spPr bwMode="auto">
              <a:xfrm>
                <a:off x="431"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a</a:t>
                </a:r>
                <a:endParaRPr lang="en-US" altLang="zh-CN" sz="3600" dirty="0">
                  <a:effectLst/>
                </a:endParaRPr>
              </a:p>
            </p:txBody>
          </p:sp>
          <p:sp>
            <p:nvSpPr>
              <p:cNvPr id="55" name="Line 16"/>
              <p:cNvSpPr>
                <a14:cpLocks xmlns:a14="http://schemas.microsoft.com/office/drawing/2010/main" noChangeShapeType="1"/>
              </p:cNvSpPr>
              <p:nvPr/>
            </p:nvSpPr>
            <p:spPr bwMode="auto">
              <a:xfrm>
                <a:off x="431" y="1389"/>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6" name="Line 17"/>
              <p:cNvSpPr>
                <a14:cpLocks xmlns:a14="http://schemas.microsoft.com/office/drawing/2010/main" noChangeShapeType="1"/>
              </p:cNvSpPr>
              <p:nvPr/>
            </p:nvSpPr>
            <p:spPr bwMode="auto">
              <a:xfrm>
                <a:off x="431" y="1715"/>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18"/>
              <p:cNvSpPr>
                <a14:cpLocks xmlns:a14="http://schemas.microsoft.com/office/drawing/2010/main" noChangeShapeType="1"/>
              </p:cNvSpPr>
              <p:nvPr/>
            </p:nvSpPr>
            <p:spPr bwMode="auto">
              <a:xfrm>
                <a:off x="431"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19"/>
              <p:cNvSpPr>
                <a14:cpLocks xmlns:a14="http://schemas.microsoft.com/office/drawing/2010/main" noChangeShapeType="1"/>
              </p:cNvSpPr>
              <p:nvPr/>
            </p:nvSpPr>
            <p:spPr bwMode="auto">
              <a:xfrm>
                <a:off x="921"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 name="Line 20"/>
              <p:cNvSpPr>
                <a14:cpLocks xmlns:a14="http://schemas.microsoft.com/office/drawing/2010/main" noChangeShapeType="1"/>
              </p:cNvSpPr>
              <p:nvPr/>
            </p:nvSpPr>
            <p:spPr bwMode="auto">
              <a:xfrm>
                <a:off x="141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0" name="Line 21"/>
              <p:cNvSpPr>
                <a14:cpLocks xmlns:a14="http://schemas.microsoft.com/office/drawing/2010/main" noChangeShapeType="1"/>
              </p:cNvSpPr>
              <p:nvPr/>
            </p:nvSpPr>
            <p:spPr bwMode="auto">
              <a:xfrm>
                <a:off x="190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1" name="Line 22"/>
              <p:cNvSpPr>
                <a14:cpLocks xmlns:a14="http://schemas.microsoft.com/office/drawing/2010/main" noChangeShapeType="1"/>
              </p:cNvSpPr>
              <p:nvPr/>
            </p:nvSpPr>
            <p:spPr bwMode="auto">
              <a:xfrm>
                <a:off x="238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 name="Line 23"/>
              <p:cNvSpPr>
                <a14:cpLocks xmlns:a14="http://schemas.microsoft.com/office/drawing/2010/main" noChangeShapeType="1"/>
              </p:cNvSpPr>
              <p:nvPr/>
            </p:nvSpPr>
            <p:spPr bwMode="auto">
              <a:xfrm>
                <a:off x="287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 name="Line 24"/>
              <p:cNvSpPr>
                <a14:cpLocks xmlns:a14="http://schemas.microsoft.com/office/drawing/2010/main" noChangeShapeType="1"/>
              </p:cNvSpPr>
              <p:nvPr/>
            </p:nvSpPr>
            <p:spPr bwMode="auto">
              <a:xfrm>
                <a:off x="336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25"/>
              <p:cNvSpPr>
                <a14:cpLocks xmlns:a14="http://schemas.microsoft.com/office/drawing/2010/main" noChangeShapeType="1"/>
              </p:cNvSpPr>
              <p:nvPr/>
            </p:nvSpPr>
            <p:spPr bwMode="auto">
              <a:xfrm>
                <a:off x="385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26"/>
              <p:cNvSpPr>
                <a14:cpLocks xmlns:a14="http://schemas.microsoft.com/office/drawing/2010/main" noChangeShapeType="1"/>
              </p:cNvSpPr>
              <p:nvPr/>
            </p:nvSpPr>
            <p:spPr bwMode="auto">
              <a:xfrm>
                <a:off x="434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Line 27"/>
              <p:cNvSpPr>
                <a14:cpLocks xmlns:a14="http://schemas.microsoft.com/office/drawing/2010/main" noChangeShapeType="1"/>
              </p:cNvSpPr>
              <p:nvPr/>
            </p:nvSpPr>
            <p:spPr bwMode="auto">
              <a:xfrm>
                <a:off x="4837"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7" name="Line 28"/>
              <p:cNvSpPr>
                <a14:cpLocks xmlns:a14="http://schemas.microsoft.com/office/drawing/2010/main" noChangeShapeType="1"/>
              </p:cNvSpPr>
              <p:nvPr/>
            </p:nvSpPr>
            <p:spPr bwMode="auto">
              <a:xfrm>
                <a:off x="5327"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9" name="Text Box 29"/>
            <p:cNvSpPr txBox="1">
              <a14:cpLocks xmlns:a14="http://schemas.microsoft.com/office/drawing/2010/main" noChangeArrowheads="1"/>
            </p:cNvSpPr>
            <p:nvPr/>
          </p:nvSpPr>
          <p:spPr bwMode="auto">
            <a:xfrm>
              <a:off x="476" y="345"/>
              <a:ext cx="3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800" dirty="0">
                  <a:latin typeface="Arial" charset="0"/>
                  <a:ea typeface="黑体" pitchFamily="49" charset="-122"/>
                </a:rPr>
                <a:t>0</a:t>
              </a:r>
              <a:endParaRPr lang="en-US" altLang="zh-CN" sz="2800" dirty="0">
                <a:latin typeface="Arial" charset="0"/>
                <a:ea typeface="黑体" pitchFamily="49" charset="-122"/>
              </a:endParaRPr>
            </a:p>
          </p:txBody>
        </p:sp>
        <p:sp>
          <p:nvSpPr>
            <p:cNvPr id="10" name="Text Box 30"/>
            <p:cNvSpPr txBox="1">
              <a14:cpLocks xmlns:a14="http://schemas.microsoft.com/office/drawing/2010/main" noChangeArrowheads="1"/>
            </p:cNvSpPr>
            <p:nvPr/>
          </p:nvSpPr>
          <p:spPr bwMode="auto">
            <a:xfrm>
              <a:off x="4740" y="300"/>
              <a:ext cx="10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Maxsize - 1</a:t>
              </a:r>
              <a:endParaRPr lang="en-US" altLang="zh-CN" sz="2000" b="1">
                <a:latin typeface="Arial" charset="0"/>
                <a:ea typeface="黑体" pitchFamily="49" charset="-122"/>
              </a:endParaRPr>
            </a:p>
          </p:txBody>
        </p:sp>
        <p:sp>
          <p:nvSpPr>
            <p:cNvPr id="11" name="Text Box 31"/>
            <p:cNvSpPr txBox="1">
              <a14:cpLocks xmlns:a14="http://schemas.microsoft.com/office/drawing/2010/main" noChangeArrowheads="1"/>
            </p:cNvSpPr>
            <p:nvPr/>
          </p:nvSpPr>
          <p:spPr bwMode="auto">
            <a:xfrm>
              <a:off x="2880" y="1298"/>
              <a:ext cx="4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rear</a:t>
              </a:r>
              <a:endParaRPr lang="en-US" altLang="zh-CN" sz="2000" b="1">
                <a:latin typeface="Arial" charset="0"/>
                <a:ea typeface="黑体" pitchFamily="49" charset="-122"/>
              </a:endParaRPr>
            </a:p>
          </p:txBody>
        </p:sp>
        <p:sp>
          <p:nvSpPr>
            <p:cNvPr id="12" name="Line 32"/>
            <p:cNvSpPr>
              <a14:cpLocks xmlns:a14="http://schemas.microsoft.com/office/drawing/2010/main" noChangeShapeType="1"/>
            </p:cNvSpPr>
            <p:nvPr/>
          </p:nvSpPr>
          <p:spPr bwMode="auto">
            <a:xfrm flipV="1">
              <a:off x="3107" y="935"/>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Text Box 33"/>
            <p:cNvSpPr txBox="1">
              <a14:cpLocks xmlns:a14="http://schemas.microsoft.com/office/drawing/2010/main" noChangeArrowheads="1"/>
            </p:cNvSpPr>
            <p:nvPr/>
          </p:nvSpPr>
          <p:spPr bwMode="auto">
            <a:xfrm>
              <a:off x="295" y="1661"/>
              <a:ext cx="222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800" b="1">
                  <a:latin typeface="Arial" charset="0"/>
                  <a:ea typeface="黑体" pitchFamily="49" charset="-122"/>
                </a:rPr>
                <a:t>a</a:t>
              </a:r>
              <a:r>
                <a:rPr lang="zh-CN" altLang="en-US" sz="2800" b="1">
                  <a:latin typeface="Arial" charset="0"/>
                  <a:ea typeface="黑体" pitchFamily="49" charset="-122"/>
                </a:rPr>
                <a:t>出队</a:t>
              </a:r>
              <a:endParaRPr lang="zh-CN" altLang="en-US" sz="2800" b="1">
                <a:latin typeface="Arial" charset="0"/>
                <a:ea typeface="黑体" pitchFamily="49" charset="-122"/>
              </a:endParaRPr>
            </a:p>
          </p:txBody>
        </p:sp>
        <p:sp>
          <p:nvSpPr>
            <p:cNvPr id="14" name="Text Box 62"/>
            <p:cNvSpPr txBox="1">
              <a14:cpLocks xmlns:a14="http://schemas.microsoft.com/office/drawing/2010/main" noChangeArrowheads="1"/>
            </p:cNvSpPr>
            <p:nvPr/>
          </p:nvSpPr>
          <p:spPr bwMode="auto">
            <a:xfrm>
              <a:off x="113" y="1298"/>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front</a:t>
              </a:r>
              <a:endParaRPr lang="en-US" altLang="zh-CN" sz="2000" b="1">
                <a:latin typeface="Arial" charset="0"/>
                <a:ea typeface="黑体" pitchFamily="49" charset="-122"/>
              </a:endParaRPr>
            </a:p>
          </p:txBody>
        </p:sp>
        <p:sp>
          <p:nvSpPr>
            <p:cNvPr id="15" name="Line 63"/>
            <p:cNvSpPr>
              <a14:cpLocks xmlns:a14="http://schemas.microsoft.com/office/drawing/2010/main" noChangeShapeType="1"/>
            </p:cNvSpPr>
            <p:nvPr/>
          </p:nvSpPr>
          <p:spPr bwMode="auto">
            <a:xfrm flipV="1">
              <a:off x="340" y="935"/>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6" name="Group 64"/>
            <p:cNvGrpSpPr/>
            <p:nvPr/>
          </p:nvGrpSpPr>
          <p:grpSpPr bwMode="auto">
            <a:xfrm>
              <a:off x="204" y="2386"/>
              <a:ext cx="4896" cy="326"/>
              <a:chOff x="431" y="1389"/>
              <a:chExt cx="4896" cy="326"/>
            </a:xfrm>
          </p:grpSpPr>
          <p:sp>
            <p:nvSpPr>
              <p:cNvPr id="22" name="Rectangle 65"/>
              <p:cNvSpPr>
                <a14:cpLocks xmlns:a14="http://schemas.microsoft.com/office/drawing/2010/main" noChangeArrowheads="1"/>
              </p:cNvSpPr>
              <p:nvPr/>
            </p:nvSpPr>
            <p:spPr bwMode="auto">
              <a:xfrm>
                <a:off x="4837"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3" name="Rectangle 66"/>
              <p:cNvSpPr>
                <a14:cpLocks xmlns:a14="http://schemas.microsoft.com/office/drawing/2010/main" noChangeArrowheads="1"/>
              </p:cNvSpPr>
              <p:nvPr/>
            </p:nvSpPr>
            <p:spPr bwMode="auto">
              <a:xfrm>
                <a:off x="4348"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4" name="Rectangle 67"/>
              <p:cNvSpPr>
                <a14:cpLocks xmlns:a14="http://schemas.microsoft.com/office/drawing/2010/main" noChangeArrowheads="1"/>
              </p:cNvSpPr>
              <p:nvPr/>
            </p:nvSpPr>
            <p:spPr bwMode="auto">
              <a:xfrm>
                <a:off x="3858"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5" name="Rectangle 68"/>
              <p:cNvSpPr>
                <a14:cpLocks xmlns:a14="http://schemas.microsoft.com/office/drawing/2010/main" noChangeArrowheads="1"/>
              </p:cNvSpPr>
              <p:nvPr/>
            </p:nvSpPr>
            <p:spPr bwMode="auto">
              <a:xfrm>
                <a:off x="3369"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26" name="Rectangle 69"/>
              <p:cNvSpPr>
                <a14:cpLocks xmlns:a14="http://schemas.microsoft.com/office/drawing/2010/main" noChangeArrowheads="1"/>
              </p:cNvSpPr>
              <p:nvPr/>
            </p:nvSpPr>
            <p:spPr bwMode="auto">
              <a:xfrm>
                <a:off x="287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f</a:t>
                </a:r>
                <a:endParaRPr lang="en-US" altLang="zh-CN" sz="3600" dirty="0">
                  <a:effectLst/>
                </a:endParaRPr>
              </a:p>
            </p:txBody>
          </p:sp>
          <p:sp>
            <p:nvSpPr>
              <p:cNvPr id="27" name="Rectangle 70"/>
              <p:cNvSpPr>
                <a14:cpLocks xmlns:a14="http://schemas.microsoft.com/office/drawing/2010/main" noChangeArrowheads="1"/>
              </p:cNvSpPr>
              <p:nvPr/>
            </p:nvSpPr>
            <p:spPr bwMode="auto">
              <a:xfrm>
                <a:off x="2389"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e</a:t>
                </a:r>
                <a:endParaRPr lang="en-US" altLang="zh-CN" sz="3600" dirty="0">
                  <a:effectLst/>
                </a:endParaRPr>
              </a:p>
            </p:txBody>
          </p:sp>
          <p:sp>
            <p:nvSpPr>
              <p:cNvPr id="28" name="Rectangle 71"/>
              <p:cNvSpPr>
                <a14:cpLocks xmlns:a14="http://schemas.microsoft.com/office/drawing/2010/main" noChangeArrowheads="1"/>
              </p:cNvSpPr>
              <p:nvPr/>
            </p:nvSpPr>
            <p:spPr bwMode="auto">
              <a:xfrm>
                <a:off x="1900"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d</a:t>
                </a:r>
                <a:endParaRPr lang="en-US" altLang="zh-CN" sz="3600" dirty="0">
                  <a:effectLst/>
                </a:endParaRPr>
              </a:p>
            </p:txBody>
          </p:sp>
          <p:sp>
            <p:nvSpPr>
              <p:cNvPr id="29" name="Rectangle 72"/>
              <p:cNvSpPr>
                <a14:cpLocks xmlns:a14="http://schemas.microsoft.com/office/drawing/2010/main" noChangeArrowheads="1"/>
              </p:cNvSpPr>
              <p:nvPr/>
            </p:nvSpPr>
            <p:spPr bwMode="auto">
              <a:xfrm>
                <a:off x="1410"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c</a:t>
                </a:r>
                <a:endParaRPr lang="en-US" altLang="zh-CN" sz="3600" dirty="0">
                  <a:effectLst/>
                </a:endParaRPr>
              </a:p>
            </p:txBody>
          </p:sp>
          <p:sp>
            <p:nvSpPr>
              <p:cNvPr id="30" name="Rectangle 73"/>
              <p:cNvSpPr>
                <a14:cpLocks xmlns:a14="http://schemas.microsoft.com/office/drawing/2010/main" noChangeArrowheads="1"/>
              </p:cNvSpPr>
              <p:nvPr/>
            </p:nvSpPr>
            <p:spPr bwMode="auto">
              <a:xfrm>
                <a:off x="921" y="1389"/>
                <a:ext cx="489"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r>
                  <a:rPr lang="en-US" altLang="zh-CN" sz="3600" dirty="0">
                    <a:effectLst/>
                  </a:rPr>
                  <a:t>b</a:t>
                </a:r>
                <a:endParaRPr lang="en-US" altLang="zh-CN" sz="3600" dirty="0">
                  <a:effectLst/>
                </a:endParaRPr>
              </a:p>
            </p:txBody>
          </p:sp>
          <p:sp>
            <p:nvSpPr>
              <p:cNvPr id="31" name="Rectangle 74"/>
              <p:cNvSpPr>
                <a14:cpLocks xmlns:a14="http://schemas.microsoft.com/office/drawing/2010/main" noChangeArrowheads="1"/>
              </p:cNvSpPr>
              <p:nvPr/>
            </p:nvSpPr>
            <p:spPr bwMode="auto">
              <a:xfrm>
                <a:off x="431" y="1389"/>
                <a:ext cx="490"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0000"/>
                  <a:buFont typeface="Wingdings" charset="2"/>
                  <a:buChar char="n"/>
                  <a:defRPr sz="2800">
                    <a:solidFill>
                      <a:schemeClr val="tx1"/>
                    </a:solidFill>
                    <a:effectLst>
                      <a:outerShdw blurRad="38100" dist="38100" dir="2700000" algn="tl">
                        <a:srgbClr val="000000"/>
                      </a:outerShdw>
                    </a:effectLst>
                    <a:latin typeface="Garamond" pitchFamily="18" charset="0"/>
                    <a:ea typeface="宋体" charset="-122"/>
                  </a:defRPr>
                </a:lvl1pPr>
                <a:lvl2pPr marL="668655">
                  <a:spcBef>
                    <a:spcPct val="20000"/>
                  </a:spcBef>
                  <a:buClr>
                    <a:schemeClr val="accent2"/>
                  </a:buClr>
                  <a:buSzPct val="70000"/>
                  <a:buFont typeface="Wingdings" charset="2"/>
                  <a:buChar char="n"/>
                  <a:defRPr sz="2400">
                    <a:solidFill>
                      <a:schemeClr val="tx1"/>
                    </a:solidFill>
                    <a:effectLst>
                      <a:outerShdw blurRad="38100" dist="38100" dir="2700000" algn="tl">
                        <a:srgbClr val="000000"/>
                      </a:outerShdw>
                    </a:effectLst>
                    <a:latin typeface="Garamond" pitchFamily="18" charset="0"/>
                    <a:ea typeface="宋体" charset="-122"/>
                  </a:defRPr>
                </a:lvl2pPr>
                <a:lvl3pPr marL="1339850">
                  <a:spcBef>
                    <a:spcPct val="20000"/>
                  </a:spcBef>
                  <a:buClr>
                    <a:schemeClr val="tx2"/>
                  </a:buClr>
                  <a:buSzPct val="70000"/>
                  <a:buFont typeface="Wingdings" charset="2"/>
                  <a:buChar char="n"/>
                  <a:defRPr sz="2000">
                    <a:solidFill>
                      <a:schemeClr val="tx1"/>
                    </a:solidFill>
                    <a:effectLst>
                      <a:outerShdw blurRad="38100" dist="38100" dir="2700000" algn="tl">
                        <a:srgbClr val="000000"/>
                      </a:outerShdw>
                    </a:effectLst>
                    <a:latin typeface="Garamond" pitchFamily="18" charset="0"/>
                    <a:ea typeface="宋体" charset="-122"/>
                  </a:defRPr>
                </a:lvl3pPr>
                <a:lvl4pPr marL="1758950">
                  <a:spcBef>
                    <a:spcPct val="20000"/>
                  </a:spcBef>
                  <a:buClr>
                    <a:schemeClr val="accent2"/>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4pPr>
                <a:lvl5pPr marL="2178050">
                  <a:spcBef>
                    <a:spcPct val="20000"/>
                  </a:spcBef>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5pPr>
                <a:lvl6pPr marL="26352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6pPr>
                <a:lvl7pPr marL="30924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7pPr>
                <a:lvl8pPr marL="35496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8pPr>
                <a:lvl9pPr marL="4006850" fontAlgn="base">
                  <a:spcBef>
                    <a:spcPct val="20000"/>
                  </a:spcBef>
                  <a:spcAft>
                    <a:spcPct val="0"/>
                  </a:spcAft>
                  <a:buClr>
                    <a:schemeClr val="hlink"/>
                  </a:buClr>
                  <a:buSzPct val="70000"/>
                  <a:buFont typeface="Wingdings" charset="2"/>
                  <a:buChar char="n"/>
                  <a:defRPr>
                    <a:solidFill>
                      <a:schemeClr val="tx1"/>
                    </a:solidFill>
                    <a:effectLst>
                      <a:outerShdw blurRad="38100" dist="38100" dir="2700000" algn="tl">
                        <a:srgbClr val="000000"/>
                      </a:outerShdw>
                    </a:effectLst>
                    <a:latin typeface="Garamond" pitchFamily="18" charset="0"/>
                    <a:ea typeface="宋体" charset="-122"/>
                  </a:defRPr>
                </a:lvl9pPr>
              </a:lstStyle>
              <a:p>
                <a:pPr eaLnBrk="1" hangingPunct="1">
                  <a:buFont typeface="Wingdings" charset="2"/>
                  <a:buNone/>
                  <a:defRPr/>
                </a:pPr>
                <a:endParaRPr lang="zh-CN" altLang="zh-CN"/>
              </a:p>
            </p:txBody>
          </p:sp>
          <p:sp>
            <p:nvSpPr>
              <p:cNvPr id="32" name="Line 75"/>
              <p:cNvSpPr>
                <a14:cpLocks xmlns:a14="http://schemas.microsoft.com/office/drawing/2010/main" noChangeShapeType="1"/>
              </p:cNvSpPr>
              <p:nvPr/>
            </p:nvSpPr>
            <p:spPr bwMode="auto">
              <a:xfrm>
                <a:off x="431" y="1389"/>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 name="Line 76"/>
              <p:cNvSpPr>
                <a14:cpLocks xmlns:a14="http://schemas.microsoft.com/office/drawing/2010/main" noChangeShapeType="1"/>
              </p:cNvSpPr>
              <p:nvPr/>
            </p:nvSpPr>
            <p:spPr bwMode="auto">
              <a:xfrm>
                <a:off x="431" y="1715"/>
                <a:ext cx="4896"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 name="Line 77"/>
              <p:cNvSpPr>
                <a14:cpLocks xmlns:a14="http://schemas.microsoft.com/office/drawing/2010/main" noChangeShapeType="1"/>
              </p:cNvSpPr>
              <p:nvPr/>
            </p:nvSpPr>
            <p:spPr bwMode="auto">
              <a:xfrm>
                <a:off x="431"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 name="Line 78"/>
              <p:cNvSpPr>
                <a14:cpLocks xmlns:a14="http://schemas.microsoft.com/office/drawing/2010/main" noChangeShapeType="1"/>
              </p:cNvSpPr>
              <p:nvPr/>
            </p:nvSpPr>
            <p:spPr bwMode="auto">
              <a:xfrm>
                <a:off x="85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 name="Line 79"/>
              <p:cNvSpPr>
                <a14:cpLocks xmlns:a14="http://schemas.microsoft.com/office/drawing/2010/main" noChangeShapeType="1"/>
              </p:cNvSpPr>
              <p:nvPr/>
            </p:nvSpPr>
            <p:spPr bwMode="auto">
              <a:xfrm>
                <a:off x="141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7" name="Line 80"/>
              <p:cNvSpPr>
                <a14:cpLocks xmlns:a14="http://schemas.microsoft.com/office/drawing/2010/main" noChangeShapeType="1"/>
              </p:cNvSpPr>
              <p:nvPr/>
            </p:nvSpPr>
            <p:spPr bwMode="auto">
              <a:xfrm>
                <a:off x="1900"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 name="Line 81"/>
              <p:cNvSpPr>
                <a14:cpLocks xmlns:a14="http://schemas.microsoft.com/office/drawing/2010/main" noChangeShapeType="1"/>
              </p:cNvSpPr>
              <p:nvPr/>
            </p:nvSpPr>
            <p:spPr bwMode="auto">
              <a:xfrm>
                <a:off x="238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82"/>
              <p:cNvSpPr>
                <a14:cpLocks xmlns:a14="http://schemas.microsoft.com/office/drawing/2010/main" noChangeShapeType="1"/>
              </p:cNvSpPr>
              <p:nvPr/>
            </p:nvSpPr>
            <p:spPr bwMode="auto">
              <a:xfrm>
                <a:off x="287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83"/>
              <p:cNvSpPr>
                <a14:cpLocks xmlns:a14="http://schemas.microsoft.com/office/drawing/2010/main" noChangeShapeType="1"/>
              </p:cNvSpPr>
              <p:nvPr/>
            </p:nvSpPr>
            <p:spPr bwMode="auto">
              <a:xfrm>
                <a:off x="3369"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84"/>
              <p:cNvSpPr>
                <a14:cpLocks xmlns:a14="http://schemas.microsoft.com/office/drawing/2010/main" noChangeShapeType="1"/>
              </p:cNvSpPr>
              <p:nvPr/>
            </p:nvSpPr>
            <p:spPr bwMode="auto">
              <a:xfrm>
                <a:off x="385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85"/>
              <p:cNvSpPr>
                <a14:cpLocks xmlns:a14="http://schemas.microsoft.com/office/drawing/2010/main" noChangeShapeType="1"/>
              </p:cNvSpPr>
              <p:nvPr/>
            </p:nvSpPr>
            <p:spPr bwMode="auto">
              <a:xfrm>
                <a:off x="4348"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86"/>
              <p:cNvSpPr>
                <a14:cpLocks xmlns:a14="http://schemas.microsoft.com/office/drawing/2010/main" noChangeShapeType="1"/>
              </p:cNvSpPr>
              <p:nvPr/>
            </p:nvSpPr>
            <p:spPr bwMode="auto">
              <a:xfrm>
                <a:off x="4837" y="1389"/>
                <a:ext cx="0" cy="32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87"/>
              <p:cNvSpPr>
                <a14:cpLocks xmlns:a14="http://schemas.microsoft.com/office/drawing/2010/main" noChangeShapeType="1"/>
              </p:cNvSpPr>
              <p:nvPr/>
            </p:nvSpPr>
            <p:spPr bwMode="auto">
              <a:xfrm>
                <a:off x="5327" y="1389"/>
                <a:ext cx="0" cy="326"/>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7" name="Text Box 89"/>
            <p:cNvSpPr txBox="1">
              <a14:cpLocks xmlns:a14="http://schemas.microsoft.com/office/drawing/2010/main" noChangeArrowheads="1"/>
            </p:cNvSpPr>
            <p:nvPr/>
          </p:nvSpPr>
          <p:spPr bwMode="auto">
            <a:xfrm>
              <a:off x="4513" y="2023"/>
              <a:ext cx="10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Maxsize - 1</a:t>
              </a:r>
              <a:endParaRPr lang="en-US" altLang="zh-CN" sz="2000" b="1">
                <a:latin typeface="Arial" charset="0"/>
                <a:ea typeface="黑体" pitchFamily="49" charset="-122"/>
              </a:endParaRPr>
            </a:p>
          </p:txBody>
        </p:sp>
        <p:sp>
          <p:nvSpPr>
            <p:cNvPr id="18" name="Text Box 90"/>
            <p:cNvSpPr txBox="1">
              <a14:cpLocks xmlns:a14="http://schemas.microsoft.com/office/drawing/2010/main" noChangeArrowheads="1"/>
            </p:cNvSpPr>
            <p:nvPr/>
          </p:nvSpPr>
          <p:spPr bwMode="auto">
            <a:xfrm>
              <a:off x="2653" y="3021"/>
              <a:ext cx="4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rear</a:t>
              </a:r>
              <a:endParaRPr lang="en-US" altLang="zh-CN" sz="2000" b="1">
                <a:latin typeface="Arial" charset="0"/>
                <a:ea typeface="黑体" pitchFamily="49" charset="-122"/>
              </a:endParaRPr>
            </a:p>
          </p:txBody>
        </p:sp>
        <p:sp>
          <p:nvSpPr>
            <p:cNvPr id="19" name="Line 91"/>
            <p:cNvSpPr>
              <a14:cpLocks xmlns:a14="http://schemas.microsoft.com/office/drawing/2010/main" noChangeShapeType="1"/>
            </p:cNvSpPr>
            <p:nvPr/>
          </p:nvSpPr>
          <p:spPr bwMode="auto">
            <a:xfrm flipV="1">
              <a:off x="2880" y="2658"/>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92"/>
            <p:cNvSpPr txBox="1">
              <a14:cpLocks xmlns:a14="http://schemas.microsoft.com/office/drawing/2010/main" noChangeArrowheads="1"/>
            </p:cNvSpPr>
            <p:nvPr/>
          </p:nvSpPr>
          <p:spPr bwMode="auto">
            <a:xfrm>
              <a:off x="204" y="3021"/>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000" b="1">
                  <a:latin typeface="Arial" charset="0"/>
                  <a:ea typeface="黑体" pitchFamily="49" charset="-122"/>
                </a:rPr>
                <a:t>front</a:t>
              </a:r>
              <a:endParaRPr lang="en-US" altLang="zh-CN" sz="2000" b="1">
                <a:latin typeface="Arial" charset="0"/>
                <a:ea typeface="黑体" pitchFamily="49" charset="-122"/>
              </a:endParaRPr>
            </a:p>
          </p:txBody>
        </p:sp>
        <p:sp>
          <p:nvSpPr>
            <p:cNvPr id="21" name="Line 93"/>
            <p:cNvSpPr>
              <a14:cpLocks xmlns:a14="http://schemas.microsoft.com/office/drawing/2010/main" noChangeShapeType="1"/>
            </p:cNvSpPr>
            <p:nvPr/>
          </p:nvSpPr>
          <p:spPr bwMode="auto">
            <a:xfrm flipV="1">
              <a:off x="431" y="2658"/>
              <a:ext cx="0" cy="363"/>
            </a:xfrm>
            <a:prstGeom prst="line">
              <a:avLst/>
            </a:prstGeom>
            <a:noFill/>
            <a:ln w="12700" cap="sq">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8" name="Text Box 95"/>
          <p:cNvSpPr txBox="1">
            <a14:cpLocks xmlns:a14="http://schemas.microsoft.com/office/drawing/2010/main" noChangeArrowheads="1"/>
          </p:cNvSpPr>
          <p:nvPr/>
        </p:nvSpPr>
        <p:spPr bwMode="auto">
          <a:xfrm>
            <a:off x="2544537" y="6125937"/>
            <a:ext cx="82523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zh-CN" altLang="en-US" sz="2800" b="1" dirty="0">
                <a:ea typeface="楷体_GB2312" pitchFamily="49" charset="-122"/>
              </a:rPr>
              <a:t>特点：所有操作都是</a:t>
            </a:r>
            <a:r>
              <a:rPr lang="en-US" altLang="zh-CN" sz="2800" b="1" dirty="0">
                <a:ea typeface="楷体_GB2312" pitchFamily="49" charset="-122"/>
              </a:rPr>
              <a:t>O</a:t>
            </a:r>
            <a:r>
              <a:rPr lang="zh-CN" altLang="en-US" sz="2800" b="1" dirty="0">
                <a:ea typeface="楷体_GB2312" pitchFamily="49" charset="-122"/>
              </a:rPr>
              <a:t>（</a:t>
            </a:r>
            <a:r>
              <a:rPr lang="en-US" altLang="zh-CN" sz="2800" b="1" dirty="0">
                <a:ea typeface="楷体_GB2312" pitchFamily="49" charset="-122"/>
              </a:rPr>
              <a:t>1</a:t>
            </a:r>
            <a:r>
              <a:rPr lang="zh-CN" altLang="en-US" sz="2800" b="1" dirty="0">
                <a:ea typeface="楷体_GB2312" pitchFamily="49" charset="-122"/>
              </a:rPr>
              <a:t>），浪费空间</a:t>
            </a:r>
            <a:endParaRPr lang="zh-CN" altLang="en-US" sz="2800" b="1" dirty="0">
              <a:ea typeface="楷体_GB2312" pitchFamily="49" charset="-122"/>
            </a:endParaRPr>
          </a:p>
        </p:txBody>
      </p:sp>
      <p:sp>
        <p:nvSpPr>
          <p:cNvPr id="69" name="文本框 68"/>
          <p:cNvSpPr txBox="1"/>
          <p:nvPr/>
        </p:nvSpPr>
        <p:spPr>
          <a:xfrm>
            <a:off x="6884966" y="760586"/>
            <a:ext cx="670606" cy="523220"/>
          </a:xfrm>
          <a:prstGeom prst="rect">
            <a:avLst/>
          </a:prstGeom>
          <a:noFill/>
        </p:spPr>
        <p:txBody>
          <a:bodyPr wrap="square" rtlCol="0">
            <a:spAutoFit/>
          </a:bodyPr>
          <a:lstStyle/>
          <a:p>
            <a:r>
              <a:rPr lang="en-US" altLang="zh-CN" sz="2800" dirty="0"/>
              <a:t>5</a:t>
            </a:r>
            <a:endParaRPr lang="zh-CN" altLang="en-US" sz="2800" dirty="0" err="1"/>
          </a:p>
        </p:txBody>
      </p:sp>
      <p:sp>
        <p:nvSpPr>
          <p:cNvPr id="70" name="Text Box 29"/>
          <p:cNvSpPr txBox="1">
            <a14:cpLocks xmlns:a14="http://schemas.microsoft.com/office/drawing/2010/main" noChangeArrowheads="1"/>
          </p:cNvSpPr>
          <p:nvPr/>
        </p:nvSpPr>
        <p:spPr bwMode="auto">
          <a:xfrm>
            <a:off x="2842784" y="3991217"/>
            <a:ext cx="5032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itchFamily="18" charset="0"/>
                <a:ea typeface="宋体" charset="-122"/>
              </a:defRPr>
            </a:lvl1pPr>
            <a:lvl2pPr marL="742950" indent="-285750">
              <a:spcBef>
                <a:spcPct val="20000"/>
              </a:spcBef>
              <a:buChar char="–"/>
              <a:defRPr kumimoji="1" sz="2800">
                <a:solidFill>
                  <a:schemeClr val="tx1"/>
                </a:solidFill>
                <a:latin typeface="Times New Roman" pitchFamily="18" charset="0"/>
                <a:ea typeface="宋体" charset="-122"/>
              </a:defRPr>
            </a:lvl2pPr>
            <a:lvl3pPr marL="1143000" indent="-228600">
              <a:spcBef>
                <a:spcPct val="20000"/>
              </a:spcBef>
              <a:buChar char="•"/>
              <a:defRPr kumimoji="1" sz="2400">
                <a:solidFill>
                  <a:schemeClr val="tx1"/>
                </a:solidFill>
                <a:latin typeface="Times New Roman" pitchFamily="18" charset="0"/>
                <a:ea typeface="宋体" charset="-122"/>
              </a:defRPr>
            </a:lvl3pPr>
            <a:lvl4pPr marL="1600200" indent="-228600">
              <a:spcBef>
                <a:spcPct val="20000"/>
              </a:spcBef>
              <a:buChar char="–"/>
              <a:defRPr kumimoji="1" sz="2000">
                <a:solidFill>
                  <a:schemeClr val="tx1"/>
                </a:solidFill>
                <a:latin typeface="Times New Roman" pitchFamily="18" charset="0"/>
                <a:ea typeface="宋体" charset="-122"/>
              </a:defRPr>
            </a:lvl4pPr>
            <a:lvl5pPr marL="2057400" indent="-228600">
              <a:spcBef>
                <a:spcPct val="20000"/>
              </a:spcBef>
              <a:buChar char="»"/>
              <a:defRPr kumimoji="1" sz="2000">
                <a:solidFill>
                  <a:schemeClr val="tx1"/>
                </a:solidFill>
                <a:latin typeface="Times New Roman" pitchFamily="18" charset="0"/>
                <a:ea typeface="宋体"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charset="-122"/>
              </a:defRPr>
            </a:lvl9pPr>
          </a:lstStyle>
          <a:p>
            <a:pPr eaLnBrk="1" hangingPunct="1">
              <a:spcBef>
                <a:spcPct val="50000"/>
              </a:spcBef>
              <a:buFontTx/>
              <a:buNone/>
            </a:pPr>
            <a:r>
              <a:rPr lang="en-US" altLang="zh-CN" sz="2800" dirty="0">
                <a:latin typeface="Arial" charset="0"/>
                <a:ea typeface="黑体" pitchFamily="49" charset="-122"/>
              </a:rPr>
              <a:t>0</a:t>
            </a:r>
            <a:endParaRPr lang="en-US" altLang="zh-CN" sz="2800" dirty="0">
              <a:latin typeface="Arial" charset="0"/>
              <a:ea typeface="黑体" pitchFamily="49" charset="-122"/>
            </a:endParaRPr>
          </a:p>
        </p:txBody>
      </p:sp>
      <p:sp>
        <p:nvSpPr>
          <p:cNvPr id="71" name="文本框 70"/>
          <p:cNvSpPr txBox="1"/>
          <p:nvPr/>
        </p:nvSpPr>
        <p:spPr>
          <a:xfrm>
            <a:off x="6670699" y="3487480"/>
            <a:ext cx="670606" cy="523220"/>
          </a:xfrm>
          <a:prstGeom prst="rect">
            <a:avLst/>
          </a:prstGeom>
          <a:noFill/>
        </p:spPr>
        <p:txBody>
          <a:bodyPr wrap="square" rtlCol="0">
            <a:spAutoFit/>
          </a:bodyPr>
          <a:lstStyle/>
          <a:p>
            <a:r>
              <a:rPr lang="en-US" altLang="zh-CN" sz="2800" dirty="0"/>
              <a:t>5</a:t>
            </a:r>
            <a:endParaRPr lang="zh-CN" altLang="en-US" sz="2800" dirty="0" err="1"/>
          </a:p>
        </p:txBody>
      </p:sp>
      <p:sp>
        <p:nvSpPr>
          <p:cNvPr id="73" name="Rectangle 2"/>
          <p:cNvSpPr>
            <a14:cpLocks xmlns:a14="http://schemas.microsoft.com/office/drawing/2010/main" noGrp="1" noRot="1" noChangeArrowheads="1"/>
          </p:cNvSpPr>
          <p:nvPr>
            <p:ph type="title"/>
          </p:nvPr>
        </p:nvSpPr>
        <p:spPr>
          <a:xfrm>
            <a:off x="308340" y="476304"/>
            <a:ext cx="7772400" cy="1143000"/>
          </a:xfrm>
        </p:spPr>
        <p:txBody>
          <a:bodyPr>
            <a:normAutofit/>
          </a:bodyPr>
          <a:lstStyle/>
          <a:p>
            <a:r>
              <a:rPr lang="zh-CN" altLang="en-US" sz="4000" dirty="0"/>
              <a:t>队头位置不固定</a:t>
            </a:r>
            <a:endParaRPr lang="zh-CN" altLang="en-US" sz="4000" b="1" dirty="0"/>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60525" y="1578740"/>
            <a:ext cx="11831475" cy="4523885"/>
          </a:xfrm>
        </p:spPr>
        <p:txBody>
          <a:bodyPr>
            <a:normAutofit/>
          </a:bodyPr>
          <a:lstStyle/>
          <a:p>
            <a:pPr marL="0" indent="0">
              <a:buNone/>
            </a:pPr>
            <a:r>
              <a:rPr lang="zh-CN" altLang="zh-CN" sz="2800" b="0" dirty="0">
                <a:ea typeface="华文楷体" pitchFamily="2" charset="-122"/>
                <a:cs typeface="Times New Roman" pitchFamily="18" charset="0"/>
              </a:rPr>
              <a:t>队首指针</a:t>
            </a:r>
            <a:r>
              <a:rPr lang="en-US" altLang="zh-CN" sz="2800" b="0" dirty="0">
                <a:ea typeface="华文楷体" pitchFamily="2" charset="-122"/>
                <a:cs typeface="Times New Roman" pitchFamily="18" charset="0"/>
              </a:rPr>
              <a:t>Front</a:t>
            </a:r>
            <a:r>
              <a:rPr lang="zh-CN" altLang="zh-CN" sz="2800" b="0" dirty="0">
                <a:ea typeface="华文楷体" pitchFamily="2" charset="-122"/>
                <a:cs typeface="Times New Roman" pitchFamily="18" charset="0"/>
              </a:rPr>
              <a:t>给出的是实际队首元素的地址，队尾指针</a:t>
            </a:r>
            <a:r>
              <a:rPr lang="en-US" altLang="zh-CN" sz="2800" b="0" dirty="0">
                <a:ea typeface="华文楷体" pitchFamily="2" charset="-122"/>
                <a:cs typeface="Times New Roman" pitchFamily="18" charset="0"/>
              </a:rPr>
              <a:t>Rear</a:t>
            </a:r>
            <a:r>
              <a:rPr lang="zh-CN" altLang="zh-CN" sz="2800" b="0" dirty="0">
                <a:ea typeface="华文楷体" pitchFamily="2" charset="-122"/>
                <a:cs typeface="Times New Roman" pitchFamily="18" charset="0"/>
              </a:rPr>
              <a:t>给出的是实际队尾元素的</a:t>
            </a:r>
            <a:r>
              <a:rPr lang="zh-CN" altLang="en-US" sz="2800" b="0" dirty="0">
                <a:highlight>
                  <a:srgbClr val="FFFF00"/>
                </a:highlight>
                <a:ea typeface="华文楷体" pitchFamily="2" charset="-122"/>
                <a:cs typeface="Times New Roman" pitchFamily="18" charset="0"/>
              </a:rPr>
              <a:t>下一个</a:t>
            </a:r>
            <a:r>
              <a:rPr lang="zh-CN" altLang="en-US" sz="2800" b="0" dirty="0">
                <a:ea typeface="华文楷体" pitchFamily="2" charset="-122"/>
                <a:cs typeface="Times New Roman" pitchFamily="18" charset="0"/>
              </a:rPr>
              <a:t>空间</a:t>
            </a:r>
            <a:r>
              <a:rPr lang="zh-CN" altLang="zh-CN" sz="2800" b="0" dirty="0">
                <a:ea typeface="华文楷体" pitchFamily="2" charset="-122"/>
                <a:cs typeface="Times New Roman" pitchFamily="18" charset="0"/>
              </a:rPr>
              <a:t>地址。</a:t>
            </a:r>
            <a:endParaRPr lang="en-US" altLang="zh-CN" sz="2800" b="0" dirty="0">
              <a:ea typeface="华文楷体" pitchFamily="2" charset="-122"/>
              <a:cs typeface="Times New Roman" pitchFamily="18" charset="0"/>
            </a:endParaRPr>
          </a:p>
          <a:p>
            <a:pPr marL="0" indent="0">
              <a:buNone/>
            </a:pPr>
            <a:r>
              <a:rPr lang="zh-CN" altLang="en-US" sz="2800" b="0" dirty="0">
                <a:ea typeface="华文楷体" pitchFamily="2" charset="-122"/>
                <a:cs typeface="Times New Roman" pitchFamily="18" charset="0"/>
              </a:rPr>
              <a:t>为防止队列后移造成的空间浪费，附加一个循环特征，称</a:t>
            </a:r>
            <a:r>
              <a:rPr lang="zh-CN" altLang="en-US" sz="2800" dirty="0">
                <a:ea typeface="华文楷体" pitchFamily="2" charset="-122"/>
                <a:cs typeface="Times New Roman" pitchFamily="18" charset="0"/>
              </a:rPr>
              <a:t>顺序循环队列</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判断队空或队满可以利用队首指针</a:t>
            </a:r>
            <a:r>
              <a:rPr lang="en-US" altLang="zh-CN" sz="2800" b="0" dirty="0">
                <a:ea typeface="华文楷体" pitchFamily="2" charset="-122"/>
                <a:cs typeface="Times New Roman" pitchFamily="18" charset="0"/>
              </a:rPr>
              <a:t>Front</a:t>
            </a:r>
            <a:r>
              <a:rPr lang="zh-CN" altLang="zh-CN" sz="2800" b="0" dirty="0">
                <a:ea typeface="华文楷体" pitchFamily="2" charset="-122"/>
                <a:cs typeface="Times New Roman" pitchFamily="18" charset="0"/>
              </a:rPr>
              <a:t>和队尾指针</a:t>
            </a:r>
            <a:r>
              <a:rPr lang="en-US" altLang="zh-CN" sz="2800" b="0" dirty="0">
                <a:ea typeface="华文楷体" pitchFamily="2" charset="-122"/>
                <a:cs typeface="Times New Roman" pitchFamily="18" charset="0"/>
              </a:rPr>
              <a:t>Rear</a:t>
            </a:r>
            <a:r>
              <a:rPr lang="zh-CN" altLang="zh-CN" sz="2800" b="0" dirty="0">
                <a:ea typeface="华文楷体" pitchFamily="2" charset="-122"/>
                <a:cs typeface="Times New Roman" pitchFamily="18" charset="0"/>
              </a:rPr>
              <a:t>的关系</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r>
              <a:rPr lang="zh-CN" altLang="en-US" sz="2800" b="0" dirty="0">
                <a:highlight>
                  <a:srgbClr val="FFFF00"/>
                </a:highlight>
                <a:ea typeface="华文楷体" pitchFamily="2" charset="-122"/>
                <a:cs typeface="Times New Roman" pitchFamily="18" charset="0"/>
              </a:rPr>
              <a:t>队空标志： </a:t>
            </a:r>
            <a:r>
              <a:rPr lang="en-US" altLang="zh-CN" sz="2800" b="0" dirty="0">
                <a:highlight>
                  <a:srgbClr val="FFFF00"/>
                </a:highlight>
                <a:ea typeface="华文楷体" pitchFamily="2" charset="-122"/>
                <a:cs typeface="Times New Roman" pitchFamily="18" charset="0"/>
              </a:rPr>
              <a:t>Rear==Front</a:t>
            </a:r>
            <a:endParaRPr lang="en-US" altLang="zh-CN" sz="2800" b="0" dirty="0">
              <a:highlight>
                <a:srgbClr val="FFFF00"/>
              </a:highlight>
              <a:ea typeface="华文楷体" pitchFamily="2" charset="-122"/>
              <a:cs typeface="Times New Roman" pitchFamily="18" charset="0"/>
            </a:endParaRPr>
          </a:p>
          <a:p>
            <a:pPr marL="0" indent="0">
              <a:buNone/>
            </a:pPr>
            <a:r>
              <a:rPr lang="zh-CN" altLang="en-US" sz="2800" b="0" dirty="0">
                <a:highlight>
                  <a:srgbClr val="FFFF00"/>
                </a:highlight>
                <a:ea typeface="华文楷体" pitchFamily="2" charset="-122"/>
                <a:cs typeface="Times New Roman" pitchFamily="18" charset="0"/>
              </a:rPr>
              <a:t>队满标志：</a:t>
            </a:r>
            <a:r>
              <a:rPr lang="en-US" altLang="zh-CN" sz="2800" b="0" dirty="0">
                <a:highlight>
                  <a:srgbClr val="FFFF00"/>
                </a:highlight>
                <a:ea typeface="华文楷体" pitchFamily="2" charset="-122"/>
                <a:cs typeface="Times New Roman" pitchFamily="18" charset="0"/>
              </a:rPr>
              <a:t>(Rear+1)%</a:t>
            </a:r>
            <a:r>
              <a:rPr lang="en-US" altLang="zh-CN" sz="2800" b="0" dirty="0" err="1">
                <a:highlight>
                  <a:srgbClr val="FFFF00"/>
                </a:highlight>
                <a:ea typeface="华文楷体" pitchFamily="2" charset="-122"/>
                <a:cs typeface="Times New Roman" pitchFamily="18" charset="0"/>
              </a:rPr>
              <a:t>maxSize</a:t>
            </a:r>
            <a:r>
              <a:rPr lang="en-US" altLang="zh-CN" sz="2800" b="0" dirty="0">
                <a:highlight>
                  <a:srgbClr val="FFFF00"/>
                </a:highlight>
                <a:ea typeface="华文楷体" pitchFamily="2" charset="-122"/>
                <a:cs typeface="Times New Roman" pitchFamily="18" charset="0"/>
              </a:rPr>
              <a:t> == Front</a:t>
            </a:r>
            <a:endParaRPr lang="en-US" altLang="zh-CN" sz="2800" b="0" dirty="0">
              <a:highlight>
                <a:srgbClr val="FFFF00"/>
              </a:highlight>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顺序循环队列：</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657350" y="915436"/>
            <a:ext cx="8003485" cy="5564877"/>
          </a:xfrm>
          <a:prstGeom prst="rect">
            <a:avLst/>
          </a:prstGeom>
          <a:noFill/>
          <a:ln>
            <a:noFill/>
          </a:ln>
        </p:spPr>
      </p:pic>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59918" y="1368085"/>
            <a:ext cx="11162883" cy="5251376"/>
          </a:xfrm>
        </p:spPr>
        <p:txBody>
          <a:bodyPr>
            <a:normAutofit fontScale="62500" lnSpcReduction="20000"/>
          </a:bodyPr>
          <a:lstStyle/>
          <a:p>
            <a:pPr marL="0" indent="0">
              <a:buNone/>
            </a:pPr>
            <a:r>
              <a:rPr lang="en-US" altLang="zh-CN" sz="3500" b="0" dirty="0">
                <a:ea typeface="华文楷体" pitchFamily="2" charset="-122"/>
                <a:cs typeface="Times New Roman" pitchFamily="18" charset="0"/>
              </a:rPr>
              <a:t>#</a:t>
            </a:r>
            <a:r>
              <a:rPr lang="en-US" altLang="zh-CN" sz="3500" b="0" dirty="0" err="1">
                <a:ea typeface="华文楷体" pitchFamily="2" charset="-122"/>
                <a:cs typeface="Times New Roman" pitchFamily="18" charset="0"/>
              </a:rPr>
              <a:t>ifndef</a:t>
            </a:r>
            <a:r>
              <a:rPr lang="en-US" altLang="zh-CN" sz="3500" b="0" dirty="0">
                <a:ea typeface="华文楷体" pitchFamily="2" charset="-122"/>
                <a:cs typeface="Times New Roman" pitchFamily="18" charset="0"/>
              </a:rPr>
              <a:t> SEQQUEUE_H_INCLUDED</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#define SEQQUEUE_H_INCLUDED</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class </a:t>
            </a:r>
            <a:r>
              <a:rPr lang="en-US" altLang="zh-CN" sz="3500" b="0" dirty="0" err="1">
                <a:ea typeface="华文楷体" pitchFamily="2" charset="-122"/>
                <a:cs typeface="Times New Roman" pitchFamily="18" charset="0"/>
              </a:rPr>
              <a:t>illegalSize</a:t>
            </a:r>
            <a:r>
              <a:rPr lang="en-US" altLang="zh-CN" sz="3500" b="0" dirty="0">
                <a:ea typeface="华文楷体" pitchFamily="2" charset="-122"/>
                <a:cs typeface="Times New Roman" pitchFamily="18" charset="0"/>
              </a:rPr>
              <a:t>{};</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class </a:t>
            </a:r>
            <a:r>
              <a:rPr lang="en-US" altLang="zh-CN" sz="3500" b="0" dirty="0" err="1">
                <a:ea typeface="华文楷体" pitchFamily="2" charset="-122"/>
                <a:cs typeface="Times New Roman" pitchFamily="18" charset="0"/>
              </a:rPr>
              <a:t>outOfBound</a:t>
            </a:r>
            <a:r>
              <a:rPr lang="en-US" altLang="zh-CN" sz="3500" b="0" dirty="0">
                <a:ea typeface="华文楷体" pitchFamily="2" charset="-122"/>
                <a:cs typeface="Times New Roman" pitchFamily="18" charset="0"/>
              </a:rPr>
              <a:t>{};</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template &lt;class </a:t>
            </a:r>
            <a:r>
              <a:rPr lang="en-US" altLang="zh-CN" sz="3500" b="0" dirty="0" err="1">
                <a:ea typeface="华文楷体" pitchFamily="2" charset="-122"/>
                <a:cs typeface="Times New Roman" pitchFamily="18" charset="0"/>
              </a:rPr>
              <a:t>elemType</a:t>
            </a:r>
            <a:r>
              <a:rPr lang="en-US" altLang="zh-CN" sz="3500" b="0" dirty="0">
                <a:ea typeface="华文楷体" pitchFamily="2" charset="-122"/>
                <a:cs typeface="Times New Roman" pitchFamily="18" charset="0"/>
              </a:rPr>
              <a:t>&gt;</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class </a:t>
            </a:r>
            <a:r>
              <a:rPr lang="en-US" altLang="zh-CN" sz="3500" b="0" dirty="0" err="1">
                <a:ea typeface="华文楷体" pitchFamily="2" charset="-122"/>
                <a:cs typeface="Times New Roman" pitchFamily="18" charset="0"/>
              </a:rPr>
              <a:t>seqQueue</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    private:</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        </a:t>
            </a:r>
            <a:r>
              <a:rPr lang="en-US" altLang="zh-CN" sz="3500" b="0" dirty="0" err="1">
                <a:ea typeface="华文楷体" pitchFamily="2" charset="-122"/>
                <a:cs typeface="Times New Roman" pitchFamily="18" charset="0"/>
              </a:rPr>
              <a:t>elemType</a:t>
            </a:r>
            <a:r>
              <a:rPr lang="en-US" altLang="zh-CN" sz="3500" b="0" dirty="0">
                <a:ea typeface="华文楷体" pitchFamily="2" charset="-122"/>
                <a:cs typeface="Times New Roman" pitchFamily="18" charset="0"/>
              </a:rPr>
              <a:t> *array;</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        </a:t>
            </a:r>
            <a:r>
              <a:rPr lang="en-US" altLang="zh-CN" sz="3500" b="0" dirty="0" err="1">
                <a:ea typeface="华文楷体" pitchFamily="2" charset="-122"/>
                <a:cs typeface="Times New Roman" pitchFamily="18" charset="0"/>
              </a:rPr>
              <a:t>int</a:t>
            </a:r>
            <a:r>
              <a:rPr lang="en-US" altLang="zh-CN" sz="3500" b="0" dirty="0">
                <a:ea typeface="华文楷体" pitchFamily="2" charset="-122"/>
                <a:cs typeface="Times New Roman" pitchFamily="18" charset="0"/>
              </a:rPr>
              <a:t> </a:t>
            </a:r>
            <a:r>
              <a:rPr lang="en-US" altLang="zh-CN" sz="3500" b="0" dirty="0" err="1">
                <a:ea typeface="华文楷体" pitchFamily="2" charset="-122"/>
                <a:cs typeface="Times New Roman" pitchFamily="18" charset="0"/>
              </a:rPr>
              <a:t>maxSize</a:t>
            </a:r>
            <a:r>
              <a:rPr lang="en-US" altLang="zh-CN" sz="3500" b="0" dirty="0">
                <a:ea typeface="华文楷体" pitchFamily="2" charset="-122"/>
                <a:cs typeface="Times New Roman" pitchFamily="18" charset="0"/>
              </a:rPr>
              <a:t>;</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        </a:t>
            </a:r>
            <a:r>
              <a:rPr lang="en-US" altLang="zh-CN" sz="3500" b="0" dirty="0" err="1">
                <a:ea typeface="华文楷体" pitchFamily="2" charset="-122"/>
                <a:cs typeface="Times New Roman" pitchFamily="18" charset="0"/>
              </a:rPr>
              <a:t>int</a:t>
            </a:r>
            <a:r>
              <a:rPr lang="en-US" altLang="zh-CN" sz="3500" b="0" dirty="0">
                <a:ea typeface="华文楷体" pitchFamily="2" charset="-122"/>
                <a:cs typeface="Times New Roman" pitchFamily="18" charset="0"/>
              </a:rPr>
              <a:t> Front, Rear;</a:t>
            </a:r>
            <a:endParaRPr lang="zh-CN" altLang="zh-CN" sz="3500" b="0" dirty="0">
              <a:ea typeface="华文楷体" pitchFamily="2" charset="-122"/>
              <a:cs typeface="Times New Roman" pitchFamily="18" charset="0"/>
            </a:endParaRPr>
          </a:p>
          <a:p>
            <a:pPr marL="0" indent="0">
              <a:buNone/>
            </a:pPr>
            <a:r>
              <a:rPr lang="en-US" altLang="zh-CN" sz="3500" b="0" dirty="0">
                <a:ea typeface="华文楷体" pitchFamily="2" charset="-122"/>
                <a:cs typeface="Times New Roman" pitchFamily="18" charset="0"/>
              </a:rPr>
              <a:t>        void </a:t>
            </a:r>
            <a:r>
              <a:rPr lang="en-US" altLang="zh-CN" sz="3500" b="0" dirty="0" err="1">
                <a:ea typeface="华文楷体" pitchFamily="2" charset="-122"/>
                <a:cs typeface="Times New Roman" pitchFamily="18" charset="0"/>
              </a:rPr>
              <a:t>doubleSpace</a:t>
            </a:r>
            <a:r>
              <a:rPr lang="en-US" altLang="zh-CN" sz="3500" b="0" dirty="0">
                <a:ea typeface="华文楷体" pitchFamily="2" charset="-122"/>
                <a:cs typeface="Times New Roman" pitchFamily="18" charset="0"/>
              </a:rPr>
              <a:t>(); //</a:t>
            </a:r>
            <a:r>
              <a:rPr lang="zh-CN" altLang="zh-CN" sz="3500" b="0" dirty="0">
                <a:ea typeface="华文楷体" pitchFamily="2" charset="-122"/>
                <a:cs typeface="Times New Roman" pitchFamily="18" charset="0"/>
              </a:rPr>
              <a:t>扩展队队列元素的存储空间为原来的</a:t>
            </a:r>
            <a:r>
              <a:rPr lang="en-US" altLang="zh-CN" sz="3500" b="0" dirty="0">
                <a:ea typeface="华文楷体" pitchFamily="2" charset="-122"/>
                <a:cs typeface="Times New Roman" pitchFamily="18" charset="0"/>
              </a:rPr>
              <a:t>2</a:t>
            </a:r>
            <a:r>
              <a:rPr lang="zh-CN" altLang="zh-CN" sz="3500" b="0" dirty="0">
                <a:ea typeface="华文楷体" pitchFamily="2" charset="-122"/>
                <a:cs typeface="Times New Roman" pitchFamily="18" charset="0"/>
              </a:rPr>
              <a:t>倍</a:t>
            </a:r>
            <a:endParaRPr lang="zh-CN" altLang="zh-CN" sz="35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顺序循环队列类的定义：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59918" y="1368085"/>
            <a:ext cx="11162883" cy="5251376"/>
          </a:xfrm>
        </p:spPr>
        <p:txBody>
          <a:bodyPr>
            <a:normAutofit/>
          </a:bodyPr>
          <a:lstStyle/>
          <a:p>
            <a:pPr marL="0" indent="0">
              <a:buNone/>
            </a:pPr>
            <a:r>
              <a:rPr lang="en-US" altLang="zh-CN" dirty="0">
                <a:ea typeface="华文楷体" pitchFamily="2" charset="-122"/>
                <a:cs typeface="Times New Roman" pitchFamily="18" charset="0"/>
              </a:rPr>
              <a:t>        </a:t>
            </a:r>
            <a:r>
              <a:rPr lang="en-US" altLang="zh-CN" b="0" dirty="0">
                <a:ea typeface="华文楷体" pitchFamily="2" charset="-122"/>
                <a:cs typeface="Times New Roman" pitchFamily="18" charset="0"/>
              </a:rPr>
              <a:t>public:</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seqQueue</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int</a:t>
            </a:r>
            <a:r>
              <a:rPr lang="en-US" altLang="zh-CN" b="0" dirty="0">
                <a:ea typeface="华文楷体" pitchFamily="2" charset="-122"/>
                <a:cs typeface="Times New Roman" pitchFamily="18" charset="0"/>
              </a:rPr>
              <a:t> size=10); //</a:t>
            </a:r>
            <a:r>
              <a:rPr lang="zh-CN" altLang="zh-CN" b="0" dirty="0">
                <a:ea typeface="华文楷体" pitchFamily="2" charset="-122"/>
                <a:cs typeface="Times New Roman" pitchFamily="18" charset="0"/>
              </a:rPr>
              <a:t>初始化队列元素的存储空间</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bool </a:t>
            </a:r>
            <a:r>
              <a:rPr lang="en-US" altLang="zh-CN" b="0" dirty="0" err="1">
                <a:ea typeface="华文楷体" pitchFamily="2" charset="-122"/>
                <a:cs typeface="Times New Roman" pitchFamily="18" charset="0"/>
              </a:rPr>
              <a:t>isEmpty</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判断队空否，空返回</a:t>
            </a:r>
            <a:r>
              <a:rPr lang="en-US" altLang="zh-CN" b="0" dirty="0">
                <a:ea typeface="华文楷体" pitchFamily="2" charset="-122"/>
                <a:cs typeface="Times New Roman" pitchFamily="18" charset="0"/>
              </a:rPr>
              <a:t>true</a:t>
            </a:r>
            <a:r>
              <a:rPr lang="zh-CN" altLang="zh-CN" b="0" dirty="0">
                <a:ea typeface="华文楷体" pitchFamily="2" charset="-122"/>
                <a:cs typeface="Times New Roman" pitchFamily="18" charset="0"/>
              </a:rPr>
              <a:t>，否则为</a:t>
            </a:r>
            <a:r>
              <a:rPr lang="en-US" altLang="zh-CN" b="0" dirty="0">
                <a:ea typeface="华文楷体" pitchFamily="2" charset="-122"/>
                <a:cs typeface="Times New Roman" pitchFamily="18" charset="0"/>
              </a:rPr>
              <a:t>false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bool </a:t>
            </a:r>
            <a:r>
              <a:rPr lang="en-US" altLang="zh-CN" b="0" dirty="0" err="1">
                <a:ea typeface="华文楷体" pitchFamily="2" charset="-122"/>
                <a:cs typeface="Times New Roman" pitchFamily="18" charset="0"/>
              </a:rPr>
              <a:t>isFull</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判断队满否，满返回</a:t>
            </a:r>
            <a:r>
              <a:rPr lang="en-US" altLang="zh-CN" b="0" dirty="0">
                <a:ea typeface="华文楷体" pitchFamily="2" charset="-122"/>
                <a:cs typeface="Times New Roman" pitchFamily="18" charset="0"/>
              </a:rPr>
              <a:t>true</a:t>
            </a:r>
            <a:r>
              <a:rPr lang="zh-CN" altLang="zh-CN" b="0" dirty="0">
                <a:ea typeface="华文楷体" pitchFamily="2" charset="-122"/>
                <a:cs typeface="Times New Roman" pitchFamily="18" charset="0"/>
              </a:rPr>
              <a:t>，否则为</a:t>
            </a:r>
            <a:r>
              <a:rPr lang="en-US" altLang="zh-CN" b="0" dirty="0">
                <a:ea typeface="华文楷体" pitchFamily="2" charset="-122"/>
                <a:cs typeface="Times New Roman" pitchFamily="18" charset="0"/>
              </a:rPr>
              <a:t>false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front(); //</a:t>
            </a:r>
            <a:r>
              <a:rPr lang="zh-CN" altLang="zh-CN" b="0" dirty="0">
                <a:ea typeface="华文楷体" pitchFamily="2" charset="-122"/>
                <a:cs typeface="Times New Roman" pitchFamily="18" charset="0"/>
              </a:rPr>
              <a:t>读取队首元素的值，队首不变</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void </a:t>
            </a:r>
            <a:r>
              <a:rPr lang="en-US" altLang="zh-CN" b="0" dirty="0" err="1">
                <a:ea typeface="华文楷体" pitchFamily="2" charset="-122"/>
                <a:cs typeface="Times New Roman" pitchFamily="18" charset="0"/>
              </a:rPr>
              <a:t>enQueue</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const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&amp;x); //</a:t>
            </a:r>
            <a:r>
              <a:rPr lang="zh-CN" altLang="zh-CN" b="0" dirty="0">
                <a:ea typeface="华文楷体" pitchFamily="2" charset="-122"/>
                <a:cs typeface="Times New Roman" pitchFamily="18" charset="0"/>
              </a:rPr>
              <a:t>将</a:t>
            </a:r>
            <a:r>
              <a:rPr lang="en-US" altLang="zh-CN" b="0" dirty="0">
                <a:ea typeface="华文楷体" pitchFamily="2" charset="-122"/>
                <a:cs typeface="Times New Roman" pitchFamily="18" charset="0"/>
              </a:rPr>
              <a:t>x</a:t>
            </a:r>
            <a:r>
              <a:rPr lang="zh-CN" altLang="zh-CN" b="0" dirty="0">
                <a:ea typeface="华文楷体" pitchFamily="2" charset="-122"/>
                <a:cs typeface="Times New Roman" pitchFamily="18" charset="0"/>
              </a:rPr>
              <a:t>进队，成为新的队尾</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void </a:t>
            </a:r>
            <a:r>
              <a:rPr lang="en-US" altLang="zh-CN" b="0" dirty="0" err="1">
                <a:ea typeface="华文楷体" pitchFamily="2" charset="-122"/>
                <a:cs typeface="Times New Roman" pitchFamily="18" charset="0"/>
              </a:rPr>
              <a:t>deQueue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将队首元素出队</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seqQueue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释放队列元素所占据的动态数组</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顺序循环队列类的定义：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79797" y="1566868"/>
            <a:ext cx="11162883" cy="4615272"/>
          </a:xfrm>
        </p:spPr>
        <p:txBody>
          <a:bodyPr>
            <a:normAutofit/>
          </a:bodyPr>
          <a:lstStyle/>
          <a:p>
            <a:pPr marL="0" indent="0">
              <a:buNone/>
            </a:pPr>
            <a:r>
              <a:rPr lang="en-US" altLang="zh-CN" b="0" dirty="0">
                <a:cs typeface="Times New Roman" pitchFamily="18" charset="0"/>
              </a:rPr>
              <a:t>template &lt;class </a:t>
            </a:r>
            <a:r>
              <a:rPr lang="en-US" altLang="zh-CN" b="0" dirty="0" err="1">
                <a:cs typeface="Times New Roman" pitchFamily="18" charset="0"/>
              </a:rPr>
              <a:t>elemType</a:t>
            </a:r>
            <a:r>
              <a:rPr lang="en-US" altLang="zh-CN" b="0" dirty="0">
                <a:cs typeface="Times New Roman" pitchFamily="18" charset="0"/>
              </a:rPr>
              <a:t>&gt;</a:t>
            </a:r>
            <a:endParaRPr lang="zh-CN" altLang="zh-CN" b="0" dirty="0">
              <a:cs typeface="Times New Roman" pitchFamily="18" charset="0"/>
            </a:endParaRPr>
          </a:p>
          <a:p>
            <a:pPr marL="0" indent="0">
              <a:buNone/>
            </a:pPr>
            <a:r>
              <a:rPr lang="en-US" altLang="zh-CN" b="0" dirty="0" err="1">
                <a:cs typeface="Times New Roman" pitchFamily="18" charset="0"/>
              </a:rPr>
              <a:t>seqQueue</a:t>
            </a:r>
            <a:r>
              <a:rPr lang="en-US" altLang="zh-CN" b="0" dirty="0">
                <a:cs typeface="Times New Roman" pitchFamily="18" charset="0"/>
              </a:rPr>
              <a:t>&lt;</a:t>
            </a:r>
            <a:r>
              <a:rPr lang="en-US" altLang="zh-CN" b="0" dirty="0" err="1">
                <a:cs typeface="Times New Roman" pitchFamily="18" charset="0"/>
              </a:rPr>
              <a:t>elemType</a:t>
            </a:r>
            <a:r>
              <a:rPr lang="en-US" altLang="zh-CN" b="0" dirty="0">
                <a:cs typeface="Times New Roman" pitchFamily="18" charset="0"/>
              </a:rPr>
              <a:t>&gt;::</a:t>
            </a:r>
            <a:r>
              <a:rPr lang="en-US" altLang="zh-CN" b="0" dirty="0" err="1">
                <a:cs typeface="Times New Roman" pitchFamily="18" charset="0"/>
              </a:rPr>
              <a:t>seqQueue</a:t>
            </a:r>
            <a:r>
              <a:rPr lang="en-US" altLang="zh-CN" b="0" dirty="0">
                <a:cs typeface="Times New Roman" pitchFamily="18" charset="0"/>
              </a:rPr>
              <a:t>(</a:t>
            </a:r>
            <a:r>
              <a:rPr lang="en-US" altLang="zh-CN" b="0" dirty="0" err="1">
                <a:cs typeface="Times New Roman" pitchFamily="18" charset="0"/>
              </a:rPr>
              <a:t>int</a:t>
            </a:r>
            <a:r>
              <a:rPr lang="en-US" altLang="zh-CN" b="0" dirty="0">
                <a:cs typeface="Times New Roman" pitchFamily="18" charset="0"/>
              </a:rPr>
              <a:t> size) //</a:t>
            </a:r>
            <a:r>
              <a:rPr lang="zh-CN" altLang="zh-CN" b="0" dirty="0">
                <a:cs typeface="Times New Roman" pitchFamily="18" charset="0"/>
              </a:rPr>
              <a:t>初始化队列元素的存储空间</a:t>
            </a:r>
            <a:endParaRPr lang="zh-CN" altLang="zh-CN" b="0" dirty="0">
              <a:cs typeface="Times New Roman" pitchFamily="18" charset="0"/>
            </a:endParaRPr>
          </a:p>
          <a:p>
            <a:pPr marL="0" indent="0">
              <a:buNone/>
            </a:pPr>
            <a:r>
              <a:rPr lang="en-US" altLang="zh-CN" b="0" dirty="0">
                <a:cs typeface="Times New Roman" pitchFamily="18" charset="0"/>
              </a:rPr>
              <a:t>{</a:t>
            </a:r>
            <a:endParaRPr lang="zh-CN" altLang="zh-CN" b="0" dirty="0">
              <a:cs typeface="Times New Roman" pitchFamily="18" charset="0"/>
            </a:endParaRPr>
          </a:p>
          <a:p>
            <a:pPr marL="0" indent="0">
              <a:buNone/>
            </a:pPr>
            <a:r>
              <a:rPr lang="en-US" altLang="zh-CN" b="0" dirty="0">
                <a:cs typeface="Times New Roman" pitchFamily="18" charset="0"/>
              </a:rPr>
              <a:t>    array = new </a:t>
            </a:r>
            <a:r>
              <a:rPr lang="en-US" altLang="zh-CN" b="0" dirty="0" err="1">
                <a:cs typeface="Times New Roman" pitchFamily="18" charset="0"/>
              </a:rPr>
              <a:t>elemType</a:t>
            </a:r>
            <a:r>
              <a:rPr lang="en-US" altLang="zh-CN" b="0" dirty="0">
                <a:cs typeface="Times New Roman" pitchFamily="18" charset="0"/>
              </a:rPr>
              <a:t>[size]; //</a:t>
            </a:r>
            <a:r>
              <a:rPr lang="zh-CN" altLang="zh-CN" b="0" dirty="0">
                <a:cs typeface="Times New Roman" pitchFamily="18" charset="0"/>
              </a:rPr>
              <a:t>申请实际的队列存储空间</a:t>
            </a:r>
            <a:endParaRPr lang="zh-CN" altLang="zh-CN" b="0" dirty="0">
              <a:cs typeface="Times New Roman" pitchFamily="18" charset="0"/>
            </a:endParaRPr>
          </a:p>
          <a:p>
            <a:pPr marL="0" indent="0">
              <a:buNone/>
            </a:pPr>
            <a:r>
              <a:rPr lang="en-US" altLang="zh-CN" b="0" dirty="0">
                <a:cs typeface="Times New Roman" pitchFamily="18" charset="0"/>
              </a:rPr>
              <a:t>    if (!array) throw </a:t>
            </a:r>
            <a:r>
              <a:rPr lang="en-US" altLang="zh-CN" b="0" dirty="0" err="1">
                <a:cs typeface="Times New Roman" pitchFamily="18" charset="0"/>
              </a:rPr>
              <a:t>illegalSize</a:t>
            </a:r>
            <a:r>
              <a:rPr lang="en-US" altLang="zh-CN" b="0" dirty="0">
                <a:cs typeface="Times New Roman" pitchFamily="18" charset="0"/>
              </a:rPr>
              <a:t>();</a:t>
            </a:r>
            <a:endParaRPr lang="zh-CN" altLang="zh-CN" b="0" dirty="0">
              <a:cs typeface="Times New Roman" pitchFamily="18" charset="0"/>
            </a:endParaRPr>
          </a:p>
          <a:p>
            <a:pPr marL="0" indent="0">
              <a:buNone/>
            </a:pPr>
            <a:r>
              <a:rPr lang="en-US" altLang="zh-CN" b="0" dirty="0">
                <a:cs typeface="Times New Roman" pitchFamily="18" charset="0"/>
              </a:rPr>
              <a:t>    </a:t>
            </a:r>
            <a:r>
              <a:rPr lang="en-US" altLang="zh-CN" b="0" dirty="0" err="1">
                <a:cs typeface="Times New Roman" pitchFamily="18" charset="0"/>
              </a:rPr>
              <a:t>maxSize</a:t>
            </a:r>
            <a:r>
              <a:rPr lang="en-US" altLang="zh-CN" b="0" dirty="0">
                <a:cs typeface="Times New Roman" pitchFamily="18" charset="0"/>
              </a:rPr>
              <a:t> = size;</a:t>
            </a:r>
            <a:endParaRPr lang="zh-CN" altLang="zh-CN" b="0" dirty="0">
              <a:cs typeface="Times New Roman" pitchFamily="18" charset="0"/>
            </a:endParaRPr>
          </a:p>
          <a:p>
            <a:pPr marL="0" indent="0">
              <a:buNone/>
            </a:pPr>
            <a:r>
              <a:rPr lang="en-US" altLang="zh-CN" b="0" dirty="0">
                <a:cs typeface="Times New Roman" pitchFamily="18" charset="0"/>
              </a:rPr>
              <a:t>    Front = Rear = 0;</a:t>
            </a:r>
            <a:endParaRPr lang="zh-CN" altLang="zh-CN" b="0" dirty="0">
              <a:cs typeface="Times New Roman" pitchFamily="18" charset="0"/>
            </a:endParaRPr>
          </a:p>
          <a:p>
            <a:pPr marL="0" indent="0">
              <a:buNone/>
            </a:pP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顺序循环队列类成员函数的实现：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60528" y="731981"/>
            <a:ext cx="11162883" cy="6126019"/>
          </a:xfrm>
        </p:spPr>
        <p:txBody>
          <a:bodyPr>
            <a:normAutofit fontScale="85000" lnSpcReduction="10000"/>
          </a:bodyPr>
          <a:lstStyle/>
          <a:p>
            <a:pPr marL="0" indent="0">
              <a:buNone/>
            </a:pPr>
            <a:r>
              <a:rPr lang="en-US" altLang="zh-CN" sz="3100" b="0" dirty="0">
                <a:ea typeface="华文楷体" pitchFamily="2" charset="-122"/>
                <a:cs typeface="Times New Roman" pitchFamily="18" charset="0"/>
              </a:rPr>
              <a:t>template &lt;class </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bool </a:t>
            </a:r>
            <a:r>
              <a:rPr lang="en-US" altLang="zh-CN" sz="3100" b="0" dirty="0" err="1">
                <a:ea typeface="华文楷体" pitchFamily="2" charset="-122"/>
                <a:cs typeface="Times New Roman" pitchFamily="18" charset="0"/>
              </a:rPr>
              <a:t>seqQueue</a:t>
            </a:r>
            <a:r>
              <a:rPr lang="en-US" altLang="zh-CN" sz="3100" b="0" dirty="0">
                <a:ea typeface="华文楷体" pitchFamily="2" charset="-122"/>
                <a:cs typeface="Times New Roman" pitchFamily="18" charset="0"/>
              </a:rPr>
              <a:t>&lt;</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a:t>
            </a:r>
            <a:r>
              <a:rPr lang="en-US" altLang="zh-CN" sz="3100" b="0" dirty="0" err="1">
                <a:ea typeface="华文楷体" pitchFamily="2" charset="-122"/>
                <a:cs typeface="Times New Roman" pitchFamily="18" charset="0"/>
              </a:rPr>
              <a:t>isEmpty</a:t>
            </a:r>
            <a:r>
              <a:rPr lang="en-US" altLang="zh-CN" sz="3100" b="0" dirty="0">
                <a:ea typeface="华文楷体" pitchFamily="2" charset="-122"/>
                <a:cs typeface="Times New Roman" pitchFamily="18" charset="0"/>
              </a:rPr>
              <a:t>()  //</a:t>
            </a:r>
            <a:r>
              <a:rPr lang="zh-CN" altLang="zh-CN" sz="3100" b="0" dirty="0">
                <a:ea typeface="华文楷体" pitchFamily="2" charset="-122"/>
                <a:cs typeface="Times New Roman" pitchFamily="18" charset="0"/>
              </a:rPr>
              <a:t>判断队空否，空返回</a:t>
            </a:r>
            <a:r>
              <a:rPr lang="en-US" altLang="zh-CN" sz="3100" b="0" dirty="0">
                <a:ea typeface="华文楷体" pitchFamily="2" charset="-122"/>
                <a:cs typeface="Times New Roman" pitchFamily="18" charset="0"/>
              </a:rPr>
              <a:t>true</a:t>
            </a:r>
            <a:r>
              <a:rPr lang="zh-CN" altLang="zh-CN" sz="3100" b="0" dirty="0">
                <a:ea typeface="华文楷体" pitchFamily="2" charset="-122"/>
                <a:cs typeface="Times New Roman" pitchFamily="18" charset="0"/>
              </a:rPr>
              <a:t>，否则为</a:t>
            </a:r>
            <a:r>
              <a:rPr lang="en-US" altLang="zh-CN" sz="3100" b="0" dirty="0">
                <a:ea typeface="华文楷体" pitchFamily="2" charset="-122"/>
                <a:cs typeface="Times New Roman" pitchFamily="18" charset="0"/>
              </a:rPr>
              <a:t>false</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{return Front == Rear;}</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 </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template &lt;class </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bool </a:t>
            </a:r>
            <a:r>
              <a:rPr lang="en-US" altLang="zh-CN" sz="3100" b="0" dirty="0" err="1">
                <a:ea typeface="华文楷体" pitchFamily="2" charset="-122"/>
                <a:cs typeface="Times New Roman" pitchFamily="18" charset="0"/>
              </a:rPr>
              <a:t>seqQueue</a:t>
            </a:r>
            <a:r>
              <a:rPr lang="en-US" altLang="zh-CN" sz="3100" b="0" dirty="0">
                <a:ea typeface="华文楷体" pitchFamily="2" charset="-122"/>
                <a:cs typeface="Times New Roman" pitchFamily="18" charset="0"/>
              </a:rPr>
              <a:t>&lt;</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a:t>
            </a:r>
            <a:r>
              <a:rPr lang="en-US" altLang="zh-CN" sz="3100" b="0" dirty="0" err="1">
                <a:ea typeface="华文楷体" pitchFamily="2" charset="-122"/>
                <a:cs typeface="Times New Roman" pitchFamily="18" charset="0"/>
              </a:rPr>
              <a:t>isFull</a:t>
            </a:r>
            <a:r>
              <a:rPr lang="en-US" altLang="zh-CN" sz="3100" b="0" dirty="0">
                <a:ea typeface="华文楷体" pitchFamily="2" charset="-122"/>
                <a:cs typeface="Times New Roman" pitchFamily="18" charset="0"/>
              </a:rPr>
              <a:t>() //</a:t>
            </a:r>
            <a:r>
              <a:rPr lang="zh-CN" altLang="zh-CN" sz="3100" b="0" dirty="0">
                <a:ea typeface="华文楷体" pitchFamily="2" charset="-122"/>
                <a:cs typeface="Times New Roman" pitchFamily="18" charset="0"/>
              </a:rPr>
              <a:t>判断队满否，满返回</a:t>
            </a:r>
            <a:r>
              <a:rPr lang="en-US" altLang="zh-CN" sz="3100" b="0" dirty="0">
                <a:ea typeface="华文楷体" pitchFamily="2" charset="-122"/>
                <a:cs typeface="Times New Roman" pitchFamily="18" charset="0"/>
              </a:rPr>
              <a:t>true</a:t>
            </a:r>
            <a:r>
              <a:rPr lang="zh-CN" altLang="zh-CN" sz="3100" b="0" dirty="0">
                <a:ea typeface="华文楷体" pitchFamily="2" charset="-122"/>
                <a:cs typeface="Times New Roman" pitchFamily="18" charset="0"/>
              </a:rPr>
              <a:t>，否则为</a:t>
            </a:r>
            <a:r>
              <a:rPr lang="en-US" altLang="zh-CN" sz="3100" b="0" dirty="0">
                <a:ea typeface="华文楷体" pitchFamily="2" charset="-122"/>
                <a:cs typeface="Times New Roman" pitchFamily="18" charset="0"/>
              </a:rPr>
              <a:t>false</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{return (Rear+1)%</a:t>
            </a:r>
            <a:r>
              <a:rPr lang="en-US" altLang="zh-CN" sz="3100" b="0" dirty="0" err="1">
                <a:ea typeface="华文楷体" pitchFamily="2" charset="-122"/>
                <a:cs typeface="Times New Roman" pitchFamily="18" charset="0"/>
              </a:rPr>
              <a:t>maxSize</a:t>
            </a:r>
            <a:r>
              <a:rPr lang="en-US" altLang="zh-CN" sz="3100" b="0" dirty="0">
                <a:ea typeface="华文楷体" pitchFamily="2" charset="-122"/>
                <a:cs typeface="Times New Roman" pitchFamily="18" charset="0"/>
              </a:rPr>
              <a:t> == Front;}</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 </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template &lt;class </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a:t>
            </a:r>
            <a:endParaRPr lang="zh-CN" altLang="zh-CN" sz="3100" b="0" dirty="0">
              <a:ea typeface="华文楷体" pitchFamily="2" charset="-122"/>
              <a:cs typeface="Times New Roman" pitchFamily="18" charset="0"/>
            </a:endParaRPr>
          </a:p>
          <a:p>
            <a:pPr marL="0" indent="0">
              <a:buNone/>
            </a:pP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 </a:t>
            </a:r>
            <a:r>
              <a:rPr lang="en-US" altLang="zh-CN" sz="3100" b="0" dirty="0" err="1">
                <a:ea typeface="华文楷体" pitchFamily="2" charset="-122"/>
                <a:cs typeface="Times New Roman" pitchFamily="18" charset="0"/>
              </a:rPr>
              <a:t>seqQueue</a:t>
            </a:r>
            <a:r>
              <a:rPr lang="en-US" altLang="zh-CN" sz="3100" b="0" dirty="0">
                <a:ea typeface="华文楷体" pitchFamily="2" charset="-122"/>
                <a:cs typeface="Times New Roman" pitchFamily="18" charset="0"/>
              </a:rPr>
              <a:t>&lt;</a:t>
            </a:r>
            <a:r>
              <a:rPr lang="en-US" altLang="zh-CN" sz="3100" b="0" dirty="0" err="1">
                <a:ea typeface="华文楷体" pitchFamily="2" charset="-122"/>
                <a:cs typeface="Times New Roman" pitchFamily="18" charset="0"/>
              </a:rPr>
              <a:t>elemType</a:t>
            </a:r>
            <a:r>
              <a:rPr lang="en-US" altLang="zh-CN" sz="3100" b="0" dirty="0">
                <a:ea typeface="华文楷体" pitchFamily="2" charset="-122"/>
                <a:cs typeface="Times New Roman" pitchFamily="18" charset="0"/>
              </a:rPr>
              <a:t>&gt;::front() //</a:t>
            </a:r>
            <a:r>
              <a:rPr lang="zh-CN" altLang="zh-CN" sz="3100" b="0" dirty="0">
                <a:ea typeface="华文楷体" pitchFamily="2" charset="-122"/>
                <a:cs typeface="Times New Roman" pitchFamily="18" charset="0"/>
              </a:rPr>
              <a:t>读取队首元素的值，队首不变</a:t>
            </a:r>
            <a:endParaRPr lang="zh-CN" altLang="zh-CN" sz="3100" b="0" dirty="0">
              <a:ea typeface="华文楷体" pitchFamily="2" charset="-122"/>
              <a:cs typeface="Times New Roman" pitchFamily="18" charset="0"/>
            </a:endParaRPr>
          </a:p>
          <a:p>
            <a:pPr marL="0" indent="0">
              <a:buNone/>
            </a:pPr>
            <a:r>
              <a:rPr lang="en-US" altLang="zh-CN" sz="3100" b="0" dirty="0">
                <a:ea typeface="华文楷体" pitchFamily="2" charset="-122"/>
                <a:cs typeface="Times New Roman" pitchFamily="18" charset="0"/>
              </a:rPr>
              <a:t>{    if (</a:t>
            </a:r>
            <a:r>
              <a:rPr lang="en-US" altLang="zh-CN" sz="3100" b="0" dirty="0" err="1">
                <a:ea typeface="华文楷体" pitchFamily="2" charset="-122"/>
                <a:cs typeface="Times New Roman" pitchFamily="18" charset="0"/>
              </a:rPr>
              <a:t>isEmpty</a:t>
            </a:r>
            <a:r>
              <a:rPr lang="en-US" altLang="zh-CN" sz="3100" b="0" dirty="0">
                <a:ea typeface="华文楷体" pitchFamily="2" charset="-122"/>
                <a:cs typeface="Times New Roman" pitchFamily="18" charset="0"/>
              </a:rPr>
              <a:t>()) throw </a:t>
            </a:r>
            <a:r>
              <a:rPr lang="en-US" altLang="zh-CN" sz="3100" b="0" dirty="0" err="1">
                <a:ea typeface="华文楷体" pitchFamily="2" charset="-122"/>
                <a:cs typeface="Times New Roman" pitchFamily="18" charset="0"/>
              </a:rPr>
              <a:t>outOfBound</a:t>
            </a:r>
            <a:r>
              <a:rPr lang="en-US" altLang="zh-CN" sz="3100" b="0" dirty="0">
                <a:ea typeface="华文楷体" pitchFamily="2" charset="-122"/>
                <a:cs typeface="Times New Roman" pitchFamily="18" charset="0"/>
              </a:rPr>
              <a:t>();    return array[Front];  }</a:t>
            </a:r>
            <a:endParaRPr lang="zh-CN" altLang="zh-CN" sz="3100" b="0" dirty="0">
              <a:ea typeface="华文楷体" pitchFamily="2" charset="-122"/>
              <a:cs typeface="Times New Roman" pitchFamily="18" charset="0"/>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20772" y="811495"/>
            <a:ext cx="11162883" cy="5807966"/>
          </a:xfrm>
        </p:spPr>
        <p:txBody>
          <a:bodyPr>
            <a:normAutofit lnSpcReduction="10000"/>
          </a:bodyPr>
          <a:lstStyle/>
          <a:p>
            <a:pPr marL="0" indent="0">
              <a:buNone/>
            </a:pPr>
            <a:r>
              <a:rPr lang="en-US" altLang="zh-CN" b="0" dirty="0">
                <a:ea typeface="华文楷体" pitchFamily="2" charset="-122"/>
                <a:cs typeface="Times New Roman" pitchFamily="18" charset="0"/>
              </a:rPr>
              <a:t>template &lt;class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void </a:t>
            </a:r>
            <a:r>
              <a:rPr lang="en-US" altLang="zh-CN" b="0" dirty="0" err="1">
                <a:ea typeface="华文楷体" pitchFamily="2" charset="-122"/>
                <a:cs typeface="Times New Roman" pitchFamily="18" charset="0"/>
              </a:rPr>
              <a:t>seqQueue</a:t>
            </a:r>
            <a:r>
              <a:rPr lang="en-US" altLang="zh-CN" b="0" dirty="0">
                <a:ea typeface="华文楷体" pitchFamily="2" charset="-122"/>
                <a:cs typeface="Times New Roman" pitchFamily="18" charset="0"/>
              </a:rPr>
              <a:t>&lt;</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r>
              <a:rPr lang="en-US" altLang="zh-CN" b="0" dirty="0" err="1">
                <a:ea typeface="华文楷体" pitchFamily="2" charset="-122"/>
                <a:cs typeface="Times New Roman" pitchFamily="18" charset="0"/>
              </a:rPr>
              <a:t>enQueue</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const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&amp;x)  //</a:t>
            </a:r>
            <a:r>
              <a:rPr lang="zh-CN" altLang="zh-CN" b="0" dirty="0">
                <a:ea typeface="华文楷体" pitchFamily="2" charset="-122"/>
                <a:cs typeface="Times New Roman" pitchFamily="18" charset="0"/>
              </a:rPr>
              <a:t>将</a:t>
            </a:r>
            <a:r>
              <a:rPr lang="en-US" altLang="zh-CN" b="0" dirty="0">
                <a:ea typeface="华文楷体" pitchFamily="2" charset="-122"/>
                <a:cs typeface="Times New Roman" pitchFamily="18" charset="0"/>
              </a:rPr>
              <a:t>x</a:t>
            </a:r>
            <a:r>
              <a:rPr lang="zh-CN" altLang="zh-CN" b="0" dirty="0">
                <a:ea typeface="华文楷体" pitchFamily="2" charset="-122"/>
                <a:cs typeface="Times New Roman" pitchFamily="18" charset="0"/>
              </a:rPr>
              <a:t>进队，成为新的队尾</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if (</a:t>
            </a:r>
            <a:r>
              <a:rPr lang="en-US" altLang="zh-CN" b="0" dirty="0" err="1">
                <a:ea typeface="华文楷体" pitchFamily="2" charset="-122"/>
                <a:cs typeface="Times New Roman" pitchFamily="18" charset="0"/>
              </a:rPr>
              <a:t>isFull</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doubleSpace</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array[Rear]=x;</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Rear = (Rear+1)%</a:t>
            </a:r>
            <a:r>
              <a:rPr lang="en-US" altLang="zh-CN" b="0" dirty="0" err="1">
                <a:ea typeface="华文楷体" pitchFamily="2" charset="-122"/>
                <a:cs typeface="Times New Roman" pitchFamily="18" charset="0"/>
              </a:rPr>
              <a:t>maxSize</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template &lt;class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void </a:t>
            </a:r>
            <a:r>
              <a:rPr lang="en-US" altLang="zh-CN" b="0" dirty="0" err="1">
                <a:ea typeface="华文楷体" pitchFamily="2" charset="-122"/>
                <a:cs typeface="Times New Roman" pitchFamily="18" charset="0"/>
              </a:rPr>
              <a:t>seqQueue</a:t>
            </a:r>
            <a:r>
              <a:rPr lang="en-US" altLang="zh-CN" b="0" dirty="0">
                <a:ea typeface="华文楷体" pitchFamily="2" charset="-122"/>
                <a:cs typeface="Times New Roman" pitchFamily="18" charset="0"/>
              </a:rPr>
              <a:t>&lt;</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r>
              <a:rPr lang="en-US" altLang="zh-CN" b="0" dirty="0" err="1">
                <a:ea typeface="华文楷体" pitchFamily="2" charset="-122"/>
                <a:cs typeface="Times New Roman" pitchFamily="18" charset="0"/>
              </a:rPr>
              <a:t>deQueue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将队首元素出队</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if (</a:t>
            </a:r>
            <a:r>
              <a:rPr lang="en-US" altLang="zh-CN" b="0" dirty="0" err="1">
                <a:ea typeface="华文楷体" pitchFamily="2" charset="-122"/>
                <a:cs typeface="Times New Roman" pitchFamily="18" charset="0"/>
              </a:rPr>
              <a:t>isEmpty</a:t>
            </a:r>
            <a:r>
              <a:rPr lang="en-US" altLang="zh-CN" b="0" dirty="0">
                <a:ea typeface="华文楷体" pitchFamily="2" charset="-122"/>
                <a:cs typeface="Times New Roman" pitchFamily="18" charset="0"/>
              </a:rPr>
              <a:t>()) throw </a:t>
            </a:r>
            <a:r>
              <a:rPr lang="en-US" altLang="zh-CN" b="0" dirty="0" err="1">
                <a:ea typeface="华文楷体" pitchFamily="2" charset="-122"/>
                <a:cs typeface="Times New Roman" pitchFamily="18" charset="0"/>
              </a:rPr>
              <a:t>outOfBound</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Front = (Front+1)%</a:t>
            </a:r>
            <a:r>
              <a:rPr lang="en-US" altLang="zh-CN" b="0" dirty="0" err="1">
                <a:ea typeface="华文楷体" pitchFamily="2" charset="-122"/>
                <a:cs typeface="Times New Roman" pitchFamily="18" charset="0"/>
              </a:rPr>
              <a:t>maxSize</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p:txBody>
      </p:sp>
      <p:sp>
        <p:nvSpPr>
          <p:cNvPr id="2" name="文本框 1"/>
          <p:cNvSpPr txBox="1"/>
          <p:nvPr/>
        </p:nvSpPr>
        <p:spPr>
          <a:xfrm>
            <a:off x="7669098" y="5584840"/>
            <a:ext cx="4202130" cy="461665"/>
          </a:xfrm>
          <a:prstGeom prst="rect">
            <a:avLst/>
          </a:prstGeom>
          <a:noFill/>
        </p:spPr>
        <p:txBody>
          <a:bodyPr wrap="square" rtlCol="0">
            <a:spAutoFit/>
          </a:bodyPr>
          <a:lstStyle/>
          <a:p>
            <a:r>
              <a:rPr lang="zh-CN" altLang="en-US" sz="2400" dirty="0">
                <a:solidFill>
                  <a:schemeClr val="accent2"/>
                </a:solidFill>
              </a:rPr>
              <a:t>每种操作的时间复杂度分析</a:t>
            </a:r>
            <a:endParaRPr lang="zh-CN" altLang="en-US" sz="2400" dirty="0">
              <a:solidFill>
                <a:schemeClr val="accent2"/>
              </a:solidFill>
            </a:endParaRPr>
          </a:p>
        </p:txBody>
      </p:sp>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solidFill>
                  <a:srgbClr val="FF0000"/>
                </a:solidFill>
                <a:latin typeface="华文楷体" pitchFamily="2" charset="-122"/>
                <a:ea typeface="华文楷体" pitchFamily="2" charset="-122"/>
              </a:rPr>
              <a:t>链式队列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700" y="1578741"/>
            <a:ext cx="11162883" cy="4205833"/>
          </a:xfrm>
        </p:spPr>
        <p:txBody>
          <a:bodyPr>
            <a:normAutofit/>
          </a:bodyPr>
          <a:lstStyle/>
          <a:p>
            <a:pPr>
              <a:buFont typeface="Wingdings" charset="2"/>
              <a:buChar char="Ø"/>
            </a:pPr>
            <a:r>
              <a:rPr lang="zh-CN" altLang="zh-CN" sz="2800" b="0" dirty="0">
                <a:ea typeface="华文楷体" pitchFamily="2" charset="-122"/>
                <a:cs typeface="Times New Roman" pitchFamily="18" charset="0"/>
              </a:rPr>
              <a:t>用单链表存储队列中的元素及元素关系。</a:t>
            </a:r>
            <a:endParaRPr lang="en-US"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其中队首指针 </a:t>
            </a:r>
            <a:r>
              <a:rPr lang="en-US" altLang="zh-CN" sz="2800" b="0" dirty="0">
                <a:ea typeface="华文楷体" pitchFamily="2" charset="-122"/>
                <a:cs typeface="Times New Roman" pitchFamily="18" charset="0"/>
              </a:rPr>
              <a:t>Front</a:t>
            </a:r>
            <a:r>
              <a:rPr lang="zh-CN" altLang="zh-CN" sz="2800" b="0" dirty="0">
                <a:ea typeface="华文楷体" pitchFamily="2" charset="-122"/>
                <a:cs typeface="Times New Roman" pitchFamily="18" charset="0"/>
              </a:rPr>
              <a:t>指向队首结点、队尾指针</a:t>
            </a:r>
            <a:r>
              <a:rPr lang="en-US" altLang="zh-CN" sz="2800" b="0" dirty="0">
                <a:ea typeface="华文楷体" pitchFamily="2" charset="-122"/>
                <a:cs typeface="Times New Roman" pitchFamily="18" charset="0"/>
              </a:rPr>
              <a:t>Rear</a:t>
            </a:r>
            <a:r>
              <a:rPr lang="zh-CN" altLang="zh-CN" sz="2800" b="0" dirty="0">
                <a:ea typeface="华文楷体" pitchFamily="2" charset="-122"/>
                <a:cs typeface="Times New Roman" pitchFamily="18" charset="0"/>
              </a:rPr>
              <a:t>指向队尾结点。</a:t>
            </a:r>
            <a:endParaRPr lang="en-US"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队空的条件为</a:t>
            </a:r>
            <a:r>
              <a:rPr lang="en-US" altLang="zh-CN" sz="2800" b="0" dirty="0">
                <a:ea typeface="华文楷体" pitchFamily="2" charset="-122"/>
                <a:cs typeface="Times New Roman" pitchFamily="18" charset="0"/>
              </a:rPr>
              <a:t>Front=Rear=NULL</a:t>
            </a:r>
            <a:r>
              <a:rPr lang="zh-CN" altLang="en-US" sz="2800" b="0" dirty="0">
                <a:ea typeface="华文楷体" pitchFamily="2" charset="-122"/>
                <a:cs typeface="Times New Roman" pitchFamily="18" charset="0"/>
              </a:rPr>
              <a:t>，队满为假。</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链式队列：</a:t>
            </a:r>
            <a:endParaRPr lang="zh-CN" altLang="en-US" dirty="0">
              <a:latin typeface="华文楷体" pitchFamily="2" charset="-122"/>
              <a:ea typeface="华文楷体"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237959" y="3924093"/>
            <a:ext cx="6548231" cy="1423160"/>
          </a:xfrm>
          <a:prstGeom prst="rect">
            <a:avLst/>
          </a:prstGeom>
          <a:noFill/>
          <a:ln>
            <a:noFill/>
          </a:ln>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2974622" y="2537911"/>
              <a:ext cx="699911" cy="33839"/>
            </p14:xfrm>
          </p:contentPart>
        </mc:Choice>
        <mc:Fallback xmlns="">
          <p:pic>
            <p:nvPicPr>
              <p:cNvPr id="2" name="墨迹 1"/>
            </p:nvPicPr>
            <p:blipFill>
              <a:blip/>
            </p:blipFill>
            <p:spPr>
              <a:xfrm>
                <a:off x="2974622" y="2537911"/>
                <a:ext cx="699911" cy="33839"/>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639733" y="2487152"/>
              <a:ext cx="417689" cy="22560"/>
            </p14:xfrm>
          </p:contentPart>
        </mc:Choice>
        <mc:Fallback xmlns="">
          <p:pic>
            <p:nvPicPr>
              <p:cNvPr id="3" name="墨迹 2"/>
            </p:nvPicPr>
            <p:blipFill>
              <a:blip/>
            </p:blipFill>
            <p:spPr>
              <a:xfrm>
                <a:off x="4639733" y="2487152"/>
                <a:ext cx="417689" cy="225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7670800" y="2526631"/>
              <a:ext cx="612422" cy="22559"/>
            </p14:xfrm>
          </p:contentPart>
        </mc:Choice>
        <mc:Fallback xmlns="">
          <p:pic>
            <p:nvPicPr>
              <p:cNvPr id="5" name="墨迹 4"/>
            </p:nvPicPr>
            <p:blipFill>
              <a:blip/>
            </p:blipFill>
            <p:spPr>
              <a:xfrm>
                <a:off x="7670800" y="2526631"/>
                <a:ext cx="612422" cy="22559"/>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9149644" y="2532271"/>
              <a:ext cx="728133" cy="42298"/>
            </p14:xfrm>
          </p:contentPart>
        </mc:Choice>
        <mc:Fallback xmlns="">
          <p:pic>
            <p:nvPicPr>
              <p:cNvPr id="6" name="墨迹 5"/>
            </p:nvPicPr>
            <p:blipFill>
              <a:blip/>
            </p:blipFill>
            <p:spPr>
              <a:xfrm>
                <a:off x="9149644" y="2532271"/>
                <a:ext cx="728133" cy="42298"/>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750711" y="3192128"/>
              <a:ext cx="550333" cy="11279"/>
            </p14:xfrm>
          </p:contentPart>
        </mc:Choice>
        <mc:Fallback xmlns="">
          <p:pic>
            <p:nvPicPr>
              <p:cNvPr id="7" name="墨迹 6"/>
            </p:nvPicPr>
            <p:blipFill>
              <a:blip/>
            </p:blipFill>
            <p:spPr>
              <a:xfrm>
                <a:off x="750711" y="3192128"/>
                <a:ext cx="550333" cy="11279"/>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2923822" y="3169569"/>
              <a:ext cx="2627489" cy="22559"/>
            </p14:xfrm>
          </p:contentPart>
        </mc:Choice>
        <mc:Fallback xmlns="">
          <p:pic>
            <p:nvPicPr>
              <p:cNvPr id="8" name="墨迹 7"/>
            </p:nvPicPr>
            <p:blipFill>
              <a:blip/>
            </p:blipFill>
            <p:spPr>
              <a:xfrm>
                <a:off x="2923822" y="3169569"/>
                <a:ext cx="2627489" cy="22559"/>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6050844" y="3101891"/>
              <a:ext cx="1450622" cy="39479"/>
            </p14:xfrm>
          </p:contentPart>
        </mc:Choice>
        <mc:Fallback xmlns="">
          <p:pic>
            <p:nvPicPr>
              <p:cNvPr id="9" name="墨迹 8"/>
            </p:nvPicPr>
            <p:blipFill>
              <a:blip/>
            </p:blipFill>
            <p:spPr>
              <a:xfrm>
                <a:off x="6050844" y="3101891"/>
                <a:ext cx="1450622" cy="39479"/>
              </a:xfrm>
              <a:prstGeom prst="rect"/>
            </p:spPr>
          </p:pic>
        </mc:Fallback>
      </mc:AlternateContent>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135775" y="1050032"/>
            <a:ext cx="9041893" cy="5390523"/>
          </a:xfrm>
          <a:prstGeom prst="rect">
            <a:avLst/>
          </a:prstGeom>
          <a:noFill/>
          <a:ln>
            <a:noFill/>
          </a:ln>
        </p:spPr>
      </p:pic>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59918" y="1368085"/>
            <a:ext cx="11162883" cy="5251376"/>
          </a:xfrm>
        </p:spPr>
        <p:txBody>
          <a:bodyPr>
            <a:normAutofit/>
          </a:bodyPr>
          <a:lstStyle/>
          <a:p>
            <a:pPr marL="0" indent="0">
              <a:buNone/>
            </a:pPr>
            <a:r>
              <a:rPr lang="en-US" altLang="zh-CN" b="0" dirty="0">
                <a:cs typeface="Times New Roman" pitchFamily="18" charset="0"/>
              </a:rPr>
              <a:t>#</a:t>
            </a:r>
            <a:r>
              <a:rPr lang="en-US" altLang="zh-CN" b="0" dirty="0" err="1">
                <a:cs typeface="Times New Roman" pitchFamily="18" charset="0"/>
              </a:rPr>
              <a:t>ifndef</a:t>
            </a:r>
            <a:r>
              <a:rPr lang="en-US" altLang="zh-CN" b="0" dirty="0">
                <a:cs typeface="Times New Roman" pitchFamily="18" charset="0"/>
              </a:rPr>
              <a:t> LINKQUEUE_H_INCLUDED</a:t>
            </a:r>
            <a:endParaRPr lang="zh-CN" altLang="zh-CN" b="0" dirty="0">
              <a:cs typeface="Times New Roman" pitchFamily="18" charset="0"/>
            </a:endParaRPr>
          </a:p>
          <a:p>
            <a:pPr marL="0" indent="0">
              <a:buNone/>
            </a:pPr>
            <a:r>
              <a:rPr lang="en-US" altLang="zh-CN" b="0" dirty="0">
                <a:cs typeface="Times New Roman" pitchFamily="18" charset="0"/>
              </a:rPr>
              <a:t>#define LINKQUEUE_H_INCLUDED</a:t>
            </a:r>
            <a:endParaRPr lang="zh-CN" altLang="zh-CN" b="0" dirty="0">
              <a:cs typeface="Times New Roman" pitchFamily="18" charset="0"/>
            </a:endParaRPr>
          </a:p>
          <a:p>
            <a:pPr marL="0" indent="0">
              <a:buNone/>
            </a:pPr>
            <a:endParaRPr lang="en-US" altLang="zh-CN" b="0" dirty="0">
              <a:cs typeface="Times New Roman" pitchFamily="18" charset="0"/>
            </a:endParaRPr>
          </a:p>
          <a:p>
            <a:pPr marL="0" indent="0">
              <a:buNone/>
            </a:pPr>
            <a:r>
              <a:rPr lang="en-US" altLang="zh-CN" b="0" dirty="0">
                <a:cs typeface="Times New Roman" pitchFamily="18" charset="0"/>
              </a:rPr>
              <a:t>class </a:t>
            </a:r>
            <a:r>
              <a:rPr lang="en-US" altLang="zh-CN" b="0" dirty="0" err="1">
                <a:cs typeface="Times New Roman" pitchFamily="18" charset="0"/>
              </a:rPr>
              <a:t>illegalSize</a:t>
            </a:r>
            <a:r>
              <a:rPr lang="en-US" altLang="zh-CN" b="0" dirty="0">
                <a:cs typeface="Times New Roman" pitchFamily="18" charset="0"/>
              </a:rPr>
              <a:t>{};</a:t>
            </a:r>
            <a:endParaRPr lang="zh-CN" altLang="zh-CN" b="0" dirty="0">
              <a:cs typeface="Times New Roman" pitchFamily="18" charset="0"/>
            </a:endParaRPr>
          </a:p>
          <a:p>
            <a:pPr marL="0" indent="0">
              <a:buNone/>
            </a:pPr>
            <a:r>
              <a:rPr lang="en-US" altLang="zh-CN" b="0" dirty="0">
                <a:cs typeface="Times New Roman" pitchFamily="18" charset="0"/>
              </a:rPr>
              <a:t>class </a:t>
            </a:r>
            <a:r>
              <a:rPr lang="en-US" altLang="zh-CN" b="0" dirty="0" err="1">
                <a:cs typeface="Times New Roman" pitchFamily="18" charset="0"/>
              </a:rPr>
              <a:t>outOfBound</a:t>
            </a: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b="0" dirty="0">
              <a:cs typeface="Times New Roman" pitchFamily="18" charset="0"/>
            </a:endParaRPr>
          </a:p>
          <a:p>
            <a:pPr marL="0" indent="0">
              <a:buNone/>
            </a:pPr>
            <a:r>
              <a:rPr lang="en-US" altLang="zh-CN" b="0" dirty="0">
                <a:cs typeface="Times New Roman" pitchFamily="18" charset="0"/>
              </a:rPr>
              <a:t>template &lt;class </a:t>
            </a:r>
            <a:r>
              <a:rPr lang="en-US" altLang="zh-CN" b="0" dirty="0" err="1">
                <a:cs typeface="Times New Roman" pitchFamily="18" charset="0"/>
              </a:rPr>
              <a:t>elemType</a:t>
            </a:r>
            <a:r>
              <a:rPr lang="en-US" altLang="zh-CN" b="0" dirty="0">
                <a:cs typeface="Times New Roman" pitchFamily="18" charset="0"/>
              </a:rPr>
              <a:t>&gt;</a:t>
            </a:r>
            <a:endParaRPr lang="en-US" altLang="zh-CN" b="0" dirty="0">
              <a:cs typeface="Times New Roman" pitchFamily="18" charset="0"/>
            </a:endParaRPr>
          </a:p>
          <a:p>
            <a:pPr marL="0" indent="0">
              <a:buNone/>
            </a:pPr>
            <a:r>
              <a:rPr lang="en-US" altLang="zh-CN" b="0" dirty="0">
                <a:cs typeface="Times New Roman" pitchFamily="18" charset="0"/>
              </a:rPr>
              <a:t>class </a:t>
            </a:r>
            <a:r>
              <a:rPr lang="en-US" altLang="zh-CN" b="0" dirty="0" err="1">
                <a:cs typeface="Times New Roman" pitchFamily="18" charset="0"/>
              </a:rPr>
              <a:t>linkQueue</a:t>
            </a: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sz="2800" b="0" dirty="0">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59918" y="1368085"/>
            <a:ext cx="11162883" cy="5251376"/>
          </a:xfrm>
        </p:spPr>
        <p:txBody>
          <a:bodyPr>
            <a:normAutofit fontScale="92500" lnSpcReduction="20000"/>
          </a:bodyPr>
          <a:lstStyle/>
          <a:p>
            <a:pPr marL="0" indent="0">
              <a:buNone/>
            </a:pPr>
            <a:r>
              <a:rPr lang="en-US" altLang="zh-CN" b="0" dirty="0">
                <a:cs typeface="Times New Roman" pitchFamily="18" charset="0"/>
              </a:rPr>
              <a:t>template &lt;class </a:t>
            </a:r>
            <a:r>
              <a:rPr lang="en-US" altLang="zh-CN" b="0" dirty="0" err="1">
                <a:cs typeface="Times New Roman" pitchFamily="18" charset="0"/>
              </a:rPr>
              <a:t>elemType</a:t>
            </a:r>
            <a:r>
              <a:rPr lang="en-US" altLang="zh-CN" b="0" dirty="0">
                <a:cs typeface="Times New Roman" pitchFamily="18" charset="0"/>
              </a:rPr>
              <a:t>&gt;</a:t>
            </a:r>
            <a:endParaRPr lang="zh-CN" altLang="zh-CN" b="0" dirty="0">
              <a:cs typeface="Times New Roman" pitchFamily="18" charset="0"/>
            </a:endParaRPr>
          </a:p>
          <a:p>
            <a:pPr marL="0" indent="0">
              <a:buNone/>
            </a:pPr>
            <a:r>
              <a:rPr lang="en-US" altLang="zh-CN" b="0" dirty="0">
                <a:cs typeface="Times New Roman" pitchFamily="18" charset="0"/>
              </a:rPr>
              <a:t>class Node</a:t>
            </a:r>
            <a:endParaRPr lang="zh-CN" altLang="zh-CN" b="0" dirty="0">
              <a:cs typeface="Times New Roman" pitchFamily="18" charset="0"/>
            </a:endParaRPr>
          </a:p>
          <a:p>
            <a:pPr marL="0" indent="0">
              <a:buNone/>
            </a:pPr>
            <a:r>
              <a:rPr lang="en-US" altLang="zh-CN" b="0" dirty="0">
                <a:cs typeface="Times New Roman" pitchFamily="18" charset="0"/>
              </a:rPr>
              <a:t>{  friend class </a:t>
            </a:r>
            <a:r>
              <a:rPr lang="en-US" altLang="zh-CN" b="0" dirty="0" err="1">
                <a:cs typeface="Times New Roman" pitchFamily="18" charset="0"/>
              </a:rPr>
              <a:t>linkQueue</a:t>
            </a:r>
            <a:r>
              <a:rPr lang="en-US" altLang="zh-CN" b="0" dirty="0">
                <a:cs typeface="Times New Roman" pitchFamily="18" charset="0"/>
              </a:rPr>
              <a:t>&lt;</a:t>
            </a:r>
            <a:r>
              <a:rPr lang="en-US" altLang="zh-CN" b="0" dirty="0" err="1">
                <a:cs typeface="Times New Roman" pitchFamily="18" charset="0"/>
              </a:rPr>
              <a:t>elemType</a:t>
            </a:r>
            <a:r>
              <a:rPr lang="en-US" altLang="zh-CN" b="0" dirty="0">
                <a:cs typeface="Times New Roman" pitchFamily="18" charset="0"/>
              </a:rPr>
              <a:t>&gt;;</a:t>
            </a:r>
            <a:endParaRPr lang="zh-CN" altLang="zh-CN" b="0" dirty="0">
              <a:cs typeface="Times New Roman" pitchFamily="18" charset="0"/>
            </a:endParaRPr>
          </a:p>
          <a:p>
            <a:pPr marL="0" indent="0">
              <a:buNone/>
            </a:pPr>
            <a:r>
              <a:rPr lang="en-US" altLang="zh-CN" b="0" dirty="0">
                <a:cs typeface="Times New Roman" pitchFamily="18" charset="0"/>
              </a:rPr>
              <a:t>    private:</a:t>
            </a:r>
            <a:endParaRPr lang="zh-CN" altLang="zh-CN" b="0" dirty="0">
              <a:cs typeface="Times New Roman" pitchFamily="18" charset="0"/>
            </a:endParaRPr>
          </a:p>
          <a:p>
            <a:pPr marL="0" indent="0">
              <a:buNone/>
            </a:pPr>
            <a:r>
              <a:rPr lang="en-US" altLang="zh-CN" b="0" dirty="0">
                <a:cs typeface="Times New Roman" pitchFamily="18" charset="0"/>
              </a:rPr>
              <a:t>        </a:t>
            </a:r>
            <a:r>
              <a:rPr lang="en-US" altLang="zh-CN" b="0" dirty="0" err="1">
                <a:cs typeface="Times New Roman" pitchFamily="18" charset="0"/>
              </a:rPr>
              <a:t>elemType</a:t>
            </a:r>
            <a:r>
              <a:rPr lang="en-US" altLang="zh-CN" b="0" dirty="0">
                <a:cs typeface="Times New Roman" pitchFamily="18" charset="0"/>
              </a:rPr>
              <a:t> data;</a:t>
            </a:r>
            <a:endParaRPr lang="zh-CN" altLang="zh-CN" b="0" dirty="0">
              <a:cs typeface="Times New Roman" pitchFamily="18" charset="0"/>
            </a:endParaRPr>
          </a:p>
          <a:p>
            <a:pPr marL="0" indent="0">
              <a:buNone/>
            </a:pPr>
            <a:r>
              <a:rPr lang="en-US" altLang="zh-CN" b="0" dirty="0">
                <a:cs typeface="Times New Roman" pitchFamily="18" charset="0"/>
              </a:rPr>
              <a:t>        Node *next;</a:t>
            </a:r>
            <a:endParaRPr lang="zh-CN" altLang="zh-CN" b="0" dirty="0">
              <a:cs typeface="Times New Roman" pitchFamily="18" charset="0"/>
            </a:endParaRPr>
          </a:p>
          <a:p>
            <a:pPr marL="0" indent="0">
              <a:buNone/>
            </a:pPr>
            <a:r>
              <a:rPr lang="en-US" altLang="zh-CN" b="0" dirty="0">
                <a:cs typeface="Times New Roman" pitchFamily="18" charset="0"/>
              </a:rPr>
              <a:t>    public:</a:t>
            </a:r>
            <a:endParaRPr lang="zh-CN" altLang="zh-CN" b="0" dirty="0">
              <a:cs typeface="Times New Roman" pitchFamily="18" charset="0"/>
            </a:endParaRPr>
          </a:p>
          <a:p>
            <a:pPr marL="0" indent="0">
              <a:buNone/>
            </a:pPr>
            <a:r>
              <a:rPr lang="en-US" altLang="zh-CN" b="0" dirty="0">
                <a:cs typeface="Times New Roman" pitchFamily="18" charset="0"/>
              </a:rPr>
              <a:t>        Node(){next = NULL; }</a:t>
            </a:r>
            <a:endParaRPr lang="zh-CN" altLang="zh-CN" b="0" dirty="0">
              <a:cs typeface="Times New Roman" pitchFamily="18" charset="0"/>
            </a:endParaRPr>
          </a:p>
          <a:p>
            <a:pPr marL="0" indent="0">
              <a:buNone/>
            </a:pPr>
            <a:r>
              <a:rPr lang="en-US" altLang="zh-CN" b="0" dirty="0">
                <a:cs typeface="Times New Roman" pitchFamily="18" charset="0"/>
              </a:rPr>
              <a:t>        Node(</a:t>
            </a:r>
            <a:r>
              <a:rPr lang="en-US" altLang="zh-CN" b="0" dirty="0" err="1">
                <a:cs typeface="Times New Roman" pitchFamily="18" charset="0"/>
              </a:rPr>
              <a:t>const</a:t>
            </a:r>
            <a:r>
              <a:rPr lang="en-US" altLang="zh-CN" b="0" dirty="0">
                <a:cs typeface="Times New Roman" pitchFamily="18" charset="0"/>
              </a:rPr>
              <a:t> </a:t>
            </a:r>
            <a:r>
              <a:rPr lang="en-US" altLang="zh-CN" b="0" dirty="0" err="1">
                <a:cs typeface="Times New Roman" pitchFamily="18" charset="0"/>
              </a:rPr>
              <a:t>elemType</a:t>
            </a:r>
            <a:r>
              <a:rPr lang="en-US" altLang="zh-CN" b="0" dirty="0">
                <a:cs typeface="Times New Roman" pitchFamily="18" charset="0"/>
              </a:rPr>
              <a:t> &amp;x, Node *p = NULL)</a:t>
            </a:r>
            <a:endParaRPr lang="zh-CN" altLang="zh-CN" b="0" dirty="0">
              <a:cs typeface="Times New Roman" pitchFamily="18" charset="0"/>
            </a:endParaRPr>
          </a:p>
          <a:p>
            <a:pPr marL="0" indent="0">
              <a:buNone/>
            </a:pPr>
            <a:r>
              <a:rPr lang="en-US" altLang="zh-CN" b="0" dirty="0">
                <a:cs typeface="Times New Roman" pitchFamily="18" charset="0"/>
              </a:rPr>
              <a:t>        { data = x; next = p;}</a:t>
            </a:r>
            <a:endParaRPr lang="zh-CN" altLang="zh-CN" b="0" dirty="0">
              <a:cs typeface="Times New Roman" pitchFamily="18" charset="0"/>
            </a:endParaRPr>
          </a:p>
          <a:p>
            <a:pPr marL="0" indent="0">
              <a:buNone/>
            </a:pP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链式队列类的定义：</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00892" y="930762"/>
            <a:ext cx="11162883" cy="5629063"/>
          </a:xfrm>
        </p:spPr>
        <p:txBody>
          <a:bodyPr>
            <a:normAutofit fontScale="85000" lnSpcReduction="20000"/>
          </a:bodyPr>
          <a:lstStyle/>
          <a:p>
            <a:pPr marL="0" indent="0">
              <a:buNone/>
            </a:pPr>
            <a:r>
              <a:rPr lang="en-US" altLang="zh-CN" b="0" dirty="0">
                <a:ea typeface="华文楷体" pitchFamily="2" charset="-122"/>
                <a:cs typeface="Times New Roman" pitchFamily="18" charset="0"/>
              </a:rPr>
              <a:t>template &lt;class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class </a:t>
            </a:r>
            <a:r>
              <a:rPr lang="en-US" altLang="zh-CN" b="0" dirty="0" err="1">
                <a:ea typeface="华文楷体" pitchFamily="2" charset="-122"/>
                <a:cs typeface="Times New Roman" pitchFamily="18" charset="0"/>
              </a:rPr>
              <a:t>linkQueue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private: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Node&lt;</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 *Front, *Rear;</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public:</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linkQueue</a:t>
            </a:r>
            <a:r>
              <a:rPr lang="en-US" altLang="zh-CN" b="0" dirty="0">
                <a:ea typeface="华文楷体" pitchFamily="2" charset="-122"/>
                <a:cs typeface="Times New Roman" pitchFamily="18" charset="0"/>
              </a:rPr>
              <a:t>(){Front = Rear = NULL; }; //</a:t>
            </a:r>
            <a:r>
              <a:rPr lang="zh-CN" altLang="zh-CN" b="0" dirty="0">
                <a:ea typeface="华文楷体" pitchFamily="2" charset="-122"/>
                <a:cs typeface="Times New Roman" pitchFamily="18" charset="0"/>
              </a:rPr>
              <a:t>初始化链式队列，使得其为空队</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bool </a:t>
            </a:r>
            <a:r>
              <a:rPr lang="en-US" altLang="zh-CN" b="0" dirty="0" err="1">
                <a:ea typeface="华文楷体" pitchFamily="2" charset="-122"/>
                <a:cs typeface="Times New Roman" pitchFamily="18" charset="0"/>
              </a:rPr>
              <a:t>isEmpty</a:t>
            </a:r>
            <a:r>
              <a:rPr lang="en-US" altLang="zh-CN" b="0" dirty="0">
                <a:ea typeface="华文楷体" pitchFamily="2" charset="-122"/>
                <a:cs typeface="Times New Roman" pitchFamily="18" charset="0"/>
              </a:rPr>
              <a:t>() {return !Front; }; //</a:t>
            </a:r>
            <a:r>
              <a:rPr lang="zh-CN" altLang="zh-CN" b="0" dirty="0">
                <a:ea typeface="华文楷体" pitchFamily="2" charset="-122"/>
                <a:cs typeface="Times New Roman" pitchFamily="18" charset="0"/>
              </a:rPr>
              <a:t>判断队空否，空返回</a:t>
            </a:r>
            <a:r>
              <a:rPr lang="en-US" altLang="zh-CN" b="0" dirty="0">
                <a:ea typeface="华文楷体" pitchFamily="2" charset="-122"/>
                <a:cs typeface="Times New Roman" pitchFamily="18" charset="0"/>
              </a:rPr>
              <a:t>true</a:t>
            </a:r>
            <a:r>
              <a:rPr lang="zh-CN" altLang="zh-CN" b="0" dirty="0">
                <a:ea typeface="华文楷体" pitchFamily="2" charset="-122"/>
                <a:cs typeface="Times New Roman" pitchFamily="18" charset="0"/>
              </a:rPr>
              <a:t>，否则为</a:t>
            </a:r>
            <a:r>
              <a:rPr lang="en-US" altLang="zh-CN" b="0" dirty="0">
                <a:ea typeface="华文楷体" pitchFamily="2" charset="-122"/>
                <a:cs typeface="Times New Roman" pitchFamily="18" charset="0"/>
              </a:rPr>
              <a:t>false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bool </a:t>
            </a:r>
            <a:r>
              <a:rPr lang="en-US" altLang="zh-CN" b="0" dirty="0" err="1">
                <a:ea typeface="华文楷体" pitchFamily="2" charset="-122"/>
                <a:cs typeface="Times New Roman" pitchFamily="18" charset="0"/>
              </a:rPr>
              <a:t>isFull</a:t>
            </a:r>
            <a:r>
              <a:rPr lang="en-US" altLang="zh-CN" b="0" dirty="0">
                <a:ea typeface="华文楷体" pitchFamily="2" charset="-122"/>
                <a:cs typeface="Times New Roman" pitchFamily="18" charset="0"/>
              </a:rPr>
              <a:t>(){return false; };  //</a:t>
            </a:r>
            <a:r>
              <a:rPr lang="zh-CN" altLang="zh-CN" b="0" dirty="0">
                <a:ea typeface="华文楷体" pitchFamily="2" charset="-122"/>
                <a:cs typeface="Times New Roman" pitchFamily="18" charset="0"/>
              </a:rPr>
              <a:t>判断队满否，满返回</a:t>
            </a:r>
            <a:r>
              <a:rPr lang="en-US" altLang="zh-CN" b="0" dirty="0">
                <a:ea typeface="华文楷体" pitchFamily="2" charset="-122"/>
                <a:cs typeface="Times New Roman" pitchFamily="18" charset="0"/>
              </a:rPr>
              <a:t>true</a:t>
            </a:r>
            <a:r>
              <a:rPr lang="zh-CN" altLang="zh-CN" b="0" dirty="0">
                <a:ea typeface="华文楷体" pitchFamily="2" charset="-122"/>
                <a:cs typeface="Times New Roman" pitchFamily="18" charset="0"/>
              </a:rPr>
              <a:t>，否则为</a:t>
            </a:r>
            <a:r>
              <a:rPr lang="en-US" altLang="zh-CN" b="0" dirty="0">
                <a:ea typeface="华文楷体" pitchFamily="2" charset="-122"/>
                <a:cs typeface="Times New Roman" pitchFamily="18" charset="0"/>
              </a:rPr>
              <a:t>false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front(); //</a:t>
            </a:r>
            <a:r>
              <a:rPr lang="zh-CN" altLang="zh-CN" b="0" dirty="0">
                <a:ea typeface="华文楷体" pitchFamily="2" charset="-122"/>
                <a:cs typeface="Times New Roman" pitchFamily="18" charset="0"/>
              </a:rPr>
              <a:t>读取队首元素的值，队首不变</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void </a:t>
            </a:r>
            <a:r>
              <a:rPr lang="en-US" altLang="zh-CN" b="0" dirty="0" err="1">
                <a:ea typeface="华文楷体" pitchFamily="2" charset="-122"/>
                <a:cs typeface="Times New Roman" pitchFamily="18" charset="0"/>
              </a:rPr>
              <a:t>enQueue</a:t>
            </a:r>
            <a:r>
              <a:rPr lang="en-US" altLang="zh-CN" b="0" dirty="0">
                <a:ea typeface="华文楷体" pitchFamily="2" charset="-122"/>
                <a:cs typeface="Times New Roman" pitchFamily="18" charset="0"/>
              </a:rPr>
              <a:t>(</a:t>
            </a:r>
            <a:r>
              <a:rPr lang="en-US" altLang="zh-CN" b="0" dirty="0" err="1">
                <a:ea typeface="华文楷体" pitchFamily="2" charset="-122"/>
                <a:cs typeface="Times New Roman" pitchFamily="18" charset="0"/>
              </a:rPr>
              <a:t>const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&amp;x); //</a:t>
            </a:r>
            <a:r>
              <a:rPr lang="zh-CN" altLang="zh-CN" b="0" dirty="0">
                <a:ea typeface="华文楷体" pitchFamily="2" charset="-122"/>
                <a:cs typeface="Times New Roman" pitchFamily="18" charset="0"/>
              </a:rPr>
              <a:t>将</a:t>
            </a:r>
            <a:r>
              <a:rPr lang="en-US" altLang="zh-CN" b="0" dirty="0">
                <a:ea typeface="华文楷体" pitchFamily="2" charset="-122"/>
                <a:cs typeface="Times New Roman" pitchFamily="18" charset="0"/>
              </a:rPr>
              <a:t>x</a:t>
            </a:r>
            <a:r>
              <a:rPr lang="zh-CN" altLang="zh-CN" b="0" dirty="0">
                <a:ea typeface="华文楷体" pitchFamily="2" charset="-122"/>
                <a:cs typeface="Times New Roman" pitchFamily="18" charset="0"/>
              </a:rPr>
              <a:t>进队，成为新的队尾</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void </a:t>
            </a:r>
            <a:r>
              <a:rPr lang="en-US" altLang="zh-CN" b="0" dirty="0" err="1">
                <a:ea typeface="华文楷体" pitchFamily="2" charset="-122"/>
                <a:cs typeface="Times New Roman" pitchFamily="18" charset="0"/>
              </a:rPr>
              <a:t>deQueue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将队首元素出队</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linkQueue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释放队列元素所占据的动态数组</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79797" y="1566868"/>
            <a:ext cx="11162883" cy="4615272"/>
          </a:xfrm>
        </p:spPr>
        <p:txBody>
          <a:bodyPr>
            <a:normAutofit/>
          </a:bodyPr>
          <a:lstStyle/>
          <a:p>
            <a:pPr marL="0" indent="0">
              <a:buNone/>
            </a:pPr>
            <a:r>
              <a:rPr lang="en-US" altLang="zh-CN" b="0" dirty="0">
                <a:ea typeface="华文楷体" pitchFamily="2" charset="-122"/>
                <a:cs typeface="Times New Roman" pitchFamily="18" charset="0"/>
              </a:rPr>
              <a:t>template &lt;class </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a:t>
            </a:r>
            <a:endParaRPr lang="zh-CN" altLang="zh-CN" b="0" dirty="0">
              <a:ea typeface="华文楷体" pitchFamily="2" charset="-122"/>
              <a:cs typeface="Times New Roman" pitchFamily="18" charset="0"/>
            </a:endParaRPr>
          </a:p>
          <a:p>
            <a:pPr marL="0" indent="0">
              <a:buNone/>
            </a:pP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linkQueue</a:t>
            </a:r>
            <a:r>
              <a:rPr lang="en-US" altLang="zh-CN" b="0" dirty="0">
                <a:ea typeface="华文楷体" pitchFamily="2" charset="-122"/>
                <a:cs typeface="Times New Roman" pitchFamily="18" charset="0"/>
              </a:rPr>
              <a:t>&lt;</a:t>
            </a:r>
            <a:r>
              <a:rPr lang="en-US" altLang="zh-CN" b="0" dirty="0" err="1">
                <a:ea typeface="华文楷体" pitchFamily="2" charset="-122"/>
                <a:cs typeface="Times New Roman" pitchFamily="18" charset="0"/>
              </a:rPr>
              <a:t>elemType</a:t>
            </a:r>
            <a:r>
              <a:rPr lang="en-US" altLang="zh-CN" b="0" dirty="0">
                <a:ea typeface="华文楷体" pitchFamily="2" charset="-122"/>
                <a:cs typeface="Times New Roman" pitchFamily="18" charset="0"/>
              </a:rPr>
              <a:t>&gt;::front() //</a:t>
            </a:r>
            <a:r>
              <a:rPr lang="zh-CN" altLang="zh-CN" b="0" dirty="0">
                <a:ea typeface="华文楷体" pitchFamily="2" charset="-122"/>
                <a:cs typeface="Times New Roman" pitchFamily="18" charset="0"/>
              </a:rPr>
              <a:t>读取队首元素的值，队首不变</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if (</a:t>
            </a:r>
            <a:r>
              <a:rPr lang="en-US" altLang="zh-CN" b="0" dirty="0" err="1">
                <a:ea typeface="华文楷体" pitchFamily="2" charset="-122"/>
                <a:cs typeface="Times New Roman" pitchFamily="18" charset="0"/>
              </a:rPr>
              <a:t>isEmpty</a:t>
            </a:r>
            <a:r>
              <a:rPr lang="en-US" altLang="zh-CN" b="0" dirty="0">
                <a:ea typeface="华文楷体" pitchFamily="2" charset="-122"/>
                <a:cs typeface="Times New Roman" pitchFamily="18" charset="0"/>
              </a:rPr>
              <a:t>()) throw </a:t>
            </a:r>
            <a:r>
              <a:rPr lang="en-US" altLang="zh-CN" b="0" dirty="0" err="1">
                <a:ea typeface="华文楷体" pitchFamily="2" charset="-122"/>
                <a:cs typeface="Times New Roman" pitchFamily="18" charset="0"/>
              </a:rPr>
              <a:t>outOfBound</a:t>
            </a: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return Front-&gt;data;</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链式队列类成员函数的实现：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79797" y="1626502"/>
            <a:ext cx="11162883" cy="4615272"/>
          </a:xfrm>
        </p:spPr>
        <p:txBody>
          <a:bodyPr>
            <a:normAutofit fontScale="92500" lnSpcReduction="10000"/>
          </a:bodyPr>
          <a:lstStyle/>
          <a:p>
            <a:pPr marL="0" indent="0">
              <a:buNone/>
            </a:pPr>
            <a:r>
              <a:rPr lang="en-US" altLang="zh-CN" b="0" dirty="0">
                <a:cs typeface="Times New Roman" pitchFamily="18" charset="0"/>
              </a:rPr>
              <a:t>template &lt;class </a:t>
            </a:r>
            <a:r>
              <a:rPr lang="en-US" altLang="zh-CN" b="0" dirty="0" err="1">
                <a:cs typeface="Times New Roman" pitchFamily="18" charset="0"/>
              </a:rPr>
              <a:t>elemType</a:t>
            </a:r>
            <a:r>
              <a:rPr lang="en-US" altLang="zh-CN" b="0" dirty="0">
                <a:cs typeface="Times New Roman" pitchFamily="18" charset="0"/>
              </a:rPr>
              <a:t>&gt;</a:t>
            </a:r>
            <a:endParaRPr lang="zh-CN" altLang="zh-CN" b="0" dirty="0">
              <a:cs typeface="Times New Roman" pitchFamily="18" charset="0"/>
            </a:endParaRPr>
          </a:p>
          <a:p>
            <a:pPr marL="0" indent="0">
              <a:buNone/>
            </a:pPr>
            <a:r>
              <a:rPr lang="en-US" altLang="zh-CN" b="0" dirty="0">
                <a:cs typeface="Times New Roman" pitchFamily="18" charset="0"/>
              </a:rPr>
              <a:t>void </a:t>
            </a:r>
            <a:r>
              <a:rPr lang="en-US" altLang="zh-CN" b="0" dirty="0" err="1">
                <a:cs typeface="Times New Roman" pitchFamily="18" charset="0"/>
              </a:rPr>
              <a:t>linkQueue</a:t>
            </a:r>
            <a:r>
              <a:rPr lang="en-US" altLang="zh-CN" b="0" dirty="0">
                <a:cs typeface="Times New Roman" pitchFamily="18" charset="0"/>
              </a:rPr>
              <a:t>&lt;</a:t>
            </a:r>
            <a:r>
              <a:rPr lang="en-US" altLang="zh-CN" b="0" dirty="0" err="1">
                <a:cs typeface="Times New Roman" pitchFamily="18" charset="0"/>
              </a:rPr>
              <a:t>elemType</a:t>
            </a:r>
            <a:r>
              <a:rPr lang="en-US" altLang="zh-CN" b="0" dirty="0">
                <a:cs typeface="Times New Roman" pitchFamily="18" charset="0"/>
              </a:rPr>
              <a:t>&gt;::</a:t>
            </a:r>
            <a:r>
              <a:rPr lang="en-US" altLang="zh-CN" b="0" dirty="0" err="1">
                <a:cs typeface="Times New Roman" pitchFamily="18" charset="0"/>
              </a:rPr>
              <a:t>enQueue</a:t>
            </a:r>
            <a:r>
              <a:rPr lang="en-US" altLang="zh-CN" b="0" dirty="0">
                <a:cs typeface="Times New Roman" pitchFamily="18" charset="0"/>
              </a:rPr>
              <a:t>(</a:t>
            </a:r>
            <a:r>
              <a:rPr lang="en-US" altLang="zh-CN" b="0" dirty="0" err="1">
                <a:cs typeface="Times New Roman" pitchFamily="18" charset="0"/>
              </a:rPr>
              <a:t>const</a:t>
            </a:r>
            <a:r>
              <a:rPr lang="en-US" altLang="zh-CN" b="0" dirty="0">
                <a:cs typeface="Times New Roman" pitchFamily="18" charset="0"/>
              </a:rPr>
              <a:t> </a:t>
            </a:r>
            <a:r>
              <a:rPr lang="en-US" altLang="zh-CN" b="0" dirty="0" err="1">
                <a:cs typeface="Times New Roman" pitchFamily="18" charset="0"/>
              </a:rPr>
              <a:t>elemType</a:t>
            </a:r>
            <a:r>
              <a:rPr lang="en-US" altLang="zh-CN" b="0" dirty="0">
                <a:cs typeface="Times New Roman" pitchFamily="18" charset="0"/>
              </a:rPr>
              <a:t> &amp;x)  //</a:t>
            </a:r>
            <a:r>
              <a:rPr lang="zh-CN" altLang="zh-CN" b="0" dirty="0">
                <a:cs typeface="Times New Roman" pitchFamily="18" charset="0"/>
              </a:rPr>
              <a:t>将</a:t>
            </a:r>
            <a:r>
              <a:rPr lang="en-US" altLang="zh-CN" b="0" dirty="0">
                <a:cs typeface="Times New Roman" pitchFamily="18" charset="0"/>
              </a:rPr>
              <a:t>x</a:t>
            </a:r>
            <a:r>
              <a:rPr lang="zh-CN" altLang="zh-CN" b="0" dirty="0">
                <a:cs typeface="Times New Roman" pitchFamily="18" charset="0"/>
              </a:rPr>
              <a:t>进队，成为新的队尾</a:t>
            </a:r>
            <a:endParaRPr lang="zh-CN" altLang="zh-CN" b="0" dirty="0">
              <a:cs typeface="Times New Roman" pitchFamily="18" charset="0"/>
            </a:endParaRPr>
          </a:p>
          <a:p>
            <a:pPr marL="0" indent="0">
              <a:buNone/>
            </a:pPr>
            <a:r>
              <a:rPr lang="en-US" altLang="zh-CN" b="0" dirty="0">
                <a:cs typeface="Times New Roman" pitchFamily="18" charset="0"/>
              </a:rPr>
              <a:t>{  if (!Rear)</a:t>
            </a:r>
            <a:endParaRPr lang="zh-CN" altLang="zh-CN" b="0" dirty="0">
              <a:cs typeface="Times New Roman" pitchFamily="18" charset="0"/>
            </a:endParaRPr>
          </a:p>
          <a:p>
            <a:pPr marL="0" indent="0">
              <a:buNone/>
            </a:pPr>
            <a:r>
              <a:rPr lang="en-US" altLang="zh-CN" b="0" dirty="0">
                <a:cs typeface="Times New Roman" pitchFamily="18" charset="0"/>
              </a:rPr>
              <a:t>        Front = Rear = new Node&lt;</a:t>
            </a:r>
            <a:r>
              <a:rPr lang="en-US" altLang="zh-CN" b="0" dirty="0" err="1">
                <a:cs typeface="Times New Roman" pitchFamily="18" charset="0"/>
              </a:rPr>
              <a:t>elemType</a:t>
            </a:r>
            <a:r>
              <a:rPr lang="en-US" altLang="zh-CN" b="0" dirty="0">
                <a:cs typeface="Times New Roman" pitchFamily="18" charset="0"/>
              </a:rPr>
              <a:t>&gt;(x);</a:t>
            </a:r>
            <a:endParaRPr lang="zh-CN" altLang="zh-CN" b="0" dirty="0">
              <a:cs typeface="Times New Roman" pitchFamily="18" charset="0"/>
            </a:endParaRPr>
          </a:p>
          <a:p>
            <a:pPr marL="0" indent="0">
              <a:buNone/>
            </a:pPr>
            <a:r>
              <a:rPr lang="en-US" altLang="zh-CN" b="0" dirty="0">
                <a:cs typeface="Times New Roman" pitchFamily="18" charset="0"/>
              </a:rPr>
              <a:t>    else</a:t>
            </a:r>
            <a:endParaRPr lang="zh-CN" altLang="zh-CN" b="0" dirty="0">
              <a:cs typeface="Times New Roman" pitchFamily="18" charset="0"/>
            </a:endParaRPr>
          </a:p>
          <a:p>
            <a:pPr marL="0" indent="0">
              <a:buNone/>
            </a:pPr>
            <a:r>
              <a:rPr lang="en-US" altLang="zh-CN" b="0" dirty="0">
                <a:cs typeface="Times New Roman" pitchFamily="18" charset="0"/>
              </a:rPr>
              <a:t>    { Rear-&gt;next = new Node&lt;</a:t>
            </a:r>
            <a:r>
              <a:rPr lang="en-US" altLang="zh-CN" b="0" dirty="0" err="1">
                <a:cs typeface="Times New Roman" pitchFamily="18" charset="0"/>
              </a:rPr>
              <a:t>elemType</a:t>
            </a:r>
            <a:r>
              <a:rPr lang="en-US" altLang="zh-CN" b="0" dirty="0">
                <a:cs typeface="Times New Roman" pitchFamily="18" charset="0"/>
              </a:rPr>
              <a:t>&gt;(x);</a:t>
            </a:r>
            <a:endParaRPr lang="zh-CN" altLang="zh-CN" b="0" dirty="0">
              <a:cs typeface="Times New Roman" pitchFamily="18" charset="0"/>
            </a:endParaRPr>
          </a:p>
          <a:p>
            <a:pPr marL="0" indent="0">
              <a:buNone/>
            </a:pPr>
            <a:r>
              <a:rPr lang="en-US" altLang="zh-CN" b="0" dirty="0">
                <a:cs typeface="Times New Roman" pitchFamily="18" charset="0"/>
              </a:rPr>
              <a:t>      Rear = Rear-&gt;next;</a:t>
            </a:r>
            <a:endParaRPr lang="zh-CN" altLang="zh-CN" b="0" dirty="0">
              <a:cs typeface="Times New Roman" pitchFamily="18" charset="0"/>
            </a:endParaRPr>
          </a:p>
          <a:p>
            <a:pPr marL="0" indent="0">
              <a:buNone/>
            </a:pPr>
            <a:r>
              <a:rPr lang="en-US" altLang="zh-CN" b="0" dirty="0">
                <a:cs typeface="Times New Roman" pitchFamily="18" charset="0"/>
              </a:rPr>
              <a:t>    }</a:t>
            </a:r>
            <a:endParaRPr lang="zh-CN" altLang="zh-CN" b="0" dirty="0">
              <a:cs typeface="Times New Roman" pitchFamily="18" charset="0"/>
            </a:endParaRPr>
          </a:p>
          <a:p>
            <a:pPr marL="0" indent="0">
              <a:buNone/>
            </a:pP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链式队列类成员函数的实现：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479797" y="1626502"/>
            <a:ext cx="11162883" cy="4615272"/>
          </a:xfrm>
        </p:spPr>
        <p:txBody>
          <a:bodyPr>
            <a:normAutofit fontScale="92500" lnSpcReduction="20000"/>
          </a:bodyPr>
          <a:lstStyle/>
          <a:p>
            <a:pPr marL="0" indent="0">
              <a:buNone/>
            </a:pPr>
            <a:r>
              <a:rPr lang="en-US" altLang="zh-CN" b="0" dirty="0">
                <a:cs typeface="Times New Roman" pitchFamily="18" charset="0"/>
              </a:rPr>
              <a:t>template &lt;class </a:t>
            </a:r>
            <a:r>
              <a:rPr lang="en-US" altLang="zh-CN" b="0" dirty="0" err="1">
                <a:cs typeface="Times New Roman" pitchFamily="18" charset="0"/>
              </a:rPr>
              <a:t>elemType</a:t>
            </a:r>
            <a:r>
              <a:rPr lang="en-US" altLang="zh-CN" b="0" dirty="0">
                <a:cs typeface="Times New Roman" pitchFamily="18" charset="0"/>
              </a:rPr>
              <a:t>&gt;</a:t>
            </a:r>
            <a:endParaRPr lang="zh-CN" altLang="zh-CN" b="0" dirty="0">
              <a:cs typeface="Times New Roman" pitchFamily="18" charset="0"/>
            </a:endParaRPr>
          </a:p>
          <a:p>
            <a:pPr marL="0" indent="0">
              <a:buNone/>
            </a:pPr>
            <a:r>
              <a:rPr lang="en-US" altLang="zh-CN" b="0" dirty="0">
                <a:cs typeface="Times New Roman" pitchFamily="18" charset="0"/>
              </a:rPr>
              <a:t>void </a:t>
            </a:r>
            <a:r>
              <a:rPr lang="en-US" altLang="zh-CN" b="0" dirty="0" err="1">
                <a:cs typeface="Times New Roman" pitchFamily="18" charset="0"/>
              </a:rPr>
              <a:t>linkQueue</a:t>
            </a:r>
            <a:r>
              <a:rPr lang="en-US" altLang="zh-CN" b="0" dirty="0">
                <a:cs typeface="Times New Roman" pitchFamily="18" charset="0"/>
              </a:rPr>
              <a:t>&lt;</a:t>
            </a:r>
            <a:r>
              <a:rPr lang="en-US" altLang="zh-CN" b="0" dirty="0" err="1">
                <a:cs typeface="Times New Roman" pitchFamily="18" charset="0"/>
              </a:rPr>
              <a:t>elemType</a:t>
            </a:r>
            <a:r>
              <a:rPr lang="en-US" altLang="zh-CN" b="0" dirty="0">
                <a:cs typeface="Times New Roman" pitchFamily="18" charset="0"/>
              </a:rPr>
              <a:t>&gt;::</a:t>
            </a:r>
            <a:r>
              <a:rPr lang="en-US" altLang="zh-CN" b="0" dirty="0" err="1">
                <a:cs typeface="Times New Roman" pitchFamily="18" charset="0"/>
              </a:rPr>
              <a:t>deQueue</a:t>
            </a:r>
            <a:r>
              <a:rPr lang="en-US" altLang="zh-CN" b="0" dirty="0">
                <a:cs typeface="Times New Roman" pitchFamily="18" charset="0"/>
              </a:rPr>
              <a:t>() //</a:t>
            </a:r>
            <a:r>
              <a:rPr lang="zh-CN" altLang="zh-CN" b="0" dirty="0">
                <a:cs typeface="Times New Roman" pitchFamily="18" charset="0"/>
              </a:rPr>
              <a:t>将队首元素出队</a:t>
            </a:r>
            <a:endParaRPr lang="zh-CN" altLang="zh-CN" b="0" dirty="0">
              <a:cs typeface="Times New Roman" pitchFamily="18" charset="0"/>
            </a:endParaRPr>
          </a:p>
          <a:p>
            <a:pPr marL="0" indent="0">
              <a:buNone/>
            </a:pPr>
            <a:r>
              <a:rPr lang="en-US" altLang="zh-CN" b="0" dirty="0">
                <a:cs typeface="Times New Roman" pitchFamily="18" charset="0"/>
              </a:rPr>
              <a:t>{   if (</a:t>
            </a:r>
            <a:r>
              <a:rPr lang="en-US" altLang="zh-CN" b="0" dirty="0" err="1">
                <a:cs typeface="Times New Roman" pitchFamily="18" charset="0"/>
              </a:rPr>
              <a:t>isEmpty</a:t>
            </a:r>
            <a:r>
              <a:rPr lang="en-US" altLang="zh-CN" b="0" dirty="0">
                <a:cs typeface="Times New Roman" pitchFamily="18" charset="0"/>
              </a:rPr>
              <a:t>()) throw </a:t>
            </a:r>
            <a:r>
              <a:rPr lang="en-US" altLang="zh-CN" b="0" dirty="0" err="1">
                <a:cs typeface="Times New Roman" pitchFamily="18" charset="0"/>
              </a:rPr>
              <a:t>outOfBound</a:t>
            </a:r>
            <a:r>
              <a:rPr lang="en-US" altLang="zh-CN" b="0" dirty="0">
                <a:cs typeface="Times New Roman" pitchFamily="18" charset="0"/>
              </a:rPr>
              <a:t>();</a:t>
            </a:r>
            <a:endParaRPr lang="zh-CN" altLang="zh-CN" b="0" dirty="0">
              <a:cs typeface="Times New Roman" pitchFamily="18" charset="0"/>
            </a:endParaRPr>
          </a:p>
          <a:p>
            <a:pPr marL="0" indent="0">
              <a:buNone/>
            </a:pPr>
            <a:r>
              <a:rPr lang="en-US" altLang="zh-CN" b="0" dirty="0">
                <a:cs typeface="Times New Roman" pitchFamily="18" charset="0"/>
              </a:rPr>
              <a:t> </a:t>
            </a:r>
            <a:endParaRPr lang="zh-CN" altLang="zh-CN" b="0" dirty="0">
              <a:cs typeface="Times New Roman" pitchFamily="18" charset="0"/>
            </a:endParaRPr>
          </a:p>
          <a:p>
            <a:pPr marL="0" indent="0">
              <a:buNone/>
            </a:pPr>
            <a:r>
              <a:rPr lang="en-US" altLang="zh-CN" b="0" dirty="0">
                <a:cs typeface="Times New Roman" pitchFamily="18" charset="0"/>
              </a:rPr>
              <a:t>    Node&lt;</a:t>
            </a:r>
            <a:r>
              <a:rPr lang="en-US" altLang="zh-CN" b="0" dirty="0" err="1">
                <a:cs typeface="Times New Roman" pitchFamily="18" charset="0"/>
              </a:rPr>
              <a:t>elemType</a:t>
            </a:r>
            <a:r>
              <a:rPr lang="en-US" altLang="zh-CN" b="0" dirty="0">
                <a:cs typeface="Times New Roman" pitchFamily="18" charset="0"/>
              </a:rPr>
              <a:t>&gt; *</a:t>
            </a:r>
            <a:r>
              <a:rPr lang="en-US" altLang="zh-CN" b="0" dirty="0" err="1">
                <a:cs typeface="Times New Roman" pitchFamily="18" charset="0"/>
              </a:rPr>
              <a:t>tmp</a:t>
            </a:r>
            <a:r>
              <a:rPr lang="en-US" altLang="zh-CN" b="0" dirty="0">
                <a:cs typeface="Times New Roman" pitchFamily="18" charset="0"/>
              </a:rPr>
              <a:t> = Front;</a:t>
            </a:r>
            <a:endParaRPr lang="zh-CN" altLang="zh-CN" b="0" dirty="0">
              <a:cs typeface="Times New Roman" pitchFamily="18" charset="0"/>
            </a:endParaRPr>
          </a:p>
          <a:p>
            <a:pPr marL="0" indent="0">
              <a:buNone/>
            </a:pPr>
            <a:r>
              <a:rPr lang="en-US" altLang="zh-CN" b="0" dirty="0">
                <a:cs typeface="Times New Roman" pitchFamily="18" charset="0"/>
              </a:rPr>
              <a:t>    Front = Front-&gt;next;</a:t>
            </a:r>
            <a:endParaRPr lang="zh-CN" altLang="zh-CN" b="0" dirty="0">
              <a:cs typeface="Times New Roman" pitchFamily="18" charset="0"/>
            </a:endParaRPr>
          </a:p>
          <a:p>
            <a:pPr marL="0" indent="0">
              <a:buNone/>
            </a:pPr>
            <a:r>
              <a:rPr lang="en-US" altLang="zh-CN" b="0" dirty="0">
                <a:cs typeface="Times New Roman" pitchFamily="18" charset="0"/>
              </a:rPr>
              <a:t>    delete </a:t>
            </a:r>
            <a:r>
              <a:rPr lang="en-US" altLang="zh-CN" b="0" dirty="0" err="1">
                <a:cs typeface="Times New Roman" pitchFamily="18" charset="0"/>
              </a:rPr>
              <a:t>tmp</a:t>
            </a:r>
            <a:r>
              <a:rPr lang="en-US" altLang="zh-CN" b="0" dirty="0">
                <a:cs typeface="Times New Roman" pitchFamily="18" charset="0"/>
              </a:rPr>
              <a:t>;</a:t>
            </a:r>
            <a:endParaRPr lang="zh-CN" altLang="zh-CN" b="0" dirty="0">
              <a:cs typeface="Times New Roman" pitchFamily="18" charset="0"/>
            </a:endParaRPr>
          </a:p>
          <a:p>
            <a:pPr marL="0" indent="0">
              <a:buNone/>
            </a:pPr>
            <a:r>
              <a:rPr lang="en-US" altLang="zh-CN" b="0" dirty="0">
                <a:cs typeface="Times New Roman" pitchFamily="18" charset="0"/>
              </a:rPr>
              <a:t> </a:t>
            </a:r>
            <a:endParaRPr lang="zh-CN" altLang="zh-CN" b="0" dirty="0">
              <a:cs typeface="Times New Roman" pitchFamily="18" charset="0"/>
            </a:endParaRPr>
          </a:p>
          <a:p>
            <a:pPr marL="0" indent="0">
              <a:buNone/>
            </a:pPr>
            <a:r>
              <a:rPr lang="en-US" altLang="zh-CN" b="0" dirty="0">
                <a:cs typeface="Times New Roman" pitchFamily="18" charset="0"/>
              </a:rPr>
              <a:t>    if (!Front) Rear = NULL;</a:t>
            </a:r>
            <a:endParaRPr lang="zh-CN" altLang="zh-CN" b="0" dirty="0">
              <a:cs typeface="Times New Roman" pitchFamily="18" charset="0"/>
            </a:endParaRPr>
          </a:p>
          <a:p>
            <a:pPr marL="0" indent="0">
              <a:buNone/>
            </a:pPr>
            <a:r>
              <a:rPr lang="en-US" altLang="zh-CN" b="0" dirty="0">
                <a:cs typeface="Times New Roman" pitchFamily="18" charset="0"/>
              </a:rPr>
              <a:t>}</a:t>
            </a:r>
            <a:endParaRPr lang="zh-CN" altLang="zh-CN" b="0" dirty="0">
              <a:cs typeface="Times New Roman"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链式队列类成员函数的实现：</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340649" y="1467476"/>
            <a:ext cx="11162883" cy="4953204"/>
          </a:xfrm>
        </p:spPr>
        <p:txBody>
          <a:bodyPr>
            <a:noAutofit/>
          </a:bodyPr>
          <a:lstStyle/>
          <a:p>
            <a:pPr marL="0" indent="0">
              <a:buNone/>
            </a:pPr>
            <a:r>
              <a:rPr lang="en-US" altLang="zh-CN" sz="2000" b="0" dirty="0">
                <a:cs typeface="Times New Roman" pitchFamily="18" charset="0"/>
              </a:rPr>
              <a:t>template &lt;class </a:t>
            </a:r>
            <a:r>
              <a:rPr lang="en-US" altLang="zh-CN" sz="2000" b="0" dirty="0" err="1">
                <a:cs typeface="Times New Roman" pitchFamily="18" charset="0"/>
              </a:rPr>
              <a:t>elemType</a:t>
            </a:r>
            <a:r>
              <a:rPr lang="en-US" altLang="zh-CN" sz="2000" b="0" dirty="0">
                <a:cs typeface="Times New Roman" pitchFamily="18" charset="0"/>
              </a:rPr>
              <a:t>&gt;</a:t>
            </a:r>
            <a:endParaRPr lang="zh-CN" altLang="zh-CN" sz="2000" b="0" dirty="0">
              <a:cs typeface="Times New Roman" pitchFamily="18" charset="0"/>
            </a:endParaRPr>
          </a:p>
          <a:p>
            <a:pPr marL="0" indent="0">
              <a:buNone/>
            </a:pPr>
            <a:r>
              <a:rPr lang="en-US" altLang="zh-CN" sz="2000" b="0" dirty="0" err="1">
                <a:cs typeface="Times New Roman" pitchFamily="18" charset="0"/>
              </a:rPr>
              <a:t>linkQueue</a:t>
            </a:r>
            <a:r>
              <a:rPr lang="en-US" altLang="zh-CN" sz="2000" b="0" dirty="0">
                <a:cs typeface="Times New Roman" pitchFamily="18" charset="0"/>
              </a:rPr>
              <a:t>&lt;</a:t>
            </a:r>
            <a:r>
              <a:rPr lang="en-US" altLang="zh-CN" sz="2000" b="0" dirty="0" err="1">
                <a:cs typeface="Times New Roman" pitchFamily="18" charset="0"/>
              </a:rPr>
              <a:t>elemType</a:t>
            </a:r>
            <a:r>
              <a:rPr lang="en-US" altLang="zh-CN" sz="2000" b="0" dirty="0">
                <a:cs typeface="Times New Roman" pitchFamily="18" charset="0"/>
              </a:rPr>
              <a:t>&gt;::~</a:t>
            </a:r>
            <a:r>
              <a:rPr lang="en-US" altLang="zh-CN" sz="2000" b="0" dirty="0" err="1">
                <a:cs typeface="Times New Roman" pitchFamily="18" charset="0"/>
              </a:rPr>
              <a:t>linkQueue</a:t>
            </a:r>
            <a:r>
              <a:rPr lang="en-US" altLang="zh-CN" sz="2000" b="0" dirty="0">
                <a:cs typeface="Times New Roman" pitchFamily="18" charset="0"/>
              </a:rPr>
              <a:t>() //</a:t>
            </a:r>
            <a:r>
              <a:rPr lang="zh-CN" altLang="zh-CN" sz="2000" b="0" dirty="0">
                <a:cs typeface="Times New Roman" pitchFamily="18" charset="0"/>
              </a:rPr>
              <a:t>释放链式栈所占空间</a:t>
            </a:r>
            <a:endParaRPr lang="zh-CN" altLang="zh-CN" sz="2000" b="0" dirty="0">
              <a:cs typeface="Times New Roman" pitchFamily="18" charset="0"/>
            </a:endParaRPr>
          </a:p>
          <a:p>
            <a:pPr marL="0" indent="0">
              <a:buNone/>
            </a:pPr>
            <a:r>
              <a:rPr lang="en-US" altLang="zh-CN" sz="2000" b="0" dirty="0">
                <a:cs typeface="Times New Roman" pitchFamily="18" charset="0"/>
              </a:rPr>
              <a:t>{  Node&lt;</a:t>
            </a:r>
            <a:r>
              <a:rPr lang="en-US" altLang="zh-CN" sz="2000" b="0" dirty="0" err="1">
                <a:cs typeface="Times New Roman" pitchFamily="18" charset="0"/>
              </a:rPr>
              <a:t>elemType</a:t>
            </a:r>
            <a:r>
              <a:rPr lang="en-US" altLang="zh-CN" sz="2000" b="0" dirty="0">
                <a:cs typeface="Times New Roman" pitchFamily="18" charset="0"/>
              </a:rPr>
              <a:t>&gt; *p;     p= Front;</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zh-CN" altLang="zh-CN" sz="2000" b="0" dirty="0">
              <a:cs typeface="Times New Roman" pitchFamily="18" charset="0"/>
            </a:endParaRPr>
          </a:p>
          <a:p>
            <a:pPr marL="0" indent="0">
              <a:buNone/>
            </a:pPr>
            <a:r>
              <a:rPr lang="en-US" altLang="zh-CN" sz="2000" b="0" dirty="0">
                <a:cs typeface="Times New Roman" pitchFamily="18" charset="0"/>
              </a:rPr>
              <a:t>    while (p)</a:t>
            </a:r>
            <a:endParaRPr lang="zh-CN" altLang="zh-CN" sz="2000" b="0" dirty="0">
              <a:cs typeface="Times New Roman" pitchFamily="18" charset="0"/>
            </a:endParaRPr>
          </a:p>
          <a:p>
            <a:pPr marL="0" indent="0">
              <a:buNone/>
            </a:pPr>
            <a:r>
              <a:rPr lang="en-US" altLang="zh-CN" sz="2000" b="0" dirty="0">
                <a:cs typeface="Times New Roman" pitchFamily="18" charset="0"/>
              </a:rPr>
              <a:t>    {       Front=Front-&gt;next;</a:t>
            </a:r>
            <a:endParaRPr lang="zh-CN" altLang="zh-CN" sz="2000" b="0" dirty="0">
              <a:cs typeface="Times New Roman" pitchFamily="18" charset="0"/>
            </a:endParaRPr>
          </a:p>
          <a:p>
            <a:pPr marL="0" indent="0">
              <a:buNone/>
            </a:pPr>
            <a:r>
              <a:rPr lang="en-US" altLang="zh-CN" sz="2000" b="0" dirty="0">
                <a:cs typeface="Times New Roman" pitchFamily="18" charset="0"/>
              </a:rPr>
              <a:t>             delete p;    p=Front;</a:t>
            </a:r>
            <a:endParaRPr lang="zh-CN" altLang="zh-CN" sz="2000" b="0" dirty="0">
              <a:cs typeface="Times New Roman" pitchFamily="18" charset="0"/>
            </a:endParaRPr>
          </a:p>
          <a:p>
            <a:pPr marL="0" indent="0">
              <a:buNone/>
            </a:pPr>
            <a:r>
              <a:rPr lang="en-US" altLang="zh-CN" sz="2000" b="0" dirty="0">
                <a:cs typeface="Times New Roman" pitchFamily="18" charset="0"/>
              </a:rPr>
              <a:t>    }</a:t>
            </a:r>
            <a:endParaRPr lang="zh-CN" altLang="zh-CN" sz="2000" b="0" dirty="0">
              <a:cs typeface="Times New Roman" pitchFamily="18" charset="0"/>
            </a:endParaRPr>
          </a:p>
          <a:p>
            <a:pPr marL="0" indent="0">
              <a:buNone/>
            </a:pPr>
            <a:r>
              <a:rPr lang="en-US" altLang="zh-CN" sz="2000" b="0" dirty="0">
                <a:cs typeface="Times New Roman" pitchFamily="18" charset="0"/>
              </a:rPr>
              <a:t>}</a:t>
            </a:r>
            <a:endParaRPr lang="zh-CN" altLang="zh-CN" sz="2000" b="0" dirty="0">
              <a:cs typeface="Times New Roman" pitchFamily="18" charset="0"/>
            </a:endParaRPr>
          </a:p>
          <a:p>
            <a:pPr marL="0" indent="0">
              <a:buNone/>
            </a:pPr>
            <a:r>
              <a:rPr lang="en-US" altLang="zh-CN" sz="2000" b="0" dirty="0">
                <a:cs typeface="Times New Roman" pitchFamily="18" charset="0"/>
              </a:rPr>
              <a:t>#</a:t>
            </a:r>
            <a:r>
              <a:rPr lang="en-US" altLang="zh-CN" sz="2000" b="0" dirty="0" err="1">
                <a:cs typeface="Times New Roman" pitchFamily="18" charset="0"/>
              </a:rPr>
              <a:t>endif</a:t>
            </a:r>
            <a:r>
              <a:rPr lang="en-US" altLang="zh-CN" sz="2000" b="0" dirty="0">
                <a:cs typeface="Times New Roman" pitchFamily="18" charset="0"/>
              </a:rPr>
              <a:t> // LINKQUEUE_H_INCLUDED</a:t>
            </a:r>
            <a:endParaRPr lang="en-US" altLang="zh-CN" b="0" dirty="0">
              <a:ea typeface="华文楷体" pitchFamily="2" charset="-122"/>
              <a:cs typeface="Times New Roman" pitchFamily="18" charset="0"/>
            </a:endParaRPr>
          </a:p>
        </p:txBody>
      </p:sp>
      <p:sp>
        <p:nvSpPr>
          <p:cNvPr id="5" name="Rectangle 2"/>
          <p:cNvSpPr>
            <a14:cpLocks xmlns:a14="http://schemas.microsoft.com/office/drawing/2010/main" noGrp="1" noRot="1" noChangeArrowheads="1"/>
          </p:cNvSpPr>
          <p:nvPr>
            <p:ph type="title"/>
          </p:nvPr>
        </p:nvSpPr>
        <p:spPr>
          <a:xfrm>
            <a:off x="320769" y="793902"/>
            <a:ext cx="11162884" cy="574183"/>
          </a:xfrm>
        </p:spPr>
        <p:txBody>
          <a:bodyPr/>
          <a:lstStyle/>
          <a:p>
            <a:pPr marL="838200" indent="-838200">
              <a:defRPr/>
            </a:pPr>
            <a:r>
              <a:rPr lang="en-US" altLang="zh-CN" dirty="0"/>
              <a:t> </a:t>
            </a:r>
            <a:r>
              <a:rPr lang="zh-CN" altLang="en-US" dirty="0">
                <a:latin typeface="华文楷体" pitchFamily="2" charset="-122"/>
                <a:ea typeface="华文楷体" pitchFamily="2" charset="-122"/>
              </a:rPr>
              <a:t>链式队列类成员函数的实现：</a:t>
            </a:r>
            <a:endParaRPr lang="zh-CN" altLang="en-US" dirty="0">
              <a:latin typeface="华文楷体" pitchFamily="2" charset="-122"/>
              <a:ea typeface="华文楷体" pitchFamily="2" charset="-122"/>
            </a:endParaRPr>
          </a:p>
        </p:txBody>
      </p:sp>
      <p:sp>
        <p:nvSpPr>
          <p:cNvPr id="2" name="文本框 1"/>
          <p:cNvSpPr txBox="1"/>
          <p:nvPr/>
        </p:nvSpPr>
        <p:spPr>
          <a:xfrm>
            <a:off x="6596010" y="5390524"/>
            <a:ext cx="4202130" cy="461665"/>
          </a:xfrm>
          <a:prstGeom prst="rect">
            <a:avLst/>
          </a:prstGeom>
          <a:noFill/>
        </p:spPr>
        <p:txBody>
          <a:bodyPr wrap="square" rtlCol="0">
            <a:spAutoFit/>
          </a:bodyPr>
          <a:lstStyle/>
          <a:p>
            <a:r>
              <a:rPr lang="zh-CN" altLang="en-US" sz="2400" dirty="0">
                <a:solidFill>
                  <a:schemeClr val="accent2"/>
                </a:solidFill>
              </a:rPr>
              <a:t>每种操作的时间复杂度分析</a:t>
            </a:r>
            <a:endParaRPr lang="zh-CN" altLang="en-US" sz="2400" dirty="0">
              <a:solidFill>
                <a:schemeClr val="accent2"/>
              </a:solidFill>
            </a:endParaRPr>
          </a:p>
        </p:txBody>
      </p:sp>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solidFill>
                  <a:srgbClr val="FF0000"/>
                </a:solidFill>
                <a:latin typeface="华文楷体" pitchFamily="2" charset="-122"/>
                <a:ea typeface="华文楷体" pitchFamily="2" charset="-122"/>
              </a:rPr>
              <a:t>优先队列</a:t>
            </a:r>
            <a:endParaRPr lang="en-US" altLang="zh-CN" sz="2800" b="1" dirty="0">
              <a:solidFill>
                <a:srgbClr val="FF0000"/>
              </a:solidFill>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队列的应用</a:t>
            </a:r>
            <a:endParaRPr lang="zh-CN" altLang="en-US" sz="2800" b="1" dirty="0">
              <a:latin typeface="华文楷体" pitchFamily="2" charset="-122"/>
              <a:ea typeface="华文楷体" pitchFamily="2" charset="-122"/>
            </a:endParaRPr>
          </a:p>
        </p:txBody>
      </p:sp>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3410703"/>
          </a:xfrm>
        </p:spPr>
        <p:txBody>
          <a:bodyPr>
            <a:normAutofit/>
          </a:bodyPr>
          <a:lstStyle/>
          <a:p>
            <a:pPr>
              <a:buFont typeface="Wingdings" charset="2"/>
              <a:buChar char="Ø"/>
            </a:pPr>
            <a:r>
              <a:rPr lang="zh-CN" altLang="zh-CN" sz="2800" b="0" dirty="0">
                <a:latin typeface="华文楷体" pitchFamily="2" charset="-122"/>
                <a:ea typeface="华文楷体" pitchFamily="2" charset="-122"/>
              </a:rPr>
              <a:t>有时进入队列中的元素具有优先级</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优先级可用一个优先数表示，一般优先数越小优先级越高</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，出队时是按照优先级越高的元素出队越早，优先级越低出队越晚，优先级相同者按先进先出的原则处理，这种队列称</a:t>
            </a:r>
            <a:r>
              <a:rPr lang="zh-CN" altLang="zh-CN" sz="2800" dirty="0">
                <a:latin typeface="华文楷体" pitchFamily="2" charset="-122"/>
                <a:ea typeface="华文楷体" pitchFamily="2" charset="-122"/>
              </a:rPr>
              <a:t>优先队列</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charset="2"/>
              <a:buChar char="Ø"/>
            </a:pPr>
            <a:r>
              <a:rPr lang="zh-CN" altLang="en-US" sz="2800" b="0" dirty="0">
                <a:latin typeface="华文楷体" pitchFamily="2" charset="-122"/>
                <a:ea typeface="华文楷体" pitchFamily="2" charset="-122"/>
              </a:rPr>
              <a:t>优先队列存储方式：顺序存储、链式存储</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优先队列：</a:t>
            </a:r>
            <a:endParaRPr lang="zh-CN" altLang="en-US"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5492097" y="2039172"/>
              <a:ext cx="831790" cy="45568"/>
            </p14:xfrm>
          </p:contentPart>
        </mc:Choice>
        <mc:Fallback xmlns="">
          <p:pic>
            <p:nvPicPr>
              <p:cNvPr id="2" name="墨迹 1"/>
            </p:nvPicPr>
            <p:blipFill>
              <a:blip/>
            </p:blipFill>
            <p:spPr>
              <a:xfrm>
                <a:off x="5492097" y="2039172"/>
                <a:ext cx="831790" cy="45568"/>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1447087" y="2563206"/>
              <a:ext cx="3372740" cy="102528"/>
            </p14:xfrm>
          </p:contentPart>
        </mc:Choice>
        <mc:Fallback xmlns="">
          <p:pic>
            <p:nvPicPr>
              <p:cNvPr id="3" name="墨迹 2"/>
            </p:nvPicPr>
            <p:blipFill>
              <a:blip/>
            </p:blipFill>
            <p:spPr>
              <a:xfrm>
                <a:off x="1447087" y="2563206"/>
                <a:ext cx="3372740" cy="10252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504059" y="2415109"/>
              <a:ext cx="3270191" cy="79744"/>
            </p14:xfrm>
          </p:contentPart>
        </mc:Choice>
        <mc:Fallback xmlns="">
          <p:pic>
            <p:nvPicPr>
              <p:cNvPr id="4" name="墨迹 3"/>
            </p:nvPicPr>
            <p:blipFill>
              <a:blip/>
            </p:blipFill>
            <p:spPr>
              <a:xfrm>
                <a:off x="1504059" y="2415109"/>
                <a:ext cx="3270191" cy="79744"/>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7691214" y="2506245"/>
              <a:ext cx="1150834" cy="360"/>
            </p14:xfrm>
          </p:contentPart>
        </mc:Choice>
        <mc:Fallback xmlns="">
          <p:pic>
            <p:nvPicPr>
              <p:cNvPr id="5" name="墨迹 4"/>
            </p:nvPicPr>
            <p:blipFill>
              <a:blip/>
            </p:blipFill>
            <p:spPr>
              <a:xfrm>
                <a:off x="7691214" y="2506245"/>
                <a:ext cx="1150834"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9104119" y="2529029"/>
              <a:ext cx="2529556" cy="56961"/>
            </p14:xfrm>
          </p:contentPart>
        </mc:Choice>
        <mc:Fallback xmlns="">
          <p:pic>
            <p:nvPicPr>
              <p:cNvPr id="6" name="墨迹 5"/>
            </p:nvPicPr>
            <p:blipFill>
              <a:blip/>
            </p:blipFill>
            <p:spPr>
              <a:xfrm>
                <a:off x="9104119" y="2529029"/>
                <a:ext cx="2529556" cy="56961"/>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1128044" y="3075847"/>
              <a:ext cx="205099" cy="68352"/>
            </p14:xfrm>
          </p:contentPart>
        </mc:Choice>
        <mc:Fallback xmlns="">
          <p:pic>
            <p:nvPicPr>
              <p:cNvPr id="7" name="墨迹 6"/>
            </p:nvPicPr>
            <p:blipFill>
              <a:blip/>
            </p:blipFill>
            <p:spPr>
              <a:xfrm>
                <a:off x="1128044" y="3075847"/>
                <a:ext cx="205099" cy="68352"/>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4569151" y="4118217"/>
              <a:ext cx="3122064" cy="62656"/>
            </p14:xfrm>
          </p:contentPart>
        </mc:Choice>
        <mc:Fallback xmlns="">
          <p:pic>
            <p:nvPicPr>
              <p:cNvPr id="8" name="墨迹 7"/>
            </p:nvPicPr>
            <p:blipFill>
              <a:blip/>
            </p:blipFill>
            <p:spPr>
              <a:xfrm>
                <a:off x="4569151" y="4118217"/>
                <a:ext cx="3122064" cy="62656"/>
              </a:xfrm>
              <a:prstGeom prst="rect"/>
            </p:spPr>
          </p:pic>
        </mc:Fallback>
      </mc:AlternateContent>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702790"/>
          </a:xfrm>
        </p:spPr>
        <p:txBody>
          <a:bodyPr>
            <a:normAutofit/>
          </a:bodyPr>
          <a:lstStyle/>
          <a:p>
            <a:pPr marL="0" indent="0">
              <a:buNone/>
            </a:pPr>
            <a:r>
              <a:rPr lang="zh-CN" altLang="zh-CN" sz="2800" b="0" dirty="0">
                <a:latin typeface="华文楷体" pitchFamily="2" charset="-122"/>
                <a:ea typeface="华文楷体" pitchFamily="2" charset="-122"/>
              </a:rPr>
              <a:t>顺序优先队列中，用数组存放元素。</a:t>
            </a:r>
            <a:endParaRPr lang="en-US" altLang="zh-CN" sz="2800" b="0" dirty="0">
              <a:latin typeface="华文楷体" pitchFamily="2" charset="-122"/>
              <a:ea typeface="华文楷体" pitchFamily="2" charset="-122"/>
            </a:endParaRPr>
          </a:p>
          <a:p>
            <a:pPr marL="0" indent="0">
              <a:buNone/>
            </a:pPr>
            <a:r>
              <a:rPr lang="zh-CN" altLang="en-US" sz="2800" b="0" dirty="0">
                <a:latin typeface="华文楷体" pitchFamily="2" charset="-122"/>
                <a:ea typeface="华文楷体" pitchFamily="2" charset="-122"/>
              </a:rPr>
              <a:t>有两种存放策：</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1</a:t>
            </a:r>
            <a:r>
              <a:rPr lang="zh-CN" altLang="en-US" sz="2800" b="0" dirty="0">
                <a:latin typeface="华文楷体" pitchFamily="2" charset="-122"/>
                <a:ea typeface="华文楷体" pitchFamily="2" charset="-122"/>
              </a:rPr>
              <a:t>）进队按时间顺序存放，出队是优先级高者出队。</a:t>
            </a: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2)   </a:t>
            </a:r>
            <a:r>
              <a:rPr lang="zh-CN" altLang="en-US" sz="2800" b="0" dirty="0">
                <a:latin typeface="华文楷体" pitchFamily="2" charset="-122"/>
                <a:ea typeface="华文楷体" pitchFamily="2" charset="-122"/>
              </a:rPr>
              <a:t>进队按优先级顺序存放，出队是队首出队。</a:t>
            </a: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顺序优先队列：</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519106"/>
            <a:ext cx="11162883" cy="4702790"/>
          </a:xfrm>
        </p:spPr>
        <p:txBody>
          <a:bodyPr>
            <a:normAutofit fontScale="92500" lnSpcReduction="10000"/>
          </a:bodyPr>
          <a:lstStyle/>
          <a:p>
            <a:pPr marL="0" indent="0">
              <a:buNone/>
            </a:pPr>
            <a:r>
              <a:rPr lang="zh-CN" altLang="en-US" sz="2800" dirty="0">
                <a:ea typeface="华文楷体" pitchFamily="2" charset="-122"/>
                <a:cs typeface="Times New Roman" pitchFamily="18" charset="0"/>
              </a:rPr>
              <a:t>第一种策咯：</a:t>
            </a:r>
            <a:endParaRPr lang="en-US" altLang="zh-CN" sz="280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进队时，按照下标由小到大的顺序</a:t>
            </a:r>
            <a:r>
              <a:rPr lang="zh-CN" altLang="en-US" sz="2800" b="0" dirty="0">
                <a:ea typeface="华文楷体" pitchFamily="2" charset="-122"/>
                <a:cs typeface="Times New Roman" pitchFamily="18" charset="0"/>
              </a:rPr>
              <a:t>即直接将元素放队尾，时间为</a:t>
            </a:r>
            <a:r>
              <a:rPr lang="en-US" altLang="zh-CN" sz="2800" b="0" dirty="0">
                <a:ea typeface="华文楷体" pitchFamily="2" charset="-122"/>
                <a:cs typeface="Times New Roman" pitchFamily="18" charset="0"/>
              </a:rPr>
              <a:t>O(1)</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出队时，从所有元素中找到优先级最高的元素，然后删除</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357505" indent="0">
              <a:buNone/>
            </a:pPr>
            <a:r>
              <a:rPr lang="zh-CN" altLang="zh-CN" sz="2800" b="0" dirty="0">
                <a:ea typeface="华文楷体" pitchFamily="2" charset="-122"/>
                <a:cs typeface="Times New Roman" pitchFamily="18" charset="0"/>
              </a:rPr>
              <a:t>为避免整个队列的后移，造成空间的浪费，当有元素出队时将队列中最后一个元素移到出队元素所在的存储位置，这样队列始终从</a:t>
            </a:r>
            <a:r>
              <a:rPr lang="en-US" altLang="zh-CN" sz="2800" b="0" dirty="0">
                <a:ea typeface="华文楷体" pitchFamily="2" charset="-122"/>
                <a:cs typeface="Times New Roman" pitchFamily="18" charset="0"/>
              </a:rPr>
              <a:t>0</a:t>
            </a:r>
            <a:r>
              <a:rPr lang="zh-CN" altLang="zh-CN" sz="2800" b="0" dirty="0">
                <a:ea typeface="华文楷体" pitchFamily="2" charset="-122"/>
                <a:cs typeface="Times New Roman" pitchFamily="18" charset="0"/>
              </a:rPr>
              <a:t>下标开始到某个下标终止，中间不会出现空隙。</a:t>
            </a:r>
            <a:r>
              <a:rPr lang="zh-CN" altLang="en-US" sz="2800" b="0" dirty="0">
                <a:ea typeface="华文楷体" pitchFamily="2" charset="-122"/>
                <a:cs typeface="Times New Roman" pitchFamily="18" charset="0"/>
              </a:rPr>
              <a:t>故</a:t>
            </a:r>
            <a:r>
              <a:rPr lang="zh-CN" altLang="zh-CN" sz="2800" b="0" dirty="0">
                <a:ea typeface="华文楷体" pitchFamily="2" charset="-122"/>
                <a:cs typeface="Times New Roman" pitchFamily="18" charset="0"/>
              </a:rPr>
              <a:t>不需要像普通队列顺序存储时使用循环技术</a:t>
            </a:r>
            <a:r>
              <a:rPr lang="zh-CN" altLang="en-US" sz="2800" b="0" dirty="0">
                <a:ea typeface="华文楷体" pitchFamily="2" charset="-122"/>
                <a:cs typeface="Times New Roman" pitchFamily="18" charset="0"/>
              </a:rPr>
              <a:t>。查找最高优先级元素时间为</a:t>
            </a:r>
            <a:r>
              <a:rPr lang="en-US" altLang="zh-CN" sz="2800" b="0" dirty="0">
                <a:ea typeface="华文楷体" pitchFamily="2" charset="-122"/>
                <a:cs typeface="Times New Roman" pitchFamily="18" charset="0"/>
              </a:rPr>
              <a:t>O(n)</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设队尾</a:t>
            </a:r>
            <a:r>
              <a:rPr lang="en-US" altLang="zh-CN" sz="2800" b="0" dirty="0">
                <a:ea typeface="华文楷体" pitchFamily="2" charset="-122"/>
                <a:cs typeface="Times New Roman" pitchFamily="18" charset="0"/>
              </a:rPr>
              <a:t>Rear</a:t>
            </a:r>
            <a:r>
              <a:rPr lang="zh-CN" altLang="zh-CN" sz="2800" b="0" dirty="0">
                <a:ea typeface="华文楷体" pitchFamily="2" charset="-122"/>
                <a:cs typeface="Times New Roman" pitchFamily="18" charset="0"/>
              </a:rPr>
              <a:t>指针指向实际队尾元素的后一单元</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259080" indent="0">
              <a:buNone/>
            </a:pPr>
            <a:r>
              <a:rPr lang="zh-CN" altLang="en-US" sz="2800" b="0" dirty="0">
                <a:ea typeface="华文楷体" pitchFamily="2" charset="-122"/>
                <a:cs typeface="Times New Roman" pitchFamily="18" charset="0"/>
              </a:rPr>
              <a:t>则</a:t>
            </a:r>
            <a:r>
              <a:rPr lang="zh-CN" altLang="zh-CN" sz="2800" b="0" dirty="0">
                <a:ea typeface="华文楷体" pitchFamily="2" charset="-122"/>
                <a:cs typeface="Times New Roman" pitchFamily="18" charset="0"/>
              </a:rPr>
              <a:t>队空的条件为：</a:t>
            </a:r>
            <a:r>
              <a:rPr lang="en-US" altLang="zh-CN" sz="2800" b="0" dirty="0">
                <a:ea typeface="华文楷体" pitchFamily="2" charset="-122"/>
                <a:cs typeface="Times New Roman" pitchFamily="18" charset="0"/>
              </a:rPr>
              <a:t>Rear = 0;         </a:t>
            </a:r>
            <a:r>
              <a:rPr lang="zh-CN" altLang="zh-CN" sz="2800" b="0" dirty="0">
                <a:ea typeface="华文楷体" pitchFamily="2" charset="-122"/>
                <a:cs typeface="Times New Roman" pitchFamily="18" charset="0"/>
              </a:rPr>
              <a:t>队满的条件为：</a:t>
            </a:r>
            <a:r>
              <a:rPr lang="en-US" altLang="zh-CN" sz="2800" b="0" dirty="0">
                <a:ea typeface="华文楷体" pitchFamily="2" charset="-122"/>
                <a:cs typeface="Times New Roman" pitchFamily="18" charset="0"/>
              </a:rPr>
              <a:t>Rear = </a:t>
            </a:r>
            <a:r>
              <a:rPr lang="en-US" altLang="zh-CN" sz="2800" b="0" dirty="0" err="1">
                <a:ea typeface="华文楷体" pitchFamily="2" charset="-122"/>
                <a:cs typeface="Times New Roman" pitchFamily="18" charset="0"/>
              </a:rPr>
              <a:t>maxSize</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顺序优先队列：</a:t>
            </a:r>
            <a:endParaRPr lang="zh-CN" altLang="en-US"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400373" y="2335365"/>
              <a:ext cx="1788919" cy="91136"/>
            </p14:xfrm>
          </p:contentPart>
        </mc:Choice>
        <mc:Fallback xmlns="">
          <p:pic>
            <p:nvPicPr>
              <p:cNvPr id="2" name="墨迹 1"/>
            </p:nvPicPr>
            <p:blipFill>
              <a:blip/>
            </p:blipFill>
            <p:spPr>
              <a:xfrm>
                <a:off x="9400373" y="2335365"/>
                <a:ext cx="1788919" cy="91136"/>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1298960" y="2415109"/>
              <a:ext cx="387410" cy="45568"/>
            </p14:xfrm>
          </p:contentPart>
        </mc:Choice>
        <mc:Fallback xmlns="">
          <p:pic>
            <p:nvPicPr>
              <p:cNvPr id="3" name="墨迹 2"/>
            </p:nvPicPr>
            <p:blipFill>
              <a:blip/>
            </p:blipFill>
            <p:spPr>
              <a:xfrm>
                <a:off x="1298960" y="2415109"/>
                <a:ext cx="387410" cy="45568"/>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2427005" y="4784651"/>
              <a:ext cx="4899589" cy="79744"/>
            </p14:xfrm>
          </p:contentPart>
        </mc:Choice>
        <mc:Fallback xmlns="">
          <p:pic>
            <p:nvPicPr>
              <p:cNvPr id="4" name="墨迹 3"/>
            </p:nvPicPr>
            <p:blipFill>
              <a:blip/>
            </p:blipFill>
            <p:spPr>
              <a:xfrm>
                <a:off x="2427005" y="4784651"/>
                <a:ext cx="4899589" cy="79744"/>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6380859" y="5371340"/>
              <a:ext cx="609600" cy="96832"/>
            </p14:xfrm>
          </p:contentPart>
        </mc:Choice>
        <mc:Fallback xmlns="">
          <p:pic>
            <p:nvPicPr>
              <p:cNvPr id="5" name="墨迹 4"/>
            </p:nvPicPr>
            <p:blipFill>
              <a:blip/>
            </p:blipFill>
            <p:spPr>
              <a:xfrm>
                <a:off x="6380859" y="5371340"/>
                <a:ext cx="609600" cy="96832"/>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1310355" y="5866893"/>
              <a:ext cx="683663" cy="34176"/>
            </p14:xfrm>
          </p:contentPart>
        </mc:Choice>
        <mc:Fallback xmlns="">
          <p:pic>
            <p:nvPicPr>
              <p:cNvPr id="6" name="墨迹 5"/>
            </p:nvPicPr>
            <p:blipFill>
              <a:blip/>
            </p:blipFill>
            <p:spPr>
              <a:xfrm>
                <a:off x="1310355" y="5866893"/>
                <a:ext cx="683663" cy="34176"/>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5697196" y="5923853"/>
              <a:ext cx="752030" cy="28480"/>
            </p14:xfrm>
          </p:contentPart>
        </mc:Choice>
        <mc:Fallback xmlns="">
          <p:pic>
            <p:nvPicPr>
              <p:cNvPr id="7" name="墨迹 6"/>
            </p:nvPicPr>
            <p:blipFill>
              <a:blip/>
            </p:blipFill>
            <p:spPr>
              <a:xfrm>
                <a:off x="5697196" y="5923853"/>
                <a:ext cx="752030" cy="28480"/>
              </a:xfrm>
              <a:prstGeom prst="rect"/>
            </p:spPr>
          </p:pic>
        </mc:Fallback>
      </mc:AlternateContent>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519106"/>
            <a:ext cx="11367649" cy="4702790"/>
          </a:xfrm>
        </p:spPr>
        <p:txBody>
          <a:bodyPr>
            <a:normAutofit fontScale="92500" lnSpcReduction="20000"/>
          </a:bodyPr>
          <a:lstStyle/>
          <a:p>
            <a:pPr marL="0" indent="0">
              <a:buNone/>
            </a:pPr>
            <a:r>
              <a:rPr lang="zh-CN" altLang="en-US" sz="2800" dirty="0">
                <a:ea typeface="华文楷体" pitchFamily="2" charset="-122"/>
                <a:cs typeface="Times New Roman" pitchFamily="18" charset="0"/>
              </a:rPr>
              <a:t>第二种策咯：</a:t>
            </a:r>
            <a:endParaRPr lang="en-US" altLang="zh-CN" sz="280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元素按照优先数由小到大排列。</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元素进队时，先在队列中找到合适的插入位置，移动后面的元素，将新进元素插入，时间复杂度为</a:t>
            </a:r>
            <a:r>
              <a:rPr lang="en-US" altLang="zh-CN" sz="2800" b="0" dirty="0">
                <a:ea typeface="华文楷体" pitchFamily="2" charset="-122"/>
                <a:cs typeface="Times New Roman" pitchFamily="18" charset="0"/>
              </a:rPr>
              <a:t>O(n)</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出队时，删除队首即</a:t>
            </a:r>
            <a:r>
              <a:rPr lang="en-US" altLang="zh-CN" sz="2800" b="0" dirty="0">
                <a:ea typeface="华文楷体" pitchFamily="2" charset="-122"/>
                <a:cs typeface="Times New Roman" pitchFamily="18" charset="0"/>
              </a:rPr>
              <a:t>0</a:t>
            </a:r>
            <a:r>
              <a:rPr lang="zh-CN" altLang="zh-CN" sz="2800" b="0" dirty="0">
                <a:ea typeface="华文楷体" pitchFamily="2" charset="-122"/>
                <a:cs typeface="Times New Roman" pitchFamily="18" charset="0"/>
              </a:rPr>
              <a:t>下标元素即可，为了避免后面元素的移动，可以采用顺序循环队列，时间复杂度为</a:t>
            </a:r>
            <a:r>
              <a:rPr lang="en-US" altLang="zh-CN" sz="2800" b="0" dirty="0">
                <a:ea typeface="华文楷体" pitchFamily="2" charset="-122"/>
                <a:cs typeface="Times New Roman" pitchFamily="18" charset="0"/>
              </a:rPr>
              <a:t>O(1)</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设队尾</a:t>
            </a:r>
            <a:r>
              <a:rPr lang="en-US" altLang="zh-CN" sz="2800" b="0" dirty="0">
                <a:ea typeface="华文楷体" pitchFamily="2" charset="-122"/>
                <a:cs typeface="Times New Roman" pitchFamily="18" charset="0"/>
              </a:rPr>
              <a:t>Rear</a:t>
            </a:r>
            <a:r>
              <a:rPr lang="zh-CN" altLang="zh-CN" sz="2800" b="0" dirty="0">
                <a:ea typeface="华文楷体" pitchFamily="2" charset="-122"/>
                <a:cs typeface="Times New Roman" pitchFamily="18" charset="0"/>
              </a:rPr>
              <a:t>指针指向实际队尾元素的后一单元</a:t>
            </a:r>
            <a:r>
              <a:rPr lang="zh-CN" altLang="en-US"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a:p>
            <a:pPr marL="259080" indent="0">
              <a:buNone/>
            </a:pPr>
            <a:r>
              <a:rPr lang="zh-CN" altLang="en-US" sz="2800" b="0" dirty="0">
                <a:ea typeface="华文楷体" pitchFamily="2" charset="-122"/>
                <a:cs typeface="Times New Roman" pitchFamily="18" charset="0"/>
              </a:rPr>
              <a:t>则</a:t>
            </a:r>
            <a:r>
              <a:rPr lang="zh-CN" altLang="zh-CN" sz="2800" b="0" dirty="0">
                <a:ea typeface="华文楷体" pitchFamily="2" charset="-122"/>
                <a:cs typeface="Times New Roman" pitchFamily="18" charset="0"/>
              </a:rPr>
              <a:t>队空的条件为：</a:t>
            </a:r>
            <a:r>
              <a:rPr lang="en-US" altLang="zh-CN" sz="2800" b="0" dirty="0">
                <a:ea typeface="华文楷体" pitchFamily="2" charset="-122"/>
                <a:cs typeface="Times New Roman" pitchFamily="18" charset="0"/>
              </a:rPr>
              <a:t>Rear == Front;  </a:t>
            </a:r>
            <a:endParaRPr lang="en-US" altLang="zh-CN" sz="2800" b="0" dirty="0">
              <a:ea typeface="华文楷体" pitchFamily="2" charset="-122"/>
              <a:cs typeface="Times New Roman" pitchFamily="18" charset="0"/>
            </a:endParaRPr>
          </a:p>
          <a:p>
            <a:pPr marL="259080" indent="0">
              <a:buNone/>
            </a:pPr>
            <a:r>
              <a:rPr lang="zh-CN" altLang="zh-CN" sz="2800" b="0" dirty="0">
                <a:ea typeface="华文楷体" pitchFamily="2" charset="-122"/>
                <a:cs typeface="Times New Roman" pitchFamily="18" charset="0"/>
              </a:rPr>
              <a:t>队满的条件为：</a:t>
            </a:r>
            <a:r>
              <a:rPr lang="en-US" altLang="zh-CN" sz="2800" b="0" dirty="0">
                <a:ea typeface="华文楷体" pitchFamily="2" charset="-122"/>
                <a:cs typeface="Times New Roman" pitchFamily="18" charset="0"/>
              </a:rPr>
              <a:t>(Rear+1</a:t>
            </a:r>
            <a:r>
              <a:rPr lang="zh-CN" altLang="en-US"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a:t>
            </a:r>
            <a:r>
              <a:rPr lang="en-US" altLang="zh-CN" sz="2800" b="0" dirty="0" err="1">
                <a:ea typeface="华文楷体" pitchFamily="2" charset="-122"/>
                <a:cs typeface="Times New Roman" pitchFamily="18" charset="0"/>
              </a:rPr>
              <a:t>maxSize</a:t>
            </a:r>
            <a:r>
              <a:rPr lang="en-US" altLang="zh-CN" sz="2800" b="0" dirty="0">
                <a:ea typeface="华文楷体" pitchFamily="2" charset="-122"/>
                <a:cs typeface="Times New Roman" pitchFamily="18" charset="0"/>
              </a:rPr>
              <a:t>= =Front</a:t>
            </a:r>
            <a:r>
              <a:rPr lang="zh-CN" altLang="zh-CN" sz="2800" b="0" dirty="0">
                <a:ea typeface="华文楷体" pitchFamily="2" charset="-122"/>
                <a:cs typeface="Times New Roman" pitchFamily="18" charset="0"/>
              </a:rPr>
              <a:t>。</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顺序优先队列：</a:t>
            </a:r>
            <a:endParaRPr lang="zh-CN" altLang="en-US"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390115" y="3144199"/>
              <a:ext cx="581114" cy="17088"/>
            </p14:xfrm>
          </p:contentPart>
        </mc:Choice>
        <mc:Fallback xmlns="">
          <p:pic>
            <p:nvPicPr>
              <p:cNvPr id="2" name="墨迹 1"/>
            </p:nvPicPr>
            <p:blipFill>
              <a:blip/>
            </p:blipFill>
            <p:spPr>
              <a:xfrm>
                <a:off x="1390115" y="3144199"/>
                <a:ext cx="581114" cy="17088"/>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2666287" y="3235335"/>
              <a:ext cx="2238998" cy="148096"/>
            </p14:xfrm>
          </p:contentPart>
        </mc:Choice>
        <mc:Fallback xmlns="">
          <p:pic>
            <p:nvPicPr>
              <p:cNvPr id="3" name="墨迹 2"/>
            </p:nvPicPr>
            <p:blipFill>
              <a:blip/>
            </p:blipFill>
            <p:spPr>
              <a:xfrm>
                <a:off x="2666287" y="3235335"/>
                <a:ext cx="2238998" cy="148096"/>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2370033" y="3736584"/>
              <a:ext cx="598206" cy="34176"/>
            </p14:xfrm>
          </p:contentPart>
        </mc:Choice>
        <mc:Fallback xmlns="">
          <p:pic>
            <p:nvPicPr>
              <p:cNvPr id="4" name="墨迹 3"/>
            </p:nvPicPr>
            <p:blipFill>
              <a:blip/>
            </p:blipFill>
            <p:spPr>
              <a:xfrm>
                <a:off x="2370033" y="3736584"/>
                <a:ext cx="598206" cy="34176"/>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3395528" y="4226441"/>
              <a:ext cx="2723260" cy="34177"/>
            </p14:xfrm>
          </p:contentPart>
        </mc:Choice>
        <mc:Fallback xmlns="">
          <p:pic>
            <p:nvPicPr>
              <p:cNvPr id="5" name="墨迹 4"/>
            </p:nvPicPr>
            <p:blipFill>
              <a:blip/>
            </p:blipFill>
            <p:spPr>
              <a:xfrm>
                <a:off x="3395528" y="4226441"/>
                <a:ext cx="2723260" cy="34177"/>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6278310" y="4625162"/>
              <a:ext cx="655177" cy="68352"/>
            </p14:xfrm>
          </p:contentPart>
        </mc:Choice>
        <mc:Fallback xmlns="">
          <p:pic>
            <p:nvPicPr>
              <p:cNvPr id="6" name="墨迹 5"/>
            </p:nvPicPr>
            <p:blipFill>
              <a:blip/>
            </p:blipFill>
            <p:spPr>
              <a:xfrm>
                <a:off x="6278310" y="4625162"/>
                <a:ext cx="655177" cy="68352"/>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1504059" y="5149196"/>
              <a:ext cx="524142" cy="39872"/>
            </p14:xfrm>
          </p:contentPart>
        </mc:Choice>
        <mc:Fallback xmlns="">
          <p:pic>
            <p:nvPicPr>
              <p:cNvPr id="7" name="墨迹 6"/>
            </p:nvPicPr>
            <p:blipFill>
              <a:blip/>
            </p:blipFill>
            <p:spPr>
              <a:xfrm>
                <a:off x="1504059" y="5149196"/>
                <a:ext cx="524142" cy="39872"/>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1093861" y="5639053"/>
              <a:ext cx="609600" cy="56960"/>
            </p14:xfrm>
          </p:contentPart>
        </mc:Choice>
        <mc:Fallback xmlns="">
          <p:pic>
            <p:nvPicPr>
              <p:cNvPr id="8" name="墨迹 7"/>
            </p:nvPicPr>
            <p:blipFill>
              <a:blip/>
            </p:blipFill>
            <p:spPr>
              <a:xfrm>
                <a:off x="1093861" y="5639053"/>
                <a:ext cx="609600" cy="569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3406923" y="2312581"/>
              <a:ext cx="1447088" cy="34176"/>
            </p14:xfrm>
          </p:contentPart>
        </mc:Choice>
        <mc:Fallback xmlns="">
          <p:pic>
            <p:nvPicPr>
              <p:cNvPr id="9" name="墨迹 8"/>
            </p:nvPicPr>
            <p:blipFill>
              <a:blip/>
            </p:blipFill>
            <p:spPr>
              <a:xfrm>
                <a:off x="3406923" y="2312581"/>
                <a:ext cx="1447088" cy="34176"/>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3190429" y="2232837"/>
              <a:ext cx="119641" cy="56960"/>
            </p14:xfrm>
          </p:contentPart>
        </mc:Choice>
        <mc:Fallback xmlns="">
          <p:pic>
            <p:nvPicPr>
              <p:cNvPr id="10" name="墨迹 9"/>
            </p:nvPicPr>
            <p:blipFill>
              <a:blip/>
            </p:blipFill>
            <p:spPr>
              <a:xfrm>
                <a:off x="3190429" y="2232837"/>
                <a:ext cx="119641" cy="56960"/>
              </a:xfrm>
              <a:prstGeom prst="rect"/>
            </p:spPr>
          </p:pic>
        </mc:Fallback>
      </mc:AlternateContent>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519106"/>
            <a:ext cx="11367649" cy="4702790"/>
          </a:xfrm>
        </p:spPr>
        <p:txBody>
          <a:bodyPr>
            <a:normAutofit/>
          </a:bodyPr>
          <a:lstStyle/>
          <a:p>
            <a:pPr marL="0" indent="0">
              <a:buNone/>
            </a:pPr>
            <a:r>
              <a:rPr lang="zh-CN" altLang="en-US" sz="2800" dirty="0">
                <a:ea typeface="华文楷体" pitchFamily="2" charset="-122"/>
                <a:cs typeface="Times New Roman" pitchFamily="18" charset="0"/>
              </a:rPr>
              <a:t>第二种策咯：</a:t>
            </a:r>
            <a:endParaRPr lang="en-US" altLang="zh-CN" sz="280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单链表中的结点按照元素优先级递减</a:t>
            </a:r>
            <a:r>
              <a:rPr lang="en-US" altLang="zh-CN" sz="2600" b="0" dirty="0">
                <a:ea typeface="华文楷体" pitchFamily="2" charset="-122"/>
                <a:cs typeface="Times New Roman" pitchFamily="18" charset="0"/>
              </a:rPr>
              <a:t>(</a:t>
            </a:r>
            <a:r>
              <a:rPr lang="zh-CN" altLang="zh-CN" sz="2600" b="0" dirty="0">
                <a:ea typeface="华文楷体" pitchFamily="2" charset="-122"/>
                <a:cs typeface="Times New Roman" pitchFamily="18" charset="0"/>
              </a:rPr>
              <a:t>即优先数增大</a:t>
            </a:r>
            <a:r>
              <a:rPr lang="en-US" altLang="zh-CN" sz="2600" b="0" dirty="0">
                <a:ea typeface="华文楷体" pitchFamily="2" charset="-122"/>
                <a:cs typeface="Times New Roman" pitchFamily="18" charset="0"/>
              </a:rPr>
              <a:t>)</a:t>
            </a:r>
            <a:r>
              <a:rPr lang="zh-CN" altLang="zh-CN" sz="2600" b="0" dirty="0">
                <a:ea typeface="华文楷体" pitchFamily="2" charset="-122"/>
                <a:cs typeface="Times New Roman" pitchFamily="18" charset="0"/>
              </a:rPr>
              <a:t>的次序排成一个有序链表，元素优先级最高的结点就是首结点。</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元素出队即删除首结点，时间复杂度为</a:t>
            </a:r>
            <a:r>
              <a:rPr lang="en-US" altLang="zh-CN" sz="2600" b="0" dirty="0">
                <a:ea typeface="华文楷体" pitchFamily="2" charset="-122"/>
                <a:cs typeface="Times New Roman" pitchFamily="18" charset="0"/>
              </a:rPr>
              <a:t>O(1)</a:t>
            </a:r>
            <a:r>
              <a:rPr lang="zh-CN" altLang="zh-CN" sz="2600" b="0" dirty="0">
                <a:ea typeface="华文楷体" pitchFamily="2" charset="-122"/>
                <a:cs typeface="Times New Roman" pitchFamily="18" charset="0"/>
              </a:rPr>
              <a:t>；</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元素进队，需要按照优先级大小找到合适的插入位置，然后插入元素结点，时间复杂度为</a:t>
            </a:r>
            <a:r>
              <a:rPr lang="en-US" altLang="zh-CN" sz="2600" b="0" dirty="0">
                <a:ea typeface="华文楷体" pitchFamily="2" charset="-122"/>
                <a:cs typeface="Times New Roman" pitchFamily="18" charset="0"/>
              </a:rPr>
              <a:t>O(n)</a:t>
            </a:r>
            <a:r>
              <a:rPr lang="zh-CN" altLang="zh-CN" sz="2600" b="0" dirty="0">
                <a:ea typeface="华文楷体" pitchFamily="2" charset="-122"/>
                <a:cs typeface="Times New Roman" pitchFamily="18" charset="0"/>
              </a:rPr>
              <a:t>，但不会引起队列中原有元素在内存中移动。</a:t>
            </a:r>
            <a:endParaRPr lang="en-US" altLang="zh-CN" sz="26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zh-CN" altLang="en-US" dirty="0">
                <a:latin typeface="华文楷体" pitchFamily="2" charset="-122"/>
                <a:ea typeface="华文楷体" pitchFamily="2" charset="-122"/>
              </a:rPr>
              <a:t>链式优先队列：</a:t>
            </a:r>
            <a:endParaRPr lang="zh-CN" altLang="en-US"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868680" y="4135305"/>
              <a:ext cx="586811" cy="56960"/>
            </p14:xfrm>
          </p:contentPart>
        </mc:Choice>
        <mc:Fallback xmlns="">
          <p:pic>
            <p:nvPicPr>
              <p:cNvPr id="2" name="墨迹 1"/>
            </p:nvPicPr>
            <p:blipFill>
              <a:blip/>
            </p:blipFill>
            <p:spPr>
              <a:xfrm>
                <a:off x="1868680" y="4135305"/>
                <a:ext cx="586811" cy="56960"/>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2951147" y="4670731"/>
              <a:ext cx="763425" cy="79744"/>
            </p14:xfrm>
          </p:contentPart>
        </mc:Choice>
        <mc:Fallback xmlns="">
          <p:pic>
            <p:nvPicPr>
              <p:cNvPr id="3" name="墨迹 2"/>
            </p:nvPicPr>
            <p:blipFill>
              <a:blip/>
            </p:blipFill>
            <p:spPr>
              <a:xfrm>
                <a:off x="2951147" y="4670731"/>
                <a:ext cx="763425" cy="79744"/>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891469" y="3554312"/>
              <a:ext cx="655177" cy="85440"/>
            </p14:xfrm>
          </p:contentPart>
        </mc:Choice>
        <mc:Fallback xmlns="">
          <p:pic>
            <p:nvPicPr>
              <p:cNvPr id="4" name="墨迹 3"/>
            </p:nvPicPr>
            <p:blipFill>
              <a:blip/>
            </p:blipFill>
            <p:spPr>
              <a:xfrm>
                <a:off x="1891469" y="3554312"/>
                <a:ext cx="655177" cy="8544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6756875" y="3440392"/>
              <a:ext cx="620994" cy="113920"/>
            </p14:xfrm>
          </p:contentPart>
        </mc:Choice>
        <mc:Fallback xmlns="">
          <p:pic>
            <p:nvPicPr>
              <p:cNvPr id="5" name="墨迹 4"/>
            </p:nvPicPr>
            <p:blipFill>
              <a:blip/>
            </p:blipFill>
            <p:spPr>
              <a:xfrm>
                <a:off x="6756875" y="3440392"/>
                <a:ext cx="620994" cy="113920"/>
              </a:xfrm>
              <a:prstGeom prst="rect"/>
            </p:spPr>
          </p:pic>
        </mc:Fallback>
      </mc:AlternateContent>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530363" y="2092436"/>
            <a:ext cx="3941876" cy="3251089"/>
          </a:xfrm>
        </p:spPr>
        <p:txBody>
          <a:bodyPr>
            <a:noAutofit/>
          </a:bodyPr>
          <a:lstStyle/>
          <a:p>
            <a:pPr>
              <a:lnSpc>
                <a:spcPct val="115000"/>
              </a:lnSpc>
              <a:buFont typeface="Wingdings"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 链式栈</a:t>
            </a:r>
            <a:endParaRPr lang="en-US" altLang="zh-CN" sz="2800" dirty="0">
              <a:latin typeface="华文楷体" pitchFamily="2" charset="-122"/>
              <a:ea typeface="华文楷体" pitchFamily="2" charset="-122"/>
            </a:endParaRPr>
          </a:p>
          <a:p>
            <a:pPr>
              <a:lnSpc>
                <a:spcPct val="115000"/>
              </a:lnSpc>
              <a:buFont typeface="Wingdings" charset="2"/>
              <a:buChar char="Ø"/>
              <a:defRPr/>
            </a:pPr>
            <a:r>
              <a:rPr lang="zh-CN" altLang="en-US" sz="2800" dirty="0">
                <a:latin typeface="华文楷体" pitchFamily="2" charset="-122"/>
                <a:ea typeface="华文楷体" pitchFamily="2" charset="-122"/>
              </a:rPr>
              <a:t>栈的应用</a:t>
            </a:r>
            <a:endParaRPr lang="en-US" altLang="zh-CN" sz="2800" dirty="0">
              <a:latin typeface="华文楷体" pitchFamily="2" charset="-122"/>
              <a:ea typeface="华文楷体" pitchFamily="2" charset="-122"/>
            </a:endParaRPr>
          </a:p>
        </p:txBody>
      </p:sp>
      <p:sp>
        <p:nvSpPr>
          <p:cNvPr id="2" name="文本框 1"/>
          <p:cNvSpPr txBox="1"/>
          <p:nvPr/>
        </p:nvSpPr>
        <p:spPr>
          <a:xfrm>
            <a:off x="6915151" y="2176532"/>
            <a:ext cx="4071937" cy="3082895"/>
          </a:xfrm>
          <a:prstGeom prst="rect">
            <a:avLst/>
          </a:prstGeom>
          <a:noFill/>
        </p:spPr>
        <p:txBody>
          <a:bodyPr wrap="square" rtlCol="0">
            <a:spAutoFit/>
          </a:bodyPr>
          <a:lstStyle/>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顺序循环队列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链式队列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latin typeface="华文楷体" pitchFamily="2" charset="-122"/>
                <a:ea typeface="华文楷体" pitchFamily="2" charset="-122"/>
              </a:rPr>
              <a:t>优先队列</a:t>
            </a:r>
            <a:endParaRPr lang="en-US" altLang="zh-CN" sz="2800" b="1" dirty="0">
              <a:latin typeface="华文楷体" pitchFamily="2" charset="-122"/>
              <a:ea typeface="华文楷体" pitchFamily="2" charset="-122"/>
            </a:endParaRPr>
          </a:p>
          <a:p>
            <a:pPr marL="228600" indent="-228600">
              <a:lnSpc>
                <a:spcPct val="115000"/>
              </a:lnSpc>
              <a:spcBef>
                <a:spcPts val="1000"/>
              </a:spcBef>
              <a:buClr>
                <a:schemeClr val="accent1"/>
              </a:buClr>
              <a:buSzPct val="100000"/>
              <a:buFont typeface="Wingdings" charset="2"/>
              <a:buChar char="Ø"/>
              <a:defRPr/>
            </a:pPr>
            <a:r>
              <a:rPr lang="zh-CN" altLang="en-US" sz="2800" b="1" dirty="0">
                <a:solidFill>
                  <a:srgbClr val="FF0000"/>
                </a:solidFill>
                <a:latin typeface="华文楷体" pitchFamily="2" charset="-122"/>
                <a:ea typeface="华文楷体" pitchFamily="2" charset="-122"/>
              </a:rPr>
              <a:t>队列的应用</a:t>
            </a:r>
            <a:endParaRPr lang="zh-CN" altLang="en-US" sz="2800" b="1" dirty="0">
              <a:solidFill>
                <a:srgbClr val="FF0000"/>
              </a:solidFill>
              <a:latin typeface="华文楷体" pitchFamily="2" charset="-122"/>
              <a:ea typeface="华文楷体" pitchFamily="2" charset="-122"/>
            </a:endParaRPr>
          </a:p>
        </p:txBody>
      </p:sp>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658699" y="1698010"/>
            <a:ext cx="11162883" cy="4205833"/>
          </a:xfrm>
        </p:spPr>
        <p:txBody>
          <a:bodyPr>
            <a:normAutofit/>
          </a:bodyPr>
          <a:lstStyle/>
          <a:p>
            <a:pPr>
              <a:buFont typeface="Wingdings" charset="2"/>
              <a:buChar char="Ø"/>
            </a:pPr>
            <a:r>
              <a:rPr lang="zh-CN" altLang="zh-CN" sz="2800" b="0" dirty="0">
                <a:ea typeface="华文楷体" pitchFamily="2" charset="-122"/>
                <a:cs typeface="Times New Roman" pitchFamily="18" charset="0"/>
              </a:rPr>
              <a:t>提供的服务窗口只有一个。</a:t>
            </a:r>
            <a:endParaRPr lang="en-US" altLang="zh-CN" sz="2800" b="0" dirty="0">
              <a:ea typeface="华文楷体" pitchFamily="2" charset="-122"/>
              <a:cs typeface="Times New Roman" pitchFamily="18" charset="0"/>
            </a:endParaRPr>
          </a:p>
          <a:p>
            <a:pPr>
              <a:buFont typeface="Wingdings" charset="2"/>
              <a:buChar char="Ø"/>
            </a:pPr>
            <a:r>
              <a:rPr lang="zh-CN" altLang="zh-CN" sz="2800" b="0" dirty="0">
                <a:ea typeface="华文楷体" pitchFamily="2" charset="-122"/>
                <a:cs typeface="Times New Roman" pitchFamily="18" charset="0"/>
              </a:rPr>
              <a:t>可以采用队列对单服务窗口进行模拟，完成诸如计算用户的平均等待时间等任务。其结果可以用来了解单服务窗口的情况，从而辅助对相关问题进行决策。</a:t>
            </a:r>
            <a:endParaRPr lang="en-US" altLang="zh-CN" sz="28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p:txBody>
          <a:bodyPr/>
          <a:lstStyle/>
          <a:p>
            <a:pPr marL="838200" indent="-838200">
              <a:defRPr/>
            </a:pPr>
            <a:r>
              <a:rPr lang="en-US" altLang="zh-CN" dirty="0"/>
              <a:t> </a:t>
            </a:r>
            <a:r>
              <a:rPr lang="zh-CN" altLang="en-US" dirty="0">
                <a:latin typeface="华文楷体" pitchFamily="2" charset="-122"/>
                <a:ea typeface="华文楷体" pitchFamily="2" charset="-122"/>
              </a:rPr>
              <a:t>队列的应用：单服务窗口模拟</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903716" cy="4595805"/>
          </a:xfrm>
        </p:spPr>
        <p:txBody>
          <a:bodyPr>
            <a:normAutofit/>
          </a:bodyPr>
          <a:lstStyle/>
          <a:p>
            <a:pPr marL="0" indent="0">
              <a:lnSpc>
                <a:spcPct val="115000"/>
              </a:lnSpc>
              <a:buNone/>
              <a:defRPr/>
            </a:pPr>
            <a:r>
              <a:rPr lang="zh-CN" altLang="zh-CN" sz="2800" b="0" dirty="0">
                <a:ea typeface="华文楷体" pitchFamily="2" charset="-122"/>
                <a:cs typeface="Times New Roman" pitchFamily="18" charset="0"/>
              </a:rPr>
              <a:t>假设有一个小的银行服务网点，每天早晨</a:t>
            </a:r>
            <a:r>
              <a:rPr lang="en-US" altLang="zh-CN" sz="2800" b="0" dirty="0">
                <a:ea typeface="华文楷体" pitchFamily="2" charset="-122"/>
                <a:cs typeface="Times New Roman" pitchFamily="18" charset="0"/>
              </a:rPr>
              <a:t>9</a:t>
            </a:r>
            <a:r>
              <a:rPr lang="zh-CN" altLang="zh-CN" sz="2800" b="0" dirty="0">
                <a:ea typeface="华文楷体" pitchFamily="2" charset="-122"/>
                <a:cs typeface="Times New Roman" pitchFamily="18" charset="0"/>
              </a:rPr>
              <a:t>点开门，下午</a:t>
            </a:r>
            <a:r>
              <a:rPr lang="en-US" altLang="zh-CN" sz="2800" b="0" dirty="0">
                <a:ea typeface="华文楷体" pitchFamily="2" charset="-122"/>
                <a:cs typeface="Times New Roman" pitchFamily="18" charset="0"/>
              </a:rPr>
              <a:t>4</a:t>
            </a:r>
            <a:r>
              <a:rPr lang="zh-CN" altLang="zh-CN" sz="2800" b="0" dirty="0">
                <a:ea typeface="华文楷体" pitchFamily="2" charset="-122"/>
                <a:cs typeface="Times New Roman" pitchFamily="18" charset="0"/>
              </a:rPr>
              <a:t>点</a:t>
            </a:r>
            <a:r>
              <a:rPr lang="en-US" altLang="zh-CN" sz="2800" b="0" dirty="0">
                <a:ea typeface="华文楷体" pitchFamily="2" charset="-122"/>
                <a:cs typeface="Times New Roman" pitchFamily="18" charset="0"/>
              </a:rPr>
              <a:t>30</a:t>
            </a:r>
            <a:r>
              <a:rPr lang="zh-CN" altLang="zh-CN" sz="2800" b="0" dirty="0">
                <a:ea typeface="华文楷体" pitchFamily="2" charset="-122"/>
                <a:cs typeface="Times New Roman" pitchFamily="18" charset="0"/>
              </a:rPr>
              <a:t>关门。一般开门后</a:t>
            </a:r>
            <a:r>
              <a:rPr lang="en-US" altLang="zh-CN" sz="2800" b="0" dirty="0">
                <a:ea typeface="华文楷体" pitchFamily="2" charset="-122"/>
                <a:cs typeface="Times New Roman" pitchFamily="18" charset="0"/>
              </a:rPr>
              <a:t>10</a:t>
            </a:r>
            <a:r>
              <a:rPr lang="zh-CN" altLang="zh-CN" sz="2800" b="0" dirty="0">
                <a:ea typeface="华文楷体" pitchFamily="2" charset="-122"/>
                <a:cs typeface="Times New Roman" pitchFamily="18" charset="0"/>
              </a:rPr>
              <a:t>分钟内就会来一个客户，之后在上一个客户来后</a:t>
            </a:r>
            <a:r>
              <a:rPr lang="en-US" altLang="zh-CN" sz="2800" b="0" dirty="0">
                <a:ea typeface="华文楷体" pitchFamily="2" charset="-122"/>
                <a:cs typeface="Times New Roman" pitchFamily="18" charset="0"/>
              </a:rPr>
              <a:t>5</a:t>
            </a:r>
            <a:r>
              <a:rPr lang="zh-CN" altLang="zh-CN" sz="2800" b="0" dirty="0">
                <a:ea typeface="华文楷体" pitchFamily="2" charset="-122"/>
                <a:cs typeface="Times New Roman" pitchFamily="18" charset="0"/>
              </a:rPr>
              <a:t>分钟内就会来下一个客户。</a:t>
            </a:r>
            <a:endParaRPr lang="en-US" altLang="zh-CN" sz="2800" b="0" dirty="0">
              <a:ea typeface="华文楷体" pitchFamily="2" charset="-122"/>
              <a:cs typeface="Times New Roman" pitchFamily="18" charset="0"/>
            </a:endParaRPr>
          </a:p>
          <a:p>
            <a:pPr marL="0" indent="0">
              <a:lnSpc>
                <a:spcPct val="115000"/>
              </a:lnSpc>
              <a:buNone/>
              <a:defRPr/>
            </a:pPr>
            <a:r>
              <a:rPr lang="zh-CN" altLang="zh-CN" sz="2800" b="0" dirty="0">
                <a:ea typeface="华文楷体" pitchFamily="2" charset="-122"/>
                <a:cs typeface="Times New Roman" pitchFamily="18" charset="0"/>
              </a:rPr>
              <a:t>客户办理的业务分三种：取款、存款、办理网银，它们分别耗时</a:t>
            </a:r>
            <a:r>
              <a:rPr lang="en-US" altLang="zh-CN" sz="2800" b="0" dirty="0">
                <a:ea typeface="华文楷体" pitchFamily="2" charset="-122"/>
                <a:cs typeface="Times New Roman" pitchFamily="18" charset="0"/>
              </a:rPr>
              <a:t>2</a:t>
            </a:r>
            <a:r>
              <a:rPr lang="zh-CN" altLang="zh-CN" sz="2800" b="0" dirty="0">
                <a:ea typeface="华文楷体" pitchFamily="2" charset="-122"/>
                <a:cs typeface="Times New Roman" pitchFamily="18" charset="0"/>
              </a:rPr>
              <a:t>分钟、</a:t>
            </a:r>
            <a:r>
              <a:rPr lang="en-US" altLang="zh-CN" sz="2800" b="0" dirty="0">
                <a:ea typeface="华文楷体" pitchFamily="2" charset="-122"/>
                <a:cs typeface="Times New Roman" pitchFamily="18" charset="0"/>
              </a:rPr>
              <a:t>4</a:t>
            </a:r>
            <a:r>
              <a:rPr lang="zh-CN" altLang="zh-CN" sz="2800" b="0" dirty="0">
                <a:ea typeface="华文楷体" pitchFamily="2" charset="-122"/>
                <a:cs typeface="Times New Roman" pitchFamily="18" charset="0"/>
              </a:rPr>
              <a:t>分钟和</a:t>
            </a:r>
            <a:r>
              <a:rPr lang="en-US" altLang="zh-CN" sz="2800" b="0" dirty="0">
                <a:ea typeface="华文楷体" pitchFamily="2" charset="-122"/>
                <a:cs typeface="Times New Roman" pitchFamily="18" charset="0"/>
              </a:rPr>
              <a:t>10</a:t>
            </a:r>
            <a:r>
              <a:rPr lang="zh-CN" altLang="zh-CN" sz="2800" b="0" dirty="0">
                <a:ea typeface="华文楷体" pitchFamily="2" charset="-122"/>
                <a:cs typeface="Times New Roman" pitchFamily="18" charset="0"/>
              </a:rPr>
              <a:t>分钟。</a:t>
            </a:r>
            <a:endParaRPr lang="en-US" altLang="zh-CN" sz="2800" b="0" dirty="0">
              <a:ea typeface="华文楷体" pitchFamily="2" charset="-122"/>
              <a:cs typeface="Times New Roman" pitchFamily="18" charset="0"/>
            </a:endParaRPr>
          </a:p>
          <a:p>
            <a:pPr marL="0" indent="0">
              <a:lnSpc>
                <a:spcPct val="115000"/>
              </a:lnSpc>
              <a:buNone/>
              <a:defRPr/>
            </a:pPr>
            <a:r>
              <a:rPr lang="zh-CN" altLang="zh-CN" sz="2800" b="0" dirty="0">
                <a:ea typeface="华文楷体" pitchFamily="2" charset="-122"/>
                <a:cs typeface="Times New Roman" pitchFamily="18" charset="0"/>
              </a:rPr>
              <a:t>试模拟这个服务网点的服务，并计算出每个客户的平均等待时间。</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单服务窗口模拟：</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46576"/>
            <a:ext cx="11903716" cy="4814467"/>
          </a:xfrm>
        </p:spPr>
        <p:txBody>
          <a:bodyPr>
            <a:normAutofit lnSpcReduction="10000"/>
          </a:bodyPr>
          <a:lstStyle/>
          <a:p>
            <a:pPr marL="0" indent="0">
              <a:buNone/>
            </a:pPr>
            <a:r>
              <a:rPr lang="zh-CN" altLang="zh-CN" b="0" dirty="0">
                <a:ea typeface="华文楷体" pitchFamily="2" charset="-122"/>
                <a:cs typeface="Times New Roman" pitchFamily="18" charset="0"/>
              </a:rPr>
              <a:t>设置客户属性：</a:t>
            </a:r>
            <a:endParaRPr lang="zh-CN" altLang="zh-CN" b="0" dirty="0">
              <a:ea typeface="华文楷体" pitchFamily="2" charset="-122"/>
              <a:cs typeface="Times New Roman" pitchFamily="18" charset="0"/>
            </a:endParaRPr>
          </a:p>
          <a:p>
            <a:pPr marL="0" indent="0">
              <a:buNone/>
            </a:pPr>
            <a:r>
              <a:rPr lang="en-US" altLang="zh-CN" b="0" dirty="0" err="1">
                <a:ea typeface="华文楷体" pitchFamily="2" charset="-122"/>
                <a:cs typeface="Times New Roman" pitchFamily="18" charset="0"/>
              </a:rPr>
              <a:t>struct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timeT</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int</a:t>
            </a:r>
            <a:r>
              <a:rPr lang="en-US" altLang="zh-CN" b="0" dirty="0">
                <a:ea typeface="华文楷体" pitchFamily="2" charset="-122"/>
                <a:cs typeface="Times New Roman" pitchFamily="18" charset="0"/>
              </a:rPr>
              <a:t> hour; </a:t>
            </a:r>
            <a:r>
              <a:rPr lang="en-US" altLang="zh-CN" b="0" dirty="0" err="1">
                <a:ea typeface="华文楷体" pitchFamily="2" charset="-122"/>
                <a:cs typeface="Times New Roman" pitchFamily="18" charset="0"/>
              </a:rPr>
              <a:t>int</a:t>
            </a:r>
            <a:r>
              <a:rPr lang="en-US" altLang="zh-CN" b="0" dirty="0">
                <a:ea typeface="华文楷体" pitchFamily="2" charset="-122"/>
                <a:cs typeface="Times New Roman" pitchFamily="18" charset="0"/>
              </a:rPr>
              <a:t> minute; };</a:t>
            </a:r>
            <a:endParaRPr lang="en-US" altLang="zh-CN" b="0" dirty="0">
              <a:ea typeface="华文楷体" pitchFamily="2" charset="-122"/>
              <a:cs typeface="Times New Roman" pitchFamily="18" charset="0"/>
            </a:endParaRPr>
          </a:p>
          <a:p>
            <a:pPr marL="0" indent="0">
              <a:buNone/>
            </a:pPr>
            <a:endParaRPr lang="zh-CN" altLang="zh-CN" b="0" dirty="0">
              <a:ea typeface="华文楷体" pitchFamily="2" charset="-122"/>
              <a:cs typeface="Times New Roman" pitchFamily="18" charset="0"/>
            </a:endParaRPr>
          </a:p>
          <a:p>
            <a:pPr marL="0" indent="0">
              <a:buNone/>
            </a:pPr>
            <a:r>
              <a:rPr lang="en-US" altLang="zh-CN" b="0" dirty="0" err="1">
                <a:ea typeface="华文楷体" pitchFamily="2" charset="-122"/>
                <a:cs typeface="Times New Roman" pitchFamily="18" charset="0"/>
              </a:rPr>
              <a:t>struct</a:t>
            </a:r>
            <a:r>
              <a:rPr lang="en-US" altLang="zh-CN" b="0" dirty="0">
                <a:ea typeface="华文楷体" pitchFamily="2" charset="-122"/>
                <a:cs typeface="Times New Roman" pitchFamily="18" charset="0"/>
              </a:rPr>
              <a:t> people</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timeT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arrivePoint</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客户到达银行时间</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timeT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serveBegin</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客户开始被服务时间</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int</a:t>
            </a:r>
            <a:r>
              <a:rPr lang="en-US" altLang="zh-CN" b="0" dirty="0">
                <a:ea typeface="华文楷体" pitchFamily="2" charset="-122"/>
                <a:cs typeface="Times New Roman" pitchFamily="18" charset="0"/>
              </a:rPr>
              <a:t> </a:t>
            </a:r>
            <a:r>
              <a:rPr lang="en-US" altLang="zh-CN" b="0" dirty="0" err="1">
                <a:ea typeface="华文楷体" pitchFamily="2" charset="-122"/>
                <a:cs typeface="Times New Roman" pitchFamily="18" charset="0"/>
              </a:rPr>
              <a:t>serveType</a:t>
            </a:r>
            <a:r>
              <a:rPr lang="en-US" altLang="zh-CN" b="0" dirty="0">
                <a:ea typeface="华文楷体" pitchFamily="2" charset="-122"/>
                <a:cs typeface="Times New Roman" pitchFamily="18" charset="0"/>
              </a:rPr>
              <a:t>;      //</a:t>
            </a:r>
            <a:r>
              <a:rPr lang="zh-CN" altLang="zh-CN" b="0" dirty="0">
                <a:ea typeface="华文楷体" pitchFamily="2" charset="-122"/>
                <a:cs typeface="Times New Roman" pitchFamily="18" charset="0"/>
              </a:rPr>
              <a:t>业务种类</a:t>
            </a:r>
            <a:r>
              <a:rPr lang="en-US" altLang="zh-CN" b="0" dirty="0">
                <a:ea typeface="华文楷体" pitchFamily="2" charset="-122"/>
                <a:cs typeface="Times New Roman" pitchFamily="18" charset="0"/>
              </a:rPr>
              <a:t>  0 </a:t>
            </a:r>
            <a:r>
              <a:rPr lang="zh-CN" altLang="zh-CN" b="0" dirty="0">
                <a:ea typeface="华文楷体" pitchFamily="2" charset="-122"/>
                <a:cs typeface="Times New Roman" pitchFamily="18" charset="0"/>
              </a:rPr>
              <a:t>存款</a:t>
            </a:r>
            <a:r>
              <a:rPr lang="en-US" altLang="zh-CN" b="0" dirty="0">
                <a:ea typeface="华文楷体" pitchFamily="2" charset="-122"/>
                <a:cs typeface="Times New Roman" pitchFamily="18" charset="0"/>
              </a:rPr>
              <a:t>  1</a:t>
            </a:r>
            <a:r>
              <a:rPr lang="zh-CN" altLang="zh-CN" b="0" dirty="0">
                <a:ea typeface="华文楷体" pitchFamily="2" charset="-122"/>
                <a:cs typeface="Times New Roman" pitchFamily="18" charset="0"/>
              </a:rPr>
              <a:t>取款</a:t>
            </a:r>
            <a:r>
              <a:rPr lang="en-US" altLang="zh-CN" b="0" dirty="0">
                <a:ea typeface="华文楷体" pitchFamily="2" charset="-122"/>
                <a:cs typeface="Times New Roman" pitchFamily="18" charset="0"/>
              </a:rPr>
              <a:t>  2</a:t>
            </a:r>
            <a:r>
              <a:rPr lang="zh-CN" altLang="zh-CN" b="0" dirty="0">
                <a:ea typeface="华文楷体" pitchFamily="2" charset="-122"/>
                <a:cs typeface="Times New Roman" pitchFamily="18" charset="0"/>
              </a:rPr>
              <a:t>办网银</a:t>
            </a:r>
            <a:endParaRPr lang="zh-CN" altLang="zh-CN" b="0" dirty="0">
              <a:ea typeface="华文楷体" pitchFamily="2" charset="-122"/>
              <a:cs typeface="Times New Roman" pitchFamily="18" charset="0"/>
            </a:endParaRPr>
          </a:p>
          <a:p>
            <a:pPr marL="0" indent="0">
              <a:buNone/>
            </a:pPr>
            <a:r>
              <a:rPr lang="en-US" altLang="zh-CN" b="0" dirty="0">
                <a:ea typeface="华文楷体" pitchFamily="2" charset="-122"/>
                <a:cs typeface="Times New Roman" pitchFamily="18" charset="0"/>
              </a:rPr>
              <a:t>};</a:t>
            </a:r>
            <a:endParaRPr lang="zh-CN" altLang="zh-CN" b="0" dirty="0">
              <a:ea typeface="华文楷体" pitchFamily="2" charset="-122"/>
              <a:cs typeface="Times New Roman"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单服务窗口模拟：</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360377" cy="4595805"/>
          </a:xfrm>
        </p:spPr>
        <p:txBody>
          <a:bodyPr>
            <a:normAutofit fontScale="85000" lnSpcReduction="20000"/>
          </a:bodyPr>
          <a:lstStyle/>
          <a:p>
            <a:pPr marL="0" indent="0">
              <a:buNone/>
            </a:pPr>
            <a:r>
              <a:rPr lang="zh-CN" altLang="zh-CN" sz="2800" dirty="0">
                <a:ea typeface="华文楷体" pitchFamily="2" charset="-122"/>
                <a:cs typeface="Times New Roman" pitchFamily="18" charset="0"/>
              </a:rPr>
              <a:t>入队操作：</a:t>
            </a:r>
            <a:endParaRPr lang="zh-CN" altLang="zh-CN" sz="280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第一个客户到达，到达时间为</a:t>
            </a:r>
            <a:r>
              <a:rPr lang="en-US" altLang="zh-CN" sz="2800" b="0" dirty="0">
                <a:ea typeface="华文楷体" pitchFamily="2" charset="-122"/>
                <a:cs typeface="Times New Roman" pitchFamily="18" charset="0"/>
              </a:rPr>
              <a:t>9</a:t>
            </a:r>
            <a:r>
              <a:rPr lang="zh-CN" altLang="zh-CN" sz="2800" b="0" dirty="0">
                <a:ea typeface="华文楷体" pitchFamily="2" charset="-122"/>
                <a:cs typeface="Times New Roman" pitchFamily="18" charset="0"/>
              </a:rPr>
              <a:t>点</a:t>
            </a:r>
            <a:r>
              <a:rPr lang="en-US" altLang="zh-CN" sz="2800" b="0" dirty="0">
                <a:ea typeface="华文楷体" pitchFamily="2" charset="-122"/>
                <a:cs typeface="Times New Roman" pitchFamily="18" charset="0"/>
              </a:rPr>
              <a:t>+m(0-10)</a:t>
            </a:r>
            <a:r>
              <a:rPr lang="zh-CN" altLang="zh-CN" sz="2800" b="0" dirty="0">
                <a:ea typeface="华文楷体" pitchFamily="2" charset="-122"/>
                <a:cs typeface="Times New Roman" pitchFamily="18" charset="0"/>
              </a:rPr>
              <a:t>分（随机），业务种类随机，被服务时间为该客户到达时间。描述完毕，第一个客户进队。</a:t>
            </a:r>
            <a:endParaRPr lang="zh-CN"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第二个客户到达，到达时间为第一个客户达到时间</a:t>
            </a:r>
            <a:r>
              <a:rPr lang="en-US" altLang="zh-CN" sz="2800" b="0" dirty="0">
                <a:ea typeface="华文楷体" pitchFamily="2" charset="-122"/>
                <a:cs typeface="Times New Roman" pitchFamily="18" charset="0"/>
              </a:rPr>
              <a:t>+m(0-5)</a:t>
            </a:r>
            <a:r>
              <a:rPr lang="zh-CN" altLang="zh-CN" sz="2800" b="0" dirty="0">
                <a:ea typeface="华文楷体" pitchFamily="2" charset="-122"/>
                <a:cs typeface="Times New Roman" pitchFamily="18" charset="0"/>
              </a:rPr>
              <a:t>分之间的随机值，业务种类随机，被服务时间为该客户到达时间和上一个客户结束服务时间的最大值。描述完毕，第二个客户进队。</a:t>
            </a:r>
            <a:endParaRPr lang="zh-CN"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第三个客户，计算到达时间、服务种类、开始时间，进队。</a:t>
            </a:r>
            <a:endParaRPr lang="zh-CN" altLang="zh-CN" sz="2800" b="0" dirty="0">
              <a:ea typeface="华文楷体" pitchFamily="2" charset="-122"/>
              <a:cs typeface="Times New Roman" pitchFamily="18" charset="0"/>
            </a:endParaRPr>
          </a:p>
          <a:p>
            <a:pPr marL="0" indent="0">
              <a:buNone/>
            </a:pPr>
            <a:r>
              <a:rPr lang="en-US" altLang="zh-CN" sz="2800" b="0" dirty="0">
                <a:ea typeface="华文楷体" pitchFamily="2" charset="-122"/>
                <a:cs typeface="Times New Roman" pitchFamily="18" charset="0"/>
              </a:rPr>
              <a:t>---</a:t>
            </a:r>
            <a:endParaRPr lang="zh-CN"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直到某个客户到达时间超过下午</a:t>
            </a:r>
            <a:r>
              <a:rPr lang="en-US" altLang="zh-CN" sz="2800" b="0" dirty="0">
                <a:ea typeface="华文楷体" pitchFamily="2" charset="-122"/>
                <a:cs typeface="Times New Roman" pitchFamily="18" charset="0"/>
              </a:rPr>
              <a:t>4</a:t>
            </a:r>
            <a:r>
              <a:rPr lang="zh-CN" altLang="zh-CN" sz="2800" b="0" dirty="0">
                <a:ea typeface="华文楷体" pitchFamily="2" charset="-122"/>
                <a:cs typeface="Times New Roman" pitchFamily="18" charset="0"/>
              </a:rPr>
              <a:t>：</a:t>
            </a:r>
            <a:r>
              <a:rPr lang="en-US" altLang="zh-CN" sz="2800" b="0" dirty="0">
                <a:ea typeface="华文楷体" pitchFamily="2" charset="-122"/>
                <a:cs typeface="Times New Roman" pitchFamily="18" charset="0"/>
              </a:rPr>
              <a:t>30</a:t>
            </a:r>
            <a:r>
              <a:rPr lang="zh-CN" altLang="zh-CN" sz="2800" b="0" dirty="0">
                <a:ea typeface="华文楷体" pitchFamily="2" charset="-122"/>
                <a:cs typeface="Times New Roman" pitchFamily="18" charset="0"/>
              </a:rPr>
              <a:t>，此时结束。试模拟这个服务网点的服务，并计算出每个客户的平均等待时间。</a:t>
            </a:r>
            <a:endParaRPr lang="en-US" altLang="zh-CN" sz="2800" b="0" dirty="0">
              <a:ea typeface="华文楷体" pitchFamily="2" charset="-122"/>
              <a:cs typeface="Times New Roman" pitchFamily="18" charset="0"/>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a:p>
            <a:pPr marL="1789430" indent="0">
              <a:lnSpc>
                <a:spcPct val="115000"/>
              </a:lnSpc>
              <a:buNone/>
              <a:defRPr/>
            </a:pPr>
            <a:endParaRPr lang="en-US"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单服务窗口模拟：</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579038" cy="4834345"/>
          </a:xfrm>
        </p:spPr>
        <p:txBody>
          <a:bodyPr>
            <a:normAutofit fontScale="92500" lnSpcReduction="10000"/>
          </a:bodyPr>
          <a:lstStyle/>
          <a:p>
            <a:pPr marL="0" indent="0">
              <a:buNone/>
            </a:pPr>
            <a:r>
              <a:rPr lang="zh-CN" altLang="zh-CN" sz="2800" dirty="0">
                <a:ea typeface="华文楷体" pitchFamily="2" charset="-122"/>
                <a:cs typeface="Times New Roman" pitchFamily="18" charset="0"/>
              </a:rPr>
              <a:t>出队操作：</a:t>
            </a:r>
            <a:endParaRPr lang="zh-CN" altLang="zh-CN" sz="280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反复出队，累计每个人的等待时间（服务开始时间</a:t>
            </a:r>
            <a:r>
              <a:rPr lang="en-US" altLang="zh-CN"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到达时间），直到队空。</a:t>
            </a:r>
            <a:endParaRPr lang="zh-CN" altLang="zh-CN" sz="2800" b="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计算每人的平均等待时间。</a:t>
            </a:r>
            <a:endParaRPr lang="en-US" altLang="zh-CN" sz="2800" b="0" dirty="0">
              <a:ea typeface="华文楷体" pitchFamily="2" charset="-122"/>
              <a:cs typeface="Times New Roman" pitchFamily="18" charset="0"/>
            </a:endParaRPr>
          </a:p>
          <a:p>
            <a:pPr marL="0" indent="0">
              <a:buNone/>
            </a:pPr>
            <a:r>
              <a:rPr lang="zh-CN" altLang="en-US" sz="2800" b="0" dirty="0">
                <a:ea typeface="华文楷体" pitchFamily="2" charset="-122"/>
                <a:cs typeface="Times New Roman" pitchFamily="18" charset="0"/>
              </a:rPr>
              <a:t>实现由同学课后自行完成。</a:t>
            </a:r>
            <a:endParaRPr lang="en-US" altLang="zh-CN" sz="2800" b="0" dirty="0">
              <a:ea typeface="华文楷体" pitchFamily="2" charset="-122"/>
              <a:cs typeface="Times New Roman" pitchFamily="18" charset="0"/>
            </a:endParaRPr>
          </a:p>
          <a:p>
            <a:pPr marL="0" indent="0">
              <a:buNone/>
            </a:pPr>
            <a:endParaRPr lang="en-US" altLang="zh-CN" sz="2800" b="0" dirty="0">
              <a:ea typeface="华文楷体" pitchFamily="2" charset="-122"/>
              <a:cs typeface="Times New Roman" pitchFamily="18" charset="0"/>
            </a:endParaRPr>
          </a:p>
          <a:p>
            <a:pPr marL="0" indent="0">
              <a:buNone/>
            </a:pPr>
            <a:r>
              <a:rPr lang="zh-CN" altLang="zh-CN" sz="2800" dirty="0">
                <a:ea typeface="华文楷体" pitchFamily="2" charset="-122"/>
                <a:cs typeface="Times New Roman" pitchFamily="18" charset="0"/>
              </a:rPr>
              <a:t>多窗口服务：</a:t>
            </a:r>
            <a:endParaRPr lang="en-US" altLang="zh-CN" sz="2800" dirty="0">
              <a:ea typeface="华文楷体" pitchFamily="2" charset="-122"/>
              <a:cs typeface="Times New Roman" pitchFamily="18" charset="0"/>
            </a:endParaRPr>
          </a:p>
          <a:p>
            <a:pPr marL="0" indent="0">
              <a:buNone/>
            </a:pPr>
            <a:r>
              <a:rPr lang="zh-CN" altLang="zh-CN" sz="2800" b="0" dirty="0">
                <a:ea typeface="华文楷体" pitchFamily="2" charset="-122"/>
                <a:cs typeface="Times New Roman" pitchFamily="18" charset="0"/>
              </a:rPr>
              <a:t>需要两个队列配合</a:t>
            </a:r>
            <a:r>
              <a:rPr lang="zh-CN" altLang="en-US"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在等待区等候的客户形成一个普通队列（先来先服务，即先进先出）</a:t>
            </a:r>
            <a:r>
              <a:rPr lang="zh-CN" altLang="en-US" sz="2800" b="0" dirty="0">
                <a:ea typeface="华文楷体" pitchFamily="2" charset="-122"/>
                <a:cs typeface="Times New Roman" pitchFamily="18" charset="0"/>
              </a:rPr>
              <a:t>。</a:t>
            </a:r>
            <a:r>
              <a:rPr lang="zh-CN" altLang="zh-CN" sz="2800" b="0" dirty="0">
                <a:ea typeface="华文楷体" pitchFamily="2" charset="-122"/>
                <a:cs typeface="Times New Roman" pitchFamily="18" charset="0"/>
              </a:rPr>
              <a:t>在各个窗口被服务的客户形成一个优先队列（先来的未必先出，先结束的先出）</a:t>
            </a:r>
            <a:endParaRPr lang="zh-CN" altLang="zh-CN" sz="2800" b="0" dirty="0">
              <a:ea typeface="华文楷体" pitchFamily="2" charset="-122"/>
              <a:cs typeface="Times New Roman" pitchFamily="18" charset="0"/>
            </a:endParaRPr>
          </a:p>
          <a:p>
            <a:pPr marL="0" indent="0">
              <a:buNone/>
            </a:pPr>
            <a:endParaRPr lang="en-US" altLang="zh-CN" sz="2800" b="0" dirty="0">
              <a:latin typeface="华文楷体" pitchFamily="2" charset="-122"/>
              <a:ea typeface="华文楷体" pitchFamily="2" charset="-122"/>
            </a:endParaRPr>
          </a:p>
          <a:p>
            <a:pPr marL="0" indent="0">
              <a:buNone/>
            </a:pPr>
            <a:endParaRPr lang="zh-CN" altLang="zh-CN" sz="2800" b="0" dirty="0">
              <a:latin typeface="华文楷体" pitchFamily="2" charset="-122"/>
              <a:ea typeface="华文楷体" pitchFamily="2" charset="-122"/>
            </a:endParaRPr>
          </a:p>
        </p:txBody>
      </p:sp>
      <p:sp>
        <p:nvSpPr>
          <p:cNvPr id="8194" name="Rectangle 2"/>
          <p:cNvSpPr>
            <a14:cpLocks xmlns:a14="http://schemas.microsoft.com/office/drawing/2010/main" noGrp="1" noRot="1" noChangeArrowheads="1"/>
          </p:cNvSpPr>
          <p:nvPr>
            <p:ph type="title"/>
          </p:nvPr>
        </p:nvSpPr>
        <p:spPr>
          <a:xfrm>
            <a:off x="288284" y="754146"/>
            <a:ext cx="11162884" cy="574183"/>
          </a:xfrm>
        </p:spPr>
        <p:txBody>
          <a:bodyPr/>
          <a:lstStyle/>
          <a:p>
            <a:pPr marL="838200" indent="-838200">
              <a:defRPr/>
            </a:pPr>
            <a:r>
              <a:rPr lang="zh-CN" altLang="en-US" dirty="0">
                <a:latin typeface="华文楷体" pitchFamily="2" charset="-122"/>
                <a:ea typeface="华文楷体" pitchFamily="2" charset="-122"/>
              </a:rPr>
              <a:t>单服务窗口模拟：</a:t>
            </a:r>
            <a:endParaRPr lang="zh-CN" altLang="en-US" dirty="0">
              <a:latin typeface="华文楷体" pitchFamily="2" charset="-122"/>
              <a:ea typeface="华文楷体" pitchFamily="2" charset="-122"/>
            </a:endParaRPr>
          </a:p>
        </p:txBody>
      </p:sp>
    </p:spTree>
  </p:cSld>
  <p:clrMapOvr>
    <a:masterClrMapping/>
  </p:clrMapOvr>
  <p:transition spd="med">
    <p:push/>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73996" y="1766480"/>
            <a:ext cx="11579038" cy="4634320"/>
          </a:xfrm>
        </p:spPr>
        <p:txBody>
          <a:bodyPr>
            <a:noAutofit/>
          </a:bodyPr>
          <a:lstStyle/>
          <a:p>
            <a:pPr>
              <a:buFont typeface="Wingdings" charset="2"/>
              <a:buChar char="Ø"/>
            </a:pPr>
            <a:r>
              <a:rPr lang="zh-CN" altLang="zh-CN" sz="2600" b="0" dirty="0">
                <a:ea typeface="华文楷体" pitchFamily="2" charset="-122"/>
                <a:cs typeface="Times New Roman" pitchFamily="18" charset="0"/>
              </a:rPr>
              <a:t>栈虽然只是在线性表操作基础上限制了插入、删除的位置，使得插入、删除操作只能在表的同一个端点进行，可以看作是一种操作受限的线性表。</a:t>
            </a:r>
            <a:endParaRPr lang="en-US" altLang="zh-CN" sz="2600" b="0" dirty="0">
              <a:ea typeface="华文楷体" pitchFamily="2" charset="-122"/>
              <a:cs typeface="Times New Roman" pitchFamily="18" charset="0"/>
            </a:endParaRPr>
          </a:p>
          <a:p>
            <a:pPr>
              <a:buFont typeface="Wingdings" charset="2"/>
              <a:buChar char="Ø"/>
            </a:pPr>
            <a:r>
              <a:rPr lang="zh-CN" altLang="en-US" sz="2600" b="0" dirty="0">
                <a:ea typeface="华文楷体" pitchFamily="2" charset="-122"/>
                <a:cs typeface="Times New Roman" pitchFamily="18" charset="0"/>
              </a:rPr>
              <a:t>栈在</a:t>
            </a:r>
            <a:r>
              <a:rPr lang="zh-CN" altLang="zh-CN" sz="2600" b="0" dirty="0">
                <a:ea typeface="华文楷体" pitchFamily="2" charset="-122"/>
                <a:cs typeface="Times New Roman" pitchFamily="18" charset="0"/>
              </a:rPr>
              <a:t>计算机系统中是一种非常重要的数据结构。除了介绍的符号匹配、表达式计算，系统在函数调用、递归中都是以栈结构为基础。</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栈有着非常独特的一组常见操作：进栈、出栈、求栈顶元素、判栈空、判栈满等。</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在物理实现上虽然可以有顺序和链式两种存储方式，鉴于其操作都在一端进行，顺序存储是栈最常使用的存储方式。</a:t>
            </a:r>
            <a:endParaRPr lang="zh-CN" altLang="zh-CN" sz="26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itchFamily="2" charset="-122"/>
                <a:ea typeface="华文楷体" pitchFamily="2" charset="-122"/>
              </a:rPr>
              <a:t>小结</a:t>
            </a:r>
            <a:endParaRPr lang="zh-CN" altLang="en-US" sz="3600"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008119" y="2585990"/>
              <a:ext cx="1686370" cy="79744"/>
            </p14:xfrm>
          </p:contentPart>
        </mc:Choice>
        <mc:Fallback xmlns="">
          <p:pic>
            <p:nvPicPr>
              <p:cNvPr id="2" name="墨迹 1"/>
            </p:nvPicPr>
            <p:blipFill>
              <a:blip/>
            </p:blipFill>
            <p:spPr>
              <a:xfrm>
                <a:off x="3008119" y="2585990"/>
                <a:ext cx="1686370" cy="79744"/>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786213" y="2096132"/>
              <a:ext cx="404500" cy="5696"/>
            </p14:xfrm>
          </p:contentPart>
        </mc:Choice>
        <mc:Fallback xmlns="">
          <p:pic>
            <p:nvPicPr>
              <p:cNvPr id="3" name="墨迹 2"/>
            </p:nvPicPr>
            <p:blipFill>
              <a:blip/>
            </p:blipFill>
            <p:spPr>
              <a:xfrm>
                <a:off x="786213" y="2096132"/>
                <a:ext cx="404500" cy="5696"/>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344538" y="5696013"/>
              <a:ext cx="1162228" cy="56960"/>
            </p14:xfrm>
          </p:contentPart>
        </mc:Choice>
        <mc:Fallback xmlns="">
          <p:pic>
            <p:nvPicPr>
              <p:cNvPr id="4" name="墨迹 3"/>
            </p:nvPicPr>
            <p:blipFill>
              <a:blip/>
            </p:blipFill>
            <p:spPr>
              <a:xfrm>
                <a:off x="1344538" y="5696013"/>
                <a:ext cx="1162228" cy="56960"/>
              </a:xfrm>
              <a:prstGeom prst="rect"/>
            </p:spPr>
          </p:pic>
        </mc:Fallback>
      </mc:AlternateContent>
    </p:spTree>
  </p:cSld>
  <p:clrMapOvr>
    <a:masterClrMapping/>
  </p:clrMapOvr>
  <p:transition spd="med">
    <p:push/>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14:cpLocks xmlns:a14="http://schemas.microsoft.com/office/drawing/2010/main" noGrp="1" noChangeArrowheads="1"/>
          </p:cNvSpPr>
          <p:nvPr>
            <p:ph sz="quarter" idx="10"/>
          </p:nvPr>
        </p:nvSpPr>
        <p:spPr>
          <a:xfrm>
            <a:off x="288284" y="1566455"/>
            <a:ext cx="11579038" cy="4834345"/>
          </a:xfrm>
        </p:spPr>
        <p:txBody>
          <a:bodyPr>
            <a:noAutofit/>
          </a:bodyPr>
          <a:lstStyle/>
          <a:p>
            <a:pPr>
              <a:buFont typeface="Wingdings" charset="2"/>
              <a:buChar char="Ø"/>
            </a:pPr>
            <a:r>
              <a:rPr lang="zh-CN" altLang="zh-CN" sz="2600" b="0" dirty="0">
                <a:ea typeface="华文楷体" pitchFamily="2" charset="-122"/>
                <a:cs typeface="Times New Roman" pitchFamily="18" charset="0"/>
              </a:rPr>
              <a:t>队列可看作是限制了插入、删除操作位置的另外一种线性表，元素的插入、删除分别在表的两端进行。</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除了日常生活中看到的实际队列可以用它来实现，计算机操作系统中许多对象的管理都利用了队列，如打印队列、进程队列等，因此它也是一种重要的数据结构。</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队列的常见操作对照生活经验是最容易想到的：进队、出队、求队首元素、判空、判满等。</a:t>
            </a:r>
            <a:endParaRPr lang="en-US" altLang="zh-CN" sz="2600" b="0" dirty="0">
              <a:ea typeface="华文楷体" pitchFamily="2" charset="-122"/>
              <a:cs typeface="Times New Roman" pitchFamily="18" charset="0"/>
            </a:endParaRPr>
          </a:p>
          <a:p>
            <a:pPr>
              <a:buFont typeface="Wingdings" charset="2"/>
              <a:buChar char="Ø"/>
            </a:pPr>
            <a:r>
              <a:rPr lang="zh-CN" altLang="zh-CN" sz="2600" b="0" dirty="0">
                <a:ea typeface="华文楷体" pitchFamily="2" charset="-122"/>
                <a:cs typeface="Times New Roman" pitchFamily="18" charset="0"/>
              </a:rPr>
              <a:t>队列的顺序循环存储和链式存储的时间复杂度都是</a:t>
            </a:r>
            <a:r>
              <a:rPr lang="en-US" altLang="zh-CN" sz="2600" b="0" dirty="0">
                <a:ea typeface="华文楷体" pitchFamily="2" charset="-122"/>
                <a:cs typeface="Times New Roman" pitchFamily="18" charset="0"/>
              </a:rPr>
              <a:t>O(1)</a:t>
            </a:r>
            <a:r>
              <a:rPr lang="zh-CN" altLang="zh-CN" sz="2600" b="0" dirty="0">
                <a:ea typeface="华文楷体" pitchFamily="2" charset="-122"/>
                <a:cs typeface="Times New Roman" pitchFamily="18" charset="0"/>
              </a:rPr>
              <a:t>，考虑到链式存储每个结点额外的空间开销，顺序循环队列是最常用的存储结构。</a:t>
            </a:r>
            <a:endParaRPr lang="zh-CN" altLang="zh-CN" sz="2600" b="0" dirty="0">
              <a:ea typeface="华文楷体" pitchFamily="2" charset="-122"/>
              <a:cs typeface="Times New Roman" pitchFamily="18" charset="0"/>
            </a:endParaRPr>
          </a:p>
        </p:txBody>
      </p:sp>
      <p:sp>
        <p:nvSpPr>
          <p:cNvPr id="8194" name="Rectangle 2"/>
          <p:cNvSpPr>
            <a14:cpLocks xmlns:a14="http://schemas.microsoft.com/office/drawing/2010/main"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itchFamily="2" charset="-122"/>
                <a:ea typeface="华文楷体" pitchFamily="2" charset="-122"/>
              </a:rPr>
              <a:t>小结</a:t>
            </a:r>
            <a:endParaRPr lang="zh-CN" altLang="en-US" sz="3600" dirty="0">
              <a:latin typeface="华文楷体" pitchFamily="2" charset="-122"/>
              <a:ea typeface="华文楷体"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695057" y="1765764"/>
              <a:ext cx="620995" cy="45568"/>
            </p14:xfrm>
          </p:contentPart>
        </mc:Choice>
        <mc:Fallback xmlns="">
          <p:pic>
            <p:nvPicPr>
              <p:cNvPr id="2" name="墨迹 1"/>
            </p:nvPicPr>
            <p:blipFill>
              <a:blip/>
            </p:blipFill>
            <p:spPr>
              <a:xfrm>
                <a:off x="695057" y="1765764"/>
                <a:ext cx="620995" cy="45568"/>
              </a:xfrm>
              <a:prstGeom prst="rect"/>
            </p:spPr>
          </p:pic>
        </mc:Fallback>
      </mc:AlternateContent>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2734654" y="2323973"/>
              <a:ext cx="1646490" cy="34176"/>
            </p14:xfrm>
          </p:contentPart>
        </mc:Choice>
        <mc:Fallback xmlns="">
          <p:pic>
            <p:nvPicPr>
              <p:cNvPr id="3" name="墨迹 2"/>
            </p:nvPicPr>
            <p:blipFill>
              <a:blip/>
            </p:blipFill>
            <p:spPr>
              <a:xfrm>
                <a:off x="2734654" y="2323973"/>
                <a:ext cx="1646490" cy="34176"/>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4238713" y="6037774"/>
              <a:ext cx="5423732" cy="45568"/>
            </p14:xfrm>
          </p:contentPart>
        </mc:Choice>
        <mc:Fallback xmlns="">
          <p:pic>
            <p:nvPicPr>
              <p:cNvPr id="4" name="墨迹 3"/>
            </p:nvPicPr>
            <p:blipFill>
              <a:blip/>
            </p:blipFill>
            <p:spPr>
              <a:xfrm>
                <a:off x="4238713" y="6037774"/>
                <a:ext cx="5423732" cy="45568"/>
              </a:xfrm>
              <a:prstGeom prst="rect"/>
            </p:spPr>
          </p:pic>
        </mc:Fallback>
      </mc:AlternateContent>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14:cpLocks xmlns:a14="http://schemas.microsoft.com/office/drawing/2010/main" noGrp="1" noRot="1" noChangeAspect="1" noMove="1" noResize="1" noEditPoints="1" noAdjustHandles="1" noChangeArrowheads="1" noChangeShapeType="1"/>
              </p:cNvSpPr>
              <p:nvPr>
                <p:ph sz="quarter" idx="10"/>
              </p:nvPr>
            </p:nvSpPr>
            <p:spPr>
              <a:xfrm>
                <a:off x="259709" y="1795056"/>
                <a:ext cx="11579038" cy="2348320"/>
              </a:xfrm>
              <a:blipFill rotWithShape="1">
                <a:blip r:embed="rId1"/>
                <a:stretch>
                  <a:fillRect l="-843"/>
                </a:stretch>
              </a:blipFill>
            </p:spPr>
            <p:txBody>
              <a:bodyPr/>
              <a:lstStyle/>
              <a:p>
                <a:r>
                  <a:rPr lang="zh-CN" altLang="en-US">
                    <a:noFill/>
                  </a:rPr>
                  <a:t> </a:t>
                </a:r>
                <a:endParaRPr lang="zh-CN" altLang="en-US">
                  <a:noFill/>
                </a:endParaRPr>
              </a:p>
            </p:txBody>
          </p:sp>
        </mc:Choice>
        <mc:Fallback>
          <p:sp>
            <p:nvSpPr>
              <p:cNvPr id="8195" name="Rectangle 3"/>
              <p:cNvSpPr>
                <a14:cpLocks xmlns:a14="http://schemas.microsoft.com/office/drawing/2010/main" noGrp="1" noRot="1" noChangeAspect="1" noMove="1" noResize="1" noEditPoints="1" noAdjustHandles="1" noChangeArrowheads="1" noChangeShapeType="1"/>
              </p:cNvSpPr>
              <p:nvPr>
                <p:ph sz="quarter" idx="10"/>
              </p:nvPr>
            </p:nvSpPr>
            <p:spPr>
              <a:xfrm>
                <a:off x="259709" y="1795056"/>
                <a:ext cx="11579038" cy="2348320"/>
              </a:xfrm>
              <a:blipFill rotWithShape="1">
                <a:blip r:embed="rId1"/>
                <a:stretch>
                  <a:fillRect l="-843"/>
                </a:stretch>
              </a:blipFill>
            </p:spPr>
            <p:txBody>
              <a:bodyPr/>
              <a:lstStyle/>
              <a:p>
                <a:r>
                  <a:rPr lang="zh-CN" altLang="en-US">
                    <a:noFill/>
                  </a:rPr>
                  <a:t> </a:t>
                </a:r>
                <a:endParaRPr lang="zh-CN" altLang="en-US">
                  <a:noFill/>
                </a:endParaRPr>
              </a:p>
            </p:txBody>
          </p:sp>
        </mc:Fallback>
      </mc:AlternateContent>
      <p:sp>
        <p:nvSpPr>
          <p:cNvPr id="8194" name="Rectangle 2"/>
          <p:cNvSpPr>
            <a14:cpLocks xmlns:a14="http://schemas.microsoft.com/office/drawing/2010/main" noGrp="1" noRot="1" noChangeArrowheads="1"/>
          </p:cNvSpPr>
          <p:nvPr>
            <p:ph type="title"/>
          </p:nvPr>
        </p:nvSpPr>
        <p:spPr>
          <a:xfrm>
            <a:off x="5046021" y="783266"/>
            <a:ext cx="1340491" cy="574183"/>
          </a:xfrm>
        </p:spPr>
        <p:txBody>
          <a:bodyPr>
            <a:noAutofit/>
          </a:bodyPr>
          <a:lstStyle/>
          <a:p>
            <a:pPr marL="838200" indent="-838200">
              <a:defRPr/>
            </a:pPr>
            <a:r>
              <a:rPr lang="zh-CN" altLang="en-US" sz="3600" dirty="0">
                <a:latin typeface="华文楷体" pitchFamily="2" charset="-122"/>
                <a:ea typeface="华文楷体" pitchFamily="2" charset="-122"/>
              </a:rPr>
              <a:t>小结</a:t>
            </a:r>
            <a:endParaRPr lang="zh-CN" altLang="en-US" sz="3600" dirty="0">
              <a:latin typeface="华文楷体" pitchFamily="2" charset="-122"/>
              <a:ea typeface="华文楷体" pitchFamily="2" charset="-122"/>
            </a:endParaRPr>
          </a:p>
        </p:txBody>
      </p:sp>
    </p:spTree>
  </p:cSld>
  <p:clrMapOvr>
    <a:masterClrMapping/>
  </p:clrMapOvr>
  <p:transition spd="med">
    <p:push/>
  </p:transition>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0</Words>
  <Application/>
  <PresentationFormat>宽屏</PresentationFormat>
  <Paragraphs>987</Paragraphs>
  <Slides>0</Slides>
  <Notes>96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98</vt:i4>
      </vt:variant>
    </vt:vector>
  </HeadingPairs>
  <TitlesOfParts>
    <vt:vector size="112" baseType="lpstr">
      <vt:lpstr>Arial</vt:lpstr>
      <vt:lpstr>宋体</vt:lpstr>
      <vt:lpstr>Wingdings</vt:lpstr>
      <vt:lpstr>Calibri</vt:lpstr>
      <vt:lpstr>Times New Roman</vt:lpstr>
      <vt:lpstr>微软雅黑</vt:lpstr>
      <vt:lpstr>华文楷体</vt:lpstr>
      <vt:lpstr>Garamond</vt:lpstr>
      <vt:lpstr>楷体_GB2312</vt:lpstr>
      <vt:lpstr>Symbol</vt:lpstr>
      <vt:lpstr>黑体</vt:lpstr>
      <vt:lpstr>等线 Light</vt:lpstr>
      <vt:lpstr>等线</vt:lpstr>
      <vt:lpstr>2016-VI主题-蓝</vt:lpstr>
      <vt:lpstr>第三章  栈和队列</vt:lpstr>
      <vt:lpstr>PowerPoint 演示文稿</vt:lpstr>
      <vt:lpstr>栈的定义：</vt:lpstr>
      <vt:lpstr>栈的定义：</vt:lpstr>
      <vt:lpstr>栈相关术语：</vt:lpstr>
      <vt:lpstr>栈相关术语：</vt:lpstr>
      <vt:lpstr>栈的抽象数据类型：</vt:lpstr>
      <vt:lpstr>PowerPoint 演示文稿</vt:lpstr>
      <vt:lpstr> 顺序栈：</vt:lpstr>
      <vt:lpstr> 顺序栈类的声明：</vt:lpstr>
      <vt:lpstr> 顺序栈类的声明：</vt:lpstr>
      <vt:lpstr> 顺序栈类成员函数的实现：</vt:lpstr>
      <vt:lpstr> 顺序栈类成员函数的实现：</vt:lpstr>
      <vt:lpstr>基本操作效率分析：</vt:lpstr>
      <vt:lpstr>顺序栈的应用（测试）</vt:lpstr>
      <vt:lpstr>顺序栈结构的应用(main.cpp)</vt:lpstr>
      <vt:lpstr>顺序栈结构的应用(main.cpp)</vt:lpstr>
      <vt:lpstr>共享栈：</vt:lpstr>
      <vt:lpstr>共享栈</vt:lpstr>
      <vt:lpstr>双共享栈</vt:lpstr>
      <vt:lpstr>PowerPoint 演示文稿</vt:lpstr>
      <vt:lpstr> 链式栈：</vt:lpstr>
      <vt:lpstr>链式栈基本操作分析：</vt:lpstr>
      <vt:lpstr>链式栈类的声明</vt:lpstr>
      <vt:lpstr>链式栈类的声明</vt:lpstr>
      <vt:lpstr>链式栈基本操作的实现</vt:lpstr>
      <vt:lpstr>链式栈基本操作的实现</vt:lpstr>
      <vt:lpstr>链式栈基本操作的实现</vt:lpstr>
      <vt:lpstr>链式栈性能分析：</vt:lpstr>
      <vt:lpstr>PowerPoint 演示文稿</vt:lpstr>
      <vt:lpstr>PowerPoint 演示文稿</vt:lpstr>
      <vt:lpstr>PowerPoint 演示文稿</vt:lpstr>
      <vt:lpstr> 括号配对：</vt:lpstr>
      <vt:lpstr>括号匹配算法：</vt:lpstr>
      <vt:lpstr>核心而简单的算术表达式中括号匹配检测程序：</vt:lpstr>
      <vt:lpstr>核心而简单的算术表达式中括号匹配检测程序：</vt:lpstr>
      <vt:lpstr>核心而简单的算术表达式中括号匹配检测程序：</vt:lpstr>
      <vt:lpstr>PowerPoint 演示文稿</vt:lpstr>
      <vt:lpstr> 表达式计算：</vt:lpstr>
      <vt:lpstr>表达式计算</vt:lpstr>
      <vt:lpstr>后缀式的计算</vt:lpstr>
      <vt:lpstr>计算后缀式： 以5 7 2 3*-*8 2/+为例</vt:lpstr>
      <vt:lpstr>计算后缀式：</vt:lpstr>
      <vt:lpstr>计算后缀式算法实现</vt:lpstr>
      <vt:lpstr>PowerPoint 演示文稿</vt:lpstr>
      <vt:lpstr>中缀式转后缀式</vt:lpstr>
      <vt:lpstr>中缀式转后缀式算法示例：5*(7-2*3)+8/2转换为 5 7 2 3*-*8 2/+</vt:lpstr>
      <vt:lpstr>中缀式转后缀式算法分析：</vt:lpstr>
      <vt:lpstr>中缀式转后缀式算法分析：</vt:lpstr>
      <vt:lpstr>中缀式转后缀式算法：</vt:lpstr>
      <vt:lpstr>中缀转后缀式算法实现</vt:lpstr>
      <vt:lpstr>中缀转后缀式算法实现</vt:lpstr>
      <vt:lpstr>中缀转后缀式算法实现</vt:lpstr>
      <vt:lpstr>PowerPoint 演示文稿</vt:lpstr>
      <vt:lpstr>PowerPoint 演示文稿</vt:lpstr>
      <vt:lpstr>练习：已知入栈顺序为1、2、3、4，以下出栈顺序哪个是错误的？</vt:lpstr>
      <vt:lpstr>PowerPoint 演示文稿</vt:lpstr>
      <vt:lpstr>队列的定义：</vt:lpstr>
      <vt:lpstr>队列的定义：</vt:lpstr>
      <vt:lpstr>队列的基本操作：</vt:lpstr>
      <vt:lpstr>队列的抽象数据类型：</vt:lpstr>
      <vt:lpstr>PowerPoint 演示文稿</vt:lpstr>
      <vt:lpstr> 顺序队列：</vt:lpstr>
      <vt:lpstr> 顺序队列：</vt:lpstr>
      <vt:lpstr>PowerPoint 演示文稿</vt:lpstr>
      <vt:lpstr>队头位置不固定</vt:lpstr>
      <vt:lpstr> 顺序循环队列：</vt:lpstr>
      <vt:lpstr>PowerPoint 演示文稿</vt:lpstr>
      <vt:lpstr> 顺序循环队列类的定义：</vt:lpstr>
      <vt:lpstr> 顺序循环队列类的定义：</vt:lpstr>
      <vt:lpstr> 顺序循环队列类成员函数的实现：</vt:lpstr>
      <vt:lpstr>PowerPoint 演示文稿</vt:lpstr>
      <vt:lpstr>PowerPoint 演示文稿</vt:lpstr>
      <vt:lpstr>PowerPoint 演示文稿</vt:lpstr>
      <vt:lpstr> 链式队列：</vt:lpstr>
      <vt:lpstr>PowerPoint 演示文稿</vt:lpstr>
      <vt:lpstr> 链式队列类的定义：</vt:lpstr>
      <vt:lpstr> 链式队列类的定义：</vt:lpstr>
      <vt:lpstr>PowerPoint 演示文稿</vt:lpstr>
      <vt:lpstr> 链式队列类成员函数的实现：</vt:lpstr>
      <vt:lpstr> 链式队列类成员函数的实现：</vt:lpstr>
      <vt:lpstr> 链式队列类成员函数的实现：</vt:lpstr>
      <vt:lpstr> 链式队列类成员函数的实现：</vt:lpstr>
      <vt:lpstr>PowerPoint 演示文稿</vt:lpstr>
      <vt:lpstr>优先队列：</vt:lpstr>
      <vt:lpstr>顺序优先队列：</vt:lpstr>
      <vt:lpstr>顺序优先队列：</vt:lpstr>
      <vt:lpstr>顺序优先队列：</vt:lpstr>
      <vt:lpstr>链式优先队列：</vt:lpstr>
      <vt:lpstr>PowerPoint 演示文稿</vt:lpstr>
      <vt:lpstr> 队列的应用：单服务窗口模拟</vt:lpstr>
      <vt:lpstr>单服务窗口模拟：</vt:lpstr>
      <vt:lpstr>单服务窗口模拟：</vt:lpstr>
      <vt:lpstr>单服务窗口模拟：</vt:lpstr>
      <vt:lpstr>单服务窗口模拟：</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iPad</cp:lastModifiedBy>
  <cp:revision>469</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FCB5A47F339E1AEFE74F3A68996C38CF_32</vt:lpwstr>
  </property>
  <property fmtid="{D5CDD505-2E9C-101B-9397-08002B2CF9AE}" pid="3" name="KSOProductBuildVer">
    <vt:lpwstr>2052-12.24.0</vt:lpwstr>
  </property>
</Properties>
</file>