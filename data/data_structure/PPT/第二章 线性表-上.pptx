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106"/>
  </p:notesMasterIdLst>
  <p:handoutMasterIdLst>
    <p:handoutMasterId r:id="rId107"/>
  </p:handoutMasterIdLst>
  <p:sldIdLst>
    <p:sldId id="259" r:id="rId2"/>
    <p:sldId id="422" r:id="rId3"/>
    <p:sldId id="408" r:id="rId4"/>
    <p:sldId id="287" r:id="rId5"/>
    <p:sldId id="286" r:id="rId6"/>
    <p:sldId id="288" r:id="rId7"/>
    <p:sldId id="289" r:id="rId8"/>
    <p:sldId id="290" r:id="rId9"/>
    <p:sldId id="291" r:id="rId10"/>
    <p:sldId id="410"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430" r:id="rId35"/>
    <p:sldId id="431" r:id="rId36"/>
    <p:sldId id="439" r:id="rId37"/>
    <p:sldId id="411"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427" r:id="rId57"/>
    <p:sldId id="429" r:id="rId58"/>
    <p:sldId id="334" r:id="rId59"/>
    <p:sldId id="335" r:id="rId60"/>
    <p:sldId id="336" r:id="rId61"/>
    <p:sldId id="337" r:id="rId62"/>
    <p:sldId id="338" r:id="rId63"/>
    <p:sldId id="339" r:id="rId64"/>
    <p:sldId id="340" r:id="rId65"/>
    <p:sldId id="341" r:id="rId66"/>
    <p:sldId id="342" r:id="rId67"/>
    <p:sldId id="343" r:id="rId68"/>
    <p:sldId id="424" r:id="rId69"/>
    <p:sldId id="426" r:id="rId70"/>
    <p:sldId id="344" r:id="rId71"/>
    <p:sldId id="345" r:id="rId72"/>
    <p:sldId id="346" r:id="rId73"/>
    <p:sldId id="347" r:id="rId74"/>
    <p:sldId id="348" r:id="rId75"/>
    <p:sldId id="432" r:id="rId76"/>
    <p:sldId id="412" r:id="rId77"/>
    <p:sldId id="349" r:id="rId78"/>
    <p:sldId id="350" r:id="rId79"/>
    <p:sldId id="351" r:id="rId80"/>
    <p:sldId id="352" r:id="rId81"/>
    <p:sldId id="353" r:id="rId82"/>
    <p:sldId id="354" r:id="rId83"/>
    <p:sldId id="355" r:id="rId84"/>
    <p:sldId id="356" r:id="rId85"/>
    <p:sldId id="357" r:id="rId86"/>
    <p:sldId id="358" r:id="rId87"/>
    <p:sldId id="359" r:id="rId88"/>
    <p:sldId id="360" r:id="rId89"/>
    <p:sldId id="361" r:id="rId90"/>
    <p:sldId id="362" r:id="rId91"/>
    <p:sldId id="363" r:id="rId92"/>
    <p:sldId id="364" r:id="rId93"/>
    <p:sldId id="413" r:id="rId94"/>
    <p:sldId id="365" r:id="rId95"/>
    <p:sldId id="366" r:id="rId96"/>
    <p:sldId id="419" r:id="rId97"/>
    <p:sldId id="416" r:id="rId98"/>
    <p:sldId id="420" r:id="rId99"/>
    <p:sldId id="421" r:id="rId100"/>
    <p:sldId id="433" r:id="rId101"/>
    <p:sldId id="434" r:id="rId102"/>
    <p:sldId id="436" r:id="rId103"/>
    <p:sldId id="437" r:id="rId104"/>
    <p:sldId id="438" r:id="rId10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8" autoAdjust="0"/>
    <p:restoredTop sz="71115" autoAdjust="0"/>
  </p:normalViewPr>
  <p:slideViewPr>
    <p:cSldViewPr snapToGrid="0">
      <p:cViewPr varScale="1">
        <p:scale>
          <a:sx n="60" d="100"/>
          <a:sy n="60" d="100"/>
        </p:scale>
        <p:origin x="1363" y="34"/>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handoutMaster" Target="handoutMasters/handout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2025/6/10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2025/6/10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a:t>
            </a:fld>
            <a:endParaRPr lang="zh-CN" altLang="en-US"/>
          </a:p>
        </p:txBody>
      </p:sp>
    </p:spTree>
    <p:extLst>
      <p:ext uri="{BB962C8B-B14F-4D97-AF65-F5344CB8AC3E}">
        <p14:creationId xmlns:p14="http://schemas.microsoft.com/office/powerpoint/2010/main" val="317965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212791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718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26062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en-US" altLang="zh-CN" dirty="0">
                <a:latin typeface="Arial" panose="020B0604020202020204" pitchFamily="34" charset="0"/>
              </a:rPr>
              <a:t>1.</a:t>
            </a:r>
            <a:r>
              <a:rPr lang="zh-CN" altLang="zh-CN" sz="1200" kern="1200" dirty="0">
                <a:solidFill>
                  <a:schemeClr val="tx1"/>
                </a:solidFill>
                <a:effectLst/>
                <a:latin typeface="+mn-lt"/>
                <a:ea typeface="+mn-ea"/>
                <a:cs typeface="+mn-cs"/>
              </a:rPr>
              <a:t>如元素序列</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3</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n-1</a:t>
            </a:r>
            <a:r>
              <a:rPr lang="en-US" altLang="zh-CN" sz="1200" kern="1200" dirty="0">
                <a:solidFill>
                  <a:schemeClr val="tx1"/>
                </a:solidFill>
                <a:effectLst/>
                <a:latin typeface="+mn-lt"/>
                <a:ea typeface="+mn-ea"/>
                <a:cs typeface="+mn-cs"/>
              </a:rPr>
              <a:t>,a</a:t>
            </a:r>
            <a:r>
              <a:rPr lang="en-US" altLang="zh-CN" sz="1200" kern="1200" baseline="-250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1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为元素的个数，且</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indent="0" eaLnBrk="1" hangingPunct="1">
              <a:buNone/>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在红灯前停下的一长串汽车，这些汽车构成了一个队列。其中最先到达的为首元素，最后到达的为尾元素；在离开时最先到达的汽车最先离开、最后到达的最后离开。</a:t>
            </a:r>
            <a:endParaRPr lang="en-US" altLang="zh-CN" sz="1200" kern="1200" dirty="0">
              <a:solidFill>
                <a:schemeClr val="tx1"/>
              </a:solidFill>
              <a:effectLst/>
              <a:latin typeface="+mn-lt"/>
              <a:ea typeface="+mn-ea"/>
              <a:cs typeface="+mn-cs"/>
            </a:endParaRPr>
          </a:p>
          <a:p>
            <a:pPr marL="0" indent="0" eaLnBrk="1" hangingPunct="1">
              <a:buNone/>
            </a:pP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如元素按值从小到大排成的序列。</a:t>
            </a:r>
            <a:endParaRPr lang="en-US" altLang="zh-CN" sz="1200" kern="1200" dirty="0">
              <a:solidFill>
                <a:schemeClr val="tx1"/>
              </a:solidFill>
              <a:effectLst/>
              <a:latin typeface="+mn-lt"/>
              <a:ea typeface="+mn-ea"/>
              <a:cs typeface="+mn-cs"/>
            </a:endParaRPr>
          </a:p>
          <a:p>
            <a:pPr marL="0" indent="0" eaLnBrk="1" hangingPunct="1">
              <a:buNone/>
            </a:pP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按照元素的访问频率由大到小排成的序列。</a:t>
            </a:r>
            <a:endParaRPr lang="en-US" altLang="zh-CN" dirty="0">
              <a:latin typeface="Arial" panose="020B0604020202020204" pitchFamily="34" charset="0"/>
            </a:endParaRPr>
          </a:p>
        </p:txBody>
      </p:sp>
    </p:spTree>
    <p:extLst>
      <p:ext uri="{BB962C8B-B14F-4D97-AF65-F5344CB8AC3E}">
        <p14:creationId xmlns:p14="http://schemas.microsoft.com/office/powerpoint/2010/main" val="27935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866444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620846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686141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171265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379570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95274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791973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049546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024043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727560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164910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599655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0463323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4245236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039752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140056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4126685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3524485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521126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1510640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720429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384142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763143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0110301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3603210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56426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7612582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1467460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9804277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1188480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9091849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7743427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886670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3797699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2213828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4066253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1558073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zh-CN" altLang="en-US" dirty="0"/>
              <a:t>声明链表类 </a:t>
            </a:r>
            <a:r>
              <a:rPr lang="en-US" altLang="zh-CN" dirty="0" err="1"/>
              <a:t>linkList</a:t>
            </a:r>
            <a:r>
              <a:rPr lang="en-US" altLang="zh-CN" dirty="0"/>
              <a:t> </a:t>
            </a:r>
            <a:r>
              <a:rPr lang="zh-CN" altLang="en-US" dirty="0"/>
              <a:t>是该 </a:t>
            </a:r>
            <a:r>
              <a:rPr lang="en-US" altLang="zh-CN" dirty="0"/>
              <a:t>node </a:t>
            </a:r>
            <a:r>
              <a:rPr lang="zh-CN" altLang="en-US" dirty="0"/>
              <a:t>类的</a:t>
            </a:r>
            <a:r>
              <a:rPr lang="zh-CN" altLang="en-US" b="1" dirty="0"/>
              <a:t>友元类</a:t>
            </a:r>
            <a:r>
              <a:rPr lang="zh-CN" altLang="en-US" dirty="0"/>
              <a:t>。</a:t>
            </a:r>
          </a:p>
          <a:p>
            <a:r>
              <a:rPr lang="zh-CN" altLang="en-US" dirty="0"/>
              <a:t>友元类可以访问 </a:t>
            </a:r>
            <a:r>
              <a:rPr lang="en-US" altLang="zh-CN" dirty="0"/>
              <a:t>node </a:t>
            </a:r>
            <a:r>
              <a:rPr lang="zh-CN" altLang="en-US" dirty="0"/>
              <a:t>类中的</a:t>
            </a:r>
            <a:r>
              <a:rPr lang="zh-CN" altLang="en-US" b="1" dirty="0"/>
              <a:t>私有成员（</a:t>
            </a:r>
            <a:r>
              <a:rPr lang="en-US" altLang="zh-CN" b="1" dirty="0"/>
              <a:t>private</a:t>
            </a:r>
            <a:r>
              <a:rPr lang="zh-CN" altLang="en-US" b="1" dirty="0"/>
              <a:t>）</a:t>
            </a:r>
            <a:r>
              <a:rPr lang="zh-CN" altLang="en-US" dirty="0"/>
              <a:t>，比如 </a:t>
            </a:r>
            <a:r>
              <a:rPr lang="en-US" altLang="zh-CN" dirty="0"/>
              <a:t>data </a:t>
            </a:r>
            <a:r>
              <a:rPr lang="zh-CN" altLang="en-US" dirty="0"/>
              <a:t>和 </a:t>
            </a:r>
            <a:r>
              <a:rPr lang="en-US" altLang="zh-CN" dirty="0"/>
              <a:t>next</a:t>
            </a:r>
            <a:r>
              <a:rPr lang="zh-CN" altLang="en-US" dirty="0"/>
              <a:t>。</a:t>
            </a:r>
          </a:p>
          <a:p>
            <a:pPr marL="0" indent="0" eaLnBrk="1" hangingPunct="1">
              <a:buFont typeface="+mj-lt"/>
              <a:buNone/>
            </a:pPr>
            <a:r>
              <a:rPr lang="zh-CN" altLang="en-US" dirty="0"/>
              <a:t>友元类，可以访问私有成员</a:t>
            </a:r>
            <a:endParaRPr lang="zh-CN" altLang="zh-CN" dirty="0">
              <a:latin typeface="Arial" panose="020B0604020202020204" pitchFamily="34" charset="0"/>
            </a:endParaRPr>
          </a:p>
        </p:txBody>
      </p:sp>
    </p:spTree>
    <p:extLst>
      <p:ext uri="{BB962C8B-B14F-4D97-AF65-F5344CB8AC3E}">
        <p14:creationId xmlns:p14="http://schemas.microsoft.com/office/powerpoint/2010/main" val="14641365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1532331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9280817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r>
              <a:rPr lang="en-US" altLang="zh-CN" dirty="0"/>
              <a:t>~</a:t>
            </a:r>
            <a:r>
              <a:rPr lang="en-US" altLang="zh-CN" dirty="0" err="1"/>
              <a:t>linkList</a:t>
            </a:r>
            <a:r>
              <a:rPr lang="en-US" altLang="zh-CN" dirty="0"/>
              <a:t>(); </a:t>
            </a:r>
            <a:r>
              <a:rPr lang="zh-CN" altLang="en-US" dirty="0"/>
              <a:t>是 </a:t>
            </a:r>
            <a:r>
              <a:rPr lang="zh-CN" altLang="en-US" b="1" dirty="0"/>
              <a:t>析构函数（</a:t>
            </a:r>
            <a:r>
              <a:rPr lang="en-US" altLang="zh-CN" b="1" dirty="0"/>
              <a:t>destructor</a:t>
            </a:r>
            <a:r>
              <a:rPr lang="zh-CN" altLang="en-US" b="1" dirty="0"/>
              <a:t>）</a:t>
            </a:r>
            <a:r>
              <a:rPr lang="zh-CN" altLang="en-US" dirty="0"/>
              <a:t> 的声明，用于在对象销毁时自动执行一些清理操作，比如</a:t>
            </a:r>
            <a:r>
              <a:rPr lang="zh-CN" altLang="en-US" b="1" dirty="0"/>
              <a:t>释放动态内存</a:t>
            </a:r>
            <a:r>
              <a:rPr lang="zh-CN" altLang="en-US" dirty="0"/>
              <a:t>。常用于释放内存，尤其是手动用 </a:t>
            </a:r>
            <a:r>
              <a:rPr lang="en-US" altLang="zh-CN" dirty="0"/>
              <a:t>new </a:t>
            </a:r>
            <a:r>
              <a:rPr lang="zh-CN" altLang="en-US" dirty="0"/>
              <a:t>创建的结点</a:t>
            </a:r>
            <a:endParaRPr lang="en-US" altLang="zh-CN" dirty="0"/>
          </a:p>
          <a:p>
            <a:pPr marL="0" indent="0" eaLnBrk="1" hangingPunct="1">
              <a:buFont typeface="+mj-lt"/>
              <a:buNone/>
            </a:pPr>
            <a:endParaRPr lang="en-US" altLang="zh-CN" dirty="0"/>
          </a:p>
          <a:p>
            <a:pPr>
              <a:buNone/>
            </a:pPr>
            <a:r>
              <a:rPr lang="zh-CN" altLang="en-US" dirty="0"/>
              <a:t>当一个对象生命周期结束时（比如超出作用域或被 </a:t>
            </a:r>
            <a:r>
              <a:rPr lang="en-US" altLang="zh-CN" dirty="0"/>
              <a:t>delete</a:t>
            </a:r>
            <a:r>
              <a:rPr lang="zh-CN" altLang="en-US" dirty="0"/>
              <a:t>），</a:t>
            </a:r>
            <a:r>
              <a:rPr lang="en-US" altLang="zh-CN" dirty="0"/>
              <a:t>C++ </a:t>
            </a:r>
            <a:r>
              <a:rPr lang="zh-CN" altLang="en-US" dirty="0"/>
              <a:t>会自动调用析构函数来做清理工作。</a:t>
            </a:r>
          </a:p>
          <a:p>
            <a:pPr>
              <a:buNone/>
            </a:pPr>
            <a:r>
              <a:rPr lang="zh-CN" altLang="en-US" dirty="0"/>
              <a:t>在链表类中，它通常用来：</a:t>
            </a:r>
          </a:p>
          <a:p>
            <a:pPr>
              <a:buFont typeface="Arial" panose="020B0604020202020204" pitchFamily="34" charset="0"/>
              <a:buChar char="•"/>
            </a:pPr>
            <a:r>
              <a:rPr lang="zh-CN" altLang="en-US" b="1" dirty="0"/>
              <a:t>遍历整个链表</a:t>
            </a:r>
            <a:r>
              <a:rPr lang="zh-CN" altLang="en-US" dirty="0"/>
              <a:t>，</a:t>
            </a:r>
          </a:p>
          <a:p>
            <a:pPr>
              <a:buFont typeface="Arial" panose="020B0604020202020204" pitchFamily="34" charset="0"/>
              <a:buChar char="•"/>
            </a:pPr>
            <a:r>
              <a:rPr lang="zh-CN" altLang="en-US" b="1" dirty="0"/>
              <a:t>删除每个结点</a:t>
            </a:r>
            <a:r>
              <a:rPr lang="zh-CN" altLang="en-US" dirty="0"/>
              <a:t>，</a:t>
            </a:r>
          </a:p>
          <a:p>
            <a:pPr>
              <a:buFont typeface="Arial" panose="020B0604020202020204" pitchFamily="34" charset="0"/>
              <a:buChar char="•"/>
            </a:pPr>
            <a:r>
              <a:rPr lang="zh-CN" altLang="en-US" b="1" dirty="0"/>
              <a:t>释放堆内存</a:t>
            </a:r>
            <a:r>
              <a:rPr lang="zh-CN" altLang="en-US" dirty="0"/>
              <a:t>，避免内存泄漏。</a:t>
            </a:r>
          </a:p>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9596201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5160816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6707839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2433957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6837012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zh-CN" altLang="en-US" dirty="0"/>
              <a:t>双重条件：</a:t>
            </a:r>
          </a:p>
          <a:p>
            <a:pPr>
              <a:buFont typeface="Arial" panose="020B0604020202020204" pitchFamily="34" charset="0"/>
              <a:buChar char="•"/>
            </a:pPr>
            <a:r>
              <a:rPr lang="en-US" altLang="zh-CN" dirty="0"/>
              <a:t>p</a:t>
            </a:r>
            <a:r>
              <a:rPr lang="zh-CN" altLang="en-US" dirty="0"/>
              <a:t>：当前指针不能是 </a:t>
            </a:r>
            <a:r>
              <a:rPr lang="en-US" altLang="zh-CN" dirty="0"/>
              <a:t>NULL</a:t>
            </a:r>
            <a:r>
              <a:rPr lang="zh-CN" altLang="en-US" dirty="0"/>
              <a:t>（否则越界）。</a:t>
            </a:r>
          </a:p>
          <a:p>
            <a:pPr>
              <a:buFont typeface="Arial" panose="020B0604020202020204" pitchFamily="34" charset="0"/>
              <a:buChar char="•"/>
            </a:pPr>
            <a:r>
              <a:rPr lang="en-US" altLang="zh-CN" dirty="0"/>
              <a:t>j &lt; </a:t>
            </a:r>
            <a:r>
              <a:rPr lang="en-US" altLang="zh-CN" dirty="0" err="1"/>
              <a:t>i</a:t>
            </a:r>
            <a:r>
              <a:rPr lang="en-US" altLang="zh-CN" dirty="0"/>
              <a:t> - 1</a:t>
            </a:r>
            <a:r>
              <a:rPr lang="zh-CN" altLang="en-US" dirty="0"/>
              <a:t>：还没到目标位置。</a:t>
            </a:r>
          </a:p>
          <a:p>
            <a:pPr marL="0" indent="0" eaLnBrk="1" hangingPunct="1">
              <a:buFont typeface="+mj-lt"/>
              <a:buNone/>
            </a:pPr>
            <a:r>
              <a:rPr lang="zh-CN" altLang="en-US" dirty="0"/>
              <a:t>遍历链表直到第 </a:t>
            </a:r>
            <a:r>
              <a:rPr lang="en-US" altLang="zh-CN" dirty="0"/>
              <a:t>i-1 </a:t>
            </a:r>
            <a:r>
              <a:rPr lang="zh-CN" altLang="en-US" dirty="0"/>
              <a:t>个位置（也就是插入点的“前一个”结点）。</a:t>
            </a:r>
            <a:endParaRPr lang="en-US" altLang="zh-CN" dirty="0"/>
          </a:p>
          <a:p>
            <a:pPr marL="0" indent="0" eaLnBrk="1" hangingPunct="1">
              <a:buFont typeface="+mj-lt"/>
              <a:buNone/>
            </a:pPr>
            <a:endParaRPr lang="en-US" altLang="zh-CN" dirty="0">
              <a:latin typeface="Arial" panose="020B0604020202020204" pitchFamily="34" charset="0"/>
            </a:endParaRPr>
          </a:p>
          <a:p>
            <a:pPr marL="0" indent="0" eaLnBrk="1" hangingPunct="1">
              <a:buFont typeface="+mj-lt"/>
              <a:buNone/>
            </a:pPr>
            <a:r>
              <a:rPr lang="zh-CN" altLang="en-US" dirty="0"/>
              <a:t>如果遍历结束后 </a:t>
            </a:r>
            <a:r>
              <a:rPr lang="en-US" altLang="zh-CN" dirty="0"/>
              <a:t>p </a:t>
            </a:r>
            <a:r>
              <a:rPr lang="zh-CN" altLang="en-US" dirty="0"/>
              <a:t>是 </a:t>
            </a:r>
            <a:r>
              <a:rPr lang="en-US" altLang="zh-CN" dirty="0"/>
              <a:t>NULL</a:t>
            </a:r>
            <a:r>
              <a:rPr lang="zh-CN" altLang="en-US" dirty="0"/>
              <a:t>，说明位置非法（链表太短了），直接返回。</a:t>
            </a:r>
            <a:endParaRPr lang="en-US" altLang="zh-CN" dirty="0">
              <a:latin typeface="Arial" panose="020B0604020202020204" pitchFamily="34" charset="0"/>
            </a:endParaRPr>
          </a:p>
          <a:p>
            <a:pPr marL="0" indent="0" eaLnBrk="1" hangingPunct="1">
              <a:buFont typeface="+mj-lt"/>
              <a:buNone/>
            </a:pPr>
            <a:endParaRPr lang="en-US" altLang="zh-CN" dirty="0">
              <a:latin typeface="Arial" panose="020B0604020202020204" pitchFamily="34" charset="0"/>
            </a:endParaRPr>
          </a:p>
          <a:p>
            <a:pPr>
              <a:buFont typeface="Arial" panose="020B0604020202020204" pitchFamily="34" charset="0"/>
              <a:buChar char="•"/>
            </a:pPr>
            <a:r>
              <a:rPr lang="zh-CN" altLang="en-US" dirty="0"/>
              <a:t>构造一个新结点：</a:t>
            </a:r>
          </a:p>
          <a:p>
            <a:pPr marL="742950" lvl="1" indent="-285750">
              <a:buFont typeface="Arial" panose="020B0604020202020204" pitchFamily="34" charset="0"/>
              <a:buChar char="•"/>
            </a:pPr>
            <a:r>
              <a:rPr lang="zh-CN" altLang="en-US" dirty="0"/>
              <a:t>数据是 </a:t>
            </a:r>
            <a:r>
              <a:rPr lang="en-US" altLang="zh-CN" dirty="0"/>
              <a:t>e</a:t>
            </a:r>
            <a:r>
              <a:rPr lang="zh-CN" altLang="en-US" dirty="0"/>
              <a:t>；</a:t>
            </a:r>
          </a:p>
          <a:p>
            <a:pPr marL="742950" lvl="1" indent="-285750">
              <a:buFont typeface="Arial" panose="020B0604020202020204" pitchFamily="34" charset="0"/>
              <a:buChar char="•"/>
            </a:pPr>
            <a:r>
              <a:rPr lang="zh-CN" altLang="en-US" dirty="0"/>
              <a:t>后继指针指向 </a:t>
            </a:r>
            <a:r>
              <a:rPr lang="en-US" altLang="zh-CN" dirty="0"/>
              <a:t>p-&gt;next</a:t>
            </a:r>
            <a:r>
              <a:rPr lang="zh-CN" altLang="en-US" dirty="0"/>
              <a:t>（原来第 </a:t>
            </a:r>
            <a:r>
              <a:rPr lang="en-US" altLang="zh-CN" dirty="0" err="1"/>
              <a:t>i</a:t>
            </a:r>
            <a:r>
              <a:rPr lang="en-US" altLang="zh-CN" dirty="0"/>
              <a:t> </a:t>
            </a:r>
            <a:r>
              <a:rPr lang="zh-CN" altLang="en-US" dirty="0"/>
              <a:t>个位置的结点）。</a:t>
            </a:r>
          </a:p>
          <a:p>
            <a:pPr>
              <a:buFont typeface="Arial" panose="020B0604020202020204" pitchFamily="34" charset="0"/>
              <a:buChar char="•"/>
            </a:pPr>
            <a:r>
              <a:rPr lang="zh-CN" altLang="en-US" dirty="0"/>
              <a:t>然后将 </a:t>
            </a:r>
            <a:r>
              <a:rPr lang="en-US" altLang="zh-CN" dirty="0"/>
              <a:t>p-&gt;next </a:t>
            </a:r>
            <a:r>
              <a:rPr lang="zh-CN" altLang="en-US" dirty="0"/>
              <a:t>改为指向这个新结点，实现插入操作。</a:t>
            </a:r>
          </a:p>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8744609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6076463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4270747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57</a:t>
            </a:fld>
            <a:endParaRPr lang="zh-CN" altLang="en-US"/>
          </a:p>
        </p:txBody>
      </p:sp>
    </p:spTree>
    <p:extLst>
      <p:ext uri="{BB962C8B-B14F-4D97-AF65-F5344CB8AC3E}">
        <p14:creationId xmlns:p14="http://schemas.microsoft.com/office/powerpoint/2010/main" val="28592519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r>
              <a:rPr lang="en-US" altLang="zh-CN" dirty="0">
                <a:latin typeface="Arial" panose="020B0604020202020204" pitchFamily="34" charset="0"/>
              </a:rPr>
              <a:t>Clear</a:t>
            </a:r>
            <a:r>
              <a:rPr lang="zh-CN" altLang="en-US" dirty="0">
                <a:latin typeface="Arial" panose="020B0604020202020204" pitchFamily="34" charset="0"/>
              </a:rPr>
              <a:t>：头结点没有被删除</a:t>
            </a:r>
            <a:endParaRPr lang="zh-CN" altLang="zh-CN" dirty="0">
              <a:latin typeface="Arial" panose="020B0604020202020204" pitchFamily="34" charset="0"/>
            </a:endParaRPr>
          </a:p>
        </p:txBody>
      </p:sp>
    </p:spTree>
    <p:extLst>
      <p:ext uri="{BB962C8B-B14F-4D97-AF65-F5344CB8AC3E}">
        <p14:creationId xmlns:p14="http://schemas.microsoft.com/office/powerpoint/2010/main" val="36849150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7798603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8047961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6727411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3470432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3CFC841-E2E1-4802-8701-94EA307E94B0}" type="slidenum">
              <a:rPr lang="zh-CN" altLang="en-US" smtClean="0"/>
              <a:t>65</a:t>
            </a:fld>
            <a:endParaRPr lang="zh-CN" altLang="en-US"/>
          </a:p>
        </p:txBody>
      </p:sp>
    </p:spTree>
    <p:extLst>
      <p:ext uri="{BB962C8B-B14F-4D97-AF65-F5344CB8AC3E}">
        <p14:creationId xmlns:p14="http://schemas.microsoft.com/office/powerpoint/2010/main" val="13730662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en-US" altLang="zh-CN" dirty="0"/>
              <a:t>p</a:t>
            </a:r>
            <a:r>
              <a:rPr lang="zh-CN" altLang="en-US" dirty="0"/>
              <a:t>：当前要处理的结点；</a:t>
            </a:r>
          </a:p>
          <a:p>
            <a:r>
              <a:rPr lang="en-US" altLang="zh-CN" dirty="0"/>
              <a:t>q</a:t>
            </a:r>
            <a:r>
              <a:rPr lang="zh-CN" altLang="en-US" dirty="0"/>
              <a:t>：暂存 </a:t>
            </a:r>
            <a:r>
              <a:rPr lang="en-US" altLang="zh-CN" dirty="0"/>
              <a:t>p-&gt;next</a:t>
            </a:r>
            <a:r>
              <a:rPr lang="zh-CN" altLang="en-US" dirty="0"/>
              <a:t>，防止链断。</a:t>
            </a:r>
          </a:p>
          <a:p>
            <a:pPr marL="0" indent="0" eaLnBrk="1" hangingPunct="1">
              <a:buFont typeface="+mj-lt"/>
              <a:buNone/>
            </a:pPr>
            <a:endParaRPr lang="en-US" altLang="zh-CN" dirty="0">
              <a:latin typeface="Arial" panose="020B0604020202020204" pitchFamily="34" charset="0"/>
            </a:endParaRPr>
          </a:p>
          <a:p>
            <a:pPr>
              <a:buNone/>
            </a:pPr>
            <a:r>
              <a:rPr lang="en-US" altLang="zh-CN" dirty="0"/>
              <a:t>p </a:t>
            </a:r>
            <a:r>
              <a:rPr lang="zh-CN" altLang="en-US" dirty="0"/>
              <a:t>是当前正在处理的节点。</a:t>
            </a:r>
          </a:p>
          <a:p>
            <a:pPr>
              <a:buNone/>
            </a:pPr>
            <a:r>
              <a:rPr lang="en-US" altLang="zh-CN" dirty="0"/>
              <a:t>q = p-&gt;next; </a:t>
            </a:r>
            <a:r>
              <a:rPr lang="zh-CN" altLang="en-US" dirty="0"/>
              <a:t>是在 </a:t>
            </a:r>
            <a:r>
              <a:rPr lang="zh-CN" altLang="en-US" b="1" dirty="0"/>
              <a:t>还没改动 </a:t>
            </a:r>
            <a:r>
              <a:rPr lang="en-US" altLang="zh-CN" b="1" dirty="0"/>
              <a:t>p </a:t>
            </a:r>
            <a:r>
              <a:rPr lang="zh-CN" altLang="en-US" b="1" dirty="0"/>
              <a:t>的指针之前</a:t>
            </a:r>
            <a:r>
              <a:rPr lang="zh-CN" altLang="en-US" dirty="0"/>
              <a:t>，把原链表中 </a:t>
            </a:r>
            <a:r>
              <a:rPr lang="en-US" altLang="zh-CN" dirty="0"/>
              <a:t>p </a:t>
            </a:r>
            <a:r>
              <a:rPr lang="zh-CN" altLang="en-US" dirty="0"/>
              <a:t>的后继节点保存起来。</a:t>
            </a:r>
          </a:p>
          <a:p>
            <a:r>
              <a:rPr lang="zh-CN" altLang="en-US" dirty="0"/>
              <a:t>接下来你修改了 </a:t>
            </a:r>
            <a:r>
              <a:rPr lang="en-US" altLang="zh-CN" dirty="0"/>
              <a:t>p-&gt;next</a:t>
            </a:r>
            <a:r>
              <a:rPr lang="zh-CN" altLang="en-US" dirty="0"/>
              <a:t>：</a:t>
            </a:r>
          </a:p>
          <a:p>
            <a:pPr marL="0" indent="0" eaLnBrk="1" hangingPunct="1">
              <a:buFont typeface="+mj-lt"/>
              <a:buNone/>
            </a:pPr>
            <a:r>
              <a:rPr lang="en-US" altLang="zh-CN" dirty="0">
                <a:latin typeface="Arial" panose="020B0604020202020204" pitchFamily="34" charset="0"/>
              </a:rPr>
              <a:t>   p-&gt;next = head-&gt;next;</a:t>
            </a:r>
          </a:p>
          <a:p>
            <a:pPr marL="0" indent="0" eaLnBrk="1" hangingPunct="1">
              <a:buFont typeface="+mj-lt"/>
              <a:buNone/>
            </a:pPr>
            <a:r>
              <a:rPr lang="en-US" altLang="zh-CN" dirty="0">
                <a:latin typeface="Arial" panose="020B0604020202020204" pitchFamily="34" charset="0"/>
              </a:rPr>
              <a:t>   head-&gt;next = p;</a:t>
            </a:r>
          </a:p>
          <a:p>
            <a:pPr marL="0" indent="0" eaLnBrk="1" hangingPunct="1">
              <a:buFont typeface="+mj-lt"/>
              <a:buNone/>
            </a:pPr>
            <a:r>
              <a:rPr lang="zh-CN" altLang="en-US" dirty="0"/>
              <a:t>此时，</a:t>
            </a:r>
            <a:r>
              <a:rPr lang="en-US" altLang="zh-CN" b="1" dirty="0"/>
              <a:t>p-&gt;next </a:t>
            </a:r>
            <a:r>
              <a:rPr lang="zh-CN" altLang="en-US" b="1" dirty="0"/>
              <a:t>已经不再是原来的后继节点，而是变成了反转后的链表头部</a:t>
            </a:r>
            <a:r>
              <a:rPr lang="zh-CN" altLang="en-US" dirty="0"/>
              <a:t>。</a:t>
            </a:r>
            <a:endParaRPr lang="zh-CN" altLang="zh-CN" dirty="0">
              <a:latin typeface="Arial" panose="020B0604020202020204" pitchFamily="34" charset="0"/>
            </a:endParaRPr>
          </a:p>
        </p:txBody>
      </p:sp>
    </p:spTree>
    <p:extLst>
      <p:ext uri="{BB962C8B-B14F-4D97-AF65-F5344CB8AC3E}">
        <p14:creationId xmlns:p14="http://schemas.microsoft.com/office/powerpoint/2010/main" val="32310116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5967587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两个问题：</a:t>
            </a:r>
            <a:endParaRPr lang="en-US" altLang="zh-CN" dirty="0"/>
          </a:p>
          <a:p>
            <a:pPr marL="228600" indent="-228600">
              <a:buAutoNum type="arabicPeriod"/>
            </a:pPr>
            <a:r>
              <a:rPr lang="zh-CN" altLang="en-US" dirty="0"/>
              <a:t>不能修改</a:t>
            </a:r>
            <a:endParaRPr lang="en-US" altLang="zh-CN" dirty="0"/>
          </a:p>
          <a:p>
            <a:pPr marL="228600" indent="-228600">
              <a:buAutoNum type="arabicPeriod"/>
            </a:pPr>
            <a:r>
              <a:rPr lang="zh-CN" altLang="en-US" dirty="0"/>
              <a:t>两个任务放到两个循环中，比放一个循环中差。因为循环控制语句也要费时间。</a:t>
            </a:r>
            <a:endParaRPr lang="en-US" altLang="zh-CN" dirty="0"/>
          </a:p>
          <a:p>
            <a:pPr marL="0" indent="0">
              <a:buNone/>
            </a:pPr>
            <a:endParaRPr lang="en-US" altLang="zh-CN" dirty="0"/>
          </a:p>
          <a:p>
            <a:pPr marL="0" indent="0">
              <a:buNone/>
            </a:pPr>
            <a:r>
              <a:rPr lang="zh-CN" altLang="en-US" dirty="0"/>
              <a:t>复习：</a:t>
            </a:r>
            <a:endParaRPr lang="en-US" altLang="zh-CN" dirty="0"/>
          </a:p>
          <a:p>
            <a:pPr marL="0" indent="0">
              <a:buNone/>
            </a:pPr>
            <a:r>
              <a:rPr lang="en-US" altLang="zh-CN" dirty="0"/>
              <a:t>1. p-&gt;next</a:t>
            </a:r>
            <a:r>
              <a:rPr lang="zh-CN" altLang="en-US" dirty="0"/>
              <a:t>的读写含义、物理意义</a:t>
            </a:r>
          </a:p>
        </p:txBody>
      </p:sp>
      <p:sp>
        <p:nvSpPr>
          <p:cNvPr id="4" name="灯片编号占位符 3"/>
          <p:cNvSpPr>
            <a:spLocks noGrp="1"/>
          </p:cNvSpPr>
          <p:nvPr>
            <p:ph type="sldNum" sz="quarter" idx="5"/>
          </p:nvPr>
        </p:nvSpPr>
        <p:spPr/>
        <p:txBody>
          <a:bodyPr/>
          <a:lstStyle/>
          <a:p>
            <a:fld id="{E3CFC841-E2E1-4802-8701-94EA307E94B0}" type="slidenum">
              <a:rPr lang="zh-CN" altLang="en-US" smtClean="0"/>
              <a:t>69</a:t>
            </a:fld>
            <a:endParaRPr lang="zh-CN" altLang="en-US"/>
          </a:p>
        </p:txBody>
      </p:sp>
    </p:spTree>
    <p:extLst>
      <p:ext uri="{BB962C8B-B14F-4D97-AF65-F5344CB8AC3E}">
        <p14:creationId xmlns:p14="http://schemas.microsoft.com/office/powerpoint/2010/main" val="149236814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275221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3172343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9261949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4528880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9646130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691182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3559907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0089936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5152669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6681889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830400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935099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17342042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65826965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71343642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5729681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22863598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08674345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731210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55579204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87987879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2183253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95828045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37076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4117555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577425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34395445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2481343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37495506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28478920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019702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866444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64642225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858998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330529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423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33BA7C0-CFC8-468E-BF58-86F8DBBA5B7D}" type="slidenum">
              <a:rPr lang="en-US" altLang="zh-CN"/>
              <a:pPr>
                <a:defRPr/>
              </a:pPr>
              <a:t>‹#›</a:t>
            </a:fld>
            <a:endParaRPr lang="en-US" altLang="zh-CN"/>
          </a:p>
        </p:txBody>
      </p:sp>
      <p:sp>
        <p:nvSpPr>
          <p:cNvPr id="6"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02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4946ABC9-62A5-42D5-BF9F-E7A801511394}"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13420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BDC3BA-0B7C-4A75-9E33-45CB920E7758}"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61535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75821406-8699-46F7-BC43-9A0383F1DDB8}" type="slidenum">
              <a:rPr lang="en-US" altLang="zh-CN"/>
              <a:pPr>
                <a:defRPr/>
              </a:pPr>
              <a:t>‹#›</a:t>
            </a:fld>
            <a:endParaRPr lang="en-US" altLang="zh-CN"/>
          </a:p>
        </p:txBody>
      </p:sp>
      <p:sp>
        <p:nvSpPr>
          <p:cNvPr id="4"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1487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5"/>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8"/>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9" name="图片 8"/>
          <p:cNvPicPr>
            <a:picLocks noChangeAspect="1"/>
          </p:cNvPicPr>
          <p:nvPr userDrawn="1"/>
        </p:nvPicPr>
        <p:blipFill>
          <a:blip r:embed="rId15"/>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8"/>
          <a:stretch>
            <a:fillRect/>
          </a:stretch>
        </p:blipFill>
        <p:spPr>
          <a:xfrm>
            <a:off x="0" y="1079287"/>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8" r:id="rId4"/>
    <p:sldLayoutId id="2147483812" r:id="rId5"/>
    <p:sldLayoutId id="2147483813" r:id="rId6"/>
    <p:sldLayoutId id="2147483815" r:id="rId7"/>
    <p:sldLayoutId id="2147483817" r:id="rId8"/>
    <p:sldLayoutId id="2147483818" r:id="rId9"/>
    <p:sldLayoutId id="2147483819" r:id="rId10"/>
    <p:sldLayoutId id="2147483820" r:id="rId11"/>
    <p:sldLayoutId id="2147483821" r:id="rId12"/>
    <p:sldLayoutId id="2147483822"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第二章  线性表</a:t>
            </a:r>
            <a:r>
              <a:rPr lang="en-US" altLang="zh-CN">
                <a:latin typeface="华文楷体" panose="02010600040101010101" pitchFamily="2" charset="-122"/>
                <a:ea typeface="华文楷体" panose="02010600040101010101" pitchFamily="2" charset="-122"/>
              </a:rPr>
              <a:t>---</a:t>
            </a:r>
            <a:r>
              <a:rPr lang="zh-CN" altLang="en-US">
                <a:latin typeface="华文楷体" panose="02010600040101010101" pitchFamily="2" charset="-122"/>
                <a:ea typeface="华文楷体" panose="02010600040101010101" pitchFamily="2" charset="-122"/>
              </a:rPr>
              <a:t>上</a:t>
            </a:r>
            <a:endParaRPr lang="zh-CN" altLang="en-US" sz="2400" dirty="0">
              <a:latin typeface="华文楷体" panose="02010600040101010101" pitchFamily="2" charset="-122"/>
              <a:ea typeface="华文楷体" panose="02010600040101010101" pitchFamily="2" charset="-122"/>
            </a:endParaRPr>
          </a:p>
        </p:txBody>
      </p:sp>
      <p:sp>
        <p:nvSpPr>
          <p:cNvPr id="5" name="Subtitle 1"/>
          <p:cNvSpPr>
            <a:spLocks noGrp="1"/>
          </p:cNvSpPr>
          <p:nvPr>
            <p:ph type="subTitle" idx="1"/>
          </p:nvPr>
        </p:nvSpPr>
        <p:spPr>
          <a:xfrm>
            <a:off x="4774199" y="5314614"/>
            <a:ext cx="2643602" cy="604299"/>
          </a:xfrm>
        </p:spPr>
        <p:txBody>
          <a:bodyPr/>
          <a:lstStyle/>
          <a:p>
            <a:r>
              <a:rPr lang="zh-CN" altLang="en-US" sz="3600" b="1" dirty="0">
                <a:latin typeface="华文楷体" panose="02010600040101010101" pitchFamily="2" charset="-122"/>
                <a:ea typeface="华文楷体" panose="02010600040101010101" pitchFamily="2" charset="-122"/>
              </a:rPr>
              <a:t>张同珍</a:t>
            </a:r>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4556049"/>
          </a:xfrm>
        </p:spPr>
        <p:txBody>
          <a:bodyPr>
            <a:noAutofit/>
          </a:bodyPr>
          <a:lstStyle/>
          <a:p>
            <a:pPr marL="457200" indent="-457200">
              <a:buFont typeface="Arial" panose="020B0604020202020204" pitchFamily="34" charset="0"/>
              <a:buChar char="•"/>
            </a:pPr>
            <a:r>
              <a:rPr lang="zh-CN" altLang="en-US" sz="2800" dirty="0">
                <a:latin typeface="华文楷体" pitchFamily="2" charset="-122"/>
                <a:ea typeface="华文楷体" pitchFamily="2" charset="-122"/>
              </a:rPr>
              <a:t>熟练</a:t>
            </a:r>
            <a:r>
              <a:rPr lang="en-US" altLang="zh-CN" sz="2800" dirty="0">
                <a:latin typeface="华文楷体" pitchFamily="2" charset="-122"/>
                <a:ea typeface="华文楷体" pitchFamily="2" charset="-122"/>
              </a:rPr>
              <a:t>C++</a:t>
            </a:r>
            <a:r>
              <a:rPr lang="zh-CN" altLang="en-US" sz="2800" dirty="0">
                <a:latin typeface="华文楷体" pitchFamily="2" charset="-122"/>
                <a:ea typeface="华文楷体" pitchFamily="2" charset="-122"/>
              </a:rPr>
              <a:t>面向对象的编程方法、</a:t>
            </a:r>
            <a:r>
              <a:rPr lang="en-US" altLang="zh-CN" sz="2800" dirty="0">
                <a:latin typeface="华文楷体" pitchFamily="2" charset="-122"/>
                <a:ea typeface="华文楷体" pitchFamily="2" charset="-122"/>
              </a:rPr>
              <a:t>C++</a:t>
            </a:r>
            <a:r>
              <a:rPr lang="zh-CN" altLang="en-US" sz="2800" dirty="0">
                <a:latin typeface="华文楷体" pitchFamily="2" charset="-122"/>
                <a:ea typeface="华文楷体" pitchFamily="2" charset="-122"/>
              </a:rPr>
              <a:t>语法、</a:t>
            </a:r>
            <a:r>
              <a:rPr lang="zh-CN" altLang="en-US" sz="2800" dirty="0">
                <a:solidFill>
                  <a:srgbClr val="FF0000"/>
                </a:solidFill>
                <a:latin typeface="华文楷体" pitchFamily="2" charset="-122"/>
                <a:ea typeface="华文楷体" pitchFamily="2" charset="-122"/>
              </a:rPr>
              <a:t>书写完整程序的技巧</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pPr marL="457200" indent="-457200">
              <a:buFont typeface="Arial" panose="020B0604020202020204" pitchFamily="34" charset="0"/>
              <a:buChar char="•"/>
            </a:pPr>
            <a:r>
              <a:rPr lang="zh-CN" altLang="en-US" sz="2800" dirty="0">
                <a:latin typeface="华文楷体" pitchFamily="2" charset="-122"/>
                <a:ea typeface="华文楷体" pitchFamily="2" charset="-122"/>
              </a:rPr>
              <a:t>接触并逐步熟悉研究一种数据结构的角度和方法。</a:t>
            </a:r>
            <a:endParaRPr lang="en-US" altLang="zh-CN" sz="2800" dirty="0">
              <a:latin typeface="华文楷体" pitchFamily="2" charset="-122"/>
              <a:ea typeface="华文楷体" pitchFamily="2" charset="-122"/>
            </a:endParaRPr>
          </a:p>
          <a:p>
            <a:pPr marL="457200" indent="-457200">
              <a:buFont typeface="Arial" panose="020B0604020202020204" pitchFamily="34" charset="0"/>
              <a:buChar char="•"/>
            </a:pPr>
            <a:r>
              <a:rPr lang="zh-CN" altLang="en-US" sz="2800" dirty="0">
                <a:latin typeface="华文楷体" pitchFamily="2" charset="-122"/>
                <a:ea typeface="华文楷体" pitchFamily="2" charset="-122"/>
              </a:rPr>
              <a:t>掌握顺序结构的基本功。</a:t>
            </a:r>
            <a:endParaRPr lang="en-US" altLang="zh-CN" sz="2800" dirty="0">
              <a:latin typeface="华文楷体" pitchFamily="2" charset="-122"/>
              <a:ea typeface="华文楷体" pitchFamily="2" charset="-122"/>
            </a:endParaRPr>
          </a:p>
          <a:p>
            <a:pPr marL="457200" indent="-457200">
              <a:buFont typeface="Arial" panose="020B0604020202020204" pitchFamily="34" charset="0"/>
              <a:buChar char="•"/>
            </a:pPr>
            <a:r>
              <a:rPr lang="zh-CN" altLang="en-US" sz="2800" dirty="0">
                <a:latin typeface="华文楷体" pitchFamily="2" charset="-122"/>
                <a:ea typeface="华文楷体" pitchFamily="2" charset="-122"/>
              </a:rPr>
              <a:t>掌握链式操作的基本功。</a:t>
            </a:r>
            <a:endParaRPr lang="en-US" altLang="zh-CN" sz="2800" dirty="0">
              <a:latin typeface="华文楷体" pitchFamily="2" charset="-122"/>
              <a:ea typeface="华文楷体" pitchFamily="2" charset="-122"/>
            </a:endParaRPr>
          </a:p>
          <a:p>
            <a:pPr marL="457200" indent="-457200">
              <a:buFont typeface="Arial" panose="020B0604020202020204" pitchFamily="34" charset="0"/>
              <a:buChar char="•"/>
            </a:pPr>
            <a:r>
              <a:rPr lang="zh-CN" altLang="en-US" sz="2800" dirty="0">
                <a:latin typeface="华文楷体" pitchFamily="2" charset="-122"/>
                <a:ea typeface="华文楷体" pitchFamily="2" charset="-122"/>
              </a:rPr>
              <a:t>掌握数据结构工具的建造和工具使用的不同。</a:t>
            </a:r>
            <a:endParaRPr lang="en-US" altLang="zh-CN" sz="2800" dirty="0">
              <a:latin typeface="华文楷体" pitchFamily="2" charset="-122"/>
              <a:ea typeface="华文楷体" pitchFamily="2" charset="-122"/>
            </a:endParaRPr>
          </a:p>
          <a:p>
            <a:pPr marL="457200" indent="-457200">
              <a:buFont typeface="Arial" panose="020B0604020202020204" pitchFamily="34" charset="0"/>
              <a:buChar char="•"/>
            </a:pPr>
            <a:r>
              <a:rPr lang="zh-CN" altLang="en-US" sz="2800" b="0" dirty="0">
                <a:solidFill>
                  <a:schemeClr val="bg1">
                    <a:lumMod val="50000"/>
                  </a:schemeClr>
                </a:solidFill>
                <a:latin typeface="华文楷体" pitchFamily="2" charset="-122"/>
                <a:ea typeface="华文楷体" pitchFamily="2" charset="-122"/>
              </a:rPr>
              <a:t>掌握最基本且简单的线性结构</a:t>
            </a:r>
            <a:r>
              <a:rPr lang="en-US" altLang="zh-CN" sz="2800" b="0" dirty="0">
                <a:solidFill>
                  <a:schemeClr val="bg1">
                    <a:lumMod val="50000"/>
                  </a:schemeClr>
                </a:solidFill>
                <a:latin typeface="华文楷体" pitchFamily="2" charset="-122"/>
                <a:ea typeface="华文楷体" pitchFamily="2" charset="-122"/>
              </a:rPr>
              <a:t>-</a:t>
            </a:r>
            <a:r>
              <a:rPr lang="zh-CN" altLang="en-US" sz="2800" b="0" dirty="0">
                <a:solidFill>
                  <a:schemeClr val="bg1">
                    <a:lumMod val="50000"/>
                  </a:schemeClr>
                </a:solidFill>
                <a:latin typeface="华文楷体" pitchFamily="2" charset="-122"/>
                <a:ea typeface="华文楷体" pitchFamily="2" charset="-122"/>
              </a:rPr>
              <a:t>线性表结构</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zh-CN" altLang="en-US" dirty="0">
                <a:latin typeface="华文楷体" panose="02010600040101010101" pitchFamily="2" charset="-122"/>
                <a:ea typeface="华文楷体" panose="02010600040101010101" pitchFamily="2" charset="-122"/>
              </a:rPr>
              <a:t>这章的任务和目标：</a:t>
            </a:r>
          </a:p>
        </p:txBody>
      </p:sp>
    </p:spTree>
    <p:extLst>
      <p:ext uri="{BB962C8B-B14F-4D97-AF65-F5344CB8AC3E}">
        <p14:creationId xmlns:p14="http://schemas.microsoft.com/office/powerpoint/2010/main" val="3512976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线性表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一元多项式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稀疏矩阵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字符串</a:t>
            </a:r>
            <a:r>
              <a:rPr lang="en-US" altLang="zh-CN" sz="2800" dirty="0">
                <a:latin typeface="华文楷体" pitchFamily="2" charset="-122"/>
                <a:ea typeface="华文楷体" pitchFamily="2" charset="-122"/>
              </a:rPr>
              <a:t>*</a:t>
            </a:r>
          </a:p>
          <a:p>
            <a:pPr>
              <a:lnSpc>
                <a:spcPct val="115000"/>
              </a:lnSpc>
              <a:buFont typeface="Wingdings" panose="05000000000000000000" pitchFamily="2" charset="2"/>
              <a:buChar char="Ø"/>
              <a:defRPr/>
            </a:pP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3867379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一组</a:t>
            </a:r>
            <a:r>
              <a:rPr lang="zh-CN" altLang="zh-CN" sz="2800" dirty="0">
                <a:latin typeface="华文楷体" pitchFamily="2" charset="-122"/>
                <a:ea typeface="华文楷体" pitchFamily="2" charset="-122"/>
              </a:rPr>
              <a:t>特征相同</a:t>
            </a:r>
            <a:r>
              <a:rPr lang="zh-CN" altLang="zh-CN" sz="2800" b="0" dirty="0">
                <a:latin typeface="华文楷体" pitchFamily="2" charset="-122"/>
                <a:ea typeface="华文楷体" pitchFamily="2" charset="-122"/>
              </a:rPr>
              <a:t>且</a:t>
            </a:r>
            <a:r>
              <a:rPr lang="zh-CN" altLang="zh-CN" sz="2800" dirty="0">
                <a:latin typeface="华文楷体" pitchFamily="2" charset="-122"/>
                <a:ea typeface="华文楷体" pitchFamily="2" charset="-122"/>
              </a:rPr>
              <a:t>数量有限的</a:t>
            </a:r>
            <a:r>
              <a:rPr lang="zh-CN" altLang="zh-CN" sz="2800" b="0" dirty="0">
                <a:latin typeface="华文楷体" pitchFamily="2" charset="-122"/>
                <a:ea typeface="华文楷体" pitchFamily="2" charset="-122"/>
              </a:rPr>
              <a:t>元素构成的集合。该集合</a:t>
            </a:r>
            <a:r>
              <a:rPr lang="zh-CN" altLang="zh-CN" sz="2800" dirty="0">
                <a:latin typeface="华文楷体" pitchFamily="2" charset="-122"/>
                <a:ea typeface="华文楷体" pitchFamily="2" charset="-122"/>
              </a:rPr>
              <a:t>可以为空</a:t>
            </a:r>
            <a:r>
              <a:rPr lang="zh-CN" altLang="zh-CN" sz="2800" b="0" dirty="0">
                <a:latin typeface="华文楷体" pitchFamily="2" charset="-122"/>
                <a:ea typeface="华文楷体" pitchFamily="2" charset="-122"/>
              </a:rPr>
              <a:t>，也可以不为空。</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当不为空时，有唯一一个元素被称为首元素，有唯一一个元素被称为尾元素。</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除了尾元素，每个元素有且仅有一个直接后继元素；除了首元素，每个元素有且仅有一个直接前驱元素。</a:t>
            </a:r>
          </a:p>
        </p:txBody>
      </p:sp>
      <p:sp>
        <p:nvSpPr>
          <p:cNvPr id="8194" name="Rectangle 2"/>
          <p:cNvSpPr>
            <a:spLocks noGrp="1" noRot="1" noChangeArrowheads="1"/>
          </p:cNvSpPr>
          <p:nvPr>
            <p:ph type="title"/>
          </p:nvPr>
        </p:nvSpPr>
        <p:spPr/>
        <p:txBody>
          <a:bodyPr/>
          <a:lstStyle/>
          <a:p>
            <a:pPr marL="838200" indent="-838200">
              <a:defRPr/>
            </a:pPr>
            <a:r>
              <a:rPr lang="en-US" altLang="zh-CN" dirty="0"/>
              <a:t> </a:t>
            </a:r>
            <a:r>
              <a:rPr lang="zh-CN" altLang="en-US" dirty="0">
                <a:latin typeface="华文楷体" panose="02010600040101010101" pitchFamily="2" charset="-122"/>
                <a:ea typeface="华文楷体" panose="02010600040101010101" pitchFamily="2" charset="-122"/>
              </a:rPr>
              <a:t>线性结构定义：</a:t>
            </a:r>
          </a:p>
        </p:txBody>
      </p:sp>
      <p:pic>
        <p:nvPicPr>
          <p:cNvPr id="2" name="图片 1"/>
          <p:cNvPicPr>
            <a:picLocks noChangeAspect="1"/>
          </p:cNvPicPr>
          <p:nvPr/>
        </p:nvPicPr>
        <p:blipFill>
          <a:blip r:embed="rId3"/>
          <a:stretch>
            <a:fillRect/>
          </a:stretch>
        </p:blipFill>
        <p:spPr>
          <a:xfrm>
            <a:off x="4994620" y="5294588"/>
            <a:ext cx="2996441" cy="998814"/>
          </a:xfrm>
          <a:prstGeom prst="rect">
            <a:avLst/>
          </a:prstGeom>
        </p:spPr>
      </p:pic>
    </p:spTree>
    <p:extLst>
      <p:ext uri="{BB962C8B-B14F-4D97-AF65-F5344CB8AC3E}">
        <p14:creationId xmlns:p14="http://schemas.microsoft.com/office/powerpoint/2010/main" val="58393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66455"/>
            <a:ext cx="11903716" cy="4595805"/>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线性表</a:t>
            </a:r>
            <a:r>
              <a:rPr lang="en-US" altLang="zh-CN" sz="2800" b="0" dirty="0">
                <a:latin typeface="华文楷体" pitchFamily="2" charset="-122"/>
                <a:ea typeface="华文楷体" pitchFamily="2" charset="-122"/>
              </a:rPr>
              <a:t>(List)</a:t>
            </a:r>
            <a:r>
              <a:rPr lang="zh-CN" altLang="zh-CN" sz="2800" b="0" dirty="0">
                <a:latin typeface="华文楷体" pitchFamily="2" charset="-122"/>
                <a:ea typeface="华文楷体" pitchFamily="2" charset="-122"/>
              </a:rPr>
              <a:t>、时间有序表</a:t>
            </a:r>
            <a:r>
              <a:rPr lang="en-US" altLang="zh-CN" sz="2800" b="0" dirty="0">
                <a:latin typeface="华文楷体" pitchFamily="2" charset="-122"/>
                <a:ea typeface="华文楷体" pitchFamily="2" charset="-122"/>
              </a:rPr>
              <a:t>(Chronological Ordered List)</a:t>
            </a:r>
            <a:r>
              <a:rPr lang="zh-CN" altLang="zh-CN" sz="2800" b="0" dirty="0">
                <a:latin typeface="华文楷体" pitchFamily="2" charset="-122"/>
                <a:ea typeface="华文楷体" pitchFamily="2" charset="-122"/>
              </a:rPr>
              <a:t>、排序表</a:t>
            </a:r>
            <a:r>
              <a:rPr lang="en-US" altLang="zh-CN" sz="2800" b="0" dirty="0">
                <a:latin typeface="华文楷体" pitchFamily="2" charset="-122"/>
                <a:ea typeface="华文楷体" pitchFamily="2" charset="-122"/>
              </a:rPr>
              <a:t>(Sorted List)</a:t>
            </a:r>
            <a:r>
              <a:rPr lang="zh-CN" altLang="zh-CN" sz="2800" b="0" dirty="0">
                <a:latin typeface="华文楷体" pitchFamily="2" charset="-122"/>
                <a:ea typeface="华文楷体" pitchFamily="2" charset="-122"/>
              </a:rPr>
              <a:t>、频率有序表</a:t>
            </a:r>
            <a:r>
              <a:rPr lang="en-US" altLang="zh-CN" sz="2800" b="0" dirty="0">
                <a:latin typeface="华文楷体" pitchFamily="2" charset="-122"/>
                <a:ea typeface="华文楷体" pitchFamily="2" charset="-122"/>
              </a:rPr>
              <a:t>(Frequency Ordered List)</a:t>
            </a:r>
            <a:r>
              <a:rPr lang="zh-CN" altLang="zh-CN" sz="2800" b="0" dirty="0">
                <a:latin typeface="华文楷体" pitchFamily="2" charset="-122"/>
                <a:ea typeface="华文楷体" pitchFamily="2" charset="-122"/>
              </a:rPr>
              <a:t>等。</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r>
              <a:rPr lang="zh-CN" altLang="en-US" sz="2800" dirty="0">
                <a:latin typeface="华文楷体" pitchFamily="2" charset="-122"/>
                <a:ea typeface="华文楷体" pitchFamily="2" charset="-122"/>
              </a:rPr>
              <a:t>线性表：</a:t>
            </a:r>
            <a:r>
              <a:rPr lang="zh-CN" altLang="zh-CN" sz="2800" b="0" dirty="0">
                <a:latin typeface="华文楷体" pitchFamily="2" charset="-122"/>
                <a:ea typeface="华文楷体" pitchFamily="2" charset="-122"/>
              </a:rPr>
              <a:t>通过元素之间的相对位置来确定它们之间相互关系。 </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dirty="0">
                <a:latin typeface="华文楷体" pitchFamily="2" charset="-122"/>
                <a:ea typeface="华文楷体" pitchFamily="2" charset="-122"/>
              </a:rPr>
              <a:t>时间有序表</a:t>
            </a:r>
            <a:r>
              <a:rPr lang="zh-CN" altLang="en-US" sz="2800" dirty="0">
                <a:latin typeface="华文楷体" pitchFamily="2" charset="-122"/>
                <a:ea typeface="华文楷体" pitchFamily="2" charset="-122"/>
              </a:rPr>
              <a:t>：</a:t>
            </a:r>
            <a:r>
              <a:rPr lang="zh-CN" altLang="zh-CN" sz="2800" b="0" dirty="0">
                <a:latin typeface="华文楷体" pitchFamily="2" charset="-122"/>
                <a:ea typeface="华文楷体" pitchFamily="2" charset="-122"/>
              </a:rPr>
              <a:t>按元素到达结构的时间先后，确定元素之间</a:t>
            </a:r>
            <a:r>
              <a:rPr lang="zh-CN" altLang="en-US" sz="2800" b="0" dirty="0">
                <a:latin typeface="华文楷体" pitchFamily="2" charset="-122"/>
                <a:ea typeface="华文楷体" pitchFamily="2" charset="-122"/>
              </a:rPr>
              <a:t>的</a:t>
            </a:r>
            <a:r>
              <a:rPr lang="zh-CN" altLang="zh-CN" sz="2800" b="0" dirty="0">
                <a:latin typeface="华文楷体" pitchFamily="2" charset="-122"/>
                <a:ea typeface="华文楷体" pitchFamily="2" charset="-122"/>
              </a:rPr>
              <a:t>关系</a:t>
            </a:r>
            <a:r>
              <a:rPr lang="zh-CN" altLang="en-US" sz="2800" b="0" dirty="0">
                <a:latin typeface="华文楷体" pitchFamily="2" charset="-122"/>
                <a:ea typeface="华文楷体" pitchFamily="2" charset="-122"/>
              </a:rPr>
              <a:t>。栈</a:t>
            </a:r>
            <a:r>
              <a:rPr lang="en-US" altLang="zh-CN" sz="2800" b="0" dirty="0">
                <a:latin typeface="华文楷体" pitchFamily="2" charset="-122"/>
                <a:ea typeface="华文楷体" pitchFamily="2" charset="-122"/>
              </a:rPr>
              <a:t>/</a:t>
            </a:r>
            <a:r>
              <a:rPr lang="zh-CN" altLang="en-US" sz="2800" b="0" dirty="0">
                <a:latin typeface="华文楷体" pitchFamily="2" charset="-122"/>
                <a:ea typeface="华文楷体" pitchFamily="2" charset="-122"/>
              </a:rPr>
              <a:t>队列</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dirty="0">
                <a:latin typeface="华文楷体" pitchFamily="2" charset="-122"/>
                <a:ea typeface="华文楷体" pitchFamily="2" charset="-122"/>
              </a:rPr>
              <a:t>排序表</a:t>
            </a:r>
            <a:r>
              <a:rPr lang="zh-CN" altLang="en-US" sz="2800" dirty="0">
                <a:latin typeface="华文楷体" pitchFamily="2" charset="-122"/>
                <a:ea typeface="华文楷体" pitchFamily="2" charset="-122"/>
              </a:rPr>
              <a:t>：</a:t>
            </a:r>
            <a:r>
              <a:rPr lang="zh-CN" altLang="zh-CN" sz="2800" b="0" dirty="0">
                <a:latin typeface="华文楷体" pitchFamily="2" charset="-122"/>
                <a:ea typeface="华文楷体" pitchFamily="2" charset="-122"/>
              </a:rPr>
              <a:t>据元素的关键字值来确定其间的关系</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dirty="0">
                <a:latin typeface="华文楷体" pitchFamily="2" charset="-122"/>
                <a:ea typeface="华文楷体" pitchFamily="2" charset="-122"/>
              </a:rPr>
              <a:t>频率有序表</a:t>
            </a:r>
            <a:r>
              <a:rPr lang="zh-CN" altLang="en-US" sz="2800" dirty="0">
                <a:latin typeface="华文楷体" pitchFamily="2" charset="-122"/>
                <a:ea typeface="华文楷体" pitchFamily="2" charset="-122"/>
              </a:rPr>
              <a:t>：</a:t>
            </a:r>
            <a:r>
              <a:rPr lang="zh-CN" altLang="zh-CN" sz="2800" b="0" dirty="0">
                <a:latin typeface="华文楷体" pitchFamily="2" charset="-122"/>
                <a:ea typeface="华文楷体" pitchFamily="2" charset="-122"/>
              </a:rPr>
              <a:t>按元素的使用频率确定它们之间的相互关系</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1789113"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常见的几种线性结构</a:t>
            </a:r>
            <a:r>
              <a:rPr lang="zh-CN" altLang="en-US" dirty="0">
                <a:latin typeface="华文楷体" panose="02010600040101010101" pitchFamily="2" charset="-122"/>
                <a:ea typeface="华文楷体" panose="02010600040101010101" pitchFamily="2" charset="-122"/>
              </a:rPr>
              <a:t>：</a:t>
            </a:r>
          </a:p>
        </p:txBody>
      </p:sp>
      <p:pic>
        <p:nvPicPr>
          <p:cNvPr id="2" name="图片 1"/>
          <p:cNvPicPr>
            <a:picLocks noChangeAspect="1"/>
          </p:cNvPicPr>
          <p:nvPr/>
        </p:nvPicPr>
        <p:blipFill>
          <a:blip r:embed="rId3"/>
          <a:stretch>
            <a:fillRect/>
          </a:stretch>
        </p:blipFill>
        <p:spPr>
          <a:xfrm>
            <a:off x="8395093" y="2213733"/>
            <a:ext cx="3056075" cy="1018692"/>
          </a:xfrm>
          <a:prstGeom prst="rect">
            <a:avLst/>
          </a:prstGeom>
        </p:spPr>
      </p:pic>
    </p:spTree>
    <p:extLst>
      <p:ext uri="{BB962C8B-B14F-4D97-AF65-F5344CB8AC3E}">
        <p14:creationId xmlns:p14="http://schemas.microsoft.com/office/powerpoint/2010/main" val="373773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65847"/>
            <a:ext cx="11903716" cy="3919944"/>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一种仅由元素的相互位置确定它们之间相互关系的线性结构，</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元素之间呈现出你先我后的关系。</a:t>
            </a:r>
            <a:endParaRPr lang="en-US" altLang="zh-CN" sz="2800" b="0" dirty="0">
              <a:latin typeface="华文楷体" pitchFamily="2" charset="-122"/>
              <a:ea typeface="华文楷体" pitchFamily="2" charset="-122"/>
            </a:endParaRPr>
          </a:p>
          <a:p>
            <a:pPr marL="0" indent="0">
              <a:lnSpc>
                <a:spcPct val="115000"/>
              </a:lnSpc>
              <a:buNone/>
              <a:defRPr/>
            </a:pPr>
            <a:r>
              <a:rPr lang="zh-CN" altLang="en-US" sz="2800" dirty="0">
                <a:latin typeface="华文楷体" pitchFamily="2" charset="-122"/>
                <a:ea typeface="华文楷体" pitchFamily="2" charset="-122"/>
              </a:rPr>
              <a:t>  </a:t>
            </a:r>
            <a:endParaRPr lang="en-US" altLang="zh-CN" sz="280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线性表的</a:t>
            </a:r>
            <a:r>
              <a:rPr lang="zh-CN" altLang="zh-CN" sz="2800" dirty="0">
                <a:latin typeface="华文楷体" pitchFamily="2" charset="-122"/>
                <a:ea typeface="华文楷体" pitchFamily="2" charset="-122"/>
              </a:rPr>
              <a:t>规模或长度</a:t>
            </a:r>
            <a:r>
              <a:rPr lang="zh-CN" altLang="zh-CN" sz="2800" b="0" dirty="0">
                <a:latin typeface="华文楷体" pitchFamily="2" charset="-122"/>
                <a:ea typeface="华文楷体" pitchFamily="2" charset="-122"/>
              </a:rPr>
              <a:t>是指线性表中元素的个数。</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特别地：当元素的个数为零时，该线性表称为</a:t>
            </a:r>
            <a:r>
              <a:rPr lang="zh-CN" altLang="zh-CN" sz="2800" dirty="0">
                <a:latin typeface="华文楷体" pitchFamily="2" charset="-122"/>
                <a:ea typeface="华文楷体" pitchFamily="2" charset="-122"/>
              </a:rPr>
              <a:t>空表</a:t>
            </a:r>
            <a:r>
              <a:rPr lang="zh-CN" altLang="zh-CN" sz="2800" b="0" dirty="0">
                <a:latin typeface="华文楷体" pitchFamily="2" charset="-122"/>
                <a:ea typeface="华文楷体" pitchFamily="2" charset="-122"/>
              </a:rPr>
              <a:t>。 </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p:txBody>
      </p:sp>
      <p:sp>
        <p:nvSpPr>
          <p:cNvPr id="2" name="标题 1"/>
          <p:cNvSpPr>
            <a:spLocks noGrp="1"/>
          </p:cNvSpPr>
          <p:nvPr>
            <p:ph type="title"/>
          </p:nvPr>
        </p:nvSpPr>
        <p:spPr>
          <a:xfrm>
            <a:off x="288284" y="832523"/>
            <a:ext cx="11162884" cy="574183"/>
          </a:xfrm>
        </p:spPr>
        <p:txBody>
          <a:bodyPr/>
          <a:lstStyle/>
          <a:p>
            <a:r>
              <a:rPr lang="zh-CN" altLang="en-US" dirty="0"/>
              <a:t>线性表</a:t>
            </a:r>
          </a:p>
        </p:txBody>
      </p:sp>
    </p:spTree>
    <p:extLst>
      <p:ext uri="{BB962C8B-B14F-4D97-AF65-F5344CB8AC3E}">
        <p14:creationId xmlns:p14="http://schemas.microsoft.com/office/powerpoint/2010/main" val="1609920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4556049"/>
          </a:xfrm>
        </p:spPr>
        <p:txBody>
          <a:bodyPr>
            <a:normAutofit/>
          </a:bodyPr>
          <a:lstStyle/>
          <a:p>
            <a:pPr marL="0" indent="0">
              <a:buNone/>
            </a:pPr>
            <a:r>
              <a:rPr lang="en-US" altLang="zh-CN" sz="2800" b="0" dirty="0">
                <a:ea typeface="华文楷体" pitchFamily="2" charset="-122"/>
                <a:cs typeface="Times New Roman" panose="02020603050405020304" pitchFamily="18" charset="0"/>
              </a:rPr>
              <a:t>Data: { xi | xi</a:t>
            </a:r>
            <a:r>
              <a:rPr lang="en-US" altLang="zh-CN" sz="2800" b="0" dirty="0">
                <a:ea typeface="华文楷体" pitchFamily="2" charset="-122"/>
                <a:cs typeface="Times New Roman" panose="02020603050405020304" pitchFamily="18" charset="0"/>
                <a:sym typeface="Symbol" panose="05050102010706020507" pitchFamily="18" charset="2"/>
              </a:rPr>
              <a: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ElemSet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=1,2,3,……n, n &gt; 0} </a:t>
            </a:r>
            <a:r>
              <a:rPr lang="zh-CN" altLang="zh-CN" sz="2800" b="0" dirty="0">
                <a:ea typeface="华文楷体" pitchFamily="2" charset="-122"/>
                <a:cs typeface="Times New Roman" panose="02020603050405020304" pitchFamily="18" charset="0"/>
              </a:rPr>
              <a:t>或</a:t>
            </a:r>
            <a:r>
              <a:rPr lang="en-US" altLang="zh-CN" sz="2800" b="0" dirty="0">
                <a:ea typeface="华文楷体" pitchFamily="2" charset="-122"/>
                <a:cs typeface="Times New Roman" panose="02020603050405020304" pitchFamily="18" charset="0"/>
              </a:rPr>
              <a:t> Φ; </a:t>
            </a:r>
            <a:r>
              <a:rPr lang="en-US" altLang="zh-CN" sz="2800" b="0" dirty="0" err="1">
                <a:ea typeface="华文楷体" pitchFamily="2" charset="-122"/>
                <a:cs typeface="Times New Roman" panose="02020603050405020304" pitchFamily="18" charset="0"/>
              </a:rPr>
              <a:t>ElemSet</a:t>
            </a:r>
            <a:r>
              <a:rPr lang="zh-CN" altLang="zh-CN" sz="2800" b="0" dirty="0">
                <a:ea typeface="华文楷体" pitchFamily="2" charset="-122"/>
                <a:cs typeface="Times New Roman" panose="02020603050405020304" pitchFamily="18" charset="0"/>
              </a:rPr>
              <a:t>为元素集合。</a:t>
            </a:r>
          </a:p>
          <a:p>
            <a:pPr marL="0" indent="0">
              <a:buNone/>
            </a:pPr>
            <a:r>
              <a:rPr lang="en-US" altLang="zh-CN" sz="2800" b="0" dirty="0">
                <a:ea typeface="华文楷体" pitchFamily="2" charset="-122"/>
                <a:cs typeface="Times New Roman" panose="02020603050405020304" pitchFamily="18" charset="0"/>
              </a:rPr>
              <a:t>Relation: {&lt;xi,xi+1&gt;|xi,xi+1</a:t>
            </a:r>
            <a:r>
              <a:rPr lang="en-US" altLang="zh-CN" sz="2800" b="0" dirty="0">
                <a:ea typeface="华文楷体" pitchFamily="2" charset="-122"/>
                <a:cs typeface="Times New Roman" panose="02020603050405020304" pitchFamily="18" charset="0"/>
                <a:sym typeface="Symbol" panose="05050102010706020507" pitchFamily="18" charset="2"/>
              </a:rPr>
              <a:t></a:t>
            </a:r>
            <a:r>
              <a:rPr lang="en-US" altLang="zh-CN" sz="2800" b="0" dirty="0">
                <a:ea typeface="华文楷体" pitchFamily="2" charset="-122"/>
                <a:cs typeface="Times New Roman" panose="02020603050405020304" pitchFamily="18" charset="0"/>
              </a:rPr>
              <a:t>ElemSet,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=1,2,3,</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n-1}, </a:t>
            </a:r>
          </a:p>
          <a:p>
            <a:pPr marL="0" indent="0">
              <a:buNone/>
            </a:pPr>
            <a:r>
              <a:rPr lang="en-US" altLang="zh-CN" sz="2800" b="0" dirty="0">
                <a:ea typeface="华文楷体" pitchFamily="2" charset="-122"/>
                <a:cs typeface="Times New Roman" panose="02020603050405020304" pitchFamily="18" charset="0"/>
              </a:rPr>
              <a:t>                          x1</a:t>
            </a:r>
            <a:r>
              <a:rPr lang="zh-CN" altLang="zh-CN" sz="2800" b="0" dirty="0">
                <a:ea typeface="华文楷体" pitchFamily="2" charset="-122"/>
                <a:cs typeface="Times New Roman" panose="02020603050405020304" pitchFamily="18" charset="0"/>
              </a:rPr>
              <a:t>为首元素，</a:t>
            </a:r>
            <a:r>
              <a:rPr lang="en-US" altLang="zh-CN" sz="2800" b="0" dirty="0" err="1">
                <a:ea typeface="华文楷体" pitchFamily="2" charset="-122"/>
                <a:cs typeface="Times New Roman" panose="02020603050405020304" pitchFamily="18" charset="0"/>
              </a:rPr>
              <a:t>xn</a:t>
            </a:r>
            <a:r>
              <a:rPr lang="zh-CN" altLang="zh-CN" sz="2800" b="0" dirty="0">
                <a:ea typeface="华文楷体" pitchFamily="2" charset="-122"/>
                <a:cs typeface="Times New Roman" panose="02020603050405020304" pitchFamily="18" charset="0"/>
              </a:rPr>
              <a:t>为尾元素。</a:t>
            </a:r>
          </a:p>
          <a:p>
            <a:pPr marL="0" indent="0">
              <a:buNone/>
            </a:pPr>
            <a:r>
              <a:rPr lang="en-US" altLang="zh-CN" sz="2800" b="0" dirty="0">
                <a:ea typeface="华文楷体" pitchFamily="2" charset="-122"/>
                <a:cs typeface="Times New Roman" panose="02020603050405020304" pitchFamily="18" charset="0"/>
              </a:rPr>
              <a:t>Operations:</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initialize	</a:t>
            </a:r>
            <a:r>
              <a:rPr lang="zh-CN" altLang="zh-CN" sz="2800" b="0" dirty="0">
                <a:ea typeface="华文楷体" pitchFamily="2" charset="-122"/>
                <a:cs typeface="Times New Roman" panose="02020603050405020304" pitchFamily="18" charset="0"/>
              </a:rPr>
              <a:t>前提</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无或指定</a:t>
            </a:r>
            <a:r>
              <a:rPr lang="en-US" altLang="zh-CN" sz="2800" b="0" dirty="0">
                <a:ea typeface="华文楷体" pitchFamily="2" charset="-122"/>
                <a:cs typeface="Times New Roman" panose="02020603050405020304" pitchFamily="18" charset="0"/>
              </a:rPr>
              <a:t>List </a:t>
            </a:r>
            <a:r>
              <a:rPr lang="zh-CN" altLang="zh-CN" sz="2800" b="0" dirty="0">
                <a:ea typeface="华文楷体" pitchFamily="2" charset="-122"/>
                <a:cs typeface="Times New Roman" panose="02020603050405020304" pitchFamily="18" charset="0"/>
              </a:rPr>
              <a:t>的规模。结果</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分配相应空间及初始化。</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isEmpty</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前提：无</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结果：表</a:t>
            </a:r>
            <a:r>
              <a:rPr lang="en-US" altLang="zh-CN" sz="2800" b="0" dirty="0">
                <a:ea typeface="华文楷体" pitchFamily="2" charset="-122"/>
                <a:cs typeface="Times New Roman" panose="02020603050405020304" pitchFamily="18" charset="0"/>
              </a:rPr>
              <a:t>List </a:t>
            </a:r>
            <a:r>
              <a:rPr lang="zh-CN" altLang="zh-CN" sz="2800" b="0" dirty="0">
                <a:ea typeface="华文楷体" pitchFamily="2" charset="-122"/>
                <a:cs typeface="Times New Roman" panose="02020603050405020304" pitchFamily="18" charset="0"/>
              </a:rPr>
              <a:t>为空返回</a:t>
            </a:r>
            <a:r>
              <a:rPr lang="en-US" altLang="zh-CN" sz="2800" b="0" dirty="0">
                <a:ea typeface="华文楷体" pitchFamily="2" charset="-122"/>
                <a:cs typeface="Times New Roman" panose="02020603050405020304" pitchFamily="18" charset="0"/>
              </a:rPr>
              <a:t>true</a:t>
            </a:r>
            <a:r>
              <a:rPr lang="zh-CN" altLang="zh-CN" sz="2800" b="0" dirty="0">
                <a:ea typeface="华文楷体" pitchFamily="2" charset="-122"/>
                <a:cs typeface="Times New Roman" panose="02020603050405020304" pitchFamily="18" charset="0"/>
              </a:rPr>
              <a:t>，否则返回</a:t>
            </a:r>
            <a:r>
              <a:rPr lang="en-US" altLang="zh-CN" sz="2800" b="0" dirty="0">
                <a:ea typeface="华文楷体" pitchFamily="2" charset="-122"/>
                <a:cs typeface="Times New Roman" panose="02020603050405020304" pitchFamily="18" charset="0"/>
              </a:rPr>
              <a:t>false</a:t>
            </a:r>
            <a:r>
              <a:rPr lang="zh-CN" altLang="zh-CN" sz="2800" b="0" dirty="0">
                <a:ea typeface="华文楷体" pitchFamily="2" charset="-122"/>
                <a:cs typeface="Times New Roman" panose="02020603050405020304" pitchFamily="18" charset="0"/>
              </a:rPr>
              <a:t>。</a:t>
            </a: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isFull</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前提：无</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结果：表</a:t>
            </a:r>
            <a:r>
              <a:rPr lang="en-US" altLang="zh-CN" sz="2800" b="0" dirty="0">
                <a:ea typeface="华文楷体" pitchFamily="2" charset="-122"/>
                <a:cs typeface="Times New Roman" panose="02020603050405020304" pitchFamily="18" charset="0"/>
              </a:rPr>
              <a:t>List </a:t>
            </a:r>
            <a:r>
              <a:rPr lang="zh-CN" altLang="zh-CN" sz="2800" b="0" dirty="0">
                <a:ea typeface="华文楷体" pitchFamily="2" charset="-122"/>
                <a:cs typeface="Times New Roman" panose="02020603050405020304" pitchFamily="18" charset="0"/>
              </a:rPr>
              <a:t>为满返回</a:t>
            </a:r>
            <a:r>
              <a:rPr lang="en-US" altLang="zh-CN" sz="2800" b="0" dirty="0">
                <a:ea typeface="华文楷体" pitchFamily="2" charset="-122"/>
                <a:cs typeface="Times New Roman" panose="02020603050405020304" pitchFamily="18" charset="0"/>
              </a:rPr>
              <a:t>true</a:t>
            </a:r>
            <a:r>
              <a:rPr lang="zh-CN" altLang="zh-CN" sz="2800" b="0" dirty="0">
                <a:ea typeface="华文楷体" pitchFamily="2" charset="-122"/>
                <a:cs typeface="Times New Roman" panose="02020603050405020304" pitchFamily="18" charset="0"/>
              </a:rPr>
              <a:t>，否则返回</a:t>
            </a:r>
            <a:r>
              <a:rPr lang="en-US" altLang="zh-CN" sz="2800" b="0" dirty="0">
                <a:ea typeface="华文楷体" pitchFamily="2" charset="-122"/>
                <a:cs typeface="Times New Roman" panose="02020603050405020304" pitchFamily="18" charset="0"/>
              </a:rPr>
              <a:t>false</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en-US" altLang="zh-CN" dirty="0">
                <a:latin typeface="华文楷体" panose="02010600040101010101" pitchFamily="2" charset="-122"/>
                <a:ea typeface="华文楷体" panose="02010600040101010101" pitchFamily="2" charset="-122"/>
              </a:rPr>
              <a:t>List</a:t>
            </a:r>
            <a:r>
              <a:rPr lang="zh-CN" altLang="zh-CN" dirty="0">
                <a:latin typeface="华文楷体" panose="02010600040101010101" pitchFamily="2" charset="-122"/>
                <a:ea typeface="华文楷体" panose="02010600040101010101" pitchFamily="2" charset="-122"/>
              </a:rPr>
              <a:t>的</a:t>
            </a:r>
            <a:r>
              <a:rPr lang="en-US" altLang="zh-CN" dirty="0">
                <a:latin typeface="华文楷体" panose="02010600040101010101" pitchFamily="2" charset="-122"/>
                <a:ea typeface="华文楷体" panose="02010600040101010101" pitchFamily="2" charset="-122"/>
              </a:rPr>
              <a:t>ADT </a:t>
            </a:r>
            <a:r>
              <a:rPr lang="zh-CN" altLang="en-US" dirty="0">
                <a:latin typeface="华文楷体" panose="02010600040101010101" pitchFamily="2" charset="-122"/>
                <a:ea typeface="华文楷体" panose="02010600040101010101" pitchFamily="2" charset="-122"/>
              </a:rPr>
              <a:t>：描述关系和关系操作</a:t>
            </a:r>
          </a:p>
        </p:txBody>
      </p:sp>
    </p:spTree>
    <p:extLst>
      <p:ext uri="{BB962C8B-B14F-4D97-AF65-F5344CB8AC3E}">
        <p14:creationId xmlns:p14="http://schemas.microsoft.com/office/powerpoint/2010/main" val="602980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7432" y="1526699"/>
            <a:ext cx="11903716" cy="4973491"/>
          </a:xfrm>
        </p:spPr>
        <p:txBody>
          <a:bodyPr>
            <a:noAutofit/>
          </a:bodyPr>
          <a:lstStyle/>
          <a:p>
            <a:pPr marL="0" indent="0">
              <a:buNone/>
            </a:pPr>
            <a:r>
              <a:rPr lang="en-US" altLang="zh-CN" sz="2800" b="0" dirty="0">
                <a:ea typeface="华文楷体" pitchFamily="2" charset="-122"/>
                <a:cs typeface="Times New Roman" panose="02020603050405020304" pitchFamily="18" charset="0"/>
              </a:rPr>
              <a:t>length	  </a:t>
            </a:r>
            <a:r>
              <a:rPr lang="zh-CN" altLang="zh-CN" sz="2800" b="0" dirty="0">
                <a:ea typeface="华文楷体" pitchFamily="2" charset="-122"/>
                <a:cs typeface="Times New Roman" panose="02020603050405020304" pitchFamily="18" charset="0"/>
              </a:rPr>
              <a:t>前提：无</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结果：返回表</a:t>
            </a:r>
            <a:r>
              <a:rPr lang="en-US" altLang="zh-CN" sz="2800" b="0" dirty="0">
                <a:ea typeface="华文楷体" pitchFamily="2" charset="-122"/>
                <a:cs typeface="Times New Roman" panose="02020603050405020304" pitchFamily="18" charset="0"/>
              </a:rPr>
              <a:t>List </a:t>
            </a:r>
            <a:r>
              <a:rPr lang="zh-CN" altLang="zh-CN" sz="2800" b="0" dirty="0">
                <a:ea typeface="华文楷体" pitchFamily="2" charset="-122"/>
                <a:cs typeface="Times New Roman" panose="02020603050405020304" pitchFamily="18" charset="0"/>
              </a:rPr>
              <a:t>中的元素个数。</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get        </a:t>
            </a:r>
            <a:r>
              <a:rPr lang="zh-CN" altLang="zh-CN" sz="2800" b="0" dirty="0">
                <a:ea typeface="华文楷体" pitchFamily="2" charset="-122"/>
                <a:cs typeface="Times New Roman" panose="02020603050405020304" pitchFamily="18" charset="0"/>
              </a:rPr>
              <a:t>前提：已知元素序号。</a:t>
            </a:r>
            <a:r>
              <a:rPr lang="en-US" altLang="zh-CN" sz="2800" b="0" dirty="0">
                <a:ea typeface="华文楷体" pitchFamily="2" charset="-122"/>
                <a:cs typeface="Times New Roman" panose="02020603050405020304" pitchFamily="18" charset="0"/>
              </a:rPr>
              <a:t> </a:t>
            </a:r>
          </a:p>
          <a:p>
            <a:pPr marL="0" indent="0">
              <a:buNone/>
            </a:pP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结果：</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如果该序号元素存在，则返回相应元素的数据值。</a:t>
            </a:r>
          </a:p>
          <a:p>
            <a:pPr marL="0" indent="0">
              <a:buNone/>
            </a:pPr>
            <a:r>
              <a:rPr lang="en-US" altLang="zh-CN" sz="2800" b="0" dirty="0">
                <a:ea typeface="华文楷体" pitchFamily="2" charset="-122"/>
                <a:cs typeface="Times New Roman" panose="02020603050405020304" pitchFamily="18" charset="0"/>
              </a:rPr>
              <a:t>find       </a:t>
            </a:r>
            <a:r>
              <a:rPr lang="zh-CN" altLang="zh-CN" sz="2800" b="0" dirty="0">
                <a:ea typeface="华文楷体" pitchFamily="2" charset="-122"/>
                <a:cs typeface="Times New Roman" panose="02020603050405020304" pitchFamily="18" charset="0"/>
              </a:rPr>
              <a:t>前提：已知元素的数据值。</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结果：</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查找成功，返回元素的序号，否则返回查找失败标志。</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insert     </a:t>
            </a:r>
            <a:r>
              <a:rPr lang="zh-CN" altLang="zh-CN" sz="2800" b="0" dirty="0">
                <a:ea typeface="华文楷体" pitchFamily="2" charset="-122"/>
                <a:cs typeface="Times New Roman" panose="02020603050405020304" pitchFamily="18" charset="0"/>
              </a:rPr>
              <a:t>前提：已知待插入的元素及插入位置。</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结果：如果插入位置合</a:t>
            </a:r>
            <a:r>
              <a:rPr lang="zh-CN" altLang="en-US" sz="2800" b="0" dirty="0">
                <a:ea typeface="华文楷体" pitchFamily="2" charset="-122"/>
                <a:cs typeface="Times New Roman" panose="02020603050405020304" pitchFamily="18" charset="0"/>
              </a:rPr>
              <a:t>理</a:t>
            </a:r>
            <a:r>
              <a:rPr lang="zh-CN" altLang="zh-CN" sz="2800" b="0" dirty="0">
                <a:ea typeface="华文楷体" pitchFamily="2" charset="-122"/>
                <a:cs typeface="Times New Roman" panose="02020603050405020304" pitchFamily="18" charset="0"/>
              </a:rPr>
              <a:t>，在指定位置插入该元素。</a:t>
            </a:r>
            <a:endParaRPr lang="en-US" altLang="zh-CN" sz="2800" b="0" dirty="0">
              <a:ea typeface="华文楷体" pitchFamily="2" charset="-122"/>
              <a:cs typeface="Times New Roman" panose="02020603050405020304" pitchFamily="18" charset="0"/>
            </a:endParaRPr>
          </a:p>
          <a:p>
            <a:pPr marL="0" indent="0">
              <a:buNone/>
            </a:pP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en-US" altLang="zh-CN" dirty="0">
                <a:latin typeface="华文楷体" panose="02010600040101010101" pitchFamily="2" charset="-122"/>
                <a:ea typeface="华文楷体" panose="02010600040101010101" pitchFamily="2" charset="-122"/>
              </a:rPr>
              <a:t>List</a:t>
            </a:r>
            <a:r>
              <a:rPr lang="zh-CN" altLang="zh-CN" dirty="0">
                <a:latin typeface="华文楷体" panose="02010600040101010101" pitchFamily="2" charset="-122"/>
                <a:ea typeface="华文楷体" panose="02010600040101010101" pitchFamily="2" charset="-122"/>
              </a:rPr>
              <a:t>的</a:t>
            </a:r>
            <a:r>
              <a:rPr lang="en-US" altLang="zh-CN" dirty="0">
                <a:latin typeface="华文楷体" panose="02010600040101010101" pitchFamily="2" charset="-122"/>
                <a:ea typeface="华文楷体" panose="02010600040101010101" pitchFamily="2" charset="-122"/>
              </a:rPr>
              <a:t>ADT </a:t>
            </a:r>
            <a:r>
              <a:rPr lang="zh-CN" altLang="en-US" dirty="0">
                <a:latin typeface="华文楷体" panose="02010600040101010101" pitchFamily="2" charset="-122"/>
                <a:ea typeface="华文楷体" panose="02010600040101010101" pitchFamily="2" charset="-122"/>
              </a:rPr>
              <a:t>：描述关系和关系操作</a:t>
            </a:r>
          </a:p>
        </p:txBody>
      </p:sp>
    </p:spTree>
    <p:extLst>
      <p:ext uri="{BB962C8B-B14F-4D97-AF65-F5344CB8AC3E}">
        <p14:creationId xmlns:p14="http://schemas.microsoft.com/office/powerpoint/2010/main" val="3461242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05604"/>
            <a:ext cx="11903716" cy="4556049"/>
          </a:xfrm>
        </p:spPr>
        <p:txBody>
          <a:bodyPr>
            <a:normAutofit/>
          </a:bodyPr>
          <a:lstStyle/>
          <a:p>
            <a:pPr marL="0" indent="0">
              <a:buNone/>
            </a:pPr>
            <a:r>
              <a:rPr lang="en-US" altLang="zh-CN" sz="2800" b="0" dirty="0">
                <a:solidFill>
                  <a:srgbClr val="00B0F0"/>
                </a:solidFill>
                <a:ea typeface="华文楷体" pitchFamily="2" charset="-122"/>
                <a:cs typeface="Times New Roman" panose="02020603050405020304" pitchFamily="18" charset="0"/>
              </a:rPr>
              <a:t>remove       </a:t>
            </a:r>
            <a:r>
              <a:rPr lang="zh-CN" altLang="zh-CN" sz="2800" b="0" dirty="0">
                <a:solidFill>
                  <a:srgbClr val="00B0F0"/>
                </a:solidFill>
                <a:ea typeface="华文楷体" pitchFamily="2" charset="-122"/>
                <a:cs typeface="Times New Roman" panose="02020603050405020304" pitchFamily="18" charset="0"/>
              </a:rPr>
              <a:t>前提：已知被删元素的</a:t>
            </a:r>
            <a:r>
              <a:rPr lang="zh-CN" altLang="en-US" sz="2800" b="0" dirty="0">
                <a:solidFill>
                  <a:srgbClr val="00B0F0"/>
                </a:solidFill>
                <a:ea typeface="华文楷体" pitchFamily="2" charset="-122"/>
                <a:cs typeface="Times New Roman" panose="02020603050405020304" pitchFamily="18" charset="0"/>
              </a:rPr>
              <a:t>序号</a:t>
            </a:r>
            <a:r>
              <a:rPr lang="zh-CN" altLang="zh-CN" sz="2800" b="0" dirty="0">
                <a:solidFill>
                  <a:srgbClr val="00B0F0"/>
                </a:solidFill>
                <a:ea typeface="华文楷体" pitchFamily="2" charset="-122"/>
                <a:cs typeface="Times New Roman" panose="02020603050405020304" pitchFamily="18" charset="0"/>
              </a:rPr>
              <a:t>。</a:t>
            </a:r>
            <a:endParaRPr lang="en-US" altLang="zh-CN" sz="2800" b="0" dirty="0">
              <a:solidFill>
                <a:srgbClr val="00B0F0"/>
              </a:solidFill>
              <a:ea typeface="华文楷体" pitchFamily="2" charset="-122"/>
              <a:cs typeface="Times New Roman" panose="02020603050405020304" pitchFamily="18" charset="0"/>
            </a:endParaRPr>
          </a:p>
          <a:p>
            <a:pPr marL="0" indent="0">
              <a:buNone/>
            </a:pPr>
            <a:r>
              <a:rPr lang="en-US" altLang="zh-CN" sz="2800" b="0" dirty="0">
                <a:solidFill>
                  <a:srgbClr val="00B0F0"/>
                </a:solidFill>
                <a:ea typeface="华文楷体" pitchFamily="2" charset="-122"/>
                <a:cs typeface="Times New Roman" panose="02020603050405020304" pitchFamily="18" charset="0"/>
              </a:rPr>
              <a:t>                   </a:t>
            </a:r>
            <a:r>
              <a:rPr lang="zh-CN" altLang="zh-CN" sz="2800" b="0" dirty="0">
                <a:solidFill>
                  <a:srgbClr val="00B0F0"/>
                </a:solidFill>
                <a:ea typeface="华文楷体" pitchFamily="2" charset="-122"/>
                <a:cs typeface="Times New Roman" panose="02020603050405020304" pitchFamily="18" charset="0"/>
              </a:rPr>
              <a:t>结果：删除该元素。</a:t>
            </a:r>
          </a:p>
          <a:p>
            <a:pPr marL="0" indent="0">
              <a:buNone/>
            </a:pPr>
            <a:r>
              <a:rPr lang="en-US" altLang="zh-CN" sz="2800" b="0" dirty="0">
                <a:ea typeface="华文楷体" pitchFamily="2" charset="-122"/>
                <a:cs typeface="Times New Roman" panose="02020603050405020304" pitchFamily="18" charset="0"/>
              </a:rPr>
              <a:t>clear	         </a:t>
            </a:r>
            <a:r>
              <a:rPr lang="zh-CN" altLang="zh-CN" sz="2800" b="0" dirty="0">
                <a:ea typeface="华文楷体" pitchFamily="2" charset="-122"/>
                <a:cs typeface="Times New Roman" panose="02020603050405020304" pitchFamily="18" charset="0"/>
              </a:rPr>
              <a:t>前提</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无</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结果：删除表</a:t>
            </a:r>
            <a:r>
              <a:rPr lang="en-US" altLang="zh-CN" sz="2800" b="0" dirty="0">
                <a:ea typeface="华文楷体" pitchFamily="2" charset="-122"/>
                <a:cs typeface="Times New Roman" panose="02020603050405020304" pitchFamily="18" charset="0"/>
              </a:rPr>
              <a:t>List </a:t>
            </a:r>
            <a:r>
              <a:rPr lang="zh-CN" altLang="zh-CN" sz="2800" b="0" dirty="0">
                <a:ea typeface="华文楷体" pitchFamily="2" charset="-122"/>
                <a:cs typeface="Times New Roman" panose="02020603050405020304" pitchFamily="18" charset="0"/>
              </a:rPr>
              <a:t>中的所有元素。</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常见的基本操作来源于生活中对这种结构的了解。</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基本操作可以分为几大类型：</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zh-CN" altLang="zh-CN" sz="2800" dirty="0">
                <a:ea typeface="华文楷体" pitchFamily="2" charset="-122"/>
                <a:cs typeface="Times New Roman" panose="02020603050405020304" pitchFamily="18" charset="0"/>
              </a:rPr>
              <a:t>结构类、属性类、数据操纵类、遍历类和典型应用类</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线性表</a:t>
            </a:r>
            <a:r>
              <a:rPr lang="en-US" altLang="zh-CN" dirty="0">
                <a:latin typeface="华文楷体" panose="02010600040101010101" pitchFamily="2" charset="-122"/>
                <a:ea typeface="华文楷体" panose="02010600040101010101" pitchFamily="2" charset="-122"/>
              </a:rPr>
              <a:t>List</a:t>
            </a:r>
            <a:r>
              <a:rPr lang="zh-CN" altLang="zh-CN" dirty="0">
                <a:latin typeface="华文楷体" panose="02010600040101010101" pitchFamily="2" charset="-122"/>
                <a:ea typeface="华文楷体" panose="02010600040101010101" pitchFamily="2" charset="-122"/>
              </a:rPr>
              <a:t>的</a:t>
            </a:r>
            <a:r>
              <a:rPr lang="en-US" altLang="zh-CN" dirty="0">
                <a:latin typeface="华文楷体" panose="02010600040101010101" pitchFamily="2" charset="-122"/>
                <a:ea typeface="华文楷体" panose="02010600040101010101" pitchFamily="2" charset="-122"/>
              </a:rPr>
              <a:t>ADT </a:t>
            </a:r>
            <a:r>
              <a:rPr lang="zh-CN" altLang="en-US" dirty="0">
                <a:latin typeface="华文楷体" panose="02010600040101010101" pitchFamily="2" charset="-122"/>
                <a:ea typeface="华文楷体" panose="02010600040101010101" pitchFamily="2" charset="-122"/>
              </a:rPr>
              <a:t>：描述关系和关系操作</a:t>
            </a:r>
          </a:p>
        </p:txBody>
      </p:sp>
    </p:spTree>
    <p:extLst>
      <p:ext uri="{BB962C8B-B14F-4D97-AF65-F5344CB8AC3E}">
        <p14:creationId xmlns:p14="http://schemas.microsoft.com/office/powerpoint/2010/main" val="2369618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线性表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顺序表及实现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一元多项式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稀疏矩阵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字符串</a:t>
            </a:r>
            <a:r>
              <a:rPr lang="en-US" altLang="zh-CN" sz="2800" dirty="0">
                <a:latin typeface="华文楷体" pitchFamily="2" charset="-122"/>
                <a:ea typeface="华文楷体" pitchFamily="2" charset="-122"/>
              </a:rPr>
              <a:t>*</a:t>
            </a:r>
          </a:p>
          <a:p>
            <a:pPr marL="0" indent="0">
              <a:lnSpc>
                <a:spcPct val="115000"/>
              </a:lnSpc>
              <a:buNone/>
              <a:defRPr/>
            </a:pP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1426202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元素存放在内存中一块连续的空间里。</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借助存储空间物理上的连续性，元素可以按照其逻辑顺序依次存放，即元素存放的物理顺序和它的逻辑顺序是一致的。</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顺序存储的线性表称</a:t>
            </a:r>
            <a:r>
              <a:rPr lang="zh-CN" altLang="zh-CN" sz="2800" dirty="0">
                <a:latin typeface="华文楷体" pitchFamily="2" charset="-122"/>
                <a:ea typeface="华文楷体" pitchFamily="2" charset="-122"/>
              </a:rPr>
              <a:t>顺序表</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在高级语言的固有数据类型中，数组在存储器中就表现为一块连续的空间，因此用数组实现顺序表非常合适。</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数组中各元素位置由其下标来表示，它同时也是相应元素的位置序号。</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顺序结构</a:t>
            </a:r>
          </a:p>
        </p:txBody>
      </p:sp>
    </p:spTree>
    <p:extLst>
      <p:ext uri="{BB962C8B-B14F-4D97-AF65-F5344CB8AC3E}">
        <p14:creationId xmlns:p14="http://schemas.microsoft.com/office/powerpoint/2010/main" val="334985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顺序表的</a:t>
            </a:r>
            <a:r>
              <a:rPr lang="zh-CN" altLang="zh-CN" dirty="0">
                <a:solidFill>
                  <a:srgbClr val="FF0000"/>
                </a:solidFill>
                <a:latin typeface="华文楷体" panose="02010600040101010101" pitchFamily="2" charset="-122"/>
                <a:ea typeface="华文楷体" panose="02010600040101010101" pitchFamily="2" charset="-122"/>
              </a:rPr>
              <a:t>存储映像图</a:t>
            </a:r>
            <a:endParaRPr lang="zh-CN" altLang="en-US" dirty="0">
              <a:solidFill>
                <a:srgbClr val="FF0000"/>
              </a:solidFill>
              <a:latin typeface="华文楷体" panose="02010600040101010101" pitchFamily="2" charset="-122"/>
              <a:ea typeface="华文楷体" panose="02010600040101010101" pitchFamily="2" charset="-122"/>
            </a:endParaRPr>
          </a:p>
        </p:txBody>
      </p:sp>
      <p:sp>
        <p:nvSpPr>
          <p:cNvPr id="3" name="文本框 2"/>
          <p:cNvSpPr txBox="1"/>
          <p:nvPr/>
        </p:nvSpPr>
        <p:spPr>
          <a:xfrm>
            <a:off x="392787" y="4588459"/>
            <a:ext cx="11162884" cy="1815882"/>
          </a:xfrm>
          <a:prstGeom prst="rect">
            <a:avLst/>
          </a:prstGeom>
          <a:noFill/>
        </p:spPr>
        <p:txBody>
          <a:bodyPr wrap="square" rtlCol="0">
            <a:spAutoFit/>
          </a:bodyPr>
          <a:lstStyle/>
          <a:p>
            <a:r>
              <a:rPr lang="en-US" altLang="zh-CN" sz="2800" b="1" dirty="0">
                <a:latin typeface="华文楷体" panose="02010600040101010101" pitchFamily="2" charset="-122"/>
                <a:ea typeface="华文楷体" panose="02010600040101010101" pitchFamily="2" charset="-122"/>
              </a:rPr>
              <a:t>e</a:t>
            </a:r>
            <a:r>
              <a:rPr lang="en-GB" altLang="zh-CN" sz="2800" b="1" dirty="0" err="1">
                <a:latin typeface="华文楷体" panose="02010600040101010101" pitchFamily="2" charset="-122"/>
                <a:ea typeface="华文楷体" panose="02010600040101010101" pitchFamily="2" charset="-122"/>
              </a:rPr>
              <a:t>lem</a:t>
            </a:r>
            <a:r>
              <a:rPr lang="zh-CN" altLang="en-US" sz="2800" dirty="0">
                <a:latin typeface="华文楷体" panose="02010600040101010101" pitchFamily="2" charset="-122"/>
                <a:ea typeface="华文楷体" panose="02010600040101010101" pitchFamily="2" charset="-122"/>
              </a:rPr>
              <a:t>为数组名字，数组</a:t>
            </a:r>
            <a:r>
              <a:rPr lang="zh-CN" altLang="zh-CN" sz="2800" dirty="0">
                <a:latin typeface="华文楷体" panose="02010600040101010101" pitchFamily="2" charset="-122"/>
                <a:ea typeface="华文楷体" panose="02010600040101010101" pitchFamily="2" charset="-122"/>
              </a:rPr>
              <a:t>存储线性表</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en-GB" altLang="zh-CN" sz="2800" b="1" dirty="0" err="1">
                <a:latin typeface="华文楷体" panose="02010600040101010101" pitchFamily="2" charset="-122"/>
                <a:ea typeface="华文楷体" panose="02010600040101010101" pitchFamily="2" charset="-122"/>
              </a:rPr>
              <a:t>maxSize</a:t>
            </a:r>
            <a:r>
              <a:rPr lang="zh-CN" altLang="zh-CN" sz="2800" dirty="0">
                <a:latin typeface="华文楷体" panose="02010600040101010101" pitchFamily="2" charset="-122"/>
                <a:ea typeface="华文楷体" panose="02010600040101010101" pitchFamily="2" charset="-122"/>
              </a:rPr>
              <a:t>为</a:t>
            </a:r>
            <a:r>
              <a:rPr lang="en-GB" altLang="zh-CN" sz="2800" dirty="0" err="1">
                <a:latin typeface="华文楷体" panose="02010600040101010101" pitchFamily="2" charset="-122"/>
                <a:ea typeface="华文楷体" panose="02010600040101010101" pitchFamily="2" charset="-122"/>
              </a:rPr>
              <a:t>len</a:t>
            </a:r>
            <a:r>
              <a:rPr lang="zh-CN" altLang="zh-CN" sz="2800" dirty="0">
                <a:latin typeface="华文楷体" panose="02010600040101010101" pitchFamily="2" charset="-122"/>
                <a:ea typeface="华文楷体" panose="02010600040101010101" pitchFamily="2" charset="-122"/>
              </a:rPr>
              <a:t>的上界；</a:t>
            </a:r>
            <a:r>
              <a:rPr lang="en-GB" altLang="zh-CN" sz="2800" b="1" dirty="0" err="1">
                <a:latin typeface="华文楷体" panose="02010600040101010101" pitchFamily="2" charset="-122"/>
                <a:ea typeface="华文楷体" panose="02010600040101010101" pitchFamily="2" charset="-122"/>
              </a:rPr>
              <a:t>initSize</a:t>
            </a:r>
            <a:r>
              <a:rPr lang="zh-CN" altLang="zh-CN" sz="2800" dirty="0">
                <a:latin typeface="华文楷体" panose="02010600040101010101" pitchFamily="2" charset="-122"/>
                <a:ea typeface="华文楷体" panose="02010600040101010101" pitchFamily="2" charset="-122"/>
              </a:rPr>
              <a:t>为最大的存储空间数，</a:t>
            </a:r>
            <a:r>
              <a:rPr lang="en-GB" altLang="zh-CN" sz="2800" dirty="0" err="1">
                <a:latin typeface="华文楷体" panose="02010600040101010101" pitchFamily="2" charset="-122"/>
                <a:ea typeface="华文楷体" panose="02010600040101010101" pitchFamily="2" charset="-122"/>
              </a:rPr>
              <a:t>maxSize</a:t>
            </a:r>
            <a:r>
              <a:rPr lang="en-GB" altLang="zh-CN" sz="2800" dirty="0">
                <a:latin typeface="华文楷体" panose="02010600040101010101" pitchFamily="2" charset="-122"/>
                <a:ea typeface="华文楷体" panose="02010600040101010101" pitchFamily="2" charset="-122"/>
              </a:rPr>
              <a:t>=initSize-1</a:t>
            </a:r>
          </a:p>
          <a:p>
            <a:r>
              <a:rPr lang="en-GB" altLang="zh-CN" sz="2800" b="1" dirty="0" err="1">
                <a:latin typeface="华文楷体" panose="02010600040101010101" pitchFamily="2" charset="-122"/>
                <a:ea typeface="华文楷体" panose="02010600040101010101" pitchFamily="2" charset="-122"/>
              </a:rPr>
              <a:t>elem</a:t>
            </a:r>
            <a:r>
              <a:rPr lang="en-GB" altLang="zh-CN" sz="2800" b="1" dirty="0">
                <a:latin typeface="华文楷体" panose="02010600040101010101" pitchFamily="2" charset="-122"/>
                <a:ea typeface="华文楷体" panose="02010600040101010101" pitchFamily="2" charset="-122"/>
              </a:rPr>
              <a:t>[0]</a:t>
            </a:r>
            <a:r>
              <a:rPr lang="zh-CN" altLang="zh-CN" sz="2800" dirty="0">
                <a:latin typeface="华文楷体" panose="02010600040101010101" pitchFamily="2" charset="-122"/>
                <a:ea typeface="华文楷体" panose="02010600040101010101" pitchFamily="2" charset="-122"/>
              </a:rPr>
              <a:t>用于其它特殊用途，</a:t>
            </a:r>
            <a:r>
              <a:rPr lang="zh-CN" altLang="en-US" sz="2800" dirty="0">
                <a:latin typeface="华文楷体" panose="02010600040101010101" pitchFamily="2" charset="-122"/>
                <a:ea typeface="华文楷体" panose="02010600040101010101" pitchFamily="2" charset="-122"/>
              </a:rPr>
              <a:t>如果不用于特殊用途</a:t>
            </a:r>
            <a:r>
              <a:rPr lang="en-US" altLang="zh-CN" sz="2800" dirty="0" err="1">
                <a:latin typeface="华文楷体" panose="02010600040101010101" pitchFamily="2" charset="-122"/>
                <a:ea typeface="华文楷体" panose="02010600040101010101" pitchFamily="2" charset="-122"/>
              </a:rPr>
              <a:t>maxSize</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initSize</a:t>
            </a:r>
            <a:endParaRPr lang="en-US" altLang="zh-CN" sz="2800" dirty="0">
              <a:latin typeface="华文楷体" panose="02010600040101010101" pitchFamily="2" charset="-122"/>
              <a:ea typeface="华文楷体" panose="02010600040101010101" pitchFamily="2" charset="-122"/>
            </a:endParaRPr>
          </a:p>
          <a:p>
            <a:r>
              <a:rPr lang="en-US" altLang="zh-CN" sz="2800" b="1" dirty="0">
                <a:solidFill>
                  <a:schemeClr val="accent2"/>
                </a:solidFill>
                <a:latin typeface="华文楷体" panose="02010600040101010101" pitchFamily="2" charset="-122"/>
                <a:ea typeface="华文楷体" panose="02010600040101010101" pitchFamily="2" charset="-122"/>
              </a:rPr>
              <a:t>l</a:t>
            </a:r>
            <a:r>
              <a:rPr lang="en-GB" altLang="zh-CN" sz="2800" b="1" dirty="0" err="1">
                <a:solidFill>
                  <a:schemeClr val="accent2"/>
                </a:solidFill>
                <a:latin typeface="华文楷体" panose="02010600040101010101" pitchFamily="2" charset="-122"/>
                <a:ea typeface="华文楷体" panose="02010600040101010101" pitchFamily="2" charset="-122"/>
              </a:rPr>
              <a:t>en</a:t>
            </a:r>
            <a:r>
              <a:rPr lang="en-GB" altLang="zh-CN" sz="2800" b="1" dirty="0">
                <a:solidFill>
                  <a:schemeClr val="accent2"/>
                </a:solidFill>
                <a:latin typeface="华文楷体" panose="02010600040101010101" pitchFamily="2" charset="-122"/>
                <a:ea typeface="华文楷体" panose="02010600040101010101" pitchFamily="2" charset="-122"/>
              </a:rPr>
              <a:t> </a:t>
            </a:r>
            <a:r>
              <a:rPr lang="zh-CN" altLang="zh-CN" sz="2800" dirty="0">
                <a:latin typeface="华文楷体" panose="02010600040101010101" pitchFamily="2" charset="-122"/>
                <a:ea typeface="华文楷体" panose="02010600040101010101" pitchFamily="2" charset="-122"/>
              </a:rPr>
              <a:t>为元素个数，即顺序表长度；</a:t>
            </a:r>
            <a:endParaRPr lang="en-US" altLang="zh-CN" sz="2800" dirty="0">
              <a:latin typeface="华文楷体" panose="02010600040101010101" pitchFamily="2" charset="-122"/>
              <a:ea typeface="华文楷体" panose="02010600040101010101" pitchFamily="2" charset="-122"/>
            </a:endParaRP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2297123" y="1495319"/>
            <a:ext cx="8637055" cy="3093140"/>
          </a:xfrm>
          <a:prstGeom prst="rect">
            <a:avLst/>
          </a:prstGeom>
          <a:noFill/>
          <a:ln>
            <a:noFill/>
          </a:ln>
        </p:spPr>
      </p:pic>
    </p:spTree>
    <p:extLst>
      <p:ext uri="{BB962C8B-B14F-4D97-AF65-F5344CB8AC3E}">
        <p14:creationId xmlns:p14="http://schemas.microsoft.com/office/powerpoint/2010/main" val="1322981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7432" y="1526699"/>
            <a:ext cx="7722655" cy="5060598"/>
          </a:xfrm>
        </p:spPr>
        <p:txBody>
          <a:bodyPr>
            <a:normAutofit/>
          </a:bodyPr>
          <a:lstStyle/>
          <a:p>
            <a:pPr marL="0" indent="0">
              <a:buNone/>
            </a:pPr>
            <a:r>
              <a:rPr lang="en-US" altLang="zh-CN" sz="3200" b="0" dirty="0"/>
              <a:t>#include &lt;</a:t>
            </a:r>
            <a:r>
              <a:rPr lang="en-US" altLang="zh-CN" sz="3200" b="0" dirty="0" err="1"/>
              <a:t>iostream</a:t>
            </a:r>
            <a:r>
              <a:rPr lang="en-US" altLang="zh-CN" sz="3200" b="0" dirty="0"/>
              <a:t>&gt;</a:t>
            </a:r>
            <a:endParaRPr lang="zh-CN" altLang="zh-CN" sz="3200" b="0" dirty="0"/>
          </a:p>
          <a:p>
            <a:pPr marL="0" indent="0">
              <a:buNone/>
            </a:pPr>
            <a:r>
              <a:rPr lang="en-US" altLang="zh-CN" sz="3200" b="0" dirty="0"/>
              <a:t>#define INITSIZE 100</a:t>
            </a:r>
            <a:endParaRPr lang="zh-CN" altLang="zh-CN" sz="3200" b="0" dirty="0"/>
          </a:p>
          <a:p>
            <a:pPr marL="0" indent="0">
              <a:buNone/>
            </a:pPr>
            <a:r>
              <a:rPr lang="en-US" altLang="zh-CN" sz="3200" b="0" dirty="0"/>
              <a:t>using namespace </a:t>
            </a:r>
            <a:r>
              <a:rPr lang="en-US" altLang="zh-CN" sz="3200" b="0" dirty="0" err="1"/>
              <a:t>std</a:t>
            </a:r>
            <a:r>
              <a:rPr lang="en-US" altLang="zh-CN" sz="3200" b="0" dirty="0"/>
              <a:t>;</a:t>
            </a:r>
            <a:endParaRPr lang="zh-CN" altLang="zh-CN" sz="3200" b="0" dirty="0"/>
          </a:p>
          <a:p>
            <a:pPr marL="0" indent="0">
              <a:buNone/>
            </a:pPr>
            <a:r>
              <a:rPr lang="en-US" altLang="zh-CN" sz="3200" b="0" dirty="0"/>
              <a:t> </a:t>
            </a:r>
          </a:p>
          <a:p>
            <a:pPr marL="0" indent="0">
              <a:buNone/>
            </a:pPr>
            <a:r>
              <a:rPr lang="en-US" altLang="zh-CN" sz="3200" b="0" dirty="0"/>
              <a:t>//</a:t>
            </a:r>
            <a:r>
              <a:rPr lang="zh-CN" altLang="en-US" sz="3200" b="0" dirty="0"/>
              <a:t>用于异常处理中识别错误类别</a:t>
            </a:r>
            <a:endParaRPr lang="zh-CN" altLang="zh-CN" sz="3200" b="0" dirty="0"/>
          </a:p>
          <a:p>
            <a:pPr marL="0" indent="0">
              <a:buNone/>
            </a:pPr>
            <a:r>
              <a:rPr lang="en-US" altLang="zh-CN" sz="3200" b="0" dirty="0"/>
              <a:t>class </a:t>
            </a:r>
            <a:r>
              <a:rPr lang="en-US" altLang="zh-CN" sz="3200" b="0" dirty="0" err="1"/>
              <a:t>illegalSize</a:t>
            </a:r>
            <a:r>
              <a:rPr lang="en-US" altLang="zh-CN" sz="3200" b="0" dirty="0"/>
              <a:t>{};</a:t>
            </a:r>
            <a:endParaRPr lang="zh-CN" altLang="zh-CN" sz="3200" b="0" dirty="0"/>
          </a:p>
          <a:p>
            <a:pPr marL="0" indent="0">
              <a:buNone/>
            </a:pPr>
            <a:r>
              <a:rPr lang="en-US" altLang="zh-CN" sz="3200" b="0" dirty="0"/>
              <a:t>class </a:t>
            </a:r>
            <a:r>
              <a:rPr lang="en-US" altLang="zh-CN" sz="3200" b="0" dirty="0" err="1"/>
              <a:t>outOfBound</a:t>
            </a:r>
            <a:r>
              <a:rPr lang="en-US" altLang="zh-CN" sz="3200" b="0" dirty="0"/>
              <a:t>{};</a:t>
            </a:r>
            <a:endParaRPr lang="zh-CN" altLang="zh-CN" sz="3200" b="0" dirty="0"/>
          </a:p>
          <a:p>
            <a:pPr marL="457200" lvl="1"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21797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526699"/>
            <a:ext cx="11638673" cy="5060598"/>
          </a:xfrm>
        </p:spPr>
        <p:txBody>
          <a:bodyPr>
            <a:noAutofit/>
          </a:bodyPr>
          <a:lstStyle/>
          <a:p>
            <a:pPr marL="0" indent="0">
              <a:buNone/>
            </a:pPr>
            <a:r>
              <a:rPr lang="en-US" altLang="zh-CN" sz="3200" b="0" dirty="0"/>
              <a:t>template &lt;class </a:t>
            </a:r>
            <a:r>
              <a:rPr lang="en-US" altLang="zh-CN" sz="3200" b="0" dirty="0" err="1"/>
              <a:t>elemType</a:t>
            </a:r>
            <a:r>
              <a:rPr lang="en-US" altLang="zh-CN" sz="3200" b="0" dirty="0"/>
              <a:t>&gt;</a:t>
            </a:r>
            <a:endParaRPr lang="zh-CN" altLang="zh-CN" sz="3200" b="0" dirty="0"/>
          </a:p>
          <a:p>
            <a:pPr marL="0" indent="0">
              <a:buNone/>
            </a:pPr>
            <a:r>
              <a:rPr lang="en-US" altLang="zh-CN" sz="3200" b="0" dirty="0"/>
              <a:t>class </a:t>
            </a:r>
            <a:r>
              <a:rPr lang="en-US" altLang="zh-CN" sz="3200" b="0" dirty="0" err="1"/>
              <a:t>seqList</a:t>
            </a:r>
            <a:endParaRPr lang="zh-CN" altLang="zh-CN" sz="3200" b="0" dirty="0"/>
          </a:p>
          <a:p>
            <a:pPr marL="0" indent="0">
              <a:buNone/>
            </a:pPr>
            <a:r>
              <a:rPr lang="en-US" altLang="zh-CN" sz="3200" b="0" dirty="0"/>
              <a:t>{    private:</a:t>
            </a:r>
            <a:endParaRPr lang="zh-CN" altLang="zh-CN" sz="3200" b="0" dirty="0"/>
          </a:p>
          <a:p>
            <a:pPr marL="0" indent="0">
              <a:buNone/>
            </a:pPr>
            <a:r>
              <a:rPr lang="en-US" altLang="zh-CN" sz="3200" b="0" dirty="0"/>
              <a:t>        </a:t>
            </a:r>
            <a:r>
              <a:rPr lang="en-US" altLang="zh-CN" sz="3200" b="0" dirty="0" err="1"/>
              <a:t>elemType</a:t>
            </a:r>
            <a:r>
              <a:rPr lang="en-US" altLang="zh-CN" sz="3200" b="0" dirty="0"/>
              <a:t> *</a:t>
            </a:r>
            <a:r>
              <a:rPr lang="en-US" altLang="zh-CN" sz="3200" b="0" dirty="0" err="1"/>
              <a:t>elem</a:t>
            </a:r>
            <a:r>
              <a:rPr lang="en-US" altLang="zh-CN" sz="3200" b="0" dirty="0"/>
              <a:t>; </a:t>
            </a:r>
            <a:r>
              <a:rPr lang="en-US" altLang="zh-CN" sz="3200" b="0" dirty="0">
                <a:latin typeface="华文楷体" panose="02010600040101010101" pitchFamily="2" charset="-122"/>
                <a:ea typeface="华文楷体" panose="02010600040101010101" pitchFamily="2" charset="-122"/>
              </a:rPr>
              <a:t>// </a:t>
            </a:r>
            <a:r>
              <a:rPr lang="zh-CN" altLang="zh-CN" sz="3200" b="0" dirty="0">
                <a:latin typeface="华文楷体" panose="02010600040101010101" pitchFamily="2" charset="-122"/>
                <a:ea typeface="华文楷体" panose="02010600040101010101" pitchFamily="2" charset="-122"/>
              </a:rPr>
              <a:t>顺序表存储数组，存放实际的数据元素。</a:t>
            </a:r>
          </a:p>
          <a:p>
            <a:pPr marL="0" indent="0">
              <a:buNone/>
            </a:pPr>
            <a:r>
              <a:rPr lang="en-US" altLang="zh-CN" sz="3200" b="0" dirty="0"/>
              <a:t>        </a:t>
            </a:r>
            <a:r>
              <a:rPr lang="en-US" altLang="zh-CN" sz="3200" b="0" dirty="0" err="1"/>
              <a:t>int</a:t>
            </a:r>
            <a:r>
              <a:rPr lang="en-US" altLang="zh-CN" sz="3200" b="0" dirty="0"/>
              <a:t> </a:t>
            </a:r>
            <a:r>
              <a:rPr lang="en-US" altLang="zh-CN" sz="3200" b="0" dirty="0" err="1"/>
              <a:t>len</a:t>
            </a:r>
            <a:r>
              <a:rPr lang="en-US" altLang="zh-CN" sz="3200" b="0" dirty="0">
                <a:latin typeface="华文楷体" panose="02010600040101010101" pitchFamily="2" charset="-122"/>
                <a:ea typeface="华文楷体" panose="02010600040101010101" pitchFamily="2" charset="-122"/>
              </a:rPr>
              <a:t>;        // </a:t>
            </a:r>
            <a:r>
              <a:rPr lang="zh-CN" altLang="zh-CN" sz="3200" b="0" dirty="0">
                <a:latin typeface="华文楷体" panose="02010600040101010101" pitchFamily="2" charset="-122"/>
                <a:ea typeface="华文楷体" panose="02010600040101010101" pitchFamily="2" charset="-122"/>
              </a:rPr>
              <a:t>顺序表中的元素个数，亦称表的长度。</a:t>
            </a:r>
          </a:p>
          <a:p>
            <a:pPr marL="0" indent="0">
              <a:buNone/>
            </a:pPr>
            <a:r>
              <a:rPr lang="en-US" altLang="zh-CN" sz="3200" b="0" dirty="0"/>
              <a:t>        </a:t>
            </a:r>
            <a:r>
              <a:rPr lang="en-US" altLang="zh-CN" sz="3200" b="0" dirty="0" err="1"/>
              <a:t>int</a:t>
            </a:r>
            <a:r>
              <a:rPr lang="en-US" altLang="zh-CN" sz="3200" b="0" dirty="0"/>
              <a:t> </a:t>
            </a:r>
            <a:r>
              <a:rPr lang="en-US" altLang="zh-CN" sz="3200" b="0" dirty="0" err="1"/>
              <a:t>maxSize</a:t>
            </a:r>
            <a:r>
              <a:rPr lang="en-US" altLang="zh-CN" sz="3200" b="0" dirty="0"/>
              <a:t>;    </a:t>
            </a:r>
            <a:r>
              <a:rPr lang="en-US" altLang="zh-CN" sz="3200" b="0" dirty="0">
                <a:latin typeface="华文楷体" panose="02010600040101010101" pitchFamily="2" charset="-122"/>
                <a:ea typeface="华文楷体" panose="02010600040101010101" pitchFamily="2" charset="-122"/>
              </a:rPr>
              <a:t>// </a:t>
            </a:r>
            <a:r>
              <a:rPr lang="zh-CN" altLang="zh-CN" sz="3200" b="0" dirty="0">
                <a:latin typeface="华文楷体" panose="02010600040101010101" pitchFamily="2" charset="-122"/>
                <a:ea typeface="华文楷体" panose="02010600040101010101" pitchFamily="2" charset="-122"/>
              </a:rPr>
              <a:t>顺序表的的最大可能的长度。</a:t>
            </a:r>
          </a:p>
          <a:p>
            <a:pPr marL="0" indent="0">
              <a:buNone/>
            </a:pPr>
            <a:r>
              <a:rPr lang="en-US" altLang="zh-CN" sz="3200" b="0" dirty="0"/>
              <a:t>        void </a:t>
            </a:r>
            <a:r>
              <a:rPr lang="en-US" altLang="zh-CN" sz="3200" b="0" dirty="0" err="1"/>
              <a:t>doubleSpace</a:t>
            </a: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私有函数，做内部工具</a:t>
            </a:r>
            <a:endParaRPr lang="zh-CN"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6117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526699"/>
            <a:ext cx="13010274" cy="5060598"/>
          </a:xfrm>
        </p:spPr>
        <p:txBody>
          <a:bodyPr>
            <a:noAutofit/>
          </a:bodyPr>
          <a:lstStyle/>
          <a:p>
            <a:pPr marL="0" indent="0">
              <a:buNone/>
            </a:pPr>
            <a:r>
              <a:rPr lang="en-US" altLang="zh-CN" dirty="0"/>
              <a:t> </a:t>
            </a:r>
            <a:r>
              <a:rPr lang="en-US" altLang="zh-CN" sz="2800" b="0" dirty="0"/>
              <a:t>public:</a:t>
            </a:r>
            <a:endParaRPr lang="zh-CN" altLang="zh-CN" sz="2800" b="0" dirty="0"/>
          </a:p>
          <a:p>
            <a:pPr marL="0" indent="0">
              <a:buNone/>
            </a:pPr>
            <a:r>
              <a:rPr lang="en-US" altLang="zh-CN" sz="2800" b="0" dirty="0"/>
              <a:t>        </a:t>
            </a:r>
            <a:r>
              <a:rPr lang="en-US" altLang="zh-CN" sz="2800" b="0" dirty="0" err="1"/>
              <a:t>seqList</a:t>
            </a:r>
            <a:r>
              <a:rPr lang="en-US" altLang="zh-CN" sz="2800" b="0" dirty="0"/>
              <a:t>(</a:t>
            </a:r>
            <a:r>
              <a:rPr lang="en-US" altLang="zh-CN" sz="2800" b="0" dirty="0" err="1"/>
              <a:t>int</a:t>
            </a:r>
            <a:r>
              <a:rPr lang="en-US" altLang="zh-CN" sz="2800" b="0" dirty="0"/>
              <a:t> size=INITSIZE);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初始化顺序表</a:t>
            </a:r>
          </a:p>
          <a:p>
            <a:pPr marL="0" indent="0">
              <a:buNone/>
            </a:pPr>
            <a:r>
              <a:rPr lang="en-US" altLang="zh-CN" sz="2800" b="0" dirty="0"/>
              <a:t>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表为空返回</a:t>
            </a:r>
            <a:r>
              <a:rPr lang="en-US" altLang="zh-CN" sz="2800" b="0" dirty="0">
                <a:latin typeface="华文楷体" panose="02010600040101010101" pitchFamily="2" charset="-122"/>
                <a:ea typeface="华文楷体" panose="02010600040101010101" pitchFamily="2" charset="-122"/>
              </a:rPr>
              <a:t>true,</a:t>
            </a:r>
            <a:r>
              <a:rPr lang="zh-CN" altLang="zh-CN" sz="2800" b="0" dirty="0">
                <a:latin typeface="华文楷体" panose="02010600040101010101" pitchFamily="2" charset="-122"/>
                <a:ea typeface="华文楷体" panose="02010600040101010101" pitchFamily="2" charset="-122"/>
              </a:rPr>
              <a:t>否则返回</a:t>
            </a:r>
            <a:r>
              <a:rPr lang="en-US" altLang="zh-CN" sz="2800" b="0" dirty="0">
                <a:latin typeface="华文楷体" panose="02010600040101010101" pitchFamily="2" charset="-122"/>
                <a:ea typeface="华文楷体" panose="02010600040101010101" pitchFamily="2" charset="-122"/>
              </a:rPr>
              <a:t>false</a:t>
            </a:r>
            <a:r>
              <a:rPr lang="zh-CN" altLang="zh-CN" sz="2800" b="0" dirty="0">
                <a:latin typeface="华文楷体" panose="02010600040101010101" pitchFamily="2" charset="-122"/>
                <a:ea typeface="华文楷体" panose="02010600040101010101" pitchFamily="2" charset="-122"/>
              </a:rPr>
              <a:t>。</a:t>
            </a:r>
          </a:p>
          <a:p>
            <a:pPr marL="0" indent="0">
              <a:buNone/>
            </a:pPr>
            <a:r>
              <a:rPr lang="en-US" altLang="zh-CN" sz="2800" b="0" dirty="0"/>
              <a:t>        bool </a:t>
            </a:r>
            <a:r>
              <a:rPr lang="en-US" altLang="zh-CN" sz="2800" b="0" dirty="0" err="1"/>
              <a:t>isEmpty</a:t>
            </a:r>
            <a:r>
              <a:rPr lang="en-US" altLang="zh-CN" sz="2800" b="0" dirty="0"/>
              <a:t>()</a:t>
            </a:r>
            <a:r>
              <a:rPr lang="en-US" altLang="zh-CN" sz="2800" b="0" dirty="0" err="1"/>
              <a:t>const</a:t>
            </a:r>
            <a:r>
              <a:rPr lang="en-US" altLang="zh-CN" sz="2800" b="0" dirty="0"/>
              <a:t> { return ( </a:t>
            </a:r>
            <a:r>
              <a:rPr lang="en-US" altLang="zh-CN" sz="2800" b="0" dirty="0" err="1"/>
              <a:t>len</a:t>
            </a:r>
            <a:r>
              <a:rPr lang="en-US" altLang="zh-CN" sz="2800" b="0" dirty="0"/>
              <a:t> == 0 ); }</a:t>
            </a:r>
            <a:endParaRPr lang="zh-CN" altLang="zh-CN" sz="2800" b="0" dirty="0"/>
          </a:p>
          <a:p>
            <a:pPr marL="0" indent="0">
              <a:buNone/>
            </a:pPr>
            <a:r>
              <a:rPr lang="en-US" altLang="zh-CN" sz="2800" b="0" dirty="0"/>
              <a:t>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表为满返回</a:t>
            </a:r>
            <a:r>
              <a:rPr lang="en-US" altLang="zh-CN" sz="2800" b="0" dirty="0">
                <a:latin typeface="华文楷体" panose="02010600040101010101" pitchFamily="2" charset="-122"/>
                <a:ea typeface="华文楷体" panose="02010600040101010101" pitchFamily="2" charset="-122"/>
              </a:rPr>
              <a:t>true</a:t>
            </a:r>
            <a:r>
              <a:rPr lang="zh-CN" altLang="zh-CN" sz="2800" b="0" dirty="0">
                <a:latin typeface="华文楷体" panose="02010600040101010101" pitchFamily="2" charset="-122"/>
                <a:ea typeface="华文楷体" panose="02010600040101010101" pitchFamily="2" charset="-122"/>
              </a:rPr>
              <a:t>，否则返回</a:t>
            </a:r>
            <a:r>
              <a:rPr lang="en-US" altLang="zh-CN" sz="2800" b="0" dirty="0">
                <a:latin typeface="华文楷体" panose="02010600040101010101" pitchFamily="2" charset="-122"/>
                <a:ea typeface="华文楷体" panose="02010600040101010101" pitchFamily="2" charset="-122"/>
              </a:rPr>
              <a:t>false</a:t>
            </a:r>
            <a:r>
              <a:rPr lang="zh-CN" altLang="zh-CN" sz="2800" b="0" dirty="0">
                <a:latin typeface="华文楷体" panose="02010600040101010101" pitchFamily="2" charset="-122"/>
                <a:ea typeface="华文楷体" panose="02010600040101010101" pitchFamily="2" charset="-122"/>
              </a:rPr>
              <a:t>。</a:t>
            </a:r>
          </a:p>
          <a:p>
            <a:pPr marL="0" indent="0">
              <a:buNone/>
            </a:pPr>
            <a:r>
              <a:rPr lang="en-US" altLang="zh-CN" sz="2800" b="0" dirty="0"/>
              <a:t>        bool </a:t>
            </a:r>
            <a:r>
              <a:rPr lang="en-US" altLang="zh-CN" sz="2800" b="0" dirty="0" err="1"/>
              <a:t>isFull</a:t>
            </a:r>
            <a:r>
              <a:rPr lang="en-US" altLang="zh-CN" sz="2800" b="0" dirty="0"/>
              <a:t>()</a:t>
            </a:r>
            <a:r>
              <a:rPr lang="en-US" altLang="zh-CN" sz="2800" b="0" dirty="0" err="1"/>
              <a:t>const</a:t>
            </a:r>
            <a:r>
              <a:rPr lang="en-US" altLang="zh-CN" sz="2800" b="0" dirty="0"/>
              <a:t> { return (</a:t>
            </a:r>
            <a:r>
              <a:rPr lang="en-US" altLang="zh-CN" sz="2800" b="0" dirty="0" err="1"/>
              <a:t>len</a:t>
            </a:r>
            <a:r>
              <a:rPr lang="en-US" altLang="zh-CN" sz="2800" b="0" dirty="0"/>
              <a:t> == </a:t>
            </a:r>
            <a:r>
              <a:rPr lang="en-US" altLang="zh-CN" sz="2800" b="0" dirty="0" err="1"/>
              <a:t>maxSize</a:t>
            </a:r>
            <a:r>
              <a:rPr lang="en-US" altLang="zh-CN" sz="2800" b="0" dirty="0"/>
              <a:t>); }</a:t>
            </a:r>
            <a:endParaRPr lang="zh-CN" altLang="zh-CN" sz="2800" b="0" dirty="0"/>
          </a:p>
          <a:p>
            <a:pPr marL="0" indent="0">
              <a:buNone/>
            </a:pPr>
            <a:r>
              <a:rPr lang="en-US" altLang="zh-CN" sz="2800" b="0" dirty="0"/>
              <a:t>        </a:t>
            </a:r>
            <a:r>
              <a:rPr lang="en-US" altLang="zh-CN" sz="2800" b="0" dirty="0" err="1"/>
              <a:t>int</a:t>
            </a:r>
            <a:r>
              <a:rPr lang="en-US" altLang="zh-CN" sz="2800" b="0" dirty="0"/>
              <a:t> length()</a:t>
            </a:r>
            <a:r>
              <a:rPr lang="en-US" altLang="zh-CN" sz="2800" b="0" dirty="0" err="1"/>
              <a:t>const</a:t>
            </a:r>
            <a:r>
              <a:rPr lang="en-US" altLang="zh-CN" sz="2800" b="0" dirty="0"/>
              <a:t> {return </a:t>
            </a:r>
            <a:r>
              <a:rPr lang="en-US" altLang="zh-CN" sz="2800" b="0" dirty="0" err="1"/>
              <a:t>len</a:t>
            </a:r>
            <a:r>
              <a:rPr lang="en-US" altLang="zh-CN" sz="2800" b="0" dirty="0"/>
              <a:t>;}  </a:t>
            </a:r>
            <a:r>
              <a:rPr lang="en-US" altLang="zh-CN"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表的长度，即实际存储元素的个数。</a:t>
            </a:r>
            <a:endParaRPr lang="zh-CN" altLang="zh-CN" sz="2000" b="0" dirty="0">
              <a:latin typeface="华文楷体" panose="02010600040101010101" pitchFamily="2" charset="-122"/>
              <a:ea typeface="华文楷体" panose="02010600040101010101" pitchFamily="2" charset="-122"/>
            </a:endParaRPr>
          </a:p>
          <a:p>
            <a:pPr marL="0" indent="0">
              <a:buNone/>
            </a:pPr>
            <a:r>
              <a:rPr lang="en-US" altLang="zh-CN" sz="2000" b="0" dirty="0"/>
              <a:t>        </a:t>
            </a:r>
            <a:endParaRPr lang="zh-CN" altLang="zh-CN" sz="2800" b="0" dirty="0"/>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7837715" y="3099505"/>
            <a:ext cx="4354285" cy="1077218"/>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注意各处：</a:t>
            </a:r>
            <a:endParaRPr lang="en-US" altLang="zh-CN" sz="3200" dirty="0">
              <a:solidFill>
                <a:srgbClr val="FF0000"/>
              </a:solidFill>
              <a:latin typeface="华文楷体" panose="02010600040101010101" pitchFamily="2" charset="-122"/>
              <a:ea typeface="华文楷体" panose="02010600040101010101" pitchFamily="2" charset="-122"/>
            </a:endParaRPr>
          </a:p>
          <a:p>
            <a:r>
              <a:rPr lang="en-US" altLang="zh-CN" sz="3200" dirty="0" err="1">
                <a:solidFill>
                  <a:srgbClr val="FF0000"/>
                </a:solidFill>
                <a:latin typeface="华文楷体" panose="02010600040101010101" pitchFamily="2" charset="-122"/>
                <a:ea typeface="华文楷体" panose="02010600040101010101" pitchFamily="2" charset="-122"/>
              </a:rPr>
              <a:t>const</a:t>
            </a:r>
            <a:r>
              <a:rPr lang="zh-CN" altLang="en-US" sz="3200" dirty="0">
                <a:solidFill>
                  <a:srgbClr val="FF0000"/>
                </a:solidFill>
                <a:latin typeface="华文楷体" panose="02010600040101010101" pitchFamily="2" charset="-122"/>
                <a:ea typeface="华文楷体" panose="02010600040101010101" pitchFamily="2" charset="-122"/>
              </a:rPr>
              <a:t>和</a:t>
            </a:r>
            <a:r>
              <a:rPr lang="en-US" altLang="zh-CN" sz="3200" dirty="0" err="1">
                <a:solidFill>
                  <a:srgbClr val="FF0000"/>
                </a:solidFill>
                <a:latin typeface="华文楷体" panose="02010600040101010101" pitchFamily="2" charset="-122"/>
                <a:ea typeface="华文楷体" panose="02010600040101010101" pitchFamily="2" charset="-122"/>
              </a:rPr>
              <a:t>const</a:t>
            </a:r>
            <a:r>
              <a:rPr lang="en-US" altLang="zh-CN" sz="3200" dirty="0">
                <a:solidFill>
                  <a:srgbClr val="FF0000"/>
                </a:solidFill>
                <a:latin typeface="华文楷体" panose="02010600040101010101" pitchFamily="2" charset="-122"/>
                <a:ea typeface="华文楷体" panose="02010600040101010101" pitchFamily="2" charset="-122"/>
              </a:rPr>
              <a:t> &amp;</a:t>
            </a:r>
            <a:r>
              <a:rPr lang="zh-CN" altLang="en-US" sz="3200" dirty="0">
                <a:solidFill>
                  <a:srgbClr val="FF0000"/>
                </a:solidFill>
                <a:latin typeface="华文楷体" panose="02010600040101010101" pitchFamily="2" charset="-122"/>
                <a:ea typeface="华文楷体" panose="02010600040101010101" pitchFamily="2" charset="-122"/>
              </a:rPr>
              <a:t>的用法</a:t>
            </a:r>
          </a:p>
        </p:txBody>
      </p:sp>
      <p:sp>
        <p:nvSpPr>
          <p:cNvPr id="3" name="文本框 2">
            <a:extLst>
              <a:ext uri="{FF2B5EF4-FFF2-40B4-BE49-F238E27FC236}">
                <a16:creationId xmlns:a16="http://schemas.microsoft.com/office/drawing/2014/main" id="{CD172BD3-2DB3-7251-98DA-3DF9F89AFAA5}"/>
              </a:ext>
            </a:extLst>
          </p:cNvPr>
          <p:cNvSpPr txBox="1"/>
          <p:nvPr/>
        </p:nvSpPr>
        <p:spPr>
          <a:xfrm>
            <a:off x="7471212" y="1734808"/>
            <a:ext cx="4354284" cy="461665"/>
          </a:xfrm>
          <a:prstGeom prst="rect">
            <a:avLst/>
          </a:prstGeom>
          <a:noFill/>
        </p:spPr>
        <p:txBody>
          <a:bodyPr wrap="square" rtlCol="0">
            <a:spAutoFit/>
          </a:bodyPr>
          <a:lstStyle/>
          <a:p>
            <a:r>
              <a:rPr lang="zh-CN" altLang="en-US" sz="2400" dirty="0">
                <a:solidFill>
                  <a:schemeClr val="accent2"/>
                </a:solidFill>
              </a:rPr>
              <a:t>函数自己定义的</a:t>
            </a:r>
            <a:r>
              <a:rPr lang="en-US" altLang="zh-CN" sz="2400" dirty="0">
                <a:solidFill>
                  <a:schemeClr val="accent2"/>
                </a:solidFill>
              </a:rPr>
              <a:t>—</a:t>
            </a:r>
            <a:r>
              <a:rPr lang="zh-CN" altLang="en-US" sz="2400" dirty="0">
                <a:solidFill>
                  <a:schemeClr val="accent2"/>
                </a:solidFill>
              </a:rPr>
              <a:t>熟悉起来</a:t>
            </a:r>
          </a:p>
        </p:txBody>
      </p:sp>
    </p:spTree>
    <p:extLst>
      <p:ext uri="{BB962C8B-B14F-4D97-AF65-F5344CB8AC3E}">
        <p14:creationId xmlns:p14="http://schemas.microsoft.com/office/powerpoint/2010/main" val="303460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526699"/>
            <a:ext cx="11638673" cy="5060598"/>
          </a:xfrm>
        </p:spPr>
        <p:txBody>
          <a:bodyPr>
            <a:noAutofit/>
          </a:bodyPr>
          <a:lstStyle/>
          <a:p>
            <a:pPr marL="0" indent="0">
              <a:buNone/>
            </a:pPr>
            <a:r>
              <a:rPr lang="en-US" altLang="zh-CN" sz="280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get(</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返回第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个元素的值</a:t>
            </a: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返回值等于</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的元素的序号，无则返回</a:t>
            </a:r>
            <a:r>
              <a:rPr lang="en-US" altLang="zh-CN" sz="2800" b="0" dirty="0">
                <a:ea typeface="华文楷体" panose="02010600040101010101" pitchFamily="2" charset="-122"/>
                <a:cs typeface="Times New Roman" panose="02020603050405020304" pitchFamily="18" charset="0"/>
              </a:rPr>
              <a:t>0.</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find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&amp;e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a:t>
            </a: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在第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个位置上插入新的元素（值为</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a:t>
            </a: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使原来的第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个元素成为第</a:t>
            </a:r>
            <a:r>
              <a:rPr lang="en-US" altLang="zh-CN" sz="2800" b="0" dirty="0">
                <a:ea typeface="华文楷体" panose="02010600040101010101" pitchFamily="2" charset="-122"/>
                <a:cs typeface="Times New Roman" panose="02020603050405020304" pitchFamily="18" charset="0"/>
              </a:rPr>
              <a:t>i+1</a:t>
            </a:r>
            <a:r>
              <a:rPr lang="zh-CN" altLang="zh-CN" sz="2800" b="0" dirty="0">
                <a:ea typeface="华文楷体" panose="02010600040101010101" pitchFamily="2" charset="-122"/>
                <a:cs typeface="Times New Roman" panose="02020603050405020304" pitchFamily="18" charset="0"/>
              </a:rPr>
              <a:t>个元素。</a:t>
            </a:r>
          </a:p>
          <a:p>
            <a:pPr marL="0" indent="0">
              <a:buNone/>
            </a:pPr>
            <a:r>
              <a:rPr lang="en-US" altLang="zh-CN" sz="2800" b="0" dirty="0">
                <a:ea typeface="华文楷体" panose="02010600040101010101" pitchFamily="2" charset="-122"/>
                <a:cs typeface="Times New Roman" panose="02020603050405020304" pitchFamily="18" charset="0"/>
              </a:rPr>
              <a:t>        void insert(</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const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&amp;e );</a:t>
            </a:r>
            <a:endParaRPr lang="zh-CN"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 </a:t>
            </a:r>
            <a:r>
              <a:rPr lang="zh-CN" altLang="zh-CN" sz="2800" b="0" dirty="0">
                <a:ea typeface="华文楷体" panose="02010600040101010101" pitchFamily="2" charset="-122"/>
                <a:cs typeface="Times New Roman" panose="02020603050405020304" pitchFamily="18" charset="0"/>
              </a:rPr>
              <a:t>若第</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个元素存在，删除并将其值放入</a:t>
            </a:r>
            <a:r>
              <a:rPr lang="en-US" altLang="zh-CN" sz="2800" b="0" dirty="0">
                <a:ea typeface="华文楷体" panose="02010600040101010101" pitchFamily="2" charset="-122"/>
                <a:cs typeface="Times New Roman" panose="02020603050405020304" pitchFamily="18" charset="0"/>
              </a:rPr>
              <a:t>e</a:t>
            </a:r>
            <a:r>
              <a:rPr lang="zh-CN" altLang="zh-CN" sz="2800" b="0" dirty="0">
                <a:ea typeface="华文楷体" panose="02010600040101010101" pitchFamily="2" charset="-122"/>
                <a:cs typeface="Times New Roman" panose="02020603050405020304" pitchFamily="18" charset="0"/>
              </a:rPr>
              <a:t>指向的空间。</a:t>
            </a: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文本框 1">
            <a:extLst>
              <a:ext uri="{FF2B5EF4-FFF2-40B4-BE49-F238E27FC236}">
                <a16:creationId xmlns:a16="http://schemas.microsoft.com/office/drawing/2014/main" id="{BED710C7-81E8-D38D-EFBD-718F3A6502FC}"/>
              </a:ext>
            </a:extLst>
          </p:cNvPr>
          <p:cNvSpPr txBox="1"/>
          <p:nvPr/>
        </p:nvSpPr>
        <p:spPr>
          <a:xfrm>
            <a:off x="8342616" y="4243227"/>
            <a:ext cx="3380197" cy="523220"/>
          </a:xfrm>
          <a:prstGeom prst="rect">
            <a:avLst/>
          </a:prstGeom>
          <a:noFill/>
        </p:spPr>
        <p:txBody>
          <a:bodyPr wrap="square" rtlCol="0">
            <a:spAutoFit/>
          </a:bodyPr>
          <a:lstStyle/>
          <a:p>
            <a:r>
              <a:rPr lang="en-US" altLang="zh-CN" sz="2800" dirty="0" err="1">
                <a:solidFill>
                  <a:schemeClr val="accent2"/>
                </a:solidFill>
              </a:rPr>
              <a:t>i</a:t>
            </a:r>
            <a:r>
              <a:rPr lang="zh-CN" altLang="en-US" sz="2800" dirty="0">
                <a:solidFill>
                  <a:schemeClr val="accent2"/>
                </a:solidFill>
              </a:rPr>
              <a:t>和</a:t>
            </a:r>
            <a:r>
              <a:rPr lang="en-US" altLang="zh-CN" sz="2800" dirty="0">
                <a:solidFill>
                  <a:schemeClr val="accent2"/>
                </a:solidFill>
              </a:rPr>
              <a:t>e</a:t>
            </a:r>
            <a:r>
              <a:rPr lang="zh-CN" altLang="en-US" sz="2800" dirty="0">
                <a:solidFill>
                  <a:schemeClr val="accent2"/>
                </a:solidFill>
              </a:rPr>
              <a:t>用法的区别</a:t>
            </a:r>
          </a:p>
        </p:txBody>
      </p:sp>
    </p:spTree>
    <p:extLst>
      <p:ext uri="{BB962C8B-B14F-4D97-AF65-F5344CB8AC3E}">
        <p14:creationId xmlns:p14="http://schemas.microsoft.com/office/powerpoint/2010/main" val="2102833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5" y="1804994"/>
            <a:ext cx="10366464" cy="3661527"/>
          </a:xfrm>
        </p:spPr>
        <p:txBody>
          <a:bodyPr>
            <a:noAutofit/>
          </a:bodyPr>
          <a:lstStyle/>
          <a:p>
            <a:pPr marL="0" indent="0">
              <a:buNone/>
            </a:pPr>
            <a:r>
              <a:rPr lang="en-US" altLang="zh-CN" sz="2800" b="0" dirty="0">
                <a:solidFill>
                  <a:srgbClr val="00B0F0"/>
                </a:solidFill>
              </a:rPr>
              <a:t>        </a:t>
            </a:r>
            <a:r>
              <a:rPr lang="en-US" altLang="zh-CN" sz="2800" b="0" dirty="0">
                <a:solidFill>
                  <a:srgbClr val="00B0F0"/>
                </a:solidFill>
                <a:cs typeface="Times New Roman" panose="02020603050405020304" pitchFamily="18" charset="0"/>
              </a:rPr>
              <a:t>void remove(int </a:t>
            </a:r>
            <a:r>
              <a:rPr lang="en-US" altLang="zh-CN" sz="2800" b="0" dirty="0" err="1">
                <a:solidFill>
                  <a:srgbClr val="00B0F0"/>
                </a:solidFill>
                <a:cs typeface="Times New Roman" panose="02020603050405020304" pitchFamily="18" charset="0"/>
              </a:rPr>
              <a:t>i</a:t>
            </a:r>
            <a:r>
              <a:rPr lang="en-US" altLang="zh-CN" sz="2800" b="0" dirty="0">
                <a:solidFill>
                  <a:srgbClr val="00B0F0"/>
                </a:solidFill>
                <a:cs typeface="Times New Roman" panose="02020603050405020304" pitchFamily="18" charset="0"/>
              </a:rPr>
              <a:t>);</a:t>
            </a:r>
            <a:endParaRPr lang="zh-CN" altLang="zh-CN" sz="2800" b="0" dirty="0">
              <a:solidFill>
                <a:srgbClr val="00B0F0"/>
              </a:solidFill>
              <a:cs typeface="Times New Roman" panose="02020603050405020304" pitchFamily="18" charset="0"/>
            </a:endParaRPr>
          </a:p>
          <a:p>
            <a:pPr marL="0" indent="0">
              <a:buNone/>
            </a:pPr>
            <a:r>
              <a:rPr lang="en-US" altLang="zh-CN" sz="2800" b="0" dirty="0">
                <a:cs typeface="Times New Roman" panose="02020603050405020304" pitchFamily="18" charset="0"/>
              </a:rPr>
              <a:t>         void clear() { </a:t>
            </a:r>
            <a:r>
              <a:rPr lang="en-US" altLang="zh-CN" sz="2800" b="0" dirty="0" err="1">
                <a:cs typeface="Times New Roman" panose="02020603050405020304" pitchFamily="18" charset="0"/>
              </a:rPr>
              <a:t>len</a:t>
            </a:r>
            <a:r>
              <a:rPr lang="en-US" altLang="zh-CN" sz="2800" b="0" dirty="0">
                <a:cs typeface="Times New Roman" panose="02020603050405020304" pitchFamily="18" charset="0"/>
              </a:rPr>
              <a:t>=0; }; </a:t>
            </a:r>
            <a:r>
              <a:rPr lang="en-US" altLang="zh-CN" sz="2800" b="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清除顺序表，使得其成为空表</a:t>
            </a:r>
          </a:p>
          <a:p>
            <a:pPr marL="0" indent="0">
              <a:buNone/>
            </a:pPr>
            <a:r>
              <a:rPr lang="en-US" altLang="zh-CN" sz="2800" b="0" dirty="0">
                <a:cs typeface="Times New Roman" panose="02020603050405020304" pitchFamily="18" charset="0"/>
              </a:rPr>
              <a:t>        ~</a:t>
            </a:r>
            <a:r>
              <a:rPr lang="en-US" altLang="zh-CN" sz="2800" b="0" dirty="0" err="1">
                <a:cs typeface="Times New Roman" panose="02020603050405020304" pitchFamily="18" charset="0"/>
              </a:rPr>
              <a:t>seqList</a:t>
            </a:r>
            <a:r>
              <a:rPr lang="en-US" altLang="zh-CN" sz="2800" b="0" dirty="0">
                <a:cs typeface="Times New Roman" panose="02020603050405020304" pitchFamily="18" charset="0"/>
              </a:rPr>
              <a:t>() { delete []</a:t>
            </a:r>
            <a:r>
              <a:rPr lang="en-US" altLang="zh-CN" sz="2800" b="0" dirty="0" err="1">
                <a:cs typeface="Times New Roman" panose="02020603050405020304" pitchFamily="18" charset="0"/>
              </a:rPr>
              <a:t>elem</a:t>
            </a:r>
            <a:r>
              <a:rPr lang="en-US" altLang="zh-CN" sz="2800" b="0" dirty="0">
                <a:cs typeface="Times New Roman" panose="02020603050405020304" pitchFamily="18" charset="0"/>
              </a:rPr>
              <a:t>; }; </a:t>
            </a:r>
            <a:r>
              <a:rPr lang="en-US" altLang="zh-CN" sz="2800" b="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b="0" dirty="0">
                <a:latin typeface="华文楷体" panose="02010600040101010101" pitchFamily="2" charset="-122"/>
                <a:ea typeface="华文楷体" panose="02010600040101010101" pitchFamily="2" charset="-122"/>
                <a:cs typeface="Times New Roman" panose="02020603050405020304" pitchFamily="18" charset="0"/>
              </a:rPr>
              <a:t>释放表占用的动态数组</a:t>
            </a:r>
          </a:p>
          <a:p>
            <a:pPr marL="0" indent="0">
              <a:buNone/>
            </a:pPr>
            <a:r>
              <a:rPr lang="en-US" altLang="zh-CN" sz="2800" b="0" dirty="0">
                <a:cs typeface="Times New Roman" panose="02020603050405020304" pitchFamily="18" charset="0"/>
              </a:rPr>
              <a:t>};</a:t>
            </a:r>
            <a:endParaRPr lang="zh-CN" altLang="zh-CN" sz="3600" b="0" dirty="0">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en-GB" altLang="zh-CN" dirty="0" err="1">
                <a:latin typeface="华文楷体" panose="02010600040101010101" pitchFamily="2" charset="-122"/>
                <a:ea typeface="华文楷体" panose="02010600040101010101" pitchFamily="2" charset="-122"/>
              </a:rPr>
              <a:t>seqList</a:t>
            </a:r>
            <a:r>
              <a:rPr lang="zh-CN" altLang="zh-CN" dirty="0">
                <a:latin typeface="华文楷体" panose="02010600040101010101" pitchFamily="2" charset="-122"/>
                <a:ea typeface="华文楷体" panose="02010600040101010101" pitchFamily="2" charset="-122"/>
              </a:rPr>
              <a:t>及操作的定义（</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131008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 </a:t>
            </a:r>
            <a:r>
              <a:rPr lang="zh-CN" altLang="zh-CN" dirty="0">
                <a:latin typeface="华文楷体" panose="02010600040101010101" pitchFamily="2" charset="-122"/>
                <a:ea typeface="华文楷体" panose="02010600040101010101" pitchFamily="2" charset="-122"/>
              </a:rPr>
              <a:t>（</a:t>
            </a:r>
            <a:r>
              <a:rPr lang="en-GB" altLang="zh-CN" dirty="0" err="1">
                <a:latin typeface="华文楷体" panose="02010600040101010101" pitchFamily="2" charset="-122"/>
                <a:ea typeface="华文楷体" panose="02010600040101010101" pitchFamily="2" charset="-122"/>
              </a:rPr>
              <a:t>seqList.h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357809" y="1304285"/>
            <a:ext cx="118341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构造函数任务是给属性赋初值，</a:t>
            </a:r>
            <a:endPar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注意模板函数用法：帽子和胡须</a:t>
            </a:r>
            <a:endPar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 </a:t>
            </a: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seqList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seqList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size)</a:t>
            </a: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zh-CN" altLang="en-US"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初始化顺序表</a:t>
            </a:r>
            <a:endParaRPr kumimoji="0" lang="zh-CN" altLang="en-US" sz="4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new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[size</a:t>
            </a:r>
            <a:r>
              <a:rPr kumimoji="0" lang="en-US" altLang="zh-CN"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zh-CN" altLang="en-US"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申请动态数组</a:t>
            </a:r>
            <a:endParaRPr kumimoji="0" lang="zh-CN" altLang="en-US" sz="4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endParaRPr>
          </a:p>
          <a:p>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if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throw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illegalSize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连续空间，判定申请是否成功</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maxSize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size-1; </a:t>
            </a:r>
            <a:r>
              <a:rPr kumimoji="0" lang="en-US" altLang="zh-CN"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//0</a:t>
            </a:r>
            <a:r>
              <a:rPr kumimoji="0" lang="zh-CN" altLang="en-US" sz="32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下标位置用于查找时做哨兵位。</a:t>
            </a:r>
            <a:endParaRPr kumimoji="0" lang="zh-CN" altLang="en-US" sz="4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len</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0;</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6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文本框 1">
            <a:extLst>
              <a:ext uri="{FF2B5EF4-FFF2-40B4-BE49-F238E27FC236}">
                <a16:creationId xmlns:a16="http://schemas.microsoft.com/office/drawing/2014/main" id="{7AE4FEEC-CAC3-D0CD-ABE0-AF3399C37CB8}"/>
              </a:ext>
            </a:extLst>
          </p:cNvPr>
          <p:cNvSpPr txBox="1"/>
          <p:nvPr/>
        </p:nvSpPr>
        <p:spPr>
          <a:xfrm>
            <a:off x="7623425" y="2485289"/>
            <a:ext cx="3827743" cy="584775"/>
          </a:xfrm>
          <a:prstGeom prst="rect">
            <a:avLst/>
          </a:prstGeom>
          <a:noFill/>
        </p:spPr>
        <p:txBody>
          <a:bodyPr wrap="square" rtlCol="0">
            <a:spAutoFit/>
          </a:bodyPr>
          <a:lstStyle/>
          <a:p>
            <a:r>
              <a:rPr lang="zh-CN" altLang="en-US" sz="3200" dirty="0">
                <a:solidFill>
                  <a:schemeClr val="accent2"/>
                </a:solidFill>
              </a:rPr>
              <a:t>容易“无中生有”</a:t>
            </a:r>
          </a:p>
        </p:txBody>
      </p:sp>
    </p:spTree>
    <p:extLst>
      <p:ext uri="{BB962C8B-B14F-4D97-AF65-F5344CB8AC3E}">
        <p14:creationId xmlns:p14="http://schemas.microsoft.com/office/powerpoint/2010/main" val="3575940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78904" y="1328329"/>
            <a:ext cx="118341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doubleSpace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new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throw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illegalSize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32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比较</a:t>
            </a:r>
            <a:r>
              <a:rPr lang="en-US" altLang="zh-CN" sz="32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return</a:t>
            </a:r>
            <a:endParaRPr lang="zh-CN" altLang="zh-CN" sz="32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for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delete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2*</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- 1;</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833241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0366464" cy="620154"/>
          </a:xfrm>
        </p:spPr>
        <p:txBody>
          <a:bodyPr>
            <a:noAutofit/>
          </a:bodyPr>
          <a:lstStyle/>
          <a:p>
            <a:pPr marL="0" indent="0">
              <a:buNone/>
            </a:pPr>
            <a:r>
              <a:rPr lang="zh-CN" altLang="zh-CN" sz="2800" dirty="0">
                <a:latin typeface="华文楷体" panose="02010600040101010101" pitchFamily="2" charset="-122"/>
                <a:ea typeface="华文楷体" panose="02010600040101010101" pitchFamily="2" charset="-122"/>
              </a:rPr>
              <a:t>查找操作</a:t>
            </a:r>
            <a:r>
              <a:rPr lang="zh-CN" altLang="en-US" sz="280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待查元素放哨兵位，从后往前比较</a:t>
            </a:r>
            <a:r>
              <a:rPr lang="en-US" altLang="zh-CN" sz="2800" b="0" dirty="0">
                <a:latin typeface="华文楷体" panose="02010600040101010101" pitchFamily="2" charset="-122"/>
                <a:ea typeface="华文楷体" panose="02010600040101010101" pitchFamily="2" charset="-122"/>
              </a:rPr>
              <a:t> </a:t>
            </a:r>
            <a:endParaRPr lang="zh-CN" altLang="zh-CN" sz="36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pic>
        <p:nvPicPr>
          <p:cNvPr id="2" name="图片 1"/>
          <p:cNvPicPr>
            <a:picLocks noChangeAspect="1"/>
          </p:cNvPicPr>
          <p:nvPr/>
        </p:nvPicPr>
        <p:blipFill>
          <a:blip r:embed="rId3"/>
          <a:stretch>
            <a:fillRect/>
          </a:stretch>
        </p:blipFill>
        <p:spPr>
          <a:xfrm>
            <a:off x="288284" y="2983665"/>
            <a:ext cx="5093465" cy="2622004"/>
          </a:xfrm>
          <a:prstGeom prst="rect">
            <a:avLst/>
          </a:prstGeom>
        </p:spPr>
      </p:pic>
      <p:sp>
        <p:nvSpPr>
          <p:cNvPr id="3" name="文本框 2"/>
          <p:cNvSpPr txBox="1"/>
          <p:nvPr/>
        </p:nvSpPr>
        <p:spPr>
          <a:xfrm>
            <a:off x="5869726" y="2309508"/>
            <a:ext cx="6321288" cy="3970318"/>
          </a:xfrm>
          <a:prstGeom prst="rect">
            <a:avLst/>
          </a:prstGeom>
          <a:noFill/>
        </p:spPr>
        <p:txBody>
          <a:bodyPr wrap="square" rtlCol="0">
            <a:spAutoFit/>
          </a:bodyPr>
          <a:lstStyle/>
          <a:p>
            <a:r>
              <a:rPr lang="zh-CN" altLang="zh-CN" sz="2800" b="1" dirty="0">
                <a:latin typeface="华文楷体" panose="02010600040101010101" pitchFamily="2" charset="-122"/>
                <a:ea typeface="华文楷体" panose="02010600040101010101" pitchFamily="2" charset="-122"/>
              </a:rPr>
              <a:t>分析时间效率：</a:t>
            </a:r>
            <a:r>
              <a:rPr lang="zh-CN" altLang="en-US" sz="2800" b="1" dirty="0">
                <a:solidFill>
                  <a:schemeClr val="accent2"/>
                </a:solidFill>
                <a:latin typeface="华文楷体" panose="02010600040101010101" pitchFamily="2" charset="-122"/>
                <a:ea typeface="华文楷体" panose="02010600040101010101" pitchFamily="2" charset="-122"/>
              </a:rPr>
              <a:t>平均</a:t>
            </a:r>
            <a:endParaRPr lang="en-US" altLang="zh-CN" sz="2800" b="1" dirty="0">
              <a:solidFill>
                <a:schemeClr val="accent2"/>
              </a:solidFill>
              <a:latin typeface="华文楷体" panose="02010600040101010101" pitchFamily="2" charset="-122"/>
              <a:ea typeface="华文楷体" panose="02010600040101010101" pitchFamily="2" charset="-122"/>
            </a:endParaRPr>
          </a:p>
          <a:p>
            <a:r>
              <a:rPr lang="zh-CN" altLang="zh-CN" sz="2800" b="1" dirty="0">
                <a:latin typeface="华文楷体" panose="02010600040101010101" pitchFamily="2" charset="-122"/>
                <a:ea typeface="华文楷体" panose="02010600040101010101" pitchFamily="2" charset="-122"/>
              </a:rPr>
              <a:t>查找成功情况</a:t>
            </a:r>
            <a:r>
              <a:rPr lang="zh-CN" altLang="en-US" sz="2800" b="1" dirty="0">
                <a:latin typeface="华文楷体" panose="02010600040101010101" pitchFamily="2" charset="-122"/>
                <a:ea typeface="华文楷体" panose="02010600040101010101" pitchFamily="2" charset="-122"/>
              </a:rPr>
              <a:t>：</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查找每个位置元素等概率</a:t>
            </a:r>
            <a:r>
              <a:rPr lang="en-US" altLang="zh-CN" sz="2800" dirty="0">
                <a:latin typeface="华文楷体" panose="02010600040101010101" pitchFamily="2" charset="-122"/>
                <a:ea typeface="华文楷体" panose="02010600040101010101" pitchFamily="2" charset="-122"/>
              </a:rPr>
              <a:t>1/n</a:t>
            </a:r>
          </a:p>
          <a:p>
            <a:r>
              <a:rPr lang="zh-CN" altLang="en-US" sz="2800" dirty="0">
                <a:latin typeface="华文楷体" panose="02010600040101010101" pitchFamily="2" charset="-122"/>
                <a:ea typeface="华文楷体" panose="02010600040101010101" pitchFamily="2" charset="-122"/>
              </a:rPr>
              <a:t>平均： </a:t>
            </a:r>
            <a:r>
              <a:rPr lang="en-US" altLang="zh-CN" sz="2800" dirty="0">
                <a:latin typeface="华文楷体" panose="02010600040101010101" pitchFamily="2" charset="-122"/>
                <a:ea typeface="华文楷体" panose="02010600040101010101" pitchFamily="2" charset="-122"/>
              </a:rPr>
              <a:t>(1+2+…+n)1/n=</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n+1)/2</a:t>
            </a: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p>
          <a:p>
            <a:endParaRPr lang="en-US" altLang="zh-CN" sz="2800" b="1" dirty="0">
              <a:latin typeface="华文楷体" panose="02010600040101010101" pitchFamily="2" charset="-122"/>
              <a:ea typeface="华文楷体" panose="02010600040101010101" pitchFamily="2" charset="-122"/>
            </a:endParaRPr>
          </a:p>
          <a:p>
            <a:r>
              <a:rPr lang="zh-CN" altLang="en-US" sz="2800" b="1" dirty="0">
                <a:latin typeface="华文楷体" panose="02010600040101010101" pitchFamily="2" charset="-122"/>
                <a:ea typeface="华文楷体" panose="02010600040101010101" pitchFamily="2" charset="-122"/>
              </a:rPr>
              <a:t>查找不成功情况：</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每次查找从尾部到哨兵位，比较</a:t>
            </a:r>
            <a:r>
              <a:rPr lang="en-US" altLang="zh-CN" sz="2800" dirty="0">
                <a:latin typeface="华文楷体" panose="02010600040101010101" pitchFamily="2" charset="-122"/>
                <a:ea typeface="华文楷体" panose="02010600040101010101" pitchFamily="2" charset="-122"/>
              </a:rPr>
              <a:t>n+1</a:t>
            </a:r>
            <a:r>
              <a:rPr lang="zh-CN" altLang="en-US" sz="2800" dirty="0">
                <a:latin typeface="华文楷体" panose="02010600040101010101" pitchFamily="2" charset="-122"/>
                <a:ea typeface="华文楷体" panose="02010600040101010101" pitchFamily="2" charset="-122"/>
              </a:rPr>
              <a:t>次</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p>
        </p:txBody>
      </p:sp>
      <p:sp>
        <p:nvSpPr>
          <p:cNvPr id="4" name="文本框 3"/>
          <p:cNvSpPr txBox="1"/>
          <p:nvPr/>
        </p:nvSpPr>
        <p:spPr>
          <a:xfrm>
            <a:off x="1493102" y="2282708"/>
            <a:ext cx="2242876" cy="584775"/>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摆龙门阵：</a:t>
            </a:r>
            <a:endParaRPr lang="zh-CN" altLang="en-US"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29787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78904" y="1287458"/>
            <a:ext cx="1183419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 //</a:t>
            </a:r>
            <a:r>
              <a:rPr lang="zh-CN" altLang="en-US"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注意各处</a:t>
            </a:r>
            <a:r>
              <a:rPr lang="en-US" altLang="zh-CN" sz="32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+&amp;</a:t>
            </a:r>
            <a:r>
              <a:rPr lang="zh-CN" altLang="en-US"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组合的用法</a:t>
            </a:r>
            <a:endParaRPr lang="zh-CN"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&gt;::find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&amp;e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返回值等于</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e</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的元素的序号，无则返回</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0.</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highlight>
                  <a:srgbClr val="FFFF00"/>
                </a:highlight>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[0] = e;  //</a:t>
            </a:r>
            <a:r>
              <a:rPr lang="zh-CN"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哨兵位先置为待查元素</a:t>
            </a: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for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return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03666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1902730" cy="620154"/>
          </a:xfrm>
        </p:spPr>
        <p:txBody>
          <a:bodyPr>
            <a:noAutofit/>
          </a:bodyPr>
          <a:lstStyle/>
          <a:p>
            <a:pPr marL="0" indent="0">
              <a:buNone/>
            </a:pPr>
            <a:r>
              <a:rPr lang="zh-CN" altLang="en-US" sz="2800" dirty="0">
                <a:latin typeface="华文楷体" panose="02010600040101010101" pitchFamily="2" charset="-122"/>
                <a:ea typeface="华文楷体" panose="02010600040101010101" pitchFamily="2" charset="-122"/>
              </a:rPr>
              <a:t>插入</a:t>
            </a:r>
            <a:r>
              <a:rPr lang="zh-CN" altLang="zh-CN" sz="2800" dirty="0">
                <a:latin typeface="华文楷体" panose="02010600040101010101" pitchFamily="2" charset="-122"/>
                <a:ea typeface="华文楷体" panose="02010600040101010101" pitchFamily="2" charset="-122"/>
              </a:rPr>
              <a:t>操作</a:t>
            </a:r>
            <a:r>
              <a:rPr lang="zh-CN" altLang="en-US" sz="2800" dirty="0">
                <a:latin typeface="华文楷体" panose="02010600040101010101" pitchFamily="2" charset="-122"/>
                <a:ea typeface="华文楷体" panose="02010600040101010101" pitchFamily="2" charset="-122"/>
              </a:rPr>
              <a:t>： 新元素欲插在下标为</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的位置，</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可能的取值为</a:t>
            </a:r>
            <a:r>
              <a:rPr lang="en-US" altLang="zh-CN" sz="2800" dirty="0">
                <a:latin typeface="华文楷体" panose="02010600040101010101" pitchFamily="2" charset="-122"/>
                <a:ea typeface="华文楷体" panose="02010600040101010101" pitchFamily="2" charset="-122"/>
              </a:rPr>
              <a:t>n+1, n, … ,  2, 1</a:t>
            </a:r>
            <a:r>
              <a:rPr lang="zh-CN" altLang="en-US" sz="2800" dirty="0">
                <a:latin typeface="华文楷体" panose="02010600040101010101" pitchFamily="2" charset="-122"/>
                <a:ea typeface="华文楷体" panose="02010600040101010101" pitchFamily="2" charset="-122"/>
              </a:rPr>
              <a:t>。</a:t>
            </a:r>
            <a:endParaRPr lang="zh-CN" altLang="zh-CN" sz="36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sp>
        <p:nvSpPr>
          <p:cNvPr id="3" name="文本框 2"/>
          <p:cNvSpPr txBox="1"/>
          <p:nvPr/>
        </p:nvSpPr>
        <p:spPr>
          <a:xfrm>
            <a:off x="6716728" y="2665613"/>
            <a:ext cx="5130716" cy="3970318"/>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特别注意： </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是从后往前至</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位置逐个元素后移一位。</a:t>
            </a:r>
            <a:endParaRPr lang="en-US" altLang="zh-CN" sz="2800" dirty="0">
              <a:latin typeface="华文楷体" panose="02010600040101010101" pitchFamily="2" charset="-122"/>
              <a:ea typeface="华文楷体" panose="02010600040101010101" pitchFamily="2" charset="-122"/>
            </a:endParaRPr>
          </a:p>
          <a:p>
            <a:endParaRPr lang="en-US" altLang="zh-CN" sz="2800" b="1" dirty="0">
              <a:latin typeface="华文楷体" panose="02010600040101010101" pitchFamily="2" charset="-122"/>
              <a:ea typeface="华文楷体" panose="02010600040101010101" pitchFamily="2" charset="-122"/>
            </a:endParaRPr>
          </a:p>
          <a:p>
            <a:r>
              <a:rPr lang="zh-CN" altLang="zh-CN" sz="2800" b="1" dirty="0">
                <a:latin typeface="华文楷体" panose="02010600040101010101" pitchFamily="2" charset="-122"/>
                <a:ea typeface="华文楷体" panose="02010600040101010101" pitchFamily="2" charset="-122"/>
              </a:rPr>
              <a:t>分析时间效率：</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插入每个位置等概率</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n+1</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移动的次数分别为</a:t>
            </a:r>
            <a:r>
              <a:rPr lang="en-US" altLang="zh-CN" sz="2800" dirty="0">
                <a:latin typeface="华文楷体" panose="02010600040101010101" pitchFamily="2" charset="-122"/>
                <a:ea typeface="华文楷体" panose="02010600040101010101" pitchFamily="2" charset="-122"/>
              </a:rPr>
              <a:t>0,1,2,…,n</a:t>
            </a:r>
          </a:p>
          <a:p>
            <a:r>
              <a:rPr lang="zh-CN" altLang="en-US" sz="2800" dirty="0">
                <a:latin typeface="华文楷体" panose="02010600040101010101" pitchFamily="2" charset="-122"/>
                <a:ea typeface="华文楷体" panose="02010600040101010101" pitchFamily="2" charset="-122"/>
              </a:rPr>
              <a:t>平均： </a:t>
            </a:r>
            <a:r>
              <a:rPr lang="en-US" altLang="zh-CN" sz="2800" dirty="0">
                <a:latin typeface="华文楷体" panose="02010600040101010101" pitchFamily="2" charset="-122"/>
                <a:ea typeface="华文楷体" panose="02010600040101010101" pitchFamily="2" charset="-122"/>
              </a:rPr>
              <a:t>(1+2+…+n)/(n+1)=n/2</a:t>
            </a: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88283" y="2665613"/>
            <a:ext cx="5951365" cy="3357660"/>
          </a:xfrm>
          <a:prstGeom prst="rect">
            <a:avLst/>
          </a:prstGeom>
          <a:noFill/>
          <a:ln>
            <a:noFill/>
          </a:ln>
        </p:spPr>
      </p:pic>
      <p:sp>
        <p:nvSpPr>
          <p:cNvPr id="7" name="文本框 6"/>
          <p:cNvSpPr txBox="1"/>
          <p:nvPr/>
        </p:nvSpPr>
        <p:spPr>
          <a:xfrm>
            <a:off x="4748288" y="2193943"/>
            <a:ext cx="2242876" cy="584775"/>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摆龙门阵：</a:t>
            </a:r>
            <a:endParaRPr lang="zh-CN" altLang="en-US"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99565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3491948" y="1328329"/>
            <a:ext cx="712304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pPr indent="0"/>
            <a:r>
              <a:rPr lang="zh-CN" altLang="en-US" sz="3200" b="1" dirty="0">
                <a:latin typeface="华文楷体" panose="02010600040101010101" pitchFamily="2" charset="-122"/>
                <a:ea typeface="华文楷体" panose="02010600040101010101" pitchFamily="2" charset="-122"/>
                <a:cs typeface="Times New Roman" panose="02020603050405020304" pitchFamily="18" charset="0"/>
              </a:rPr>
              <a:t>如何写出一个完整的程序？</a:t>
            </a:r>
            <a:endParaRPr lang="en-US" altLang="zh-CN" sz="3200" b="1" dirty="0">
              <a:latin typeface="华文楷体" panose="02010600040101010101" pitchFamily="2" charset="-122"/>
              <a:ea typeface="华文楷体" panose="02010600040101010101" pitchFamily="2" charset="-122"/>
              <a:cs typeface="Times New Roman" panose="02020603050405020304" pitchFamily="18" charset="0"/>
            </a:endParaRPr>
          </a:p>
          <a:p>
            <a:pPr indent="0"/>
            <a:endParaRPr lang="en-US" altLang="zh-CN" sz="3200" b="1" dirty="0">
              <a:latin typeface="华文楷体" panose="02010600040101010101" pitchFamily="2" charset="-122"/>
              <a:ea typeface="华文楷体" panose="02010600040101010101" pitchFamily="2" charset="-122"/>
              <a:cs typeface="Times New Roman" panose="02020603050405020304" pitchFamily="18" charset="0"/>
            </a:endParaRPr>
          </a:p>
          <a:p>
            <a:pPr indent="0"/>
            <a:r>
              <a:rPr lang="zh-CN" altLang="en-US"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“五步口诀法”：</a:t>
            </a:r>
            <a:endParaRPr lang="en-US" altLang="zh-CN" sz="32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参数检查</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空间是否支持</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核心操作</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对其他属性的影响</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514350" indent="-514350">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正确返回</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97042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78904" y="795016"/>
            <a:ext cx="1183419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insert (</a:t>
            </a:r>
            <a:r>
              <a:rPr lang="en-US" altLang="zh-CN" sz="3200" dirty="0" err="1">
                <a:highlight>
                  <a:srgbClr val="FFFF00"/>
                </a:highlight>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highlight>
                  <a:srgbClr val="FFFF00"/>
                </a:highlight>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highlight>
                  <a:srgbClr val="FFFF00"/>
                </a:highlight>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highlight>
                  <a:srgbClr val="FFFF00"/>
                </a:highlight>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 &amp;e )</a:t>
            </a:r>
            <a:endParaRPr lang="zh-CN"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&lt;1)||(</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&gt;len+1)) return; //</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插入位置越界</a:t>
            </a: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maxSize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doubleSpace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空间满了，无法插入元素</a:t>
            </a: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for (k=len+1; k&gt;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[k-1];</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]=e;</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文本框 1"/>
          <p:cNvSpPr txBox="1"/>
          <p:nvPr/>
        </p:nvSpPr>
        <p:spPr>
          <a:xfrm>
            <a:off x="5516550" y="4197120"/>
            <a:ext cx="6146363" cy="2062103"/>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易错点</a:t>
            </a:r>
            <a:r>
              <a:rPr lang="en-US" altLang="zh-CN" sz="3200" dirty="0">
                <a:solidFill>
                  <a:srgbClr val="FF0000"/>
                </a:solidFill>
                <a:latin typeface="华文楷体" panose="02010600040101010101" pitchFamily="2" charset="-122"/>
                <a:ea typeface="华文楷体" panose="02010600040101010101" pitchFamily="2" charset="-122"/>
              </a:rPr>
              <a:t>---</a:t>
            </a:r>
            <a:r>
              <a:rPr lang="zh-CN" altLang="en-US" sz="3200" dirty="0">
                <a:solidFill>
                  <a:srgbClr val="FF0000"/>
                </a:solidFill>
                <a:latin typeface="华文楷体" panose="02010600040101010101" pitchFamily="2" charset="-122"/>
                <a:ea typeface="华文楷体" panose="02010600040101010101" pitchFamily="2" charset="-122"/>
              </a:rPr>
              <a:t>循环检查 </a:t>
            </a:r>
            <a:endParaRPr lang="en-US" altLang="zh-CN" sz="3200" dirty="0">
              <a:solidFill>
                <a:srgbClr val="FF0000"/>
              </a:solidFill>
              <a:latin typeface="华文楷体" panose="02010600040101010101" pitchFamily="2" charset="-122"/>
              <a:ea typeface="华文楷体" panose="02010600040101010101" pitchFamily="2" charset="-122"/>
            </a:endParaRPr>
          </a:p>
          <a:p>
            <a:r>
              <a:rPr lang="zh-CN" altLang="en-US" sz="3200" b="1" dirty="0">
                <a:highlight>
                  <a:srgbClr val="FFFF00"/>
                </a:highlight>
                <a:latin typeface="华文楷体" panose="02010600040101010101" pitchFamily="2" charset="-122"/>
                <a:ea typeface="华文楷体" panose="02010600040101010101" pitchFamily="2" charset="-122"/>
              </a:rPr>
              <a:t>左右边界的检查</a:t>
            </a:r>
            <a:endParaRPr lang="en-US" altLang="zh-CN" sz="3200" b="1" dirty="0">
              <a:highlight>
                <a:srgbClr val="FFFF00"/>
              </a:highlight>
              <a:latin typeface="华文楷体" panose="02010600040101010101" pitchFamily="2" charset="-122"/>
              <a:ea typeface="华文楷体" panose="02010600040101010101" pitchFamily="2" charset="-122"/>
            </a:endParaRPr>
          </a:p>
          <a:p>
            <a:r>
              <a:rPr lang="zh-CN" altLang="en-US" sz="3200" b="1" dirty="0">
                <a:highlight>
                  <a:srgbClr val="FFFF00"/>
                </a:highlight>
                <a:latin typeface="华文楷体" panose="02010600040101010101" pitchFamily="2" charset="-122"/>
                <a:ea typeface="华文楷体" panose="02010600040101010101" pitchFamily="2" charset="-122"/>
              </a:rPr>
              <a:t>即</a:t>
            </a:r>
            <a:r>
              <a:rPr lang="en-US" altLang="zh-CN" sz="3200" b="1" dirty="0">
                <a:highlight>
                  <a:srgbClr val="FFFF00"/>
                </a:highlight>
                <a:latin typeface="华文楷体" panose="02010600040101010101" pitchFamily="2" charset="-122"/>
                <a:ea typeface="华文楷体" panose="02010600040101010101" pitchFamily="2" charset="-122"/>
              </a:rPr>
              <a:t>k</a:t>
            </a:r>
            <a:r>
              <a:rPr lang="zh-CN" altLang="en-US" sz="3200" b="1" dirty="0">
                <a:highlight>
                  <a:srgbClr val="FFFF00"/>
                </a:highlight>
                <a:latin typeface="华文楷体" panose="02010600040101010101" pitchFamily="2" charset="-122"/>
                <a:ea typeface="华文楷体" panose="02010600040101010101" pitchFamily="2" charset="-122"/>
              </a:rPr>
              <a:t>的第一次和最后一次满足循环条件的取值</a:t>
            </a:r>
            <a:r>
              <a:rPr lang="zh-CN" altLang="en-US" sz="3200" dirty="0">
                <a:solidFill>
                  <a:srgbClr val="FF0000"/>
                </a:solidFill>
                <a:latin typeface="华文楷体" panose="02010600040101010101" pitchFamily="2" charset="-122"/>
                <a:ea typeface="华文楷体" panose="02010600040101010101" pitchFamily="2" charset="-122"/>
              </a:rPr>
              <a:t>。</a:t>
            </a:r>
          </a:p>
        </p:txBody>
      </p:sp>
      <p:sp>
        <p:nvSpPr>
          <p:cNvPr id="4" name="文本框 3"/>
          <p:cNvSpPr txBox="1"/>
          <p:nvPr/>
        </p:nvSpPr>
        <p:spPr>
          <a:xfrm>
            <a:off x="8145434" y="2468490"/>
            <a:ext cx="3867661" cy="830997"/>
          </a:xfrm>
          <a:prstGeom prst="rect">
            <a:avLst/>
          </a:prstGeom>
          <a:noFill/>
        </p:spPr>
        <p:txBody>
          <a:bodyPr wrap="square" rtlCol="0">
            <a:spAutoFit/>
          </a:bodyPr>
          <a:lstStyle/>
          <a:p>
            <a:r>
              <a:rPr lang="zh-CN" altLang="en-US" sz="2400" dirty="0">
                <a:solidFill>
                  <a:srgbClr val="FF0000"/>
                </a:solidFill>
              </a:rPr>
              <a:t>看帽子：参数类型</a:t>
            </a:r>
            <a:endParaRPr lang="en-US" altLang="zh-CN" sz="2400" dirty="0">
              <a:solidFill>
                <a:srgbClr val="FF0000"/>
              </a:solidFill>
            </a:endParaRPr>
          </a:p>
          <a:p>
            <a:r>
              <a:rPr lang="zh-CN" altLang="en-US" sz="2400" dirty="0">
                <a:solidFill>
                  <a:srgbClr val="FF0000"/>
                </a:solidFill>
              </a:rPr>
              <a:t>警惕：合法而不合理的情况</a:t>
            </a:r>
          </a:p>
        </p:txBody>
      </p:sp>
    </p:spTree>
    <p:extLst>
      <p:ext uri="{BB962C8B-B14F-4D97-AF65-F5344CB8AC3E}">
        <p14:creationId xmlns:p14="http://schemas.microsoft.com/office/powerpoint/2010/main" val="3283385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686894"/>
            <a:ext cx="11902731" cy="620154"/>
          </a:xfrm>
        </p:spPr>
        <p:txBody>
          <a:bodyPr>
            <a:noAutofit/>
          </a:bodyPr>
          <a:lstStyle/>
          <a:p>
            <a:pPr marL="0" indent="0">
              <a:buNone/>
            </a:pPr>
            <a:r>
              <a:rPr lang="zh-CN" altLang="zh-CN" sz="2800" dirty="0">
                <a:latin typeface="华文楷体" panose="02010600040101010101" pitchFamily="2" charset="-122"/>
                <a:ea typeface="华文楷体" panose="02010600040101010101" pitchFamily="2" charset="-122"/>
              </a:rPr>
              <a:t>删除操作</a:t>
            </a:r>
            <a:r>
              <a:rPr lang="zh-CN" altLang="en-US" sz="2800" dirty="0">
                <a:latin typeface="华文楷体" panose="02010600040101010101" pitchFamily="2" charset="-122"/>
                <a:ea typeface="华文楷体" panose="02010600040101010101" pitchFamily="2" charset="-122"/>
              </a:rPr>
              <a:t>： 待删元素在下标为</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的位置，</a:t>
            </a:r>
            <a:r>
              <a:rPr lang="en-US" altLang="zh-CN" sz="2800" dirty="0" err="1">
                <a:latin typeface="华文楷体" panose="02010600040101010101" pitchFamily="2" charset="-122"/>
                <a:ea typeface="华文楷体" panose="02010600040101010101" pitchFamily="2" charset="-122"/>
              </a:rPr>
              <a:t>i</a:t>
            </a:r>
            <a:r>
              <a:rPr lang="zh-CN" altLang="en-US" sz="2800" dirty="0">
                <a:latin typeface="华文楷体" panose="02010600040101010101" pitchFamily="2" charset="-122"/>
                <a:ea typeface="华文楷体" panose="02010600040101010101" pitchFamily="2" charset="-122"/>
              </a:rPr>
              <a:t>可能的取值为</a:t>
            </a:r>
            <a:r>
              <a:rPr lang="en-US" altLang="zh-CN" sz="2800" dirty="0">
                <a:latin typeface="华文楷体" panose="02010600040101010101" pitchFamily="2" charset="-122"/>
                <a:ea typeface="华文楷体" panose="02010600040101010101" pitchFamily="2" charset="-122"/>
              </a:rPr>
              <a:t>n, … ,  2, 1</a:t>
            </a:r>
            <a:r>
              <a:rPr lang="zh-CN" altLang="en-US" sz="2800" dirty="0">
                <a:latin typeface="华文楷体" panose="02010600040101010101" pitchFamily="2" charset="-122"/>
                <a:ea typeface="华文楷体" panose="02010600040101010101" pitchFamily="2" charset="-122"/>
              </a:rPr>
              <a:t>。</a:t>
            </a:r>
            <a:endParaRPr lang="zh-CN" altLang="zh-CN" sz="360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sp>
        <p:nvSpPr>
          <p:cNvPr id="3" name="文本框 2"/>
          <p:cNvSpPr txBox="1"/>
          <p:nvPr/>
        </p:nvSpPr>
        <p:spPr>
          <a:xfrm>
            <a:off x="5869726" y="2665613"/>
            <a:ext cx="5886090" cy="3970318"/>
          </a:xfrm>
          <a:prstGeom prst="rect">
            <a:avLst/>
          </a:prstGeom>
          <a:noFill/>
        </p:spPr>
        <p:txBody>
          <a:bodyPr wrap="square" rtlCol="0">
            <a:spAutoFit/>
          </a:bodyPr>
          <a:lstStyle/>
          <a:p>
            <a:r>
              <a:rPr lang="zh-CN" altLang="en-US" sz="2800" b="1" dirty="0">
                <a:latin typeface="华文楷体" panose="02010600040101010101" pitchFamily="2" charset="-122"/>
                <a:ea typeface="华文楷体" panose="02010600040101010101" pitchFamily="2" charset="-122"/>
              </a:rPr>
              <a:t>特别注意： </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是自</a:t>
            </a:r>
            <a:r>
              <a:rPr lang="en-US" altLang="zh-CN" sz="2800" dirty="0">
                <a:latin typeface="华文楷体" panose="02010600040101010101" pitchFamily="2" charset="-122"/>
                <a:ea typeface="华文楷体" panose="02010600040101010101" pitchFamily="2" charset="-122"/>
              </a:rPr>
              <a:t>i+1</a:t>
            </a:r>
            <a:r>
              <a:rPr lang="zh-CN" altLang="en-US" sz="2800" dirty="0">
                <a:latin typeface="华文楷体" panose="02010600040101010101" pitchFamily="2" charset="-122"/>
                <a:ea typeface="华文楷体" panose="02010600040101010101" pitchFamily="2" charset="-122"/>
              </a:rPr>
              <a:t>位置开始，从前往后逐个元素前移一位。</a:t>
            </a:r>
            <a:endParaRPr lang="en-US" altLang="zh-CN" sz="2800" dirty="0">
              <a:latin typeface="华文楷体" panose="02010600040101010101" pitchFamily="2" charset="-122"/>
              <a:ea typeface="华文楷体" panose="02010600040101010101" pitchFamily="2" charset="-122"/>
            </a:endParaRPr>
          </a:p>
          <a:p>
            <a:endParaRPr lang="en-US" altLang="zh-CN" sz="2800" b="1" dirty="0">
              <a:latin typeface="华文楷体" panose="02010600040101010101" pitchFamily="2" charset="-122"/>
              <a:ea typeface="华文楷体" panose="02010600040101010101" pitchFamily="2" charset="-122"/>
            </a:endParaRPr>
          </a:p>
          <a:p>
            <a:r>
              <a:rPr lang="zh-CN" altLang="zh-CN" sz="2800" b="1" dirty="0">
                <a:latin typeface="华文楷体" panose="02010600040101010101" pitchFamily="2" charset="-122"/>
                <a:ea typeface="华文楷体" panose="02010600040101010101" pitchFamily="2" charset="-122"/>
              </a:rPr>
              <a:t>分析时间效率：</a:t>
            </a:r>
            <a:endParaRPr lang="en-US" altLang="zh-CN" sz="2800" b="1"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删除每个位置等概率</a:t>
            </a:r>
            <a:r>
              <a:rPr lang="en-US" altLang="zh-CN" sz="2800" dirty="0">
                <a:latin typeface="华文楷体" panose="02010600040101010101" pitchFamily="2" charset="-122"/>
                <a:ea typeface="华文楷体" panose="02010600040101010101" pitchFamily="2" charset="-122"/>
              </a:rPr>
              <a:t>1/n</a:t>
            </a:r>
          </a:p>
          <a:p>
            <a:r>
              <a:rPr lang="zh-CN" altLang="en-US" sz="2800" dirty="0">
                <a:latin typeface="华文楷体" panose="02010600040101010101" pitchFamily="2" charset="-122"/>
                <a:ea typeface="华文楷体" panose="02010600040101010101" pitchFamily="2" charset="-122"/>
              </a:rPr>
              <a:t>移动的次数分别为</a:t>
            </a:r>
            <a:r>
              <a:rPr lang="en-US" altLang="zh-CN" sz="2800" dirty="0">
                <a:latin typeface="华文楷体" panose="02010600040101010101" pitchFamily="2" charset="-122"/>
                <a:ea typeface="华文楷体" panose="02010600040101010101" pitchFamily="2" charset="-122"/>
              </a:rPr>
              <a:t>0,1,2,…,n-1</a:t>
            </a:r>
          </a:p>
          <a:p>
            <a:r>
              <a:rPr lang="zh-CN" altLang="en-US" sz="2800" dirty="0">
                <a:latin typeface="华文楷体" panose="02010600040101010101" pitchFamily="2" charset="-122"/>
                <a:ea typeface="华文楷体" panose="02010600040101010101" pitchFamily="2" charset="-122"/>
              </a:rPr>
              <a:t>平均： </a:t>
            </a:r>
            <a:r>
              <a:rPr lang="en-US" altLang="zh-CN" sz="2800" dirty="0">
                <a:latin typeface="华文楷体" panose="02010600040101010101" pitchFamily="2" charset="-122"/>
                <a:ea typeface="华文楷体" panose="02010600040101010101" pitchFamily="2" charset="-122"/>
              </a:rPr>
              <a:t>(1+2+…+n-1)/n=</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n-1</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/2</a:t>
            </a:r>
          </a:p>
          <a:p>
            <a:r>
              <a:rPr lang="zh-CN" altLang="en-US" sz="2800" dirty="0">
                <a:latin typeface="华文楷体" panose="02010600040101010101" pitchFamily="2" charset="-122"/>
                <a:ea typeface="华文楷体" panose="02010600040101010101" pitchFamily="2" charset="-122"/>
              </a:rPr>
              <a:t>时间复杂度：</a:t>
            </a:r>
            <a:r>
              <a:rPr lang="en-US" altLang="zh-CN" sz="2800" dirty="0">
                <a:latin typeface="华文楷体" panose="02010600040101010101" pitchFamily="2" charset="-122"/>
                <a:ea typeface="华文楷体" panose="02010600040101010101" pitchFamily="2" charset="-122"/>
              </a:rPr>
              <a:t>O(n)</a:t>
            </a: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288283" y="2625856"/>
            <a:ext cx="5078848" cy="3615917"/>
          </a:xfrm>
          <a:prstGeom prst="rect">
            <a:avLst/>
          </a:prstGeom>
          <a:noFill/>
          <a:ln>
            <a:noFill/>
          </a:ln>
        </p:spPr>
      </p:pic>
      <p:sp>
        <p:nvSpPr>
          <p:cNvPr id="6" name="文本框 5"/>
          <p:cNvSpPr txBox="1"/>
          <p:nvPr/>
        </p:nvSpPr>
        <p:spPr>
          <a:xfrm>
            <a:off x="3996772" y="2214991"/>
            <a:ext cx="2242876" cy="584775"/>
          </a:xfrm>
          <a:prstGeom prst="rect">
            <a:avLst/>
          </a:prstGeom>
          <a:noFill/>
        </p:spPr>
        <p:txBody>
          <a:bodyPr wrap="square" rtlCol="0">
            <a:spAutoFit/>
          </a:bodyPr>
          <a:lstStyle/>
          <a:p>
            <a:r>
              <a:rPr lang="zh-CN" altLang="en-US" sz="3200" dirty="0">
                <a:solidFill>
                  <a:srgbClr val="FF0000"/>
                </a:solidFill>
                <a:latin typeface="华文楷体" panose="02010600040101010101" pitchFamily="2" charset="-122"/>
                <a:ea typeface="华文楷体" panose="02010600040101010101" pitchFamily="2" charset="-122"/>
              </a:rPr>
              <a:t>摆龙门阵：</a:t>
            </a:r>
            <a:endParaRPr lang="zh-CN" altLang="en-US"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7712765" y="2307048"/>
            <a:ext cx="4043051" cy="584775"/>
          </a:xfrm>
          <a:prstGeom prst="rect">
            <a:avLst/>
          </a:prstGeom>
          <a:noFill/>
        </p:spPr>
        <p:txBody>
          <a:bodyPr wrap="square" rtlCol="0">
            <a:spAutoFit/>
          </a:bodyPr>
          <a:lstStyle/>
          <a:p>
            <a:r>
              <a:rPr lang="zh-CN" altLang="en-US" sz="3200" dirty="0">
                <a:solidFill>
                  <a:schemeClr val="accent2"/>
                </a:solidFill>
              </a:rPr>
              <a:t>自行书写程序 </a:t>
            </a:r>
            <a:r>
              <a:rPr lang="en-US" altLang="zh-CN" sz="3200" dirty="0">
                <a:solidFill>
                  <a:schemeClr val="accent2"/>
                </a:solidFill>
              </a:rPr>
              <a:t>5</a:t>
            </a:r>
            <a:r>
              <a:rPr lang="zh-CN" altLang="en-US" sz="3200" dirty="0">
                <a:solidFill>
                  <a:schemeClr val="accent2"/>
                </a:solidFill>
              </a:rPr>
              <a:t>分钟</a:t>
            </a:r>
          </a:p>
        </p:txBody>
      </p:sp>
    </p:spTree>
    <p:extLst>
      <p:ext uri="{BB962C8B-B14F-4D97-AF65-F5344CB8AC3E}">
        <p14:creationId xmlns:p14="http://schemas.microsoft.com/office/powerpoint/2010/main" val="3813956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795869"/>
            <a:ext cx="118341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 </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注意五步口诀法</a:t>
            </a:r>
            <a:endParaRPr lang="zh-CN" altLang="zh-CN" sz="32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void </a:t>
            </a:r>
            <a:r>
              <a:rPr lang="en-US" altLang="zh-CN" sz="3200" dirty="0" err="1">
                <a:solidFill>
                  <a:srgbClr val="00B0F0"/>
                </a:solidFill>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solidFill>
                  <a:srgbClr val="00B0F0"/>
                </a:solidFill>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&gt;::remove (int </a:t>
            </a:r>
            <a:r>
              <a:rPr lang="en-US" altLang="zh-CN" sz="3200" dirty="0" err="1">
                <a:solidFill>
                  <a:srgbClr val="00B0F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&lt;1)||(</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return;</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for (k=</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k++)</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[k+1];</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highlight>
                  <a:srgbClr val="FFFF00"/>
                </a:highlight>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文本框 1"/>
          <p:cNvSpPr txBox="1"/>
          <p:nvPr/>
        </p:nvSpPr>
        <p:spPr>
          <a:xfrm>
            <a:off x="6447847" y="3351478"/>
            <a:ext cx="5003321" cy="954107"/>
          </a:xfrm>
          <a:prstGeom prst="rect">
            <a:avLst/>
          </a:prstGeom>
          <a:noFill/>
          <a:ln w="3175">
            <a:solidFill>
              <a:schemeClr val="tx1"/>
            </a:solidFill>
          </a:ln>
        </p:spPr>
        <p:txBody>
          <a:bodyPr wrap="square" rtlCol="0">
            <a:spAutoFit/>
          </a:bodyPr>
          <a:lstStyle/>
          <a:p>
            <a:r>
              <a:rPr lang="zh-CN" altLang="en-US" sz="2800" b="1" dirty="0">
                <a:solidFill>
                  <a:schemeClr val="accent1"/>
                </a:solidFill>
              </a:rPr>
              <a:t>参数中：</a:t>
            </a:r>
            <a:endParaRPr lang="en-US" altLang="zh-CN" sz="2800" b="1" dirty="0">
              <a:solidFill>
                <a:schemeClr val="accent1"/>
              </a:solidFill>
            </a:endParaRPr>
          </a:p>
          <a:p>
            <a:r>
              <a:rPr lang="en-US" altLang="zh-CN" sz="2800" dirty="0" err="1">
                <a:solidFill>
                  <a:schemeClr val="accent1"/>
                </a:solidFill>
              </a:rPr>
              <a:t>i</a:t>
            </a:r>
            <a:r>
              <a:rPr lang="en-US" altLang="zh-CN" sz="2800" dirty="0">
                <a:solidFill>
                  <a:schemeClr val="accent1"/>
                </a:solidFill>
              </a:rPr>
              <a:t> </a:t>
            </a:r>
            <a:r>
              <a:rPr lang="zh-CN" altLang="en-US" sz="2800" dirty="0">
                <a:solidFill>
                  <a:schemeClr val="accent1"/>
                </a:solidFill>
              </a:rPr>
              <a:t>帽子大头小，</a:t>
            </a:r>
            <a:endParaRPr lang="en-US" altLang="zh-CN" sz="2800" dirty="0">
              <a:solidFill>
                <a:schemeClr val="accent1"/>
              </a:solidFill>
            </a:endParaRPr>
          </a:p>
        </p:txBody>
      </p:sp>
    </p:spTree>
    <p:extLst>
      <p:ext uri="{BB962C8B-B14F-4D97-AF65-F5344CB8AC3E}">
        <p14:creationId xmlns:p14="http://schemas.microsoft.com/office/powerpoint/2010/main" val="2461233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706437"/>
            <a:ext cx="1183419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 </a:t>
            </a:r>
          </a:p>
          <a:p>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seqList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&gt;::get(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int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返回第</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i</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个元素的值</a:t>
            </a: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if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&lt;1)||(</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len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throw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outOfBound</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return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t> </a:t>
            </a:r>
            <a:endParaRPr lang="zh-CN" altLang="zh-CN" dirty="0"/>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71871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303428"/>
            <a:ext cx="1183419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200" b="1" dirty="0">
                <a:latin typeface="华文楷体" panose="02010600040101010101" pitchFamily="2" charset="-122"/>
                <a:ea typeface="华文楷体" panose="02010600040101010101" pitchFamily="2" charset="-122"/>
                <a:cs typeface="Times New Roman" panose="02020603050405020304" pitchFamily="18" charset="0"/>
              </a:rPr>
              <a:t>常见错误：</a:t>
            </a:r>
          </a:p>
          <a:p>
            <a:pPr marL="814388" indent="-635000">
              <a:buFont typeface="+mj-lt"/>
              <a:buAutoNum type="arabicPeriod"/>
            </a:pP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混淆</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len</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和</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maxSize</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的含义，前者是实际元素的个数，后者是存储空间的大小，也是最多能存多少元素的限制。 </a:t>
            </a:r>
          </a:p>
          <a:p>
            <a:pPr marL="814388" indent="-635000">
              <a:buFont typeface="+mj-lt"/>
              <a:buAutoNum type="arabicPeriod"/>
            </a:pP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对象作为函数形参，直接用对象形式而不用引用形式</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这样即浪费空间又引起</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类的复制构造函数的执行，降低</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运行</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效率。</a:t>
            </a:r>
          </a:p>
          <a:p>
            <a:pPr marL="814388" indent="-635000">
              <a:buFont typeface="+mj-lt"/>
              <a:buAutoNum type="arabicPeriod"/>
            </a:pP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insert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函数实现中忘记</a:t>
            </a:r>
            <a:r>
              <a:rPr lang="zh-CN" altLang="zh-CN" sz="3200" dirty="0">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检查位置</a:t>
            </a:r>
            <a:r>
              <a:rPr lang="en-US" altLang="zh-CN" sz="3200" dirty="0" err="1">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i</a:t>
            </a:r>
            <a:r>
              <a:rPr lang="zh-CN" altLang="zh-CN" sz="3200" dirty="0">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的</a:t>
            </a:r>
            <a:r>
              <a:rPr lang="zh-CN" altLang="en-US" sz="3200" dirty="0">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合理</a:t>
            </a:r>
            <a:r>
              <a:rPr lang="zh-CN" altLang="zh-CN" sz="3200" dirty="0">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性</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、忘了</a:t>
            </a:r>
            <a:r>
              <a:rPr lang="zh-CN" altLang="zh-CN" sz="3200" dirty="0">
                <a:highlight>
                  <a:srgbClr val="FFFF00"/>
                </a:highlight>
                <a:latin typeface="华文楷体" panose="02010600040101010101" pitchFamily="2" charset="-122"/>
                <a:ea typeface="华文楷体" panose="02010600040101010101" pitchFamily="2" charset="-122"/>
                <a:cs typeface="Times New Roman" panose="02020603050405020304" pitchFamily="18" charset="0"/>
              </a:rPr>
              <a:t>检查表中是否有空间可以支持插入一个新的元素</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等，造成算法不完整。可以试着使用分析参数、空间检查、核心操作、对其他属性的影响、正确返回的“五步口诀法”，就可以设计出一个相对完整的程序。</a:t>
            </a: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626337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顺序表</a:t>
            </a:r>
            <a:r>
              <a:rPr lang="zh-CN" altLang="en-US" dirty="0">
                <a:latin typeface="华文楷体" panose="02010600040101010101" pitchFamily="2" charset="-122"/>
                <a:ea typeface="华文楷体" panose="02010600040101010101" pitchFamily="2" charset="-122"/>
              </a:rPr>
              <a:t>应用</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测试    </a:t>
            </a:r>
            <a:r>
              <a:rPr lang="en-US" altLang="zh-CN" dirty="0">
                <a:latin typeface="华文楷体" panose="02010600040101010101" pitchFamily="2" charset="-122"/>
                <a:ea typeface="华文楷体" panose="02010600040101010101" pitchFamily="2" charset="-122"/>
              </a:rPr>
              <a:t>main.cpp</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549652"/>
            <a:ext cx="1183419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cs typeface="Times New Roman" panose="02020603050405020304" pitchFamily="18" charset="0"/>
              </a:rPr>
              <a:t>#include &lt;</a:t>
            </a:r>
            <a:r>
              <a:rPr lang="en-US" altLang="zh-CN" sz="3200" dirty="0" err="1">
                <a:latin typeface="Times New Roman" panose="02020603050405020304" pitchFamily="18" charset="0"/>
                <a:cs typeface="Times New Roman" panose="02020603050405020304" pitchFamily="18" charset="0"/>
              </a:rPr>
              <a:t>iostream</a:t>
            </a:r>
            <a:r>
              <a:rPr lang="en-US" altLang="zh-CN" sz="3200" dirty="0">
                <a:latin typeface="Times New Roman" panose="02020603050405020304" pitchFamily="18" charset="0"/>
                <a:cs typeface="Times New Roman" panose="02020603050405020304" pitchFamily="18" charset="0"/>
              </a:rPr>
              <a:t>&gt;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#include "</a:t>
            </a:r>
            <a:r>
              <a:rPr lang="en-US" altLang="zh-CN" sz="3200" dirty="0" err="1">
                <a:latin typeface="Times New Roman" panose="02020603050405020304" pitchFamily="18" charset="0"/>
                <a:cs typeface="Times New Roman" panose="02020603050405020304" pitchFamily="18" charset="0"/>
              </a:rPr>
              <a:t>seqlist.h</a:t>
            </a:r>
            <a:r>
              <a:rPr lang="en-US" altLang="zh-CN" sz="3200" dirty="0">
                <a:latin typeface="Times New Roman" panose="02020603050405020304" pitchFamily="18" charset="0"/>
                <a:cs typeface="Times New Roman" panose="02020603050405020304" pitchFamily="18" charset="0"/>
              </a:rPr>
              <a: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using namespace </a:t>
            </a:r>
            <a:r>
              <a:rPr lang="en-US" altLang="zh-CN" sz="3200" dirty="0" err="1">
                <a:latin typeface="Times New Roman" panose="02020603050405020304" pitchFamily="18" charset="0"/>
                <a:cs typeface="Times New Roman" panose="02020603050405020304" pitchFamily="18" charset="0"/>
              </a:rPr>
              <a:t>std</a:t>
            </a:r>
            <a:r>
              <a:rPr lang="en-US" altLang="zh-CN" sz="3200" dirty="0">
                <a:latin typeface="Times New Roman" panose="02020603050405020304" pitchFamily="18" charset="0"/>
                <a:cs typeface="Times New Roman" panose="02020603050405020304" pitchFamily="18" charset="0"/>
              </a:rPr>
              <a: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3200" dirty="0">
                <a:latin typeface="华文楷体" panose="02010600040101010101" pitchFamily="2" charset="-122"/>
                <a:ea typeface="华文楷体" panose="02010600040101010101" pitchFamily="2" charset="-122"/>
                <a:cs typeface="Times New Roman" panose="02020603050405020304" pitchFamily="18" charset="0"/>
              </a:rPr>
              <a:t>求两个正整数集合的交集</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，用线性表处理集合问题。</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 main()</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seqList</a:t>
            </a:r>
            <a:r>
              <a:rPr lang="en-US" altLang="zh-CN" sz="3200" dirty="0">
                <a:latin typeface="Times New Roman" panose="02020603050405020304" pitchFamily="18" charset="0"/>
                <a:cs typeface="Times New Roman" panose="02020603050405020304" pitchFamily="18" charset="0"/>
              </a:rPr>
              <a:t>&lt;</a:t>
            </a:r>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&gt; list1(20), list2(20), list3(20); </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实例化对象</a:t>
            </a:r>
            <a:endParaRPr lang="zh-CN" altLang="zh-CN" sz="32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i</a:t>
            </a:r>
            <a:r>
              <a:rPr lang="en-US" altLang="zh-CN" sz="3200" dirty="0">
                <a:latin typeface="Times New Roman" panose="02020603050405020304" pitchFamily="18" charset="0"/>
                <a:cs typeface="Times New Roman" panose="02020603050405020304" pitchFamily="18" charset="0"/>
              </a:rPr>
              <a:t>, j, x;</a:t>
            </a:r>
            <a:endParaRPr lang="zh-CN" altLang="zh-CN" sz="3200" dirty="0">
              <a:latin typeface="Times New Roman" panose="02020603050405020304" pitchFamily="18" charset="0"/>
              <a:cs typeface="Times New Roman" panose="02020603050405020304" pitchFamily="18" charset="0"/>
            </a:endParaRPr>
          </a:p>
          <a:p>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int</a:t>
            </a:r>
            <a:r>
              <a:rPr lang="en-US" altLang="zh-CN" sz="3200" dirty="0">
                <a:latin typeface="Times New Roman" panose="02020603050405020304" pitchFamily="18" charset="0"/>
                <a:cs typeface="Times New Roman" panose="02020603050405020304" pitchFamily="18" charset="0"/>
              </a:rPr>
              <a:t> len1,len3;</a:t>
            </a:r>
            <a:endParaRPr lang="zh-CN" altLang="zh-CN" sz="32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文本框 1">
            <a:extLst>
              <a:ext uri="{FF2B5EF4-FFF2-40B4-BE49-F238E27FC236}">
                <a16:creationId xmlns:a16="http://schemas.microsoft.com/office/drawing/2014/main" id="{B12D94B4-761E-E761-95DA-6A08998F4016}"/>
              </a:ext>
            </a:extLst>
          </p:cNvPr>
          <p:cNvSpPr txBox="1"/>
          <p:nvPr/>
        </p:nvSpPr>
        <p:spPr>
          <a:xfrm>
            <a:off x="6705600" y="2173374"/>
            <a:ext cx="4608579" cy="523220"/>
          </a:xfrm>
          <a:prstGeom prst="rect">
            <a:avLst/>
          </a:prstGeom>
          <a:noFill/>
        </p:spPr>
        <p:txBody>
          <a:bodyPr wrap="square" rtlCol="0">
            <a:spAutoFit/>
          </a:bodyPr>
          <a:lstStyle/>
          <a:p>
            <a:r>
              <a:rPr lang="zh-CN" altLang="en-US" sz="2800" dirty="0">
                <a:solidFill>
                  <a:schemeClr val="accent1"/>
                </a:solidFill>
                <a:latin typeface="华文楷体" pitchFamily="2" charset="-122"/>
                <a:ea typeface="华文楷体" pitchFamily="2" charset="-122"/>
              </a:rPr>
              <a:t>建造工具和工具使用的不同</a:t>
            </a:r>
            <a:endParaRPr lang="zh-CN" altLang="en-US" sz="2800" dirty="0">
              <a:solidFill>
                <a:schemeClr val="accent1"/>
              </a:solidFill>
            </a:endParaRPr>
          </a:p>
        </p:txBody>
      </p:sp>
    </p:spTree>
    <p:extLst>
      <p:ext uri="{BB962C8B-B14F-4D97-AF65-F5344CB8AC3E}">
        <p14:creationId xmlns:p14="http://schemas.microsoft.com/office/powerpoint/2010/main" val="327591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423326"/>
            <a:ext cx="11834191"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zh-CN" sz="2800" dirty="0">
                <a:latin typeface="华文楷体" panose="02010600040101010101" pitchFamily="2" charset="-122"/>
                <a:ea typeface="华文楷体" panose="02010600040101010101" pitchFamily="2" charset="-122"/>
                <a:cs typeface="Times New Roman" panose="02020603050405020304" pitchFamily="18" charset="0"/>
              </a:rPr>
              <a:t>输入第一个整数集合中的元素，输入零结束：</a:t>
            </a:r>
          </a:p>
          <a:p>
            <a:r>
              <a:rPr lang="en-US" altLang="zh-CN" sz="2800" dirty="0">
                <a:latin typeface="Times New Roman" panose="02020603050405020304" pitchFamily="18" charset="0"/>
                <a:cs typeface="Times New Roman" panose="02020603050405020304" pitchFamily="18" charset="0"/>
              </a:rPr>
              <a:t>   </a:t>
            </a:r>
            <a:r>
              <a:rPr lang="en-US" altLang="zh-CN" sz="2800" dirty="0">
                <a:highlight>
                  <a:srgbClr val="FFFF00"/>
                </a:highlight>
                <a:latin typeface="Times New Roman" panose="02020603050405020304" pitchFamily="18" charset="0"/>
                <a:cs typeface="Times New Roman" panose="02020603050405020304" pitchFamily="18" charset="0"/>
              </a:rPr>
              <a:t> </a:t>
            </a:r>
            <a:r>
              <a:rPr lang="en-US" altLang="zh-CN" sz="2800" dirty="0" err="1">
                <a:highlight>
                  <a:srgbClr val="FFFF00"/>
                </a:highlight>
                <a:latin typeface="Times New Roman" panose="02020603050405020304" pitchFamily="18" charset="0"/>
                <a:cs typeface="Times New Roman" panose="02020603050405020304" pitchFamily="18" charset="0"/>
              </a:rPr>
              <a:t>i</a:t>
            </a:r>
            <a:r>
              <a:rPr lang="en-US" altLang="zh-CN" sz="2800" dirty="0">
                <a:highlight>
                  <a:srgbClr val="FFFF00"/>
                </a:highlight>
                <a:latin typeface="Times New Roman" panose="02020603050405020304" pitchFamily="18" charset="0"/>
                <a:cs typeface="Times New Roman" panose="02020603050405020304" pitchFamily="18" charset="0"/>
              </a:rPr>
              <a:t>=1;//</a:t>
            </a:r>
            <a:r>
              <a:rPr lang="zh-CN" altLang="en-US" sz="2800" dirty="0">
                <a:highlight>
                  <a:srgbClr val="FFFF00"/>
                </a:highlight>
                <a:latin typeface="Times New Roman" panose="02020603050405020304" pitchFamily="18" charset="0"/>
                <a:cs typeface="Times New Roman" panose="02020603050405020304" pitchFamily="18" charset="0"/>
              </a:rPr>
              <a:t>不是从</a:t>
            </a:r>
            <a:r>
              <a:rPr lang="en-US" altLang="zh-CN" sz="2800" dirty="0">
                <a:highlight>
                  <a:srgbClr val="FFFF00"/>
                </a:highlight>
                <a:latin typeface="Times New Roman" panose="02020603050405020304" pitchFamily="18" charset="0"/>
                <a:cs typeface="Times New Roman" panose="02020603050405020304" pitchFamily="18" charset="0"/>
              </a:rPr>
              <a:t>0</a:t>
            </a:r>
            <a:r>
              <a:rPr lang="zh-CN" altLang="en-US" sz="2800" dirty="0">
                <a:highlight>
                  <a:srgbClr val="FFFF00"/>
                </a:highlight>
                <a:latin typeface="Times New Roman" panose="02020603050405020304" pitchFamily="18" charset="0"/>
                <a:cs typeface="Times New Roman" panose="02020603050405020304" pitchFamily="18" charset="0"/>
              </a:rPr>
              <a:t>开始的</a:t>
            </a:r>
            <a:endParaRPr lang="zh-CN" altLang="zh-CN" sz="2800" dirty="0">
              <a:highlight>
                <a:srgbClr val="FFFF00"/>
              </a:highlight>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&lt;&lt;"</a:t>
            </a:r>
            <a:r>
              <a:rPr lang="zh-CN" altLang="zh-CN" sz="2800" dirty="0">
                <a:latin typeface="华文楷体" panose="02010600040101010101" pitchFamily="2" charset="-122"/>
                <a:ea typeface="华文楷体" panose="02010600040101010101" pitchFamily="2" charset="-122"/>
                <a:cs typeface="Times New Roman" panose="02020603050405020304" pitchFamily="18" charset="0"/>
              </a:rPr>
              <a:t>输入第一个正整数集合，以零为结束标志：</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zh-CN" sz="2800" dirty="0">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cin</a:t>
            </a:r>
            <a:r>
              <a:rPr lang="en-US" altLang="zh-CN" sz="2800" dirty="0">
                <a:latin typeface="Times New Roman" panose="02020603050405020304" pitchFamily="18" charset="0"/>
                <a:cs typeface="Times New Roman" panose="02020603050405020304" pitchFamily="18" charset="0"/>
              </a:rPr>
              <a:t>&gt;&gt;x;</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while (x!=0)</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list1.insert(</a:t>
            </a:r>
            <a:r>
              <a:rPr lang="en-US" altLang="zh-CN" sz="2800" dirty="0" err="1">
                <a:latin typeface="Times New Roman" panose="02020603050405020304" pitchFamily="18" charset="0"/>
                <a:cs typeface="Times New Roman" panose="02020603050405020304" pitchFamily="18" charset="0"/>
              </a:rPr>
              <a:t>i,x</a:t>
            </a:r>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a:t>
            </a:r>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cin</a:t>
            </a:r>
            <a:r>
              <a:rPr lang="en-US" altLang="zh-CN" sz="2800" dirty="0">
                <a:latin typeface="Times New Roman" panose="02020603050405020304" pitchFamily="18" charset="0"/>
                <a:cs typeface="Times New Roman" panose="02020603050405020304" pitchFamily="18" charset="0"/>
              </a:rPr>
              <a:t>&gt;&gt;x;</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44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53788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304800" y="1466490"/>
            <a:ext cx="1083365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输入第二个整数集合中的元素，输入零结束：</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输入第一个正整数集合，以零为结束标志：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&gt;&gt;x;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(x!=0)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list2.insert(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&gt;&gt;x;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417772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120957"/>
            <a:ext cx="10833652"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40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list1,list2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的交集，结果存入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list3</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len1 = list1.length();</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&lt;=len1;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x=list1.get(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(list2.find(x)!=0)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list3.insert(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51607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304800" y="1262367"/>
            <a:ext cx="1083365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40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显示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list3</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中的元素</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两个集合的交集元素为：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len3 = list3.length();</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&lt;=len3;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x=list3.get(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&lt;&lt;x&lt;&lt;"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4" name="文本框 3"/>
          <p:cNvSpPr txBox="1"/>
          <p:nvPr/>
        </p:nvSpPr>
        <p:spPr>
          <a:xfrm>
            <a:off x="5482723" y="4774462"/>
            <a:ext cx="6404477" cy="954107"/>
          </a:xfrm>
          <a:prstGeom prst="rect">
            <a:avLst/>
          </a:prstGeom>
          <a:noFill/>
        </p:spPr>
        <p:txBody>
          <a:bodyPr wrap="square" rtlCol="0">
            <a:spAutoFit/>
          </a:bodyPr>
          <a:lstStyle/>
          <a:p>
            <a:r>
              <a:rPr lang="zh-CN" altLang="en-US" sz="2800" b="1" dirty="0">
                <a:solidFill>
                  <a:schemeClr val="accent1"/>
                </a:solidFill>
              </a:rPr>
              <a:t>后续问题： 程序的调试</a:t>
            </a:r>
            <a:r>
              <a:rPr lang="en-US" altLang="zh-CN" sz="2800" b="1" dirty="0">
                <a:solidFill>
                  <a:schemeClr val="accent1"/>
                </a:solidFill>
              </a:rPr>
              <a:t>---</a:t>
            </a:r>
            <a:r>
              <a:rPr lang="zh-CN" altLang="en-US" sz="2800" b="1" dirty="0">
                <a:solidFill>
                  <a:schemeClr val="accent1"/>
                </a:solidFill>
              </a:rPr>
              <a:t>黑匣子？</a:t>
            </a:r>
            <a:endParaRPr lang="en-US" altLang="zh-CN" sz="2800" b="1" dirty="0">
              <a:solidFill>
                <a:schemeClr val="accent1"/>
              </a:solidFill>
            </a:endParaRPr>
          </a:p>
          <a:p>
            <a:r>
              <a:rPr lang="zh-CN" altLang="en-US" sz="2800" b="1" dirty="0">
                <a:solidFill>
                  <a:schemeClr val="accent1"/>
                </a:solidFill>
              </a:rPr>
              <a:t>用中间变量输出法和</a:t>
            </a:r>
            <a:r>
              <a:rPr lang="en-US" altLang="zh-CN" sz="2800" b="1" dirty="0">
                <a:solidFill>
                  <a:schemeClr val="accent1"/>
                </a:solidFill>
              </a:rPr>
              <a:t>debug</a:t>
            </a:r>
            <a:r>
              <a:rPr lang="zh-CN" altLang="en-US" sz="2800" b="1" dirty="0">
                <a:solidFill>
                  <a:schemeClr val="accent1"/>
                </a:solidFill>
              </a:rPr>
              <a:t>工具的场合</a:t>
            </a:r>
          </a:p>
        </p:txBody>
      </p:sp>
    </p:spTree>
    <p:extLst>
      <p:ext uri="{BB962C8B-B14F-4D97-AF65-F5344CB8AC3E}">
        <p14:creationId xmlns:p14="http://schemas.microsoft.com/office/powerpoint/2010/main" val="975218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总结：</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78904" y="1480728"/>
            <a:ext cx="1216549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814388" indent="-635000">
              <a:buFont typeface="+mj-lt"/>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线性结构定义、</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4</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种常见的线性结构、线性表</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388" indent="-635000">
              <a:buFont typeface="+mj-lt"/>
              <a:buAutoNum type="arabicPeriod"/>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388" indent="-635000">
              <a:buFont typeface="+mj-lt"/>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线性表相关的概念：表长、空表、首尾元素、前驱后继</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388" indent="-635000">
              <a:buFont typeface="+mj-lt"/>
              <a:buAutoNum type="arabicPeriod"/>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388" indent="-635000">
              <a:buFont typeface="+mj-lt"/>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线性表的基本操作：</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3</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大类 </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逻辑结构和基本操作成果是</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ADT</a:t>
            </a:r>
          </a:p>
          <a:p>
            <a:pPr marL="814388" indent="-635000">
              <a:buFont typeface="+mj-lt"/>
              <a:buAutoNum type="arabicPeriod"/>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388" indent="-635000">
              <a:buFont typeface="+mj-lt"/>
              <a:buAutoNum type="arabicPeriod"/>
            </a:pP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ADT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描述元素集合、元素关系、基本操作</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388" indent="-635000">
              <a:buFont typeface="+mj-lt"/>
              <a:buAutoNum type="arabicPeriod"/>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814388" indent="-635000">
              <a:buFont typeface="+mj-lt"/>
              <a:buAutoNum type="arabicPeriod"/>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线性表的顺序存储</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线性表（连续的空间、空间先后表达元素先后）</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成果是存储映像图，进而是类模板</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663448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总结：</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78904" y="1472875"/>
            <a:ext cx="118341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814388" indent="-635000">
              <a:buFont typeface="+mj-lt"/>
              <a:buAutoNum type="arabicPeriod" startAt="6"/>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基本操作实现中</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36588" indent="-457200">
              <a:buFont typeface="Wingdings" panose="05000000000000000000" pitchFamily="2" charset="2"/>
              <a:buChar char="ü"/>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都是对类属性做点什么</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36588" indent="-457200">
              <a:buFont typeface="Wingdings" panose="05000000000000000000" pitchFamily="2" charset="2"/>
              <a:buChar char="ü"/>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构造函数给属性赋初值，通常是</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0</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个元素状态。</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36588" indent="-457200">
              <a:buFont typeface="Wingdings" panose="05000000000000000000" pitchFamily="2" charset="2"/>
              <a:buChar char="ü"/>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具体算法映像图上举例摆龙门阵、获得核心操作</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36588" indent="-457200">
              <a:buFont typeface="Wingdings" panose="05000000000000000000" pitchFamily="2" charset="2"/>
              <a:buChar char="ü"/>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五步口诀法写完整程序，参数、空间、核心、其他属性、返回</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93738" indent="-514350">
              <a:buFont typeface="+mj-lt"/>
              <a:buAutoNum type="arabicPeriod" startAt="7"/>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93738" indent="-514350">
              <a:buFont typeface="+mj-lt"/>
              <a:buAutoNum type="arabicPeriod" startAt="7"/>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基本操作实现效率：</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）查找、插入、删除为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O(n),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其余</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O(1)</a:t>
            </a:r>
          </a:p>
          <a:p>
            <a:pPr marL="179388" indent="0"/>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B</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）插入和删除引起大量数据移动</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36588" indent="-457200">
              <a:buFont typeface="Wingdings" panose="05000000000000000000" pitchFamily="2" charset="2"/>
              <a:buChar char="ü"/>
            </a:pP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082954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演示：</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如何规划</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project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中的模块</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579539"/>
            <a:ext cx="118341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636588" indent="-457200">
              <a:buFont typeface="Wingdings" panose="05000000000000000000" pitchFamily="2" charset="2"/>
              <a:buChar char="ü"/>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常规应该是</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seqlist.h</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seqlist.cpp  main.cpp</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三个文件在同一个</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project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中</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36588" indent="-457200">
              <a:buFont typeface="Wingdings" panose="05000000000000000000" pitchFamily="2" charset="2"/>
              <a:buChar char="ü"/>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因为有类模板，以上存在无法链接到类中成员函数的问题</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27063" indent="0"/>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变通方法：</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27063" indent="0"/>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1. seqlist.cpp</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取消，内容加到</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seqlist.h</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中</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627063" indent="0"/>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2. seqlist.cpp</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不取消，</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985838" indent="0"/>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但</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main.cpp</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中除了要</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include </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seqlist.h</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 </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还要</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include seqlist.cpp</a:t>
            </a:r>
          </a:p>
          <a:p>
            <a:pPr marL="985838" indent="0"/>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a:p>
            <a:pPr marL="174625" indent="0"/>
            <a:r>
              <a:rPr lang="en-US" altLang="zh-CN" sz="3200" b="1" dirty="0" err="1">
                <a:solidFill>
                  <a:schemeClr val="accent1"/>
                </a:solidFill>
                <a:latin typeface="华文楷体" panose="02010600040101010101" pitchFamily="2" charset="-122"/>
                <a:ea typeface="华文楷体" panose="02010600040101010101" pitchFamily="2" charset="-122"/>
                <a:cs typeface="Times New Roman" panose="02020603050405020304" pitchFamily="18" charset="0"/>
              </a:rPr>
              <a:t>oj</a:t>
            </a:r>
            <a:r>
              <a:rPr lang="zh-CN" altLang="en-US" sz="3200" b="1" dirty="0">
                <a:solidFill>
                  <a:schemeClr val="accent1"/>
                </a:solidFill>
                <a:latin typeface="华文楷体" panose="02010600040101010101" pitchFamily="2" charset="-122"/>
                <a:ea typeface="华文楷体" panose="02010600040101010101" pitchFamily="2" charset="-122"/>
                <a:cs typeface="Times New Roman" panose="02020603050405020304" pitchFamily="18" charset="0"/>
              </a:rPr>
              <a:t>上</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则</a:t>
            </a:r>
            <a:r>
              <a:rPr lang="en-US" altLang="zh-CN" sz="3200" dirty="0" err="1">
                <a:latin typeface="华文楷体" panose="02010600040101010101" pitchFamily="2" charset="-122"/>
                <a:ea typeface="华文楷体" panose="02010600040101010101" pitchFamily="2" charset="-122"/>
                <a:cs typeface="Times New Roman" panose="02020603050405020304" pitchFamily="18" charset="0"/>
              </a:rPr>
              <a:t>seqlist.h</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和</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seqlist.cpp</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全部取消，都放在</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main.cpp</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中。</a:t>
            </a:r>
            <a:endParaRPr lang="en-US" altLang="zh-CN" sz="32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845074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线性表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链表及实现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一元多项式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稀疏矩阵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字符串*</a:t>
            </a: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6164062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4894189"/>
          </a:xfrm>
        </p:spPr>
        <p:txBody>
          <a:bodyPr>
            <a:normAutofit/>
          </a:bodyPr>
          <a:lstStyle/>
          <a:p>
            <a:pPr marL="0" indent="0">
              <a:lnSpc>
                <a:spcPct val="115000"/>
              </a:lnSpc>
              <a:buNone/>
              <a:defRPr/>
            </a:pPr>
            <a:r>
              <a:rPr lang="zh-CN" altLang="zh-CN" sz="2800" b="0" dirty="0">
                <a:highlight>
                  <a:srgbClr val="FFFF00"/>
                </a:highlight>
                <a:latin typeface="华文楷体" pitchFamily="2" charset="-122"/>
                <a:ea typeface="华文楷体" pitchFamily="2" charset="-122"/>
              </a:rPr>
              <a:t>顺序表插入、删除时间代价的分析，可以看出其时间复杂度是</a:t>
            </a:r>
            <a:r>
              <a:rPr lang="zh-CN" altLang="zh-CN" sz="2800" b="0" dirty="0">
                <a:solidFill>
                  <a:srgbClr val="FF0000"/>
                </a:solidFill>
                <a:highlight>
                  <a:srgbClr val="FFFF00"/>
                </a:highlight>
                <a:latin typeface="华文楷体" pitchFamily="2" charset="-122"/>
                <a:ea typeface="华文楷体" pitchFamily="2" charset="-122"/>
              </a:rPr>
              <a:t>线性阶</a:t>
            </a:r>
            <a:r>
              <a:rPr lang="zh-CN" altLang="zh-CN" sz="2800" b="0" dirty="0">
                <a:highlight>
                  <a:srgbClr val="FFFF00"/>
                </a:highlight>
                <a:latin typeface="华文楷体" pitchFamily="2" charset="-122"/>
                <a:ea typeface="华文楷体" pitchFamily="2" charset="-122"/>
              </a:rPr>
              <a:t>的，而且会引起已存储元素的</a:t>
            </a:r>
            <a:r>
              <a:rPr lang="zh-CN" altLang="en-US" sz="2800" b="0" dirty="0">
                <a:solidFill>
                  <a:srgbClr val="FF0000"/>
                </a:solidFill>
                <a:highlight>
                  <a:srgbClr val="FFFF00"/>
                </a:highlight>
                <a:latin typeface="华文楷体" pitchFamily="2" charset="-122"/>
                <a:ea typeface="华文楷体" pitchFamily="2" charset="-122"/>
              </a:rPr>
              <a:t>大规模</a:t>
            </a:r>
            <a:r>
              <a:rPr lang="zh-CN" altLang="zh-CN" sz="2800" b="0" dirty="0">
                <a:solidFill>
                  <a:srgbClr val="FF0000"/>
                </a:solidFill>
                <a:highlight>
                  <a:srgbClr val="FFFF00"/>
                </a:highlight>
                <a:latin typeface="华文楷体" pitchFamily="2" charset="-122"/>
                <a:ea typeface="华文楷体" pitchFamily="2" charset="-122"/>
              </a:rPr>
              <a:t>位置移动</a:t>
            </a:r>
            <a:r>
              <a:rPr lang="zh-CN" altLang="zh-CN" sz="2800" b="0" dirty="0">
                <a:highlight>
                  <a:srgbClr val="FFFF00"/>
                </a:highlight>
                <a:latin typeface="华文楷体" pitchFamily="2" charset="-122"/>
                <a:ea typeface="华文楷体" pitchFamily="2" charset="-122"/>
              </a:rPr>
              <a:t>。</a:t>
            </a:r>
            <a:endParaRPr lang="en-US" altLang="zh-CN" sz="2800" b="0" dirty="0">
              <a:highlight>
                <a:srgbClr val="FFFF00"/>
              </a:highlight>
              <a:latin typeface="华文楷体" pitchFamily="2" charset="-122"/>
              <a:ea typeface="华文楷体" pitchFamily="2" charset="-122"/>
            </a:endParaRPr>
          </a:p>
          <a:p>
            <a:pPr marL="0" indent="0">
              <a:lnSpc>
                <a:spcPct val="115000"/>
              </a:lnSpc>
              <a:buNone/>
              <a:defRPr/>
            </a:pPr>
            <a:r>
              <a:rPr lang="zh-CN" altLang="en-US" sz="2800" dirty="0">
                <a:latin typeface="华文楷体" pitchFamily="2" charset="-122"/>
                <a:ea typeface="华文楷体" pitchFamily="2" charset="-122"/>
              </a:rPr>
              <a:t>改进方法：链式结构</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各个元素的物理存放位置在存储器中是任意的，</a:t>
            </a:r>
            <a:r>
              <a:rPr lang="zh-CN" altLang="zh-CN" sz="2800" b="0" dirty="0">
                <a:solidFill>
                  <a:schemeClr val="accent1"/>
                </a:solidFill>
                <a:latin typeface="华文楷体" pitchFamily="2" charset="-122"/>
                <a:ea typeface="华文楷体" pitchFamily="2" charset="-122"/>
              </a:rPr>
              <a:t>不一定连续</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每个元素放在一个独立的存储单元中，元素间的逻辑关系依靠存储单元中</a:t>
            </a:r>
            <a:r>
              <a:rPr lang="zh-CN" altLang="zh-CN" sz="2800" dirty="0">
                <a:solidFill>
                  <a:schemeClr val="accent1"/>
                </a:solidFill>
                <a:latin typeface="华文楷体" pitchFamily="2" charset="-122"/>
                <a:ea typeface="华文楷体" pitchFamily="2" charset="-122"/>
              </a:rPr>
              <a:t>附加指针</a:t>
            </a:r>
            <a:r>
              <a:rPr lang="zh-CN" altLang="zh-CN" sz="2800" b="0" dirty="0">
                <a:latin typeface="华文楷体" pitchFamily="2" charset="-122"/>
                <a:ea typeface="华文楷体" pitchFamily="2" charset="-122"/>
              </a:rPr>
              <a:t>来</a:t>
            </a:r>
            <a:r>
              <a:rPr lang="zh-CN" altLang="en-US" sz="2800" b="0" dirty="0">
                <a:latin typeface="华文楷体" pitchFamily="2" charset="-122"/>
                <a:ea typeface="华文楷体" pitchFamily="2" charset="-122"/>
              </a:rPr>
              <a:t>完成</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zh-CN" sz="2800" b="0" dirty="0">
                <a:latin typeface="华文楷体" pitchFamily="2" charset="-122"/>
                <a:ea typeface="华文楷体" pitchFamily="2" charset="-122"/>
              </a:rPr>
              <a:t>采用链式存储结构存储的线性表，称为</a:t>
            </a:r>
            <a:r>
              <a:rPr lang="zh-CN" altLang="zh-CN" sz="2800" dirty="0">
                <a:latin typeface="华文楷体" pitchFamily="2" charset="-122"/>
                <a:ea typeface="华文楷体" pitchFamily="2" charset="-122"/>
              </a:rPr>
              <a:t>链表</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链式结构</a:t>
            </a:r>
          </a:p>
        </p:txBody>
      </p:sp>
    </p:spTree>
    <p:extLst>
      <p:ext uri="{BB962C8B-B14F-4D97-AF65-F5344CB8AC3E}">
        <p14:creationId xmlns:p14="http://schemas.microsoft.com/office/powerpoint/2010/main" val="2378660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链表</a:t>
            </a:r>
            <a:r>
              <a:rPr lang="zh-CN" altLang="zh-CN" dirty="0">
                <a:latin typeface="华文楷体" panose="02010600040101010101" pitchFamily="2" charset="-122"/>
                <a:ea typeface="华文楷体" panose="02010600040101010101" pitchFamily="2" charset="-122"/>
              </a:rPr>
              <a:t>的存储映像图</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516836" y="5701162"/>
            <a:ext cx="8130207"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为了清晰看出逻辑关系，以后链表用图</a:t>
            </a:r>
            <a:r>
              <a:rPr lang="en-US" altLang="zh-CN" sz="2800" dirty="0">
                <a:latin typeface="华文楷体" panose="02010600040101010101" pitchFamily="2" charset="-122"/>
                <a:ea typeface="华文楷体" panose="02010600040101010101" pitchFamily="2" charset="-122"/>
              </a:rPr>
              <a:t>(b)</a:t>
            </a:r>
            <a:r>
              <a:rPr lang="zh-CN" altLang="en-US" sz="2800" dirty="0">
                <a:latin typeface="华文楷体" panose="02010600040101010101" pitchFamily="2" charset="-122"/>
                <a:ea typeface="华文楷体" panose="02010600040101010101" pitchFamily="2" charset="-122"/>
              </a:rPr>
              <a:t>来表示。</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675434" y="1534324"/>
            <a:ext cx="7945644" cy="1805223"/>
          </a:xfrm>
          <a:prstGeom prst="rect">
            <a:avLst/>
          </a:prstGeom>
          <a:noFill/>
          <a:ln>
            <a:noFill/>
          </a:ln>
        </p:spPr>
      </p:pic>
      <p:sp>
        <p:nvSpPr>
          <p:cNvPr id="2" name="文本框 1"/>
          <p:cNvSpPr txBox="1"/>
          <p:nvPr/>
        </p:nvSpPr>
        <p:spPr>
          <a:xfrm>
            <a:off x="516836" y="2175325"/>
            <a:ext cx="690218" cy="523220"/>
          </a:xfrm>
          <a:prstGeom prst="rect">
            <a:avLst/>
          </a:prstGeom>
          <a:noFill/>
        </p:spPr>
        <p:txBody>
          <a:bodyPr wrap="square" rtlCol="0">
            <a:spAutoFit/>
          </a:bodyPr>
          <a:lstStyle/>
          <a:p>
            <a:r>
              <a:rPr lang="en-US" altLang="zh-CN" sz="2800" dirty="0"/>
              <a:t>(a) </a:t>
            </a:r>
            <a:endParaRPr lang="zh-CN" altLang="en-US" dirty="0"/>
          </a:p>
        </p:txBody>
      </p:sp>
      <p:sp>
        <p:nvSpPr>
          <p:cNvPr id="8" name="文本框 7"/>
          <p:cNvSpPr txBox="1"/>
          <p:nvPr/>
        </p:nvSpPr>
        <p:spPr>
          <a:xfrm>
            <a:off x="516836" y="3841301"/>
            <a:ext cx="662609" cy="523220"/>
          </a:xfrm>
          <a:prstGeom prst="rect">
            <a:avLst/>
          </a:prstGeom>
          <a:noFill/>
        </p:spPr>
        <p:txBody>
          <a:bodyPr wrap="square" rtlCol="0">
            <a:spAutoFit/>
          </a:bodyPr>
          <a:lstStyle/>
          <a:p>
            <a:r>
              <a:rPr lang="en-US" altLang="zh-CN" sz="2800" dirty="0"/>
              <a:t>(b)</a:t>
            </a:r>
            <a:endParaRPr lang="zh-CN" altLang="en-US" dirty="0"/>
          </a:p>
        </p:txBody>
      </p:sp>
      <p:pic>
        <p:nvPicPr>
          <p:cNvPr id="4" name="图片 3"/>
          <p:cNvPicPr>
            <a:picLocks noChangeAspect="1"/>
          </p:cNvPicPr>
          <p:nvPr/>
        </p:nvPicPr>
        <p:blipFill>
          <a:blip r:embed="rId4"/>
          <a:stretch>
            <a:fillRect/>
          </a:stretch>
        </p:blipFill>
        <p:spPr>
          <a:xfrm>
            <a:off x="1675434" y="3841301"/>
            <a:ext cx="7257278" cy="1319505"/>
          </a:xfrm>
          <a:prstGeom prst="rect">
            <a:avLst/>
          </a:prstGeom>
        </p:spPr>
      </p:pic>
      <p:sp>
        <p:nvSpPr>
          <p:cNvPr id="11" name="文本框 10"/>
          <p:cNvSpPr txBox="1"/>
          <p:nvPr/>
        </p:nvSpPr>
        <p:spPr>
          <a:xfrm>
            <a:off x="5508267" y="5139340"/>
            <a:ext cx="5257499"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面临：结构体和指针的挑战！</a:t>
            </a:r>
          </a:p>
        </p:txBody>
      </p:sp>
    </p:spTree>
    <p:extLst>
      <p:ext uri="{BB962C8B-B14F-4D97-AF65-F5344CB8AC3E}">
        <p14:creationId xmlns:p14="http://schemas.microsoft.com/office/powerpoint/2010/main" val="414016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Rot="1" noChangeArrowheads="1"/>
          </p:cNvSpPr>
          <p:nvPr>
            <p:ph type="title"/>
          </p:nvPr>
        </p:nvSpPr>
        <p:spPr>
          <a:xfrm>
            <a:off x="216543" y="664958"/>
            <a:ext cx="9331281" cy="779691"/>
          </a:xfrm>
        </p:spPr>
        <p:txBody>
          <a:bodyPr>
            <a:normAutofit/>
          </a:bodyPr>
          <a:lstStyle/>
          <a:p>
            <a:r>
              <a:rPr lang="zh-CN" altLang="en-US" dirty="0">
                <a:latin typeface="华文楷体" panose="02010600040101010101" pitchFamily="2" charset="-122"/>
                <a:ea typeface="华文楷体" panose="02010600040101010101" pitchFamily="2" charset="-122"/>
              </a:rPr>
              <a:t>结构类型，结构变量，结构指针</a:t>
            </a:r>
            <a:endParaRPr lang="zh-CN" altLang="en-US" b="1" dirty="0">
              <a:solidFill>
                <a:srgbClr val="FF0000"/>
              </a:solidFill>
              <a:latin typeface="华文楷体" panose="02010600040101010101" pitchFamily="2" charset="-122"/>
              <a:ea typeface="华文楷体" panose="02010600040101010101" pitchFamily="2" charset="-122"/>
            </a:endParaRPr>
          </a:p>
        </p:txBody>
      </p:sp>
      <p:sp>
        <p:nvSpPr>
          <p:cNvPr id="12290" name="灯片编号占位符 4"/>
          <p:cNvSpPr>
            <a:spLocks noGrp="1"/>
          </p:cNvSpPr>
          <p:nvPr>
            <p:ph type="sldNum" sz="quarter" idx="12"/>
          </p:nvPr>
        </p:nvSpPr>
        <p:spPr>
          <a:xfrm>
            <a:off x="4648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fld id="{A79AFBCB-B9CF-4446-B09D-D2A2760E6828}" type="slidenum">
              <a:rPr kumimoji="0" lang="en-US" altLang="zh-CN" sz="1200">
                <a:latin typeface="Arial" panose="020B0604020202020204" pitchFamily="34" charset="0"/>
              </a:rPr>
              <a:pPr algn="ctr">
                <a:spcBef>
                  <a:spcPct val="0"/>
                </a:spcBef>
                <a:buFontTx/>
                <a:buNone/>
              </a:pPr>
              <a:t>40</a:t>
            </a:fld>
            <a:endParaRPr kumimoji="0" lang="en-US" altLang="zh-CN" sz="1200">
              <a:latin typeface="Arial" panose="020B0604020202020204" pitchFamily="34" charset="0"/>
            </a:endParaRPr>
          </a:p>
        </p:txBody>
      </p:sp>
      <p:sp>
        <p:nvSpPr>
          <p:cNvPr id="2" name="文本框 1"/>
          <p:cNvSpPr txBox="1"/>
          <p:nvPr/>
        </p:nvSpPr>
        <p:spPr>
          <a:xfrm>
            <a:off x="836023" y="3672615"/>
            <a:ext cx="2743200" cy="2677656"/>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class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public:</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sp>
        <p:nvSpPr>
          <p:cNvPr id="3" name="文本框 2"/>
          <p:cNvSpPr txBox="1"/>
          <p:nvPr/>
        </p:nvSpPr>
        <p:spPr>
          <a:xfrm>
            <a:off x="3569901" y="1407975"/>
            <a:ext cx="4964986" cy="5262979"/>
          </a:xfrm>
          <a:prstGeom prst="rect">
            <a:avLst/>
          </a:prstGeom>
          <a:noFill/>
        </p:spPr>
        <p:txBody>
          <a:bodyPr wrap="square" rtlCol="0">
            <a:spAutoFit/>
          </a:bodyPr>
          <a:lstStyle/>
          <a:p>
            <a:r>
              <a:rPr lang="en-US" altLang="zh-CN" sz="2800" dirty="0"/>
              <a:t> </a:t>
            </a:r>
            <a:r>
              <a:rPr lang="en-US" altLang="zh-CN" sz="2800" b="1" dirty="0"/>
              <a:t>{</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r>
              <a:rPr lang="en-US" altLang="zh-CN" sz="2800" dirty="0">
                <a:latin typeface="Times New Roman" panose="02020603050405020304" pitchFamily="18" charset="0"/>
                <a:cs typeface="Times New Roman" panose="02020603050405020304" pitchFamily="18" charset="0"/>
              </a:rPr>
              <a:t>  d, *p;</a:t>
            </a:r>
          </a:p>
          <a:p>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d.year</a:t>
            </a:r>
            <a:r>
              <a:rPr lang="en-US" altLang="zh-CN" sz="2800" dirty="0">
                <a:latin typeface="Times New Roman" panose="02020603050405020304" pitchFamily="18" charset="0"/>
                <a:cs typeface="Times New Roman" panose="02020603050405020304" pitchFamily="18" charset="0"/>
              </a:rPr>
              <a:t> = 2020;</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d.month</a:t>
            </a:r>
            <a:r>
              <a:rPr lang="en-US" altLang="zh-CN" sz="2800" dirty="0">
                <a:latin typeface="Times New Roman" panose="02020603050405020304" pitchFamily="18" charset="0"/>
                <a:cs typeface="Times New Roman" panose="02020603050405020304" pitchFamily="18" charset="0"/>
              </a:rPr>
              <a:t> = 3;</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d.day</a:t>
            </a:r>
            <a:r>
              <a:rPr lang="en-US" altLang="zh-CN" sz="2800" dirty="0">
                <a:latin typeface="Times New Roman" panose="02020603050405020304" pitchFamily="18" charset="0"/>
                <a:cs typeface="Times New Roman" panose="02020603050405020304" pitchFamily="18" charset="0"/>
              </a:rPr>
              <a:t> = 11;</a:t>
            </a:r>
          </a:p>
          <a:p>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 = &amp;d;</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Times New Roman" panose="02020603050405020304" pitchFamily="18" charset="0"/>
                <a:cs typeface="Times New Roman" panose="02020603050405020304" pitchFamily="18" charset="0"/>
              </a:rPr>
              <a:t>&lt;&lt;p-&gt;year&lt;&lt;</a:t>
            </a:r>
            <a:r>
              <a:rPr lang="en-US" altLang="zh-CN" sz="2800" dirty="0" err="1">
                <a:latin typeface="Times New Roman" panose="02020603050405020304" pitchFamily="18" charset="0"/>
                <a:cs typeface="Times New Roman" panose="02020603050405020304" pitchFamily="18" charset="0"/>
              </a:rPr>
              <a:t>endl</a:t>
            </a:r>
            <a:r>
              <a:rPr lang="en-US" altLang="zh-CN" sz="2800" dirty="0">
                <a:latin typeface="Times New Roman" panose="02020603050405020304" pitchFamily="18" charset="0"/>
                <a:cs typeface="Times New Roman" panose="02020603050405020304" pitchFamily="18" charset="0"/>
              </a:rPr>
              <a:t>;</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Times New Roman" panose="02020603050405020304" pitchFamily="18" charset="0"/>
                <a:cs typeface="Times New Roman" panose="02020603050405020304" pitchFamily="18" charset="0"/>
              </a:rPr>
              <a:t>&lt;&lt;p-&gt;month&lt;&lt;</a:t>
            </a:r>
            <a:r>
              <a:rPr lang="en-US" altLang="zh-CN" sz="2800" dirty="0" err="1">
                <a:latin typeface="Times New Roman" panose="02020603050405020304" pitchFamily="18" charset="0"/>
                <a:cs typeface="Times New Roman" panose="02020603050405020304" pitchFamily="18" charset="0"/>
              </a:rPr>
              <a:t>endl</a:t>
            </a:r>
            <a:r>
              <a:rPr lang="en-US" altLang="zh-CN" sz="2800" dirty="0">
                <a:latin typeface="Times New Roman" panose="02020603050405020304" pitchFamily="18" charset="0"/>
                <a:cs typeface="Times New Roman" panose="02020603050405020304" pitchFamily="18" charset="0"/>
              </a:rPr>
              <a:t>;</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cout</a:t>
            </a:r>
            <a:r>
              <a:rPr lang="en-US" altLang="zh-CN" sz="2800" dirty="0">
                <a:latin typeface="Times New Roman" panose="02020603050405020304" pitchFamily="18" charset="0"/>
                <a:cs typeface="Times New Roman" panose="02020603050405020304" pitchFamily="18" charset="0"/>
              </a:rPr>
              <a:t>&lt;&lt;p-&gt;day&lt;&lt;</a:t>
            </a:r>
            <a:r>
              <a:rPr lang="en-US" altLang="zh-CN" sz="2800" dirty="0" err="1">
                <a:latin typeface="Times New Roman" panose="02020603050405020304" pitchFamily="18" charset="0"/>
                <a:cs typeface="Times New Roman" panose="02020603050405020304" pitchFamily="18" charset="0"/>
              </a:rPr>
              <a:t>endl</a:t>
            </a:r>
            <a:r>
              <a:rPr lang="en-US" altLang="zh-CN" sz="2800" dirty="0">
                <a:latin typeface="Times New Roman" panose="02020603050405020304" pitchFamily="18" charset="0"/>
                <a:cs typeface="Times New Roman" panose="02020603050405020304" pitchFamily="18" charset="0"/>
              </a:rPr>
              <a:t>;</a:t>
            </a:r>
          </a:p>
          <a:p>
            <a:r>
              <a:rPr lang="en-US" altLang="zh-CN" sz="2800" b="1" dirty="0">
                <a:latin typeface="Times New Roman" panose="02020603050405020304" pitchFamily="18" charset="0"/>
                <a:cs typeface="Times New Roman" panose="02020603050405020304" pitchFamily="18" charset="0"/>
              </a:rPr>
              <a:t>}</a:t>
            </a:r>
            <a:endParaRPr lang="zh-CN" altLang="en-US" sz="2800" b="1" dirty="0" err="1">
              <a:latin typeface="Times New Roman" panose="02020603050405020304" pitchFamily="18" charset="0"/>
              <a:cs typeface="Times New Roman" panose="02020603050405020304" pitchFamily="18" charset="0"/>
            </a:endParaRPr>
          </a:p>
        </p:txBody>
      </p:sp>
      <p:cxnSp>
        <p:nvCxnSpPr>
          <p:cNvPr id="10" name="直接连接符 9"/>
          <p:cNvCxnSpPr/>
          <p:nvPr/>
        </p:nvCxnSpPr>
        <p:spPr>
          <a:xfrm>
            <a:off x="3444191" y="1593669"/>
            <a:ext cx="17466" cy="4402181"/>
          </a:xfrm>
          <a:prstGeom prst="line">
            <a:avLst/>
          </a:prstGeom>
          <a:ln w="38100"/>
        </p:spPr>
        <p:style>
          <a:lnRef idx="1">
            <a:schemeClr val="dk1"/>
          </a:lnRef>
          <a:fillRef idx="0">
            <a:schemeClr val="dk1"/>
          </a:fillRef>
          <a:effectRef idx="0">
            <a:schemeClr val="dk1"/>
          </a:effectRef>
          <a:fontRef idx="minor">
            <a:schemeClr val="tx1"/>
          </a:fontRef>
        </p:style>
      </p:cxnSp>
      <p:sp>
        <p:nvSpPr>
          <p:cNvPr id="11" name="矩形 10"/>
          <p:cNvSpPr/>
          <p:nvPr/>
        </p:nvSpPr>
        <p:spPr>
          <a:xfrm>
            <a:off x="8117522" y="1460866"/>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 name="直接连接符 12"/>
          <p:cNvCxnSpPr/>
          <p:nvPr/>
        </p:nvCxnSpPr>
        <p:spPr>
          <a:xfrm>
            <a:off x="8138160" y="2181497"/>
            <a:ext cx="901337"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8138160" y="2756263"/>
            <a:ext cx="914400" cy="0"/>
          </a:xfrm>
          <a:prstGeom prst="line">
            <a:avLst/>
          </a:prstGeom>
          <a:ln/>
        </p:spPr>
        <p:style>
          <a:lnRef idx="2">
            <a:schemeClr val="dk1"/>
          </a:lnRef>
          <a:fillRef idx="0">
            <a:schemeClr val="dk1"/>
          </a:fillRef>
          <a:effectRef idx="1">
            <a:schemeClr val="dk1"/>
          </a:effectRef>
          <a:fontRef idx="minor">
            <a:schemeClr val="tx1"/>
          </a:fontRef>
        </p:style>
      </p:cxnSp>
      <p:sp>
        <p:nvSpPr>
          <p:cNvPr id="20" name="文本框 19"/>
          <p:cNvSpPr txBox="1"/>
          <p:nvPr/>
        </p:nvSpPr>
        <p:spPr>
          <a:xfrm>
            <a:off x="7511144" y="1319349"/>
            <a:ext cx="522514" cy="523220"/>
          </a:xfrm>
          <a:prstGeom prst="rect">
            <a:avLst/>
          </a:prstGeom>
          <a:noFill/>
        </p:spPr>
        <p:txBody>
          <a:bodyPr wrap="square" rtlCol="0">
            <a:spAutoFit/>
          </a:bodyPr>
          <a:lstStyle/>
          <a:p>
            <a:r>
              <a:rPr lang="en-US" altLang="zh-CN" sz="2800" dirty="0">
                <a:solidFill>
                  <a:srgbClr val="FF0000"/>
                </a:solidFill>
              </a:rPr>
              <a:t>d</a:t>
            </a:r>
            <a:endParaRPr lang="zh-CN" altLang="en-US" sz="2800" dirty="0" err="1">
              <a:solidFill>
                <a:srgbClr val="FF0000"/>
              </a:solidFill>
            </a:endParaRPr>
          </a:p>
        </p:txBody>
      </p:sp>
      <p:sp>
        <p:nvSpPr>
          <p:cNvPr id="21" name="矩形 20"/>
          <p:cNvSpPr/>
          <p:nvPr/>
        </p:nvSpPr>
        <p:spPr>
          <a:xfrm>
            <a:off x="10699044" y="1627392"/>
            <a:ext cx="875212" cy="561703"/>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281034" y="1254034"/>
            <a:ext cx="653143" cy="540580"/>
          </a:xfrm>
          <a:prstGeom prst="rect">
            <a:avLst/>
          </a:prstGeom>
          <a:noFill/>
        </p:spPr>
        <p:txBody>
          <a:bodyPr wrap="square" rtlCol="0">
            <a:spAutoFit/>
          </a:bodyPr>
          <a:lstStyle/>
          <a:p>
            <a:r>
              <a:rPr lang="en-US" altLang="zh-CN" sz="2800" dirty="0"/>
              <a:t>p</a:t>
            </a:r>
            <a:endParaRPr lang="zh-CN" altLang="en-US" sz="2800" dirty="0" err="1"/>
          </a:p>
        </p:txBody>
      </p:sp>
      <p:sp>
        <p:nvSpPr>
          <p:cNvPr id="26" name="Rectangle 2"/>
          <p:cNvSpPr txBox="1">
            <a:spLocks noRot="1" noChangeArrowheads="1"/>
          </p:cNvSpPr>
          <p:nvPr/>
        </p:nvSpPr>
        <p:spPr>
          <a:xfrm>
            <a:off x="6323532" y="3440252"/>
            <a:ext cx="5390654" cy="7796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chemeClr val="accent1"/>
                </a:solidFill>
                <a:latin typeface="华文楷体" panose="02010600040101010101" pitchFamily="2" charset="-122"/>
                <a:ea typeface="华文楷体" panose="02010600040101010101" pitchFamily="2" charset="-122"/>
              </a:rPr>
              <a:t>也称：类，对象，指针</a:t>
            </a:r>
          </a:p>
        </p:txBody>
      </p:sp>
      <p:cxnSp>
        <p:nvCxnSpPr>
          <p:cNvPr id="14" name="直接连接符 13"/>
          <p:cNvCxnSpPr/>
          <p:nvPr/>
        </p:nvCxnSpPr>
        <p:spPr>
          <a:xfrm>
            <a:off x="783771" y="3622393"/>
            <a:ext cx="2677886" cy="8808"/>
          </a:xfrm>
          <a:prstGeom prst="line">
            <a:avLst/>
          </a:prstGeom>
          <a:ln w="38100"/>
        </p:spPr>
        <p:style>
          <a:lnRef idx="1">
            <a:schemeClr val="dk1"/>
          </a:lnRef>
          <a:fillRef idx="0">
            <a:schemeClr val="dk1"/>
          </a:fillRef>
          <a:effectRef idx="0">
            <a:schemeClr val="dk1"/>
          </a:effectRef>
          <a:fontRef idx="minor">
            <a:schemeClr val="tx1"/>
          </a:fontRef>
        </p:style>
      </p:cxnSp>
      <p:sp>
        <p:nvSpPr>
          <p:cNvPr id="16" name="文本框 15"/>
          <p:cNvSpPr txBox="1"/>
          <p:nvPr/>
        </p:nvSpPr>
        <p:spPr>
          <a:xfrm>
            <a:off x="808210" y="1434037"/>
            <a:ext cx="2743200" cy="2246769"/>
          </a:xfrm>
          <a:prstGeom prst="rect">
            <a:avLst/>
          </a:prstGeom>
          <a:noFill/>
        </p:spPr>
        <p:txBody>
          <a:bodyPr wrap="square" rtlCol="0">
            <a:spAutoFit/>
          </a:bodyPr>
          <a:lstStyle/>
          <a:p>
            <a:r>
              <a:rPr lang="en-US" altLang="zh-CN" sz="2800" dirty="0" err="1">
                <a:latin typeface="Times New Roman" panose="02020603050405020304" pitchFamily="18" charset="0"/>
                <a:cs typeface="Times New Roman" panose="02020603050405020304" pitchFamily="18" charset="0"/>
              </a:rPr>
              <a:t>struct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sp>
        <p:nvSpPr>
          <p:cNvPr id="17" name="矩形 16"/>
          <p:cNvSpPr/>
          <p:nvPr/>
        </p:nvSpPr>
        <p:spPr>
          <a:xfrm>
            <a:off x="8290560" y="4619905"/>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文本框 18"/>
          <p:cNvSpPr txBox="1"/>
          <p:nvPr/>
        </p:nvSpPr>
        <p:spPr>
          <a:xfrm>
            <a:off x="7663544" y="4228018"/>
            <a:ext cx="522514" cy="523220"/>
          </a:xfrm>
          <a:prstGeom prst="rect">
            <a:avLst/>
          </a:prstGeom>
          <a:noFill/>
        </p:spPr>
        <p:txBody>
          <a:bodyPr wrap="square" rtlCol="0">
            <a:spAutoFit/>
          </a:bodyPr>
          <a:lstStyle/>
          <a:p>
            <a:r>
              <a:rPr lang="en-US" altLang="zh-CN" sz="2800" dirty="0"/>
              <a:t>d</a:t>
            </a:r>
            <a:endParaRPr lang="zh-CN" altLang="en-US" sz="2800" dirty="0" err="1"/>
          </a:p>
        </p:txBody>
      </p:sp>
      <p:sp>
        <p:nvSpPr>
          <p:cNvPr id="23" name="文本框 22"/>
          <p:cNvSpPr txBox="1"/>
          <p:nvPr/>
        </p:nvSpPr>
        <p:spPr>
          <a:xfrm>
            <a:off x="9833878" y="4126845"/>
            <a:ext cx="653143" cy="540580"/>
          </a:xfrm>
          <a:prstGeom prst="rect">
            <a:avLst/>
          </a:prstGeom>
          <a:noFill/>
        </p:spPr>
        <p:txBody>
          <a:bodyPr wrap="square" rtlCol="0">
            <a:spAutoFit/>
          </a:bodyPr>
          <a:lstStyle/>
          <a:p>
            <a:r>
              <a:rPr lang="en-US" altLang="zh-CN" sz="2800" dirty="0"/>
              <a:t>p</a:t>
            </a:r>
            <a:endParaRPr lang="zh-CN" altLang="en-US" sz="2800" dirty="0" err="1"/>
          </a:p>
        </p:txBody>
      </p:sp>
      <p:cxnSp>
        <p:nvCxnSpPr>
          <p:cNvPr id="7" name="直接箭头连接符 6"/>
          <p:cNvCxnSpPr/>
          <p:nvPr/>
        </p:nvCxnSpPr>
        <p:spPr>
          <a:xfrm flipH="1" flipV="1">
            <a:off x="9191897" y="4921055"/>
            <a:ext cx="796750" cy="21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290560" y="5215330"/>
            <a:ext cx="9013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290560" y="5839097"/>
            <a:ext cx="901337"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9064684" y="1760983"/>
            <a:ext cx="1168466" cy="1384995"/>
          </a:xfrm>
          <a:prstGeom prst="rect">
            <a:avLst/>
          </a:prstGeom>
          <a:noFill/>
        </p:spPr>
        <p:txBody>
          <a:bodyPr wrap="square" rtlCol="0">
            <a:spAutoFit/>
          </a:bodyPr>
          <a:lstStyle/>
          <a:p>
            <a:r>
              <a:rPr lang="en-US" altLang="zh-CN" sz="2800" dirty="0"/>
              <a:t>Year</a:t>
            </a:r>
          </a:p>
          <a:p>
            <a:r>
              <a:rPr lang="en-US" altLang="zh-CN" sz="2800" dirty="0"/>
              <a:t>Month</a:t>
            </a:r>
          </a:p>
          <a:p>
            <a:r>
              <a:rPr lang="en-US" altLang="zh-CN" sz="2800" dirty="0"/>
              <a:t>day</a:t>
            </a:r>
            <a:endParaRPr lang="zh-CN" altLang="en-US" sz="2800" dirty="0"/>
          </a:p>
        </p:txBody>
      </p:sp>
      <p:sp>
        <p:nvSpPr>
          <p:cNvPr id="24" name="矩形 23"/>
          <p:cNvSpPr/>
          <p:nvPr/>
        </p:nvSpPr>
        <p:spPr>
          <a:xfrm>
            <a:off x="9551041" y="4661775"/>
            <a:ext cx="875212" cy="561703"/>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9437394" y="5665310"/>
            <a:ext cx="2754606" cy="830997"/>
          </a:xfrm>
          <a:prstGeom prst="rect">
            <a:avLst/>
          </a:prstGeom>
          <a:noFill/>
        </p:spPr>
        <p:txBody>
          <a:bodyPr wrap="square" rtlCol="0">
            <a:spAutoFit/>
          </a:bodyPr>
          <a:lstStyle/>
          <a:p>
            <a:r>
              <a:rPr lang="zh-CN" altLang="en-US" sz="2400" b="1" dirty="0">
                <a:solidFill>
                  <a:schemeClr val="accent1"/>
                </a:solidFill>
              </a:rPr>
              <a:t>考虑：</a:t>
            </a:r>
            <a:endParaRPr lang="en-US" altLang="zh-CN" sz="2400" b="1" dirty="0">
              <a:solidFill>
                <a:schemeClr val="accent1"/>
              </a:solidFill>
            </a:endParaRPr>
          </a:p>
          <a:p>
            <a:r>
              <a:rPr lang="en-US" altLang="zh-CN" sz="2400" b="1" dirty="0">
                <a:solidFill>
                  <a:schemeClr val="accent1"/>
                </a:solidFill>
              </a:rPr>
              <a:t>d</a:t>
            </a:r>
            <a:r>
              <a:rPr lang="zh-CN" altLang="en-US" sz="2400" b="1" dirty="0">
                <a:solidFill>
                  <a:schemeClr val="accent1"/>
                </a:solidFill>
              </a:rPr>
              <a:t>、</a:t>
            </a:r>
            <a:r>
              <a:rPr lang="en-US" altLang="zh-CN" sz="2400" b="1" dirty="0">
                <a:solidFill>
                  <a:schemeClr val="accent1"/>
                </a:solidFill>
              </a:rPr>
              <a:t>p</a:t>
            </a:r>
            <a:r>
              <a:rPr lang="zh-CN" altLang="en-US" sz="2400" b="1" dirty="0">
                <a:solidFill>
                  <a:schemeClr val="accent1"/>
                </a:solidFill>
              </a:rPr>
              <a:t>空间如何释放</a:t>
            </a:r>
          </a:p>
        </p:txBody>
      </p:sp>
    </p:spTree>
    <p:extLst>
      <p:ext uri="{BB962C8B-B14F-4D97-AF65-F5344CB8AC3E}">
        <p14:creationId xmlns:p14="http://schemas.microsoft.com/office/powerpoint/2010/main" val="12356684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4"/>
          <p:cNvSpPr>
            <a:spLocks noGrp="1"/>
          </p:cNvSpPr>
          <p:nvPr>
            <p:ph type="sldNum" sz="quarter" idx="12"/>
          </p:nvPr>
        </p:nvSpPr>
        <p:spPr>
          <a:xfrm>
            <a:off x="4648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fld id="{A79AFBCB-B9CF-4446-B09D-D2A2760E6828}" type="slidenum">
              <a:rPr kumimoji="0" lang="en-US" altLang="zh-CN" sz="1200">
                <a:latin typeface="Arial" panose="020B0604020202020204" pitchFamily="34" charset="0"/>
              </a:rPr>
              <a:pPr algn="ctr">
                <a:spcBef>
                  <a:spcPct val="0"/>
                </a:spcBef>
                <a:buFontTx/>
                <a:buNone/>
              </a:pPr>
              <a:t>41</a:t>
            </a:fld>
            <a:endParaRPr kumimoji="0" lang="en-US" altLang="zh-CN" sz="1200">
              <a:latin typeface="Arial" panose="020B0604020202020204" pitchFamily="34" charset="0"/>
            </a:endParaRPr>
          </a:p>
        </p:txBody>
      </p:sp>
      <p:sp>
        <p:nvSpPr>
          <p:cNvPr id="2" name="文本框 1"/>
          <p:cNvSpPr txBox="1"/>
          <p:nvPr/>
        </p:nvSpPr>
        <p:spPr>
          <a:xfrm>
            <a:off x="949188" y="3570744"/>
            <a:ext cx="2743200" cy="2677656"/>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class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public:</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sp>
        <p:nvSpPr>
          <p:cNvPr id="3" name="文本框 2"/>
          <p:cNvSpPr txBox="1"/>
          <p:nvPr/>
        </p:nvSpPr>
        <p:spPr>
          <a:xfrm>
            <a:off x="3686053" y="1340640"/>
            <a:ext cx="4964986" cy="5262979"/>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r>
              <a:rPr lang="en-US" altLang="zh-CN" sz="2800" dirty="0">
                <a:latin typeface="Times New Roman" panose="02020603050405020304" pitchFamily="18" charset="0"/>
                <a:cs typeface="Times New Roman" panose="02020603050405020304" pitchFamily="18" charset="0"/>
              </a:rPr>
              <a:t>  d, *p;</a:t>
            </a:r>
          </a:p>
          <a:p>
            <a:r>
              <a:rPr lang="en-US" altLang="zh-CN" sz="2800" dirty="0">
                <a:latin typeface="Times New Roman" panose="02020603050405020304" pitchFamily="18" charset="0"/>
                <a:cs typeface="Times New Roman" panose="02020603050405020304" pitchFamily="18" charset="0"/>
              </a:rPr>
              <a:t>    p = new </a:t>
            </a:r>
            <a:r>
              <a:rPr lang="en-US" altLang="zh-CN" sz="2800" dirty="0" err="1">
                <a:latin typeface="Times New Roman" panose="02020603050405020304" pitchFamily="18" charset="0"/>
                <a:cs typeface="Times New Roman" panose="02020603050405020304" pitchFamily="18" charset="0"/>
              </a:rPr>
              <a:t>dataT</a:t>
            </a:r>
            <a:r>
              <a:rPr lang="en-US" altLang="zh-CN" sz="2800" dirty="0">
                <a:latin typeface="Times New Roman" panose="02020603050405020304" pitchFamily="18" charset="0"/>
                <a:cs typeface="Times New Roman" panose="02020603050405020304" pitchFamily="18" charset="0"/>
              </a:rPr>
              <a:t>;</a:t>
            </a:r>
          </a:p>
          <a:p>
            <a:r>
              <a:rPr lang="en-US" altLang="zh-CN" sz="2800" dirty="0">
                <a:latin typeface="Times New Roman" panose="02020603050405020304" pitchFamily="18" charset="0"/>
                <a:cs typeface="Times New Roman" panose="02020603050405020304" pitchFamily="18" charset="0"/>
              </a:rPr>
              <a:t>    </a:t>
            </a:r>
          </a:p>
          <a:p>
            <a:r>
              <a:rPr lang="en-US" altLang="zh-CN" sz="2800" dirty="0">
                <a:latin typeface="Times New Roman" panose="02020603050405020304" pitchFamily="18" charset="0"/>
                <a:cs typeface="Times New Roman" panose="02020603050405020304" pitchFamily="18" charset="0"/>
              </a:rPr>
              <a:t>    p-&gt;year = 1010;</a:t>
            </a:r>
          </a:p>
          <a:p>
            <a:r>
              <a:rPr lang="en-US" altLang="zh-CN" sz="2800" dirty="0">
                <a:latin typeface="Times New Roman" panose="02020603050405020304" pitchFamily="18" charset="0"/>
                <a:cs typeface="Times New Roman" panose="02020603050405020304" pitchFamily="18" charset="0"/>
              </a:rPr>
              <a:t>    p-&gt;month = 1;</a:t>
            </a:r>
          </a:p>
          <a:p>
            <a:r>
              <a:rPr lang="en-US" altLang="zh-CN" sz="2800" dirty="0">
                <a:latin typeface="Times New Roman" panose="02020603050405020304" pitchFamily="18" charset="0"/>
                <a:cs typeface="Times New Roman" panose="02020603050405020304" pitchFamily="18" charset="0"/>
              </a:rPr>
              <a:t>    p-&gt;day = 1;</a:t>
            </a:r>
          </a:p>
          <a:p>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delete p; </a:t>
            </a:r>
          </a:p>
          <a:p>
            <a:r>
              <a:rPr lang="en-US" altLang="zh-CN" sz="2800" dirty="0">
                <a:latin typeface="Times New Roman" panose="02020603050405020304" pitchFamily="18" charset="0"/>
                <a:cs typeface="Times New Roman" panose="02020603050405020304" pitchFamily="18" charset="0"/>
              </a:rPr>
              <a:t>    p-&gt;year = 2021; //</a:t>
            </a:r>
            <a:r>
              <a:rPr lang="zh-CN" altLang="en-US" sz="2800" dirty="0">
                <a:latin typeface="Times New Roman" panose="02020603050405020304" pitchFamily="18" charset="0"/>
                <a:cs typeface="Times New Roman" panose="02020603050405020304" pitchFamily="18" charset="0"/>
              </a:rPr>
              <a:t>非法</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 = &amp;d;  //</a:t>
            </a:r>
            <a:r>
              <a:rPr lang="zh-CN" altLang="en-US" sz="2800" dirty="0">
                <a:latin typeface="Times New Roman" panose="02020603050405020304" pitchFamily="18" charset="0"/>
                <a:cs typeface="Times New Roman" panose="02020603050405020304" pitchFamily="18" charset="0"/>
              </a:rPr>
              <a:t>合法</a:t>
            </a:r>
            <a:endParaRPr lang="en-US" altLang="zh-CN" sz="2800" dirty="0">
              <a:latin typeface="Times New Roman" panose="02020603050405020304" pitchFamily="18" charset="0"/>
              <a:cs typeface="Times New Roman" panose="02020603050405020304" pitchFamily="18" charset="0"/>
            </a:endParaRPr>
          </a:p>
          <a:p>
            <a:r>
              <a:rPr lang="en-US" altLang="zh-CN" sz="2800" b="1" dirty="0">
                <a:latin typeface="Times New Roman" panose="02020603050405020304" pitchFamily="18" charset="0"/>
                <a:cs typeface="Times New Roman" panose="02020603050405020304" pitchFamily="18" charset="0"/>
              </a:rPr>
              <a:t>}</a:t>
            </a:r>
          </a:p>
        </p:txBody>
      </p:sp>
      <p:sp>
        <p:nvSpPr>
          <p:cNvPr id="7" name="文本框 6"/>
          <p:cNvSpPr txBox="1"/>
          <p:nvPr/>
        </p:nvSpPr>
        <p:spPr>
          <a:xfrm>
            <a:off x="949188" y="1271394"/>
            <a:ext cx="2743200" cy="2246769"/>
          </a:xfrm>
          <a:prstGeom prst="rect">
            <a:avLst/>
          </a:prstGeom>
          <a:noFill/>
        </p:spPr>
        <p:txBody>
          <a:bodyPr wrap="square" rtlCol="0">
            <a:spAutoFit/>
          </a:bodyPr>
          <a:lstStyle/>
          <a:p>
            <a:r>
              <a:rPr lang="en-US" altLang="zh-CN" sz="2800" dirty="0" err="1">
                <a:latin typeface="Times New Roman" panose="02020603050405020304" pitchFamily="18" charset="0"/>
                <a:cs typeface="Times New Roman" panose="02020603050405020304" pitchFamily="18" charset="0"/>
              </a:rPr>
              <a:t>struct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dateT</a:t>
            </a:r>
            <a:endParaRPr lang="en-US"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year;</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month;</a:t>
            </a: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day;</a:t>
            </a:r>
          </a:p>
          <a:p>
            <a:r>
              <a:rPr lang="en-US" altLang="zh-CN" sz="2800" dirty="0">
                <a:latin typeface="Times New Roman" panose="02020603050405020304" pitchFamily="18" charset="0"/>
                <a:cs typeface="Times New Roman" panose="02020603050405020304" pitchFamily="18" charset="0"/>
              </a:rPr>
              <a:t>};</a:t>
            </a:r>
            <a:endParaRPr lang="zh-CN" altLang="en-US" sz="2800" dirty="0" err="1">
              <a:latin typeface="Times New Roman" panose="02020603050405020304" pitchFamily="18" charset="0"/>
              <a:cs typeface="Times New Roman" panose="02020603050405020304" pitchFamily="18" charset="0"/>
            </a:endParaRPr>
          </a:p>
        </p:txBody>
      </p:sp>
      <p:cxnSp>
        <p:nvCxnSpPr>
          <p:cNvPr id="6" name="直接连接符 5"/>
          <p:cNvCxnSpPr/>
          <p:nvPr/>
        </p:nvCxnSpPr>
        <p:spPr>
          <a:xfrm>
            <a:off x="783771" y="3561936"/>
            <a:ext cx="2677886" cy="8808"/>
          </a:xfrm>
          <a:prstGeom prst="line">
            <a:avLst/>
          </a:prstGeom>
          <a:ln w="3810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3444191" y="1240973"/>
            <a:ext cx="0" cy="4820194"/>
          </a:xfrm>
          <a:prstGeom prst="line">
            <a:avLst/>
          </a:prstGeom>
          <a:ln w="38100"/>
        </p:spPr>
        <p:style>
          <a:lnRef idx="1">
            <a:schemeClr val="dk1"/>
          </a:lnRef>
          <a:fillRef idx="0">
            <a:schemeClr val="dk1"/>
          </a:fillRef>
          <a:effectRef idx="0">
            <a:schemeClr val="dk1"/>
          </a:effectRef>
          <a:fontRef idx="minor">
            <a:schemeClr val="tx1"/>
          </a:fontRef>
        </p:style>
      </p:cxnSp>
      <p:sp>
        <p:nvSpPr>
          <p:cNvPr id="11" name="矩形 10"/>
          <p:cNvSpPr/>
          <p:nvPr/>
        </p:nvSpPr>
        <p:spPr>
          <a:xfrm>
            <a:off x="8138160" y="1619794"/>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 name="直接连接符 12"/>
          <p:cNvCxnSpPr/>
          <p:nvPr/>
        </p:nvCxnSpPr>
        <p:spPr>
          <a:xfrm>
            <a:off x="8138160" y="2181497"/>
            <a:ext cx="901337"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8138160" y="2756263"/>
            <a:ext cx="914400" cy="0"/>
          </a:xfrm>
          <a:prstGeom prst="line">
            <a:avLst/>
          </a:prstGeom>
          <a:ln/>
        </p:spPr>
        <p:style>
          <a:lnRef idx="2">
            <a:schemeClr val="dk1"/>
          </a:lnRef>
          <a:fillRef idx="0">
            <a:schemeClr val="dk1"/>
          </a:fillRef>
          <a:effectRef idx="1">
            <a:schemeClr val="dk1"/>
          </a:effectRef>
          <a:fontRef idx="minor">
            <a:schemeClr val="tx1"/>
          </a:fontRef>
        </p:style>
      </p:cxnSp>
      <p:sp>
        <p:nvSpPr>
          <p:cNvPr id="20" name="文本框 19"/>
          <p:cNvSpPr txBox="1"/>
          <p:nvPr/>
        </p:nvSpPr>
        <p:spPr>
          <a:xfrm>
            <a:off x="7543800" y="1361333"/>
            <a:ext cx="489857" cy="523220"/>
          </a:xfrm>
          <a:prstGeom prst="rect">
            <a:avLst/>
          </a:prstGeom>
          <a:noFill/>
        </p:spPr>
        <p:txBody>
          <a:bodyPr wrap="square" rtlCol="0">
            <a:spAutoFit/>
          </a:bodyPr>
          <a:lstStyle/>
          <a:p>
            <a:r>
              <a:rPr lang="en-US" altLang="zh-CN" sz="2800" dirty="0"/>
              <a:t>d</a:t>
            </a:r>
            <a:endParaRPr lang="zh-CN" altLang="en-US" sz="2800" dirty="0" err="1"/>
          </a:p>
        </p:txBody>
      </p:sp>
      <p:sp>
        <p:nvSpPr>
          <p:cNvPr id="21" name="矩形 20"/>
          <p:cNvSpPr/>
          <p:nvPr/>
        </p:nvSpPr>
        <p:spPr>
          <a:xfrm>
            <a:off x="10480388" y="1627392"/>
            <a:ext cx="875212" cy="561703"/>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1473166" y="1271394"/>
            <a:ext cx="613954" cy="523220"/>
          </a:xfrm>
          <a:prstGeom prst="rect">
            <a:avLst/>
          </a:prstGeom>
          <a:noFill/>
        </p:spPr>
        <p:txBody>
          <a:bodyPr wrap="square" rtlCol="0">
            <a:spAutoFit/>
          </a:bodyPr>
          <a:lstStyle/>
          <a:p>
            <a:r>
              <a:rPr lang="en-US" altLang="zh-CN" sz="2800" dirty="0"/>
              <a:t>p</a:t>
            </a:r>
            <a:endParaRPr lang="zh-CN" altLang="en-US" sz="2800" dirty="0" err="1"/>
          </a:p>
        </p:txBody>
      </p:sp>
      <p:sp>
        <p:nvSpPr>
          <p:cNvPr id="16" name="矩形 15"/>
          <p:cNvSpPr/>
          <p:nvPr/>
        </p:nvSpPr>
        <p:spPr>
          <a:xfrm>
            <a:off x="10489098" y="3313612"/>
            <a:ext cx="901337" cy="1724297"/>
          </a:xfrm>
          <a:prstGeom prst="rect">
            <a:avLst/>
          </a:prstGeom>
          <a:no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7" name="直接连接符 16"/>
          <p:cNvCxnSpPr/>
          <p:nvPr/>
        </p:nvCxnSpPr>
        <p:spPr>
          <a:xfrm>
            <a:off x="10489098" y="3875315"/>
            <a:ext cx="901337" cy="0"/>
          </a:xfrm>
          <a:prstGeom prst="line">
            <a:avLst/>
          </a:prstGeom>
          <a:ln/>
        </p:spPr>
        <p:style>
          <a:lnRef idx="2">
            <a:schemeClr val="dk1"/>
          </a:lnRef>
          <a:fillRef idx="0">
            <a:schemeClr val="dk1"/>
          </a:fillRef>
          <a:effectRef idx="1">
            <a:schemeClr val="dk1"/>
          </a:effectRef>
          <a:fontRef idx="minor">
            <a:schemeClr val="tx1"/>
          </a:fontRef>
        </p:style>
      </p:cxnSp>
      <p:cxnSp>
        <p:nvCxnSpPr>
          <p:cNvPr id="18" name="直接连接符 17"/>
          <p:cNvCxnSpPr/>
          <p:nvPr/>
        </p:nvCxnSpPr>
        <p:spPr>
          <a:xfrm>
            <a:off x="10489098" y="4450081"/>
            <a:ext cx="914400" cy="0"/>
          </a:xfrm>
          <a:prstGeom prst="line">
            <a:avLst/>
          </a:prstGeom>
          <a:ln/>
        </p:spPr>
        <p:style>
          <a:lnRef idx="2">
            <a:schemeClr val="dk1"/>
          </a:lnRef>
          <a:fillRef idx="0">
            <a:schemeClr val="dk1"/>
          </a:fillRef>
          <a:effectRef idx="1">
            <a:schemeClr val="dk1"/>
          </a:effectRef>
          <a:fontRef idx="minor">
            <a:schemeClr val="tx1"/>
          </a:fontRef>
        </p:style>
      </p:cxnSp>
      <p:cxnSp>
        <p:nvCxnSpPr>
          <p:cNvPr id="5" name="直接箭头连接符 4"/>
          <p:cNvCxnSpPr/>
          <p:nvPr/>
        </p:nvCxnSpPr>
        <p:spPr>
          <a:xfrm>
            <a:off x="10898400" y="2050869"/>
            <a:ext cx="13063" cy="1136468"/>
          </a:xfrm>
          <a:prstGeom prst="straightConnector1">
            <a:avLst/>
          </a:prstGeom>
          <a:ln w="28575">
            <a:solidFill>
              <a:srgbClr val="0070C0"/>
            </a:solidFill>
            <a:tailEnd type="triangle"/>
          </a:ln>
        </p:spPr>
        <p:style>
          <a:lnRef idx="1">
            <a:schemeClr val="accent5"/>
          </a:lnRef>
          <a:fillRef idx="0">
            <a:schemeClr val="accent5"/>
          </a:fillRef>
          <a:effectRef idx="0">
            <a:schemeClr val="accent5"/>
          </a:effectRef>
          <a:fontRef idx="minor">
            <a:schemeClr val="tx1"/>
          </a:fontRef>
        </p:style>
      </p:cxnSp>
      <p:sp>
        <p:nvSpPr>
          <p:cNvPr id="12" name="文本框 11"/>
          <p:cNvSpPr txBox="1"/>
          <p:nvPr/>
        </p:nvSpPr>
        <p:spPr>
          <a:xfrm>
            <a:off x="10371531" y="5164184"/>
            <a:ext cx="1288870" cy="523220"/>
          </a:xfrm>
          <a:prstGeom prst="rect">
            <a:avLst/>
          </a:prstGeom>
          <a:noFill/>
        </p:spPr>
        <p:txBody>
          <a:bodyPr wrap="square" rtlCol="0">
            <a:spAutoFit/>
          </a:bodyPr>
          <a:lstStyle/>
          <a:p>
            <a:r>
              <a:rPr lang="zh-CN" altLang="en-US" sz="2800" dirty="0"/>
              <a:t>无名氏</a:t>
            </a:r>
          </a:p>
        </p:txBody>
      </p:sp>
      <p:sp>
        <p:nvSpPr>
          <p:cNvPr id="19" name="文本框 18"/>
          <p:cNvSpPr txBox="1"/>
          <p:nvPr/>
        </p:nvSpPr>
        <p:spPr>
          <a:xfrm>
            <a:off x="9052560" y="1702280"/>
            <a:ext cx="1168466" cy="1384995"/>
          </a:xfrm>
          <a:prstGeom prst="rect">
            <a:avLst/>
          </a:prstGeom>
          <a:noFill/>
        </p:spPr>
        <p:txBody>
          <a:bodyPr wrap="square" rtlCol="0">
            <a:spAutoFit/>
          </a:bodyPr>
          <a:lstStyle/>
          <a:p>
            <a:r>
              <a:rPr lang="en-US" altLang="zh-CN" sz="2800" dirty="0"/>
              <a:t>Year</a:t>
            </a:r>
          </a:p>
          <a:p>
            <a:r>
              <a:rPr lang="en-US" altLang="zh-CN" sz="2800" dirty="0"/>
              <a:t>Month</a:t>
            </a:r>
          </a:p>
          <a:p>
            <a:r>
              <a:rPr lang="en-US" altLang="zh-CN" sz="2800" dirty="0"/>
              <a:t>day</a:t>
            </a:r>
            <a:endParaRPr lang="zh-CN" altLang="en-US" sz="2800" dirty="0"/>
          </a:p>
        </p:txBody>
      </p:sp>
      <p:sp>
        <p:nvSpPr>
          <p:cNvPr id="23" name="文本框 22"/>
          <p:cNvSpPr txBox="1"/>
          <p:nvPr/>
        </p:nvSpPr>
        <p:spPr>
          <a:xfrm>
            <a:off x="9307569" y="3515538"/>
            <a:ext cx="1168466" cy="1384995"/>
          </a:xfrm>
          <a:prstGeom prst="rect">
            <a:avLst/>
          </a:prstGeom>
          <a:noFill/>
        </p:spPr>
        <p:txBody>
          <a:bodyPr wrap="square" rtlCol="0">
            <a:spAutoFit/>
          </a:bodyPr>
          <a:lstStyle/>
          <a:p>
            <a:r>
              <a:rPr lang="en-US" altLang="zh-CN" sz="2800" dirty="0"/>
              <a:t>Year</a:t>
            </a:r>
          </a:p>
          <a:p>
            <a:r>
              <a:rPr lang="en-US" altLang="zh-CN" sz="2800" dirty="0"/>
              <a:t>Month</a:t>
            </a:r>
          </a:p>
          <a:p>
            <a:r>
              <a:rPr lang="en-US" altLang="zh-CN" sz="2800" dirty="0"/>
              <a:t>day</a:t>
            </a:r>
            <a:endParaRPr lang="zh-CN" altLang="en-US" sz="2800" dirty="0"/>
          </a:p>
        </p:txBody>
      </p:sp>
      <p:sp>
        <p:nvSpPr>
          <p:cNvPr id="24" name="文本框 23"/>
          <p:cNvSpPr txBox="1"/>
          <p:nvPr/>
        </p:nvSpPr>
        <p:spPr>
          <a:xfrm>
            <a:off x="8069332" y="5701301"/>
            <a:ext cx="4017787" cy="830997"/>
          </a:xfrm>
          <a:prstGeom prst="rect">
            <a:avLst/>
          </a:prstGeom>
          <a:noFill/>
        </p:spPr>
        <p:txBody>
          <a:bodyPr wrap="square" rtlCol="0">
            <a:spAutoFit/>
          </a:bodyPr>
          <a:lstStyle/>
          <a:p>
            <a:r>
              <a:rPr lang="zh-CN" altLang="en-US" sz="2400" b="1" dirty="0">
                <a:solidFill>
                  <a:schemeClr val="accent1"/>
                </a:solidFill>
              </a:rPr>
              <a:t>考虑：</a:t>
            </a:r>
            <a:endParaRPr lang="en-US" altLang="zh-CN" sz="2400" b="1" dirty="0">
              <a:solidFill>
                <a:schemeClr val="accent1"/>
              </a:solidFill>
            </a:endParaRPr>
          </a:p>
          <a:p>
            <a:r>
              <a:rPr lang="en-US" altLang="zh-CN" sz="2400" b="1" dirty="0">
                <a:solidFill>
                  <a:schemeClr val="accent1"/>
                </a:solidFill>
              </a:rPr>
              <a:t>d</a:t>
            </a:r>
            <a:r>
              <a:rPr lang="zh-CN" altLang="en-US" sz="2400" b="1" dirty="0">
                <a:solidFill>
                  <a:schemeClr val="accent1"/>
                </a:solidFill>
              </a:rPr>
              <a:t>、</a:t>
            </a:r>
            <a:r>
              <a:rPr lang="en-US" altLang="zh-CN" sz="2400" b="1" dirty="0">
                <a:solidFill>
                  <a:schemeClr val="accent1"/>
                </a:solidFill>
              </a:rPr>
              <a:t>p</a:t>
            </a:r>
            <a:r>
              <a:rPr lang="zh-CN" altLang="en-US" sz="2400" b="1" dirty="0">
                <a:solidFill>
                  <a:schemeClr val="accent1"/>
                </a:solidFill>
              </a:rPr>
              <a:t>、无名氏空间如何释放</a:t>
            </a:r>
          </a:p>
        </p:txBody>
      </p:sp>
    </p:spTree>
    <p:extLst>
      <p:ext uri="{BB962C8B-B14F-4D97-AF65-F5344CB8AC3E}">
        <p14:creationId xmlns:p14="http://schemas.microsoft.com/office/powerpoint/2010/main" val="5294547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Times New Roman" panose="02020603050405020304" pitchFamily="18" charset="0"/>
                <a:cs typeface="Times New Roman" panose="02020603050405020304" pitchFamily="18" charset="0"/>
              </a:rPr>
              <a:t>结点和链表：</a:t>
            </a:r>
          </a:p>
        </p:txBody>
      </p:sp>
      <p:sp>
        <p:nvSpPr>
          <p:cNvPr id="6" name="矩形 5"/>
          <p:cNvSpPr/>
          <p:nvPr/>
        </p:nvSpPr>
        <p:spPr>
          <a:xfrm>
            <a:off x="4691698" y="2324071"/>
            <a:ext cx="2926080" cy="61600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6150475" y="2311010"/>
            <a:ext cx="0" cy="616008"/>
          </a:xfrm>
          <a:prstGeom prst="line">
            <a:avLst/>
          </a:prstGeom>
        </p:spPr>
        <p:style>
          <a:lnRef idx="1">
            <a:schemeClr val="dk1"/>
          </a:lnRef>
          <a:fillRef idx="0">
            <a:schemeClr val="dk1"/>
          </a:fillRef>
          <a:effectRef idx="0">
            <a:schemeClr val="dk1"/>
          </a:effectRef>
          <a:fontRef idx="minor">
            <a:schemeClr val="tx1"/>
          </a:fontRef>
        </p:style>
      </p:cxnSp>
      <p:sp>
        <p:nvSpPr>
          <p:cNvPr id="10" name="文本框 9"/>
          <p:cNvSpPr txBox="1"/>
          <p:nvPr/>
        </p:nvSpPr>
        <p:spPr>
          <a:xfrm>
            <a:off x="3394075" y="2489650"/>
            <a:ext cx="1136469"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结点：</a:t>
            </a:r>
          </a:p>
        </p:txBody>
      </p:sp>
      <p:sp>
        <p:nvSpPr>
          <p:cNvPr id="12" name="文本框 11"/>
          <p:cNvSpPr txBox="1"/>
          <p:nvPr/>
        </p:nvSpPr>
        <p:spPr>
          <a:xfrm>
            <a:off x="4896441" y="3012870"/>
            <a:ext cx="2508068" cy="523220"/>
          </a:xfrm>
          <a:prstGeom prst="rect">
            <a:avLst/>
          </a:prstGeom>
          <a:noFill/>
        </p:spPr>
        <p:txBody>
          <a:bodyPr wrap="square" rtlCol="0">
            <a:spAutoFit/>
          </a:bodyPr>
          <a:lstStyle/>
          <a:p>
            <a:r>
              <a:rPr lang="en-US" altLang="zh-CN" sz="2800" dirty="0"/>
              <a:t>data          next</a:t>
            </a:r>
            <a:endParaRPr lang="zh-CN" altLang="en-US" sz="2800" dirty="0"/>
          </a:p>
        </p:txBody>
      </p:sp>
      <p:pic>
        <p:nvPicPr>
          <p:cNvPr id="13" name="图片 12"/>
          <p:cNvPicPr>
            <a:picLocks noChangeAspect="1"/>
          </p:cNvPicPr>
          <p:nvPr/>
        </p:nvPicPr>
        <p:blipFill>
          <a:blip r:embed="rId3"/>
          <a:stretch>
            <a:fillRect/>
          </a:stretch>
        </p:blipFill>
        <p:spPr>
          <a:xfrm>
            <a:off x="2952259" y="4174191"/>
            <a:ext cx="7376350" cy="916714"/>
          </a:xfrm>
          <a:prstGeom prst="rect">
            <a:avLst/>
          </a:prstGeom>
        </p:spPr>
      </p:pic>
      <p:sp>
        <p:nvSpPr>
          <p:cNvPr id="14" name="文本框 13"/>
          <p:cNvSpPr txBox="1"/>
          <p:nvPr/>
        </p:nvSpPr>
        <p:spPr>
          <a:xfrm>
            <a:off x="1643652" y="4370938"/>
            <a:ext cx="1162594"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链表：</a:t>
            </a:r>
          </a:p>
        </p:txBody>
      </p:sp>
      <p:sp>
        <p:nvSpPr>
          <p:cNvPr id="3" name="文本框 2"/>
          <p:cNvSpPr txBox="1"/>
          <p:nvPr/>
        </p:nvSpPr>
        <p:spPr>
          <a:xfrm>
            <a:off x="7983675" y="2274206"/>
            <a:ext cx="4000867" cy="523220"/>
          </a:xfrm>
          <a:prstGeom prst="rect">
            <a:avLst/>
          </a:prstGeom>
          <a:noFill/>
        </p:spPr>
        <p:txBody>
          <a:bodyPr wrap="square" rtlCol="0">
            <a:spAutoFit/>
          </a:bodyPr>
          <a:lstStyle/>
          <a:p>
            <a:r>
              <a:rPr lang="zh-CN" altLang="en-US" sz="2800" b="1" dirty="0">
                <a:solidFill>
                  <a:schemeClr val="accent1"/>
                </a:solidFill>
              </a:rPr>
              <a:t>结点：定义一个类模板</a:t>
            </a:r>
            <a:endParaRPr lang="en-US" altLang="zh-CN" sz="2800" b="1" dirty="0">
              <a:solidFill>
                <a:schemeClr val="accent1"/>
              </a:solidFill>
            </a:endParaRPr>
          </a:p>
        </p:txBody>
      </p:sp>
    </p:spTree>
    <p:extLst>
      <p:ext uri="{BB962C8B-B14F-4D97-AF65-F5344CB8AC3E}">
        <p14:creationId xmlns:p14="http://schemas.microsoft.com/office/powerpoint/2010/main" val="4033952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55568" y="1625275"/>
            <a:ext cx="11280864" cy="2866397"/>
          </a:xfrm>
        </p:spPr>
        <p:txBody>
          <a:bodyPr>
            <a:normAutofit lnSpcReduction="10000"/>
          </a:bodyPr>
          <a:lstStyle/>
          <a:p>
            <a:pPr>
              <a:buFont typeface="Wingdings" panose="05000000000000000000" pitchFamily="2" charset="2"/>
              <a:buChar char="Ø"/>
            </a:pPr>
            <a:r>
              <a:rPr lang="zh-CN" altLang="zh-CN" sz="2800" b="0" dirty="0">
                <a:latin typeface="华文楷体" pitchFamily="2" charset="-122"/>
                <a:ea typeface="华文楷体" pitchFamily="2" charset="-122"/>
              </a:rPr>
              <a:t>头指针</a:t>
            </a:r>
            <a:r>
              <a:rPr lang="en-US" altLang="zh-CN" sz="2800" b="0" dirty="0">
                <a:latin typeface="华文楷体" pitchFamily="2" charset="-122"/>
                <a:ea typeface="华文楷体" pitchFamily="2" charset="-122"/>
              </a:rPr>
              <a:t>head</a:t>
            </a:r>
            <a:r>
              <a:rPr lang="zh-CN" altLang="zh-CN" sz="2800" b="0" dirty="0">
                <a:latin typeface="华文楷体" pitchFamily="2" charset="-122"/>
                <a:ea typeface="华文楷体" pitchFamily="2" charset="-122"/>
              </a:rPr>
              <a:t>指向了头结点。</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highlight>
                  <a:srgbClr val="FFFF00"/>
                </a:highlight>
                <a:latin typeface="华文楷体" pitchFamily="2" charset="-122"/>
                <a:ea typeface="华文楷体" pitchFamily="2" charset="-122"/>
              </a:rPr>
              <a:t>头结点并不是线性表中的一部分</a:t>
            </a:r>
            <a:r>
              <a:rPr lang="zh-CN" altLang="zh-CN" sz="2800" b="0" dirty="0">
                <a:latin typeface="华文楷体" pitchFamily="2" charset="-122"/>
                <a:ea typeface="华文楷体" pitchFamily="2" charset="-122"/>
              </a:rPr>
              <a:t>，它的指针字段</a:t>
            </a:r>
            <a:r>
              <a:rPr lang="en-US" altLang="zh-CN" sz="2800" b="0" dirty="0">
                <a:latin typeface="华文楷体" pitchFamily="2" charset="-122"/>
                <a:ea typeface="华文楷体" pitchFamily="2" charset="-122"/>
              </a:rPr>
              <a:t>next</a:t>
            </a:r>
            <a:r>
              <a:rPr lang="zh-CN" altLang="zh-CN" sz="2800" b="0" dirty="0">
                <a:latin typeface="华文楷体" pitchFamily="2" charset="-122"/>
                <a:ea typeface="华文楷体" pitchFamily="2" charset="-122"/>
              </a:rPr>
              <a:t>给出了首结点的地址。</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线性表中最后一个结点的指针字段</a:t>
            </a:r>
            <a:r>
              <a:rPr lang="en-US" altLang="zh-CN" sz="2800" b="0" dirty="0">
                <a:latin typeface="华文楷体" pitchFamily="2" charset="-122"/>
                <a:ea typeface="华文楷体" pitchFamily="2" charset="-122"/>
              </a:rPr>
              <a:t>next</a:t>
            </a:r>
            <a:r>
              <a:rPr lang="zh-CN" altLang="zh-CN" sz="2800" b="0" dirty="0">
                <a:latin typeface="华文楷体" pitchFamily="2" charset="-122"/>
                <a:ea typeface="华文楷体" pitchFamily="2" charset="-122"/>
              </a:rPr>
              <a:t>的值为</a:t>
            </a:r>
            <a:r>
              <a:rPr lang="en-US" altLang="zh-CN" sz="2800" b="0" dirty="0">
                <a:latin typeface="华文楷体" pitchFamily="2" charset="-122"/>
                <a:ea typeface="华文楷体" pitchFamily="2" charset="-122"/>
              </a:rPr>
              <a:t>NULL</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顺着头指针</a:t>
            </a:r>
            <a:r>
              <a:rPr lang="en-US" altLang="zh-CN" sz="2800" b="0" dirty="0">
                <a:latin typeface="华文楷体" pitchFamily="2" charset="-122"/>
                <a:ea typeface="华文楷体" pitchFamily="2" charset="-122"/>
              </a:rPr>
              <a:t>head</a:t>
            </a:r>
            <a:r>
              <a:rPr lang="zh-CN" altLang="zh-CN" sz="2800" b="0" dirty="0">
                <a:latin typeface="华文楷体" pitchFamily="2" charset="-122"/>
                <a:ea typeface="华文楷体" pitchFamily="2" charset="-122"/>
              </a:rPr>
              <a:t>，可以很方便地逐个访问单链表中的所有结点</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单链表特点：</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5" name="Line 797"/>
          <p:cNvCxnSpPr>
            <a:cxnSpLocks noChangeShapeType="1"/>
          </p:cNvCxnSpPr>
          <p:nvPr/>
        </p:nvCxnSpPr>
        <p:spPr bwMode="auto">
          <a:xfrm>
            <a:off x="1371600" y="832421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pic>
        <p:nvPicPr>
          <p:cNvPr id="6" name="图片 5"/>
          <p:cNvPicPr>
            <a:picLocks noChangeAspect="1"/>
          </p:cNvPicPr>
          <p:nvPr/>
        </p:nvPicPr>
        <p:blipFill>
          <a:blip r:embed="rId3"/>
          <a:stretch>
            <a:fillRect/>
          </a:stretch>
        </p:blipFill>
        <p:spPr>
          <a:xfrm>
            <a:off x="809951" y="4788618"/>
            <a:ext cx="7376350" cy="916714"/>
          </a:xfrm>
          <a:prstGeom prst="rect">
            <a:avLst/>
          </a:prstGeom>
        </p:spPr>
      </p:pic>
      <p:sp>
        <p:nvSpPr>
          <p:cNvPr id="3" name="文本框 2"/>
          <p:cNvSpPr txBox="1"/>
          <p:nvPr/>
        </p:nvSpPr>
        <p:spPr>
          <a:xfrm>
            <a:off x="1967948" y="5771445"/>
            <a:ext cx="1152939" cy="461665"/>
          </a:xfrm>
          <a:prstGeom prst="rect">
            <a:avLst/>
          </a:prstGeom>
          <a:noFill/>
        </p:spPr>
        <p:txBody>
          <a:bodyPr wrap="square" rtlCol="0">
            <a:spAutoFit/>
          </a:bodyPr>
          <a:lstStyle/>
          <a:p>
            <a:r>
              <a:rPr lang="zh-CN" altLang="en-US" sz="2400" b="1" dirty="0">
                <a:solidFill>
                  <a:schemeClr val="accent1"/>
                </a:solidFill>
              </a:rPr>
              <a:t>头结点</a:t>
            </a:r>
          </a:p>
        </p:txBody>
      </p:sp>
      <p:sp>
        <p:nvSpPr>
          <p:cNvPr id="4" name="文本框 3"/>
          <p:cNvSpPr txBox="1"/>
          <p:nvPr/>
        </p:nvSpPr>
        <p:spPr>
          <a:xfrm>
            <a:off x="3399182" y="5771445"/>
            <a:ext cx="1451113" cy="461665"/>
          </a:xfrm>
          <a:prstGeom prst="rect">
            <a:avLst/>
          </a:prstGeom>
          <a:noFill/>
        </p:spPr>
        <p:txBody>
          <a:bodyPr wrap="square" rtlCol="0">
            <a:spAutoFit/>
          </a:bodyPr>
          <a:lstStyle/>
          <a:p>
            <a:r>
              <a:rPr lang="zh-CN" altLang="en-US" sz="2400" b="1" dirty="0">
                <a:solidFill>
                  <a:schemeClr val="accent1"/>
                </a:solidFill>
              </a:rPr>
              <a:t>首结点</a:t>
            </a:r>
          </a:p>
        </p:txBody>
      </p:sp>
      <p:sp>
        <p:nvSpPr>
          <p:cNvPr id="7" name="文本框 6"/>
          <p:cNvSpPr txBox="1"/>
          <p:nvPr/>
        </p:nvSpPr>
        <p:spPr>
          <a:xfrm>
            <a:off x="809951" y="5771444"/>
            <a:ext cx="1371600" cy="461665"/>
          </a:xfrm>
          <a:prstGeom prst="rect">
            <a:avLst/>
          </a:prstGeom>
          <a:noFill/>
        </p:spPr>
        <p:txBody>
          <a:bodyPr wrap="square" rtlCol="0">
            <a:spAutoFit/>
          </a:bodyPr>
          <a:lstStyle/>
          <a:p>
            <a:r>
              <a:rPr lang="zh-CN" altLang="en-US" sz="2400" b="1" dirty="0">
                <a:solidFill>
                  <a:schemeClr val="accent1"/>
                </a:solidFill>
              </a:rPr>
              <a:t>头指针</a:t>
            </a:r>
          </a:p>
        </p:txBody>
      </p:sp>
      <p:sp>
        <p:nvSpPr>
          <p:cNvPr id="8" name="文本框 7"/>
          <p:cNvSpPr txBox="1"/>
          <p:nvPr/>
        </p:nvSpPr>
        <p:spPr>
          <a:xfrm>
            <a:off x="6096000" y="5873021"/>
            <a:ext cx="6198830" cy="461665"/>
          </a:xfrm>
          <a:prstGeom prst="rect">
            <a:avLst/>
          </a:prstGeom>
          <a:noFill/>
        </p:spPr>
        <p:txBody>
          <a:bodyPr wrap="square" rtlCol="0">
            <a:spAutoFit/>
          </a:bodyPr>
          <a:lstStyle/>
          <a:p>
            <a:r>
              <a:rPr lang="zh-CN" altLang="en-US" sz="2400" b="1" dirty="0">
                <a:solidFill>
                  <a:schemeClr val="accent1"/>
                </a:solidFill>
              </a:rPr>
              <a:t>通常</a:t>
            </a:r>
            <a:r>
              <a:rPr lang="en-US" altLang="zh-CN" sz="2400" b="1" dirty="0">
                <a:solidFill>
                  <a:schemeClr val="accent1"/>
                </a:solidFill>
              </a:rPr>
              <a:t>Head</a:t>
            </a:r>
            <a:r>
              <a:rPr lang="zh-CN" altLang="en-US" sz="2400" b="1" dirty="0">
                <a:solidFill>
                  <a:schemeClr val="accent1"/>
                </a:solidFill>
              </a:rPr>
              <a:t>在无头结点的情况下仍叫头指针</a:t>
            </a:r>
          </a:p>
        </p:txBody>
      </p:sp>
    </p:spTree>
    <p:extLst>
      <p:ext uri="{BB962C8B-B14F-4D97-AF65-F5344CB8AC3E}">
        <p14:creationId xmlns:p14="http://schemas.microsoft.com/office/powerpoint/2010/main" val="2201404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45969"/>
            <a:ext cx="11280864" cy="2866397"/>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它的任何一个结点包含了一个存储元素</a:t>
            </a:r>
            <a:r>
              <a:rPr lang="zh-CN" altLang="zh-CN" sz="2800" dirty="0">
                <a:latin typeface="华文楷体" pitchFamily="2" charset="-122"/>
                <a:ea typeface="华文楷体" pitchFamily="2" charset="-122"/>
              </a:rPr>
              <a:t>数据值</a:t>
            </a:r>
            <a:r>
              <a:rPr lang="zh-CN" altLang="zh-CN" sz="2800" b="0" dirty="0">
                <a:latin typeface="华文楷体" pitchFamily="2" charset="-122"/>
                <a:ea typeface="华文楷体" pitchFamily="2" charset="-122"/>
              </a:rPr>
              <a:t>的字段和一个存储该结点的直接</a:t>
            </a:r>
            <a:r>
              <a:rPr lang="zh-CN" altLang="zh-CN" sz="2800" dirty="0">
                <a:latin typeface="华文楷体" pitchFamily="2" charset="-122"/>
                <a:ea typeface="华文楷体" pitchFamily="2" charset="-122"/>
              </a:rPr>
              <a:t>后继结点地址</a:t>
            </a:r>
            <a:r>
              <a:rPr lang="zh-CN" altLang="zh-CN" sz="2800" b="0" dirty="0">
                <a:latin typeface="华文楷体" pitchFamily="2" charset="-122"/>
                <a:ea typeface="华文楷体" pitchFamily="2" charset="-122"/>
              </a:rPr>
              <a:t>的指针字段。</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提供一个单链表只需要给出头结点的地址即头指针。</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单链表结点类定义、单链表类定义</a:t>
            </a:r>
          </a:p>
          <a:p>
            <a:pPr marL="457200" lvl="1"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单链表类：</a:t>
            </a:r>
          </a:p>
        </p:txBody>
      </p:sp>
      <p:pic>
        <p:nvPicPr>
          <p:cNvPr id="4" name="图片 3"/>
          <p:cNvPicPr>
            <a:picLocks noChangeAspect="1"/>
          </p:cNvPicPr>
          <p:nvPr/>
        </p:nvPicPr>
        <p:blipFill>
          <a:blip r:embed="rId3"/>
          <a:stretch>
            <a:fillRect/>
          </a:stretch>
        </p:blipFill>
        <p:spPr>
          <a:xfrm>
            <a:off x="1450030" y="4957962"/>
            <a:ext cx="7376350" cy="916714"/>
          </a:xfrm>
          <a:prstGeom prst="rect">
            <a:avLst/>
          </a:prstGeom>
        </p:spPr>
      </p:pic>
      <p:sp>
        <p:nvSpPr>
          <p:cNvPr id="5" name="文本框 4"/>
          <p:cNvSpPr txBox="1"/>
          <p:nvPr/>
        </p:nvSpPr>
        <p:spPr>
          <a:xfrm>
            <a:off x="8023431" y="4306786"/>
            <a:ext cx="4000867" cy="523220"/>
          </a:xfrm>
          <a:prstGeom prst="rect">
            <a:avLst/>
          </a:prstGeom>
          <a:noFill/>
        </p:spPr>
        <p:txBody>
          <a:bodyPr wrap="square" rtlCol="0">
            <a:spAutoFit/>
          </a:bodyPr>
          <a:lstStyle/>
          <a:p>
            <a:r>
              <a:rPr lang="zh-CN" altLang="en-US" sz="2800" b="1" dirty="0">
                <a:solidFill>
                  <a:schemeClr val="accent1"/>
                </a:solidFill>
              </a:rPr>
              <a:t>链表：仅一个描述因子</a:t>
            </a:r>
          </a:p>
        </p:txBody>
      </p:sp>
    </p:spTree>
    <p:extLst>
      <p:ext uri="{BB962C8B-B14F-4D97-AF65-F5344CB8AC3E}">
        <p14:creationId xmlns:p14="http://schemas.microsoft.com/office/powerpoint/2010/main" val="333024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6649180"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单链表结点类：</a:t>
            </a:r>
            <a:r>
              <a:rPr lang="zh-CN" altLang="zh-CN" dirty="0">
                <a:latin typeface="华文楷体" panose="02010600040101010101" pitchFamily="2" charset="-122"/>
                <a:ea typeface="华文楷体" panose="02010600040101010101" pitchFamily="2" charset="-122"/>
              </a:rPr>
              <a:t> （</a:t>
            </a:r>
            <a:r>
              <a:rPr lang="en-GB" altLang="zh-CN" dirty="0" err="1">
                <a:latin typeface="华文楷体" panose="02010600040101010101" pitchFamily="2" charset="-122"/>
                <a:ea typeface="华文楷体" panose="02010600040101010101" pitchFamily="2" charset="-122"/>
              </a:rPr>
              <a:t>linkList.h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5" name="Line 797"/>
          <p:cNvCxnSpPr>
            <a:cxnSpLocks noChangeShapeType="1"/>
          </p:cNvCxnSpPr>
          <p:nvPr/>
        </p:nvCxnSpPr>
        <p:spPr bwMode="auto">
          <a:xfrm>
            <a:off x="1371600" y="832421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431976" y="1446764"/>
            <a:ext cx="765313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a:t>
            </a:r>
            <a:r>
              <a:rPr kumimoji="0" lang="en-US" altLang="zh-CN" sz="3200" b="0" i="0" u="none" strike="noStrike" cap="none" normalizeH="0" baseline="0" dirty="0" err="1">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outOfBound</a:t>
            </a:r>
            <a:r>
              <a:rPr kumimoji="0" lang="en-US" altLang="zh-CN" sz="3200" b="0" i="0" u="none" strike="noStrike" cap="none" normalizeH="0" baseline="0" dirty="0">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3200" b="0" i="0" u="none" strike="noStrike" cap="none" normalizeH="0" baseline="0" dirty="0">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访问越界</a:t>
            </a:r>
            <a:endParaRPr kumimoji="0" lang="en-US" altLang="zh-CN" sz="3200" b="0" i="0" u="none" strike="noStrike" cap="none" normalizeH="0" baseline="0" dirty="0">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类的前向说明</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 node//</a:t>
            </a:r>
            <a:r>
              <a:rPr kumimoji="0" lang="en-US" altLang="zh-CN" sz="3200" b="0" i="0" u="none" strike="noStrike" cap="none" normalizeH="0" baseline="0" dirty="0">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node</a:t>
            </a:r>
            <a:r>
              <a:rPr kumimoji="0" lang="zh-CN" altLang="en-US" sz="3200" b="0" i="0" u="none" strike="noStrike" cap="none" normalizeH="0" baseline="0" dirty="0">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a:t>
            </a:r>
            <a:r>
              <a:rPr lang="zh-CN" altLang="en-US" sz="3200" dirty="0">
                <a:highlight>
                  <a:srgbClr val="FFFF00"/>
                </a:highlight>
                <a:latin typeface="Times New Roman" panose="02020603050405020304" pitchFamily="18" charset="0"/>
                <a:ea typeface="宋体" panose="02010600030101010101" pitchFamily="2" charset="-122"/>
                <a:cs typeface="Times New Roman" panose="02020603050405020304" pitchFamily="18" charset="0"/>
              </a:rPr>
              <a:t>结点</a:t>
            </a:r>
            <a:endParaRPr kumimoji="0" lang="en-US" altLang="zh-CN" sz="4000"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friend class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private:</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3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data;</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node *next;</a:t>
            </a:r>
            <a:endParaRPr kumimoji="0" lang="en-US" altLang="zh-CN"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9558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3428951" cy="574183"/>
          </a:xfrm>
        </p:spPr>
        <p:txBody>
          <a:bodyPr/>
          <a:lstStyle/>
          <a:p>
            <a:pPr marL="838200" indent="-838200">
              <a:defRPr/>
            </a:pPr>
            <a:r>
              <a:rPr lang="zh-CN" altLang="en-US" dirty="0"/>
              <a:t>单链表结点类：</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5" name="Line 797"/>
          <p:cNvCxnSpPr>
            <a:cxnSpLocks noChangeShapeType="1"/>
          </p:cNvCxnSpPr>
          <p:nvPr/>
        </p:nvCxnSpPr>
        <p:spPr bwMode="auto">
          <a:xfrm>
            <a:off x="1371600" y="832421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447309" y="1708373"/>
            <a:ext cx="986950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public:</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node():next(NULL){};</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a:t>
            </a:r>
            <a:r>
              <a:rPr lang="en-US" altLang="zh-CN" sz="2800" dirty="0" err="1">
                <a:latin typeface="Times New Roman" panose="02020603050405020304" pitchFamily="18" charset="0"/>
                <a:cs typeface="Times New Roman" panose="02020603050405020304" pitchFamily="18" charset="0"/>
              </a:rPr>
              <a:t>const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 &amp;e, node *N=NULL)</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data = e; next = N;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kumimoji="0" lang="en-US" altLang="zh-CN" sz="5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C6551978-E965-1EA1-7C36-78B8E9ABDA2F}"/>
              </a:ext>
            </a:extLst>
          </p:cNvPr>
          <p:cNvSpPr txBox="1"/>
          <p:nvPr/>
        </p:nvSpPr>
        <p:spPr>
          <a:xfrm>
            <a:off x="5743254" y="4247166"/>
            <a:ext cx="5393932" cy="523220"/>
          </a:xfrm>
          <a:prstGeom prst="rect">
            <a:avLst/>
          </a:prstGeom>
          <a:noFill/>
        </p:spPr>
        <p:txBody>
          <a:bodyPr wrap="square" rtlCol="0">
            <a:spAutoFit/>
          </a:bodyPr>
          <a:lstStyle/>
          <a:p>
            <a:r>
              <a:rPr lang="zh-CN" altLang="en-US" sz="2800" dirty="0">
                <a:solidFill>
                  <a:schemeClr val="accent1"/>
                </a:solidFill>
              </a:rPr>
              <a:t>如何决定设计哪些构造函数？</a:t>
            </a:r>
          </a:p>
        </p:txBody>
      </p:sp>
    </p:spTree>
    <p:extLst>
      <p:ext uri="{BB962C8B-B14F-4D97-AF65-F5344CB8AC3E}">
        <p14:creationId xmlns:p14="http://schemas.microsoft.com/office/powerpoint/2010/main" val="3251201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5600602"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单链表类：</a:t>
            </a:r>
            <a:r>
              <a:rPr lang="zh-CN" altLang="zh-CN" dirty="0">
                <a:latin typeface="华文楷体" panose="02010600040101010101" pitchFamily="2" charset="-122"/>
                <a:ea typeface="华文楷体" panose="02010600040101010101" pitchFamily="2" charset="-122"/>
              </a:rPr>
              <a:t> （</a:t>
            </a:r>
            <a:r>
              <a:rPr lang="en-GB" altLang="zh-CN" dirty="0" err="1">
                <a:latin typeface="华文楷体" panose="02010600040101010101" pitchFamily="2" charset="-122"/>
                <a:ea typeface="华文楷体" panose="02010600040101010101" pitchFamily="2" charset="-122"/>
              </a:rPr>
              <a:t>linkList.h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5" name="Line 797"/>
          <p:cNvCxnSpPr>
            <a:cxnSpLocks noChangeShapeType="1"/>
          </p:cNvCxnSpPr>
          <p:nvPr/>
        </p:nvCxnSpPr>
        <p:spPr bwMode="auto">
          <a:xfrm>
            <a:off x="1371600" y="832421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467188" y="1533835"/>
            <a:ext cx="1172481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0" i="0" u="none" strike="noStrike" cap="none" normalizeH="0" baseline="0" dirty="0" err="1">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linkList</a:t>
            </a:r>
            <a:r>
              <a:rPr kumimoji="0" lang="zh-CN" altLang="en-US" sz="2800" b="0" i="0" u="none" strike="noStrike" cap="none" normalizeH="0" baseline="0" dirty="0">
                <a:ln>
                  <a:noFill/>
                </a:ln>
                <a:solidFill>
                  <a:schemeClr val="tx1"/>
                </a:solidFill>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：链表</a:t>
            </a:r>
            <a:endParaRPr lang="zh-CN"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构造函数，建立一个空表</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isEmpty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表为空返回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isFull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false;};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表为满返回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否则返回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length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表的长度</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5685701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85898" y="754146"/>
            <a:ext cx="3428951"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单链表类：</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5" name="Line 797"/>
          <p:cNvCxnSpPr>
            <a:cxnSpLocks noChangeShapeType="1"/>
          </p:cNvCxnSpPr>
          <p:nvPr/>
        </p:nvCxnSpPr>
        <p:spPr bwMode="auto">
          <a:xfrm>
            <a:off x="1371600" y="832421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467188" y="1461024"/>
            <a:ext cx="10531012"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个元素的值</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返回值等于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的元素的序号，从第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个开始，无则返回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find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个位置上插入新的元素（值为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insert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若第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个元素存在，删除并将其值放入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指向的空间。</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remove (int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a:t>
            </a: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reverse();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元素就地逆置</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clear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清空表，使其为空表</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8113871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r>
              <a:rPr lang="zh-CN" altLang="zh-CN" dirty="0">
                <a:latin typeface="华文楷体" panose="02010600040101010101" pitchFamily="2" charset="-122"/>
                <a:ea typeface="华文楷体" panose="02010600040101010101" pitchFamily="2" charset="-122"/>
              </a:rPr>
              <a:t>（</a:t>
            </a:r>
            <a:r>
              <a:rPr lang="en-GB" altLang="zh-CN" dirty="0" err="1">
                <a:latin typeface="华文楷体" panose="02010600040101010101" pitchFamily="2" charset="-122"/>
                <a:ea typeface="华文楷体" panose="02010600040101010101" pitchFamily="2" charset="-122"/>
              </a:rPr>
              <a:t>linkList.h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4350026" y="1293876"/>
            <a:ext cx="118341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属性赋初值，模板函数用法</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1" name="Line 128"/>
          <p:cNvCxnSpPr>
            <a:cxnSpLocks noChangeShapeType="1"/>
          </p:cNvCxnSpPr>
          <p:nvPr/>
        </p:nvCxnSpPr>
        <p:spPr bwMode="auto">
          <a:xfrm>
            <a:off x="1371600" y="905700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4" name="Rectangle 3"/>
          <p:cNvSpPr>
            <a:spLocks noChangeArrowheads="1"/>
          </p:cNvSpPr>
          <p:nvPr/>
        </p:nvSpPr>
        <p:spPr bwMode="auto">
          <a:xfrm>
            <a:off x="0" y="1387542"/>
            <a:ext cx="11794191"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en-US" altLang="zh-CN" sz="2800" dirty="0">
              <a:latin typeface="华文楷体" pitchFamily="2" charset="-122"/>
              <a:ea typeface="华文楷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华文楷体" pitchFamily="2" charset="-122"/>
                <a:ea typeface="华文楷体" pitchFamily="2" charset="-122"/>
              </a:rPr>
              <a:t>构造函数，建立一个空表</a:t>
            </a: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head = new node&lt;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template &lt;class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linkList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elemType</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isEmpty</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const</a:t>
            </a: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华文楷体" pitchFamily="2" charset="-122"/>
                <a:ea typeface="华文楷体" pitchFamily="2" charset="-122"/>
              </a:rPr>
              <a:t>表为空返回</a:t>
            </a:r>
            <a:r>
              <a:rPr lang="en-US" altLang="zh-CN" sz="2800" dirty="0">
                <a:latin typeface="华文楷体" pitchFamily="2" charset="-122"/>
                <a:ea typeface="华文楷体" pitchFamily="2" charset="-122"/>
              </a:rPr>
              <a:t>true,</a:t>
            </a:r>
            <a:r>
              <a:rPr lang="zh-CN" altLang="en-US" sz="2800" dirty="0">
                <a:latin typeface="华文楷体" pitchFamily="2" charset="-122"/>
                <a:ea typeface="华文楷体" pitchFamily="2" charset="-122"/>
              </a:rPr>
              <a:t>否则返回</a:t>
            </a:r>
            <a:r>
              <a:rPr lang="en-US" altLang="zh-CN" sz="2800" dirty="0">
                <a:latin typeface="华文楷体" pitchFamily="2" charset="-122"/>
                <a:ea typeface="华文楷体" pitchFamily="2" charset="-122"/>
              </a:rPr>
              <a:t>false</a:t>
            </a:r>
            <a:r>
              <a:rPr lang="zh-CN" altLang="en-US" sz="2800" dirty="0">
                <a:latin typeface="华文楷体" pitchFamily="2" charset="-122"/>
                <a:ea typeface="华文楷体" pitchFamily="2" charset="-122"/>
              </a:rPr>
              <a:t>。</a:t>
            </a: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if (head-&gt;next==NULL) return true;</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return false;</a:t>
            </a:r>
            <a:endParaRPr kumimoji="0" lang="en-US" altLang="zh-CN"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5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3"/>
          <a:stretch>
            <a:fillRect/>
          </a:stretch>
        </p:blipFill>
        <p:spPr>
          <a:xfrm>
            <a:off x="7699738" y="2283428"/>
            <a:ext cx="2790272" cy="1051130"/>
          </a:xfrm>
          <a:prstGeom prst="rect">
            <a:avLst/>
          </a:prstGeom>
        </p:spPr>
      </p:pic>
      <p:sp>
        <p:nvSpPr>
          <p:cNvPr id="13" name="文本框 12"/>
          <p:cNvSpPr txBox="1"/>
          <p:nvPr/>
        </p:nvSpPr>
        <p:spPr>
          <a:xfrm>
            <a:off x="6400800" y="5441381"/>
            <a:ext cx="4094453" cy="461665"/>
          </a:xfrm>
          <a:prstGeom prst="rect">
            <a:avLst/>
          </a:prstGeom>
          <a:noFill/>
        </p:spPr>
        <p:txBody>
          <a:bodyPr wrap="square" rtlCol="0">
            <a:spAutoFit/>
          </a:bodyPr>
          <a:lstStyle/>
          <a:p>
            <a:r>
              <a:rPr lang="en-US" altLang="zh-CN" sz="2400" b="1" dirty="0"/>
              <a:t>// If  (!head-&gt;next) return true;</a:t>
            </a:r>
            <a:endParaRPr lang="zh-CN" altLang="en-US" sz="2400" b="1" dirty="0"/>
          </a:p>
        </p:txBody>
      </p:sp>
    </p:spTree>
    <p:extLst>
      <p:ext uri="{BB962C8B-B14F-4D97-AF65-F5344CB8AC3E}">
        <p14:creationId xmlns:p14="http://schemas.microsoft.com/office/powerpoint/2010/main" val="731930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0366464" cy="620154"/>
          </a:xfrm>
        </p:spPr>
        <p:txBody>
          <a:bodyPr>
            <a:noAutofit/>
          </a:bodyPr>
          <a:lstStyle/>
          <a:p>
            <a:pPr marL="0" indent="0">
              <a:buNone/>
            </a:pPr>
            <a:r>
              <a:rPr lang="zh-CN" altLang="en-US" sz="2800" dirty="0">
                <a:latin typeface="华文楷体" pitchFamily="2" charset="-122"/>
                <a:ea typeface="华文楷体" pitchFamily="2" charset="-122"/>
              </a:rPr>
              <a:t>插入</a:t>
            </a:r>
            <a:r>
              <a:rPr lang="zh-CN" altLang="zh-CN" sz="2800" dirty="0">
                <a:latin typeface="华文楷体" pitchFamily="2" charset="-122"/>
                <a:ea typeface="华文楷体" pitchFamily="2" charset="-122"/>
              </a:rPr>
              <a:t>操作</a:t>
            </a:r>
            <a:r>
              <a:rPr lang="zh-CN" altLang="en-US" sz="2800" dirty="0">
                <a:latin typeface="华文楷体" pitchFamily="2" charset="-122"/>
                <a:ea typeface="华文楷体" pitchFamily="2" charset="-122"/>
              </a:rPr>
              <a:t>： </a:t>
            </a:r>
            <a:r>
              <a:rPr lang="zh-CN" altLang="en-US" sz="2800" b="0" dirty="0">
                <a:latin typeface="华文楷体" pitchFamily="2" charset="-122"/>
                <a:ea typeface="华文楷体" pitchFamily="2" charset="-122"/>
              </a:rPr>
              <a:t>将元素</a:t>
            </a:r>
            <a:r>
              <a:rPr lang="en-US" altLang="zh-CN" sz="2800" b="0" dirty="0">
                <a:latin typeface="华文楷体" pitchFamily="2" charset="-122"/>
                <a:ea typeface="华文楷体" pitchFamily="2" charset="-122"/>
              </a:rPr>
              <a:t>x</a:t>
            </a:r>
            <a:r>
              <a:rPr lang="zh-CN" altLang="en-US" sz="2800" b="0" dirty="0">
                <a:latin typeface="华文楷体" pitchFamily="2" charset="-122"/>
                <a:ea typeface="华文楷体" pitchFamily="2" charset="-122"/>
              </a:rPr>
              <a:t>插入在</a:t>
            </a:r>
            <a:r>
              <a:rPr lang="en-US" altLang="zh-CN" sz="2800" b="0" dirty="0">
                <a:latin typeface="华文楷体" pitchFamily="2" charset="-122"/>
                <a:ea typeface="华文楷体" pitchFamily="2" charset="-122"/>
              </a:rPr>
              <a:t>P</a:t>
            </a:r>
            <a:r>
              <a:rPr lang="zh-CN" altLang="en-US" sz="2800" b="0" dirty="0">
                <a:latin typeface="华文楷体" pitchFamily="2" charset="-122"/>
                <a:ea typeface="华文楷体" pitchFamily="2" charset="-122"/>
              </a:rPr>
              <a:t>指针所指结点之后</a:t>
            </a: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437323" y="2224569"/>
            <a:ext cx="5983356" cy="876440"/>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4593168" y="3264993"/>
            <a:ext cx="6638049" cy="1667154"/>
          </a:xfrm>
          <a:prstGeom prst="rect">
            <a:avLst/>
          </a:prstGeom>
          <a:noFill/>
          <a:ln>
            <a:noFill/>
          </a:ln>
        </p:spPr>
      </p:pic>
      <p:pic>
        <p:nvPicPr>
          <p:cNvPr id="8" name="图片 7"/>
          <p:cNvPicPr/>
          <p:nvPr/>
        </p:nvPicPr>
        <p:blipFill>
          <a:blip r:embed="rId5">
            <a:extLst>
              <a:ext uri="{28A0092B-C50C-407E-A947-70E740481C1C}">
                <a14:useLocalDpi xmlns:a14="http://schemas.microsoft.com/office/drawing/2010/main" val="0"/>
              </a:ext>
            </a:extLst>
          </a:blip>
          <a:srcRect/>
          <a:stretch>
            <a:fillRect/>
          </a:stretch>
        </p:blipFill>
        <p:spPr bwMode="auto">
          <a:xfrm>
            <a:off x="437323" y="4773121"/>
            <a:ext cx="6420677" cy="1667154"/>
          </a:xfrm>
          <a:prstGeom prst="rect">
            <a:avLst/>
          </a:prstGeom>
          <a:noFill/>
          <a:ln>
            <a:noFill/>
          </a:ln>
        </p:spPr>
      </p:pic>
      <p:sp>
        <p:nvSpPr>
          <p:cNvPr id="2" name="文本框 1"/>
          <p:cNvSpPr txBox="1"/>
          <p:nvPr/>
        </p:nvSpPr>
        <p:spPr>
          <a:xfrm>
            <a:off x="6858000" y="2537892"/>
            <a:ext cx="3879668"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摆龙门阵！找核心操作</a:t>
            </a:r>
          </a:p>
        </p:txBody>
      </p:sp>
    </p:spTree>
    <p:extLst>
      <p:ext uri="{BB962C8B-B14F-4D97-AF65-F5344CB8AC3E}">
        <p14:creationId xmlns:p14="http://schemas.microsoft.com/office/powerpoint/2010/main" val="414244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3" y="1667015"/>
            <a:ext cx="11340499" cy="4674149"/>
          </a:xfrm>
        </p:spPr>
        <p:txBody>
          <a:bodyPr>
            <a:noAutofit/>
          </a:bodyPr>
          <a:lstStyle/>
          <a:p>
            <a:pPr marL="0" indent="0">
              <a:buNone/>
            </a:pPr>
            <a:r>
              <a:rPr lang="zh-CN" altLang="en-US" sz="2800" dirty="0">
                <a:latin typeface="华文楷体" pitchFamily="2" charset="-122"/>
                <a:ea typeface="华文楷体" pitchFamily="2" charset="-122"/>
              </a:rPr>
              <a:t>插入总结：</a:t>
            </a:r>
            <a:r>
              <a:rPr lang="zh-CN" altLang="zh-CN" sz="3200" dirty="0">
                <a:latin typeface="华文楷体" panose="02010600040101010101" pitchFamily="2" charset="-122"/>
                <a:ea typeface="华文楷体" panose="02010600040101010101" pitchFamily="2" charset="-122"/>
              </a:rPr>
              <a:t>遵循“</a:t>
            </a:r>
            <a:r>
              <a:rPr lang="zh-CN" altLang="en-US" sz="3200" dirty="0">
                <a:solidFill>
                  <a:srgbClr val="FF0000"/>
                </a:solidFill>
                <a:latin typeface="华文楷体" panose="02010600040101010101" pitchFamily="2" charset="-122"/>
                <a:ea typeface="华文楷体" panose="02010600040101010101" pitchFamily="2" charset="-122"/>
              </a:rPr>
              <a:t>创建空间、</a:t>
            </a:r>
            <a:r>
              <a:rPr lang="zh-CN" altLang="zh-CN" sz="3200" dirty="0">
                <a:solidFill>
                  <a:srgbClr val="FF0000"/>
                </a:solidFill>
                <a:latin typeface="华文楷体" panose="02010600040101010101" pitchFamily="2" charset="-122"/>
                <a:ea typeface="华文楷体" panose="02010600040101010101" pitchFamily="2" charset="-122"/>
              </a:rPr>
              <a:t>武装自己，融入队伍</a:t>
            </a:r>
            <a:r>
              <a:rPr lang="zh-CN" altLang="zh-CN"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zh-CN" sz="2800" b="0" dirty="0">
                <a:latin typeface="华文楷体" pitchFamily="2" charset="-122"/>
                <a:ea typeface="华文楷体" pitchFamily="2" charset="-122"/>
              </a:rPr>
              <a:t>在内存中创建新结点。</a:t>
            </a:r>
            <a:endParaRPr lang="en-US" altLang="zh-CN" sz="2800" b="0" dirty="0">
              <a:latin typeface="华文楷体" pitchFamily="2" charset="-122"/>
              <a:ea typeface="华文楷体" pitchFamily="2" charset="-122"/>
            </a:endParaRPr>
          </a:p>
          <a:p>
            <a:pPr marL="514350" indent="-514350">
              <a:buFont typeface="+mj-lt"/>
              <a:buAutoNum type="arabicPeriod"/>
            </a:pPr>
            <a:r>
              <a:rPr lang="zh-CN" altLang="en-US" sz="2800" b="0" dirty="0">
                <a:latin typeface="华文楷体" pitchFamily="2" charset="-122"/>
                <a:ea typeface="华文楷体" pitchFamily="2" charset="-122"/>
              </a:rPr>
              <a:t>武装新结点：</a:t>
            </a:r>
            <a:r>
              <a:rPr lang="zh-CN" altLang="zh-CN" sz="2800" b="0" dirty="0">
                <a:latin typeface="华文楷体" pitchFamily="2" charset="-122"/>
                <a:ea typeface="华文楷体" pitchFamily="2" charset="-122"/>
              </a:rPr>
              <a:t>将</a:t>
            </a:r>
            <a:r>
              <a:rPr lang="en-US" altLang="zh-CN" sz="2800" b="0" dirty="0">
                <a:latin typeface="华文楷体" pitchFamily="2" charset="-122"/>
                <a:ea typeface="华文楷体" pitchFamily="2" charset="-122"/>
              </a:rPr>
              <a:t>x</a:t>
            </a:r>
            <a:r>
              <a:rPr lang="zh-CN" altLang="zh-CN" sz="2800" b="0" dirty="0">
                <a:latin typeface="华文楷体" pitchFamily="2" charset="-122"/>
                <a:ea typeface="华文楷体" pitchFamily="2" charset="-122"/>
              </a:rPr>
              <a:t>写入新结点的</a:t>
            </a:r>
            <a:r>
              <a:rPr lang="en-US" altLang="zh-CN" sz="2800" b="0" dirty="0">
                <a:latin typeface="华文楷体" pitchFamily="2" charset="-122"/>
                <a:ea typeface="华文楷体" pitchFamily="2" charset="-122"/>
              </a:rPr>
              <a:t>data</a:t>
            </a:r>
            <a:r>
              <a:rPr lang="zh-CN" altLang="zh-CN" sz="2800" b="0" dirty="0">
                <a:latin typeface="华文楷体" pitchFamily="2" charset="-122"/>
                <a:ea typeface="华文楷体" pitchFamily="2" charset="-122"/>
              </a:rPr>
              <a:t>字段，</a:t>
            </a:r>
            <a:r>
              <a:rPr lang="en-US" altLang="zh-CN" sz="2800" b="0" dirty="0">
                <a:latin typeface="华文楷体" pitchFamily="2" charset="-122"/>
                <a:ea typeface="华文楷体" pitchFamily="2" charset="-122"/>
              </a:rPr>
              <a:t>p</a:t>
            </a:r>
            <a:r>
              <a:rPr lang="zh-CN" altLang="zh-CN" sz="2800" b="0" dirty="0">
                <a:latin typeface="华文楷体" pitchFamily="2" charset="-122"/>
                <a:ea typeface="华文楷体" pitchFamily="2" charset="-122"/>
              </a:rPr>
              <a:t>指针所指结点的下一结点地址写入新结点的 </a:t>
            </a:r>
            <a:r>
              <a:rPr lang="en-US" altLang="zh-CN" sz="2800" b="0" dirty="0">
                <a:latin typeface="华文楷体" pitchFamily="2" charset="-122"/>
                <a:ea typeface="华文楷体" pitchFamily="2" charset="-122"/>
              </a:rPr>
              <a:t>next</a:t>
            </a:r>
            <a:r>
              <a:rPr lang="zh-CN" altLang="zh-CN" sz="2800" b="0" dirty="0">
                <a:latin typeface="华文楷体" pitchFamily="2" charset="-122"/>
                <a:ea typeface="华文楷体" pitchFamily="2" charset="-122"/>
              </a:rPr>
              <a:t>字段，使</a:t>
            </a:r>
            <a:r>
              <a:rPr lang="en-US" altLang="zh-CN" sz="2800" b="0" dirty="0">
                <a:latin typeface="华文楷体" pitchFamily="2" charset="-122"/>
                <a:ea typeface="华文楷体" pitchFamily="2" charset="-122"/>
              </a:rPr>
              <a:t>p</a:t>
            </a:r>
            <a:r>
              <a:rPr lang="zh-CN" altLang="zh-CN" sz="2800" b="0" dirty="0">
                <a:latin typeface="华文楷体" pitchFamily="2" charset="-122"/>
                <a:ea typeface="华文楷体" pitchFamily="2" charset="-122"/>
              </a:rPr>
              <a:t>所指结点的下一结点成为新结点的直接后继结点。</a:t>
            </a:r>
            <a:endParaRPr lang="en-US" altLang="zh-CN" sz="2800" b="0" dirty="0">
              <a:latin typeface="华文楷体" pitchFamily="2" charset="-122"/>
              <a:ea typeface="华文楷体" pitchFamily="2" charset="-122"/>
            </a:endParaRPr>
          </a:p>
          <a:p>
            <a:pPr marL="514350" indent="-514350">
              <a:buFont typeface="+mj-lt"/>
              <a:buAutoNum type="arabicPeriod"/>
            </a:pPr>
            <a:r>
              <a:rPr lang="zh-CN" altLang="zh-CN" sz="2800" b="0" dirty="0">
                <a:latin typeface="华文楷体" pitchFamily="2" charset="-122"/>
                <a:ea typeface="华文楷体" pitchFamily="2" charset="-122"/>
              </a:rPr>
              <a:t>将新结点地址写入</a:t>
            </a:r>
            <a:r>
              <a:rPr lang="en-US" altLang="zh-CN" sz="2800" b="0" dirty="0">
                <a:latin typeface="华文楷体" pitchFamily="2" charset="-122"/>
                <a:ea typeface="华文楷体" pitchFamily="2" charset="-122"/>
              </a:rPr>
              <a:t>p</a:t>
            </a:r>
            <a:r>
              <a:rPr lang="zh-CN" altLang="zh-CN" sz="2800" b="0" dirty="0">
                <a:latin typeface="华文楷体" pitchFamily="2" charset="-122"/>
                <a:ea typeface="华文楷体" pitchFamily="2" charset="-122"/>
              </a:rPr>
              <a:t>的</a:t>
            </a:r>
            <a:r>
              <a:rPr lang="en-US" altLang="zh-CN" sz="2800" b="0" dirty="0">
                <a:latin typeface="华文楷体" pitchFamily="2" charset="-122"/>
                <a:ea typeface="华文楷体" pitchFamily="2" charset="-122"/>
              </a:rPr>
              <a:t>next</a:t>
            </a:r>
            <a:r>
              <a:rPr lang="zh-CN" altLang="zh-CN" sz="2800" b="0" dirty="0">
                <a:latin typeface="华文楷体" pitchFamily="2" charset="-122"/>
                <a:ea typeface="华文楷体" pitchFamily="2" charset="-122"/>
              </a:rPr>
              <a:t>字段，使新结点成为</a:t>
            </a:r>
            <a:r>
              <a:rPr lang="en-US" altLang="zh-CN" sz="2800" b="0" dirty="0">
                <a:latin typeface="华文楷体" pitchFamily="2" charset="-122"/>
                <a:ea typeface="华文楷体" pitchFamily="2" charset="-122"/>
              </a:rPr>
              <a:t>p</a:t>
            </a:r>
            <a:r>
              <a:rPr lang="zh-CN" altLang="zh-CN" sz="2800" b="0" dirty="0">
                <a:latin typeface="华文楷体" pitchFamily="2" charset="-122"/>
                <a:ea typeface="华文楷体" pitchFamily="2" charset="-122"/>
              </a:rPr>
              <a:t>所指结点的直接后继结点。</a:t>
            </a: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spTree>
    <p:extLst>
      <p:ext uri="{BB962C8B-B14F-4D97-AF65-F5344CB8AC3E}">
        <p14:creationId xmlns:p14="http://schemas.microsoft.com/office/powerpoint/2010/main" val="35198014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07989"/>
            <a:ext cx="6172152" cy="5151228"/>
          </a:xfrm>
        </p:spPr>
        <p:txBody>
          <a:bodyPr>
            <a:noAutofit/>
          </a:bodyPr>
          <a:lstStyle/>
          <a:p>
            <a:pPr marL="0" indent="0">
              <a:buNone/>
            </a:pPr>
            <a:r>
              <a:rPr lang="zh-CN" altLang="en-US" sz="2800" dirty="0">
                <a:latin typeface="华文楷体" pitchFamily="2" charset="-122"/>
                <a:ea typeface="华文楷体" pitchFamily="2" charset="-122"/>
              </a:rPr>
              <a:t>插入具体语句： </a:t>
            </a:r>
            <a:endParaRPr lang="en-US" altLang="zh-CN" sz="2800" dirty="0">
              <a:latin typeface="华文楷体" pitchFamily="2" charset="-122"/>
              <a:ea typeface="华文楷体" pitchFamily="2" charset="-122"/>
            </a:endParaRP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 = new 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 </a:t>
            </a: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-&gt;data = x;</a:t>
            </a:r>
            <a:endParaRPr lang="zh-CN" altLang="zh-CN" b="0" dirty="0">
              <a:cs typeface="Times New Roman" panose="02020603050405020304" pitchFamily="18" charset="0"/>
            </a:endParaRP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-&gt;next = p-&gt;next;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p-&gt;next = </a:t>
            </a:r>
            <a:r>
              <a:rPr lang="en-US" altLang="zh-CN" b="0" dirty="0" err="1">
                <a:cs typeface="Times New Roman" panose="02020603050405020304" pitchFamily="18" charset="0"/>
              </a:rPr>
              <a:t>tmp</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b="0" dirty="0">
              <a:cs typeface="Times New Roman" panose="02020603050405020304" pitchFamily="18" charset="0"/>
            </a:endParaRPr>
          </a:p>
          <a:p>
            <a:pPr marL="0" indent="0">
              <a:buNone/>
            </a:pPr>
            <a:r>
              <a:rPr lang="zh-CN" altLang="zh-CN" b="0" dirty="0">
                <a:cs typeface="Times New Roman" panose="02020603050405020304" pitchFamily="18" charset="0"/>
              </a:rPr>
              <a:t>或者：</a:t>
            </a:r>
          </a:p>
          <a:p>
            <a:pPr marL="0" indent="0">
              <a:buNone/>
            </a:pPr>
            <a:r>
              <a:rPr lang="en-US" altLang="zh-CN" b="0" dirty="0" err="1">
                <a:cs typeface="Times New Roman" panose="02020603050405020304" pitchFamily="18" charset="0"/>
              </a:rPr>
              <a:t>tmp</a:t>
            </a:r>
            <a:r>
              <a:rPr lang="en-US" altLang="zh-CN" b="0" dirty="0">
                <a:cs typeface="Times New Roman" panose="02020603050405020304" pitchFamily="18" charset="0"/>
              </a:rPr>
              <a:t> = new 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&gt;(x, p-&gt;next);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p-&gt;next = </a:t>
            </a:r>
            <a:r>
              <a:rPr lang="en-US" altLang="zh-CN" b="0" dirty="0" err="1">
                <a:cs typeface="Times New Roman" panose="02020603050405020304" pitchFamily="18" charset="0"/>
              </a:rPr>
              <a:t>tmp</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cxnSp>
        <p:nvCxnSpPr>
          <p:cNvPr id="3" name="直接连接符 2"/>
          <p:cNvCxnSpPr/>
          <p:nvPr/>
        </p:nvCxnSpPr>
        <p:spPr>
          <a:xfrm flipH="1">
            <a:off x="5482993" y="1507989"/>
            <a:ext cx="19878"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5502871" y="3149439"/>
            <a:ext cx="5952354" cy="3108543"/>
          </a:xfrm>
          <a:prstGeom prst="rect">
            <a:avLst/>
          </a:prstGeom>
          <a:noFill/>
        </p:spPr>
        <p:txBody>
          <a:bodyPr wrap="square" rtlCol="0">
            <a:spAutoFit/>
          </a:bodyPr>
          <a:lstStyle/>
          <a:p>
            <a:r>
              <a:rPr lang="zh-CN" altLang="en-US" sz="2800" b="1" dirty="0">
                <a:latin typeface="华文楷体" pitchFamily="2" charset="-122"/>
                <a:ea typeface="华文楷体" pitchFamily="2" charset="-122"/>
              </a:rPr>
              <a:t>时间复杂度分析：</a:t>
            </a:r>
            <a:endParaRPr lang="en-US" altLang="zh-CN" sz="2800" b="1" dirty="0">
              <a:latin typeface="华文楷体" pitchFamily="2" charset="-122"/>
              <a:ea typeface="华文楷体" pitchFamily="2" charset="-122"/>
            </a:endParaRPr>
          </a:p>
          <a:p>
            <a:endParaRPr lang="en-US" altLang="zh-CN" sz="2800" dirty="0">
              <a:latin typeface="华文楷体" pitchFamily="2" charset="-122"/>
              <a:ea typeface="华文楷体" pitchFamily="2" charset="-122"/>
            </a:endParaRPr>
          </a:p>
          <a:p>
            <a:r>
              <a:rPr lang="zh-CN" altLang="en-US" sz="2800" dirty="0">
                <a:latin typeface="华文楷体" pitchFamily="2" charset="-122"/>
                <a:ea typeface="华文楷体" pitchFamily="2" charset="-122"/>
              </a:rPr>
              <a:t>当</a:t>
            </a:r>
            <a:r>
              <a:rPr lang="en-US" altLang="zh-CN" sz="2800" dirty="0">
                <a:latin typeface="华文楷体" pitchFamily="2" charset="-122"/>
                <a:ea typeface="华文楷体" pitchFamily="2" charset="-122"/>
              </a:rPr>
              <a:t>P</a:t>
            </a:r>
            <a:r>
              <a:rPr lang="zh-CN" altLang="en-US" sz="2800" dirty="0">
                <a:latin typeface="华文楷体" pitchFamily="2" charset="-122"/>
                <a:ea typeface="华文楷体" pitchFamily="2" charset="-122"/>
              </a:rPr>
              <a:t>已经指向了插入位置的前一个结点时，插入操作和结点个数无关，时间复杂度为</a:t>
            </a:r>
            <a:r>
              <a:rPr lang="en-US" altLang="zh-CN" sz="2800" dirty="0">
                <a:latin typeface="华文楷体" pitchFamily="2" charset="-122"/>
                <a:ea typeface="华文楷体" pitchFamily="2" charset="-122"/>
              </a:rPr>
              <a:t>O(1)</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endParaRPr lang="en-US" altLang="zh-CN" sz="2800" dirty="0">
              <a:latin typeface="华文楷体" pitchFamily="2" charset="-122"/>
              <a:ea typeface="华文楷体" pitchFamily="2" charset="-122"/>
            </a:endParaRPr>
          </a:p>
          <a:p>
            <a:r>
              <a:rPr lang="zh-CN" altLang="en-US" sz="2800" dirty="0">
                <a:latin typeface="华文楷体" pitchFamily="2" charset="-122"/>
                <a:ea typeface="华文楷体" pitchFamily="2" charset="-122"/>
              </a:rPr>
              <a:t>但</a:t>
            </a:r>
            <a:r>
              <a:rPr lang="en-US" altLang="zh-CN" sz="2800" dirty="0">
                <a:latin typeface="华文楷体" pitchFamily="2" charset="-122"/>
                <a:ea typeface="华文楷体" pitchFamily="2" charset="-122"/>
              </a:rPr>
              <a:t>P</a:t>
            </a:r>
            <a:r>
              <a:rPr lang="zh-CN" altLang="en-US" sz="2800" dirty="0">
                <a:latin typeface="华文楷体" pitchFamily="2" charset="-122"/>
                <a:ea typeface="华文楷体" pitchFamily="2" charset="-122"/>
              </a:rPr>
              <a:t>要指向某个顶点时间复杂度</a:t>
            </a:r>
            <a:r>
              <a:rPr lang="en-US" altLang="zh-CN" sz="2800" dirty="0">
                <a:latin typeface="华文楷体" pitchFamily="2" charset="-122"/>
                <a:ea typeface="华文楷体" pitchFamily="2" charset="-122"/>
              </a:rPr>
              <a:t>O(n)</a:t>
            </a:r>
            <a:endParaRPr lang="zh-CN" altLang="en-US" sz="2800" dirty="0">
              <a:latin typeface="华文楷体" pitchFamily="2" charset="-122"/>
              <a:ea typeface="华文楷体" pitchFamily="2" charset="-122"/>
            </a:endParaRPr>
          </a:p>
        </p:txBody>
      </p:sp>
      <p:sp>
        <p:nvSpPr>
          <p:cNvPr id="2" name="文本框 1"/>
          <p:cNvSpPr txBox="1"/>
          <p:nvPr/>
        </p:nvSpPr>
        <p:spPr>
          <a:xfrm>
            <a:off x="5601861" y="1819659"/>
            <a:ext cx="6152274" cy="1569660"/>
          </a:xfrm>
          <a:prstGeom prst="rect">
            <a:avLst/>
          </a:prstGeom>
          <a:noFill/>
        </p:spPr>
        <p:txBody>
          <a:bodyPr wrap="square" rtlCol="0">
            <a:spAutoFit/>
          </a:bodyPr>
          <a:lstStyle/>
          <a:p>
            <a:r>
              <a:rPr lang="zh-CN" altLang="en-US" sz="2400" dirty="0">
                <a:latin typeface="Times New Roman" panose="02020603050405020304" pitchFamily="18" charset="0"/>
                <a:cs typeface="Times New Roman" panose="02020603050405020304" pitchFamily="18" charset="0"/>
              </a:rPr>
              <a:t>或者：一个四合一语句</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p-&gt;next = new node&lt;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&gt;(x, p-&gt;next);</a:t>
            </a:r>
          </a:p>
          <a:p>
            <a:endParaRPr lang="en-US" altLang="zh-CN" sz="2400" dirty="0">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endParaRPr>
          </a:p>
        </p:txBody>
      </p:sp>
    </p:spTree>
    <p:extLst>
      <p:ext uri="{BB962C8B-B14F-4D97-AF65-F5344CB8AC3E}">
        <p14:creationId xmlns:p14="http://schemas.microsoft.com/office/powerpoint/2010/main" val="22697992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0" y="1145867"/>
            <a:ext cx="121920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&gt;::insert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个位置上插入新的元素（值为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&lt;1) return;//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参数</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越界</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j=0;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    while (p&amp;&amp;j&lt;i-1)  </a:t>
            </a:r>
            <a:r>
              <a:rPr lang="en-US" altLang="zh-CN"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注意双条件的限制</a:t>
            </a:r>
            <a:endParaRPr lang="en-US" altLang="zh-CN"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p=p-&gt;next; }//</a:t>
            </a:r>
            <a:r>
              <a:rPr lang="zh-CN" altLang="en-US"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遍历链表直到第 </a:t>
            </a:r>
            <a:r>
              <a:rPr lang="en-US" altLang="zh-CN"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i-1 </a:t>
            </a:r>
            <a:r>
              <a:rPr lang="zh-CN" altLang="en-US"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个位置（也就是插入点的“前一个”结点）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参数</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越界</a:t>
            </a:r>
          </a:p>
          <a:p>
            <a:r>
              <a:rPr lang="en-US"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    p-&gt;next = new node&lt;</a:t>
            </a:r>
            <a:r>
              <a:rPr lang="en-US" altLang="zh-CN" sz="2800" dirty="0" err="1">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highlight>
                  <a:srgbClr val="FFFF00"/>
                </a:highlight>
                <a:latin typeface="Times New Roman" panose="02020603050405020304" pitchFamily="18" charset="0"/>
                <a:ea typeface="华文楷体" panose="02010600040101010101" pitchFamily="2" charset="-122"/>
                <a:cs typeface="Times New Roman" panose="02020603050405020304" pitchFamily="18" charset="0"/>
              </a:rPr>
              <a:t>&gt;(e, p-&gt;next);  </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文本框 1"/>
          <p:cNvSpPr txBox="1"/>
          <p:nvPr/>
        </p:nvSpPr>
        <p:spPr>
          <a:xfrm>
            <a:off x="7680960" y="2978331"/>
            <a:ext cx="3135086"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五步口诀法</a:t>
            </a:r>
            <a:r>
              <a:rPr lang="en-US" altLang="zh-CN" sz="2800" dirty="0">
                <a:solidFill>
                  <a:srgbClr val="FF0000"/>
                </a:solidFill>
                <a:latin typeface="华文楷体" panose="02010600040101010101" pitchFamily="2" charset="-122"/>
                <a:ea typeface="华文楷体" panose="02010600040101010101" pitchFamily="2" charset="-122"/>
              </a:rPr>
              <a:t>!</a:t>
            </a:r>
            <a:endParaRPr lang="zh-CN" altLang="en-US" sz="2800" dirty="0">
              <a:solidFill>
                <a:srgbClr val="FF0000"/>
              </a:solidFill>
              <a:latin typeface="华文楷体" panose="02010600040101010101" pitchFamily="2" charset="-122"/>
              <a:ea typeface="华文楷体" panose="02010600040101010101" pitchFamily="2" charset="-122"/>
            </a:endParaRPr>
          </a:p>
        </p:txBody>
      </p:sp>
      <p:sp>
        <p:nvSpPr>
          <p:cNvPr id="4" name="Rectangle 1">
            <a:extLst>
              <a:ext uri="{FF2B5EF4-FFF2-40B4-BE49-F238E27FC236}">
                <a16:creationId xmlns:a16="http://schemas.microsoft.com/office/drawing/2014/main" id="{6FA47FD3-4A8A-31E3-A19E-934075D6AC5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Arial" panose="020B0604020202020204" pitchFamily="34" charset="0"/>
              </a:rPr>
              <a:t>遍历链表直到第 </a:t>
            </a:r>
            <a:r>
              <a:rPr kumimoji="0" lang="zh-CN" altLang="zh-CN" sz="1000" b="0" i="0" u="none" strike="noStrike" cap="none" normalizeH="0" baseline="0">
                <a:ln>
                  <a:noFill/>
                </a:ln>
                <a:solidFill>
                  <a:schemeClr val="tx1"/>
                </a:solidFill>
                <a:effectLst/>
                <a:latin typeface="Arial Unicode MS" panose="020B0604020202020204" pitchFamily="34" charset="-122"/>
              </a:rPr>
              <a:t>i-1</a:t>
            </a:r>
            <a:r>
              <a:rPr kumimoji="0" lang="zh-CN" altLang="zh-CN" sz="800" b="0" i="0" u="none" strike="noStrike" cap="none" normalizeH="0" baseline="0">
                <a:ln>
                  <a:noFill/>
                </a:ln>
                <a:solidFill>
                  <a:schemeClr val="tx1"/>
                </a:solidFill>
                <a:effectLst/>
              </a:rPr>
              <a:t> 个位置（也就是插入点的“前一个”结点）。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B36C4088-1564-2376-7D51-59073D9FA164}"/>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Arial" panose="020B0604020202020204" pitchFamily="34" charset="0"/>
              </a:rPr>
              <a:t>遍历链表直到第 </a:t>
            </a:r>
            <a:r>
              <a:rPr kumimoji="0" lang="zh-CN" altLang="zh-CN" sz="1000" b="0" i="0" u="none" strike="noStrike" cap="none" normalizeH="0" baseline="0">
                <a:ln>
                  <a:noFill/>
                </a:ln>
                <a:solidFill>
                  <a:schemeClr val="tx1"/>
                </a:solidFill>
                <a:effectLst/>
                <a:latin typeface="Arial Unicode MS" panose="020B0604020202020204" pitchFamily="34" charset="-122"/>
              </a:rPr>
              <a:t>i-1</a:t>
            </a:r>
            <a:r>
              <a:rPr kumimoji="0" lang="zh-CN" altLang="zh-CN" sz="800" b="0" i="0" u="none" strike="noStrike" cap="none" normalizeH="0" baseline="0">
                <a:ln>
                  <a:noFill/>
                </a:ln>
                <a:solidFill>
                  <a:schemeClr val="tx1"/>
                </a:solidFill>
                <a:effectLst/>
              </a:rPr>
              <a:t> 个位置（也就是插入点的“前一个”结点）。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3653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686894"/>
            <a:ext cx="10366464" cy="620154"/>
          </a:xfrm>
        </p:spPr>
        <p:txBody>
          <a:bodyPr>
            <a:noAutofit/>
          </a:bodyPr>
          <a:lstStyle/>
          <a:p>
            <a:pPr marL="0" indent="0">
              <a:buNone/>
            </a:pPr>
            <a:r>
              <a:rPr lang="zh-CN" altLang="en-US" sz="2800" dirty="0">
                <a:latin typeface="华文楷体" pitchFamily="2" charset="-122"/>
                <a:ea typeface="华文楷体" pitchFamily="2" charset="-122"/>
              </a:rPr>
              <a:t>删除</a:t>
            </a:r>
            <a:r>
              <a:rPr lang="zh-CN" altLang="zh-CN" sz="2800" dirty="0">
                <a:latin typeface="华文楷体" pitchFamily="2" charset="-122"/>
                <a:ea typeface="华文楷体" pitchFamily="2" charset="-122"/>
              </a:rPr>
              <a:t>操作</a:t>
            </a:r>
            <a:r>
              <a:rPr lang="zh-CN" altLang="en-US" sz="2800" dirty="0">
                <a:latin typeface="华文楷体" pitchFamily="2" charset="-122"/>
                <a:ea typeface="华文楷体" pitchFamily="2" charset="-122"/>
              </a:rPr>
              <a:t>： </a:t>
            </a:r>
            <a:r>
              <a:rPr lang="zh-CN" altLang="en-US" sz="2800" b="0" dirty="0">
                <a:latin typeface="华文楷体" pitchFamily="2" charset="-122"/>
                <a:ea typeface="华文楷体" pitchFamily="2" charset="-122"/>
              </a:rPr>
              <a:t>删除</a:t>
            </a:r>
            <a:r>
              <a:rPr lang="en-US" altLang="zh-CN" sz="2800" b="0" dirty="0">
                <a:latin typeface="华文楷体" pitchFamily="2" charset="-122"/>
                <a:ea typeface="华文楷体" pitchFamily="2" charset="-122"/>
              </a:rPr>
              <a:t>P</a:t>
            </a:r>
            <a:r>
              <a:rPr lang="zh-CN" altLang="en-US" sz="2800" b="0" dirty="0">
                <a:latin typeface="华文楷体" pitchFamily="2" charset="-122"/>
                <a:ea typeface="华文楷体" pitchFamily="2" charset="-122"/>
              </a:rPr>
              <a:t>指针所指结点之后的那个结点</a:t>
            </a: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2126975" y="2307048"/>
            <a:ext cx="6003234" cy="972002"/>
          </a:xfrm>
          <a:prstGeom prst="rect">
            <a:avLst/>
          </a:prstGeom>
          <a:noFill/>
          <a:ln>
            <a:noFill/>
          </a:ln>
        </p:spPr>
      </p:pic>
      <p:pic>
        <p:nvPicPr>
          <p:cNvPr id="10" name="图片 9"/>
          <p:cNvPicPr/>
          <p:nvPr/>
        </p:nvPicPr>
        <p:blipFill>
          <a:blip r:embed="rId4">
            <a:extLst>
              <a:ext uri="{28A0092B-C50C-407E-A947-70E740481C1C}">
                <a14:useLocalDpi xmlns:a14="http://schemas.microsoft.com/office/drawing/2010/main" val="0"/>
              </a:ext>
            </a:extLst>
          </a:blip>
          <a:srcRect/>
          <a:stretch>
            <a:fillRect/>
          </a:stretch>
        </p:blipFill>
        <p:spPr bwMode="auto">
          <a:xfrm>
            <a:off x="2126975" y="3495233"/>
            <a:ext cx="6003234" cy="1450701"/>
          </a:xfrm>
          <a:prstGeom prst="rect">
            <a:avLst/>
          </a:prstGeom>
          <a:noFill/>
          <a:ln>
            <a:noFill/>
          </a:ln>
        </p:spPr>
      </p:pic>
      <p:pic>
        <p:nvPicPr>
          <p:cNvPr id="11" name="图片 10"/>
          <p:cNvPicPr/>
          <p:nvPr/>
        </p:nvPicPr>
        <p:blipFill>
          <a:blip r:embed="rId5">
            <a:extLst>
              <a:ext uri="{28A0092B-C50C-407E-A947-70E740481C1C}">
                <a14:useLocalDpi xmlns:a14="http://schemas.microsoft.com/office/drawing/2010/main" val="0"/>
              </a:ext>
            </a:extLst>
          </a:blip>
          <a:srcRect/>
          <a:stretch>
            <a:fillRect/>
          </a:stretch>
        </p:blipFill>
        <p:spPr bwMode="auto">
          <a:xfrm>
            <a:off x="2126975" y="5162117"/>
            <a:ext cx="6003234" cy="1380728"/>
          </a:xfrm>
          <a:prstGeom prst="rect">
            <a:avLst/>
          </a:prstGeom>
          <a:noFill/>
          <a:ln>
            <a:noFill/>
          </a:ln>
        </p:spPr>
      </p:pic>
      <p:sp>
        <p:nvSpPr>
          <p:cNvPr id="7" name="文本框 6"/>
          <p:cNvSpPr txBox="1"/>
          <p:nvPr/>
        </p:nvSpPr>
        <p:spPr>
          <a:xfrm>
            <a:off x="7641771" y="3321670"/>
            <a:ext cx="3879668"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摆龙门阵！找核心操作</a:t>
            </a:r>
          </a:p>
        </p:txBody>
      </p:sp>
    </p:spTree>
    <p:extLst>
      <p:ext uri="{BB962C8B-B14F-4D97-AF65-F5344CB8AC3E}">
        <p14:creationId xmlns:p14="http://schemas.microsoft.com/office/powerpoint/2010/main" val="21788030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328329"/>
            <a:ext cx="5893855" cy="5190037"/>
          </a:xfrm>
        </p:spPr>
        <p:txBody>
          <a:bodyPr>
            <a:noAutofit/>
          </a:bodyPr>
          <a:lstStyle/>
          <a:p>
            <a:pPr marL="0" indent="0">
              <a:buNone/>
            </a:pPr>
            <a:r>
              <a:rPr lang="zh-CN" altLang="en-US" sz="2800" dirty="0">
                <a:ea typeface="华文楷体" pitchFamily="2" charset="-122"/>
                <a:cs typeface="Times New Roman" panose="02020603050405020304" pitchFamily="18" charset="0"/>
              </a:rPr>
              <a:t>删除总结： </a:t>
            </a:r>
            <a:endParaRPr lang="en-US" altLang="zh-CN" sz="2800" dirty="0">
              <a:ea typeface="华文楷体" pitchFamily="2" charset="-122"/>
              <a:cs typeface="Times New Roman" panose="02020603050405020304" pitchFamily="18" charset="0"/>
            </a:endParaRPr>
          </a:p>
          <a:p>
            <a:pPr marL="514350" indent="-514350">
              <a:buFont typeface="+mj-lt"/>
              <a:buAutoNum type="arabicPeriod"/>
            </a:pPr>
            <a:r>
              <a:rPr lang="zh-CN" altLang="en-US" sz="2800" b="0" dirty="0">
                <a:ea typeface="华文楷体" pitchFamily="2" charset="-122"/>
                <a:cs typeface="Times New Roman" panose="02020603050405020304" pitchFamily="18" charset="0"/>
              </a:rPr>
              <a:t>记住待删除结点地址。</a:t>
            </a:r>
            <a:endParaRPr lang="en-US" altLang="zh-CN" sz="2800" b="0" dirty="0">
              <a:ea typeface="华文楷体" pitchFamily="2" charset="-122"/>
              <a:cs typeface="Times New Roman" panose="02020603050405020304" pitchFamily="18" charset="0"/>
            </a:endParaRPr>
          </a:p>
          <a:p>
            <a:pPr marL="514350" indent="-514350">
              <a:buFont typeface="+mj-lt"/>
              <a:buAutoNum type="arabicPeriod"/>
            </a:pPr>
            <a:r>
              <a:rPr lang="zh-CN" altLang="zh-CN" sz="2800" b="0" dirty="0">
                <a:ea typeface="华文楷体" pitchFamily="2" charset="-122"/>
                <a:cs typeface="Times New Roman" panose="02020603050405020304" pitchFamily="18" charset="0"/>
              </a:rPr>
              <a:t>将值为</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的结点旁路掉。</a:t>
            </a:r>
            <a:endParaRPr lang="en-US" altLang="zh-CN" sz="2800" b="0" dirty="0">
              <a:ea typeface="华文楷体" pitchFamily="2" charset="-122"/>
              <a:cs typeface="Times New Roman" panose="02020603050405020304" pitchFamily="18" charset="0"/>
            </a:endParaRPr>
          </a:p>
          <a:p>
            <a:pPr marL="514350" indent="-514350">
              <a:buFont typeface="+mj-lt"/>
              <a:buAutoNum type="arabicPeriod"/>
            </a:pPr>
            <a:r>
              <a:rPr lang="zh-CN" altLang="zh-CN" sz="2800" b="0" dirty="0">
                <a:ea typeface="华文楷体" pitchFamily="2" charset="-122"/>
                <a:cs typeface="Times New Roman" panose="02020603050405020304" pitchFamily="18" charset="0"/>
              </a:rPr>
              <a:t>回收原本存储</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的结点占用的空间。</a:t>
            </a:r>
            <a:endParaRPr lang="en-US" altLang="zh-CN" sz="2800" b="0" dirty="0">
              <a:ea typeface="华文楷体" pitchFamily="2" charset="-122"/>
              <a:cs typeface="Times New Roman" panose="02020603050405020304" pitchFamily="18" charset="0"/>
            </a:endParaRPr>
          </a:p>
          <a:p>
            <a:pPr marL="0" indent="0">
              <a:buNone/>
            </a:pPr>
            <a:r>
              <a:rPr lang="zh-CN" altLang="en-US" sz="2800" dirty="0">
                <a:ea typeface="华文楷体" pitchFamily="2" charset="-122"/>
                <a:cs typeface="Times New Roman" panose="02020603050405020304" pitchFamily="18" charset="0"/>
              </a:rPr>
              <a:t>具体语句：</a:t>
            </a:r>
            <a:endParaRPr lang="en-US" altLang="zh-CN" sz="2800" dirty="0">
              <a:ea typeface="华文楷体" pitchFamily="2" charset="-122"/>
              <a:cs typeface="Times New Roman" panose="02020603050405020304" pitchFamily="18" charset="0"/>
            </a:endParaRPr>
          </a:p>
          <a:p>
            <a:pPr marL="536575" indent="0">
              <a:buNone/>
            </a:pPr>
            <a:r>
              <a:rPr lang="en-US" altLang="zh-CN" sz="2800" b="0" dirty="0">
                <a:ea typeface="华文楷体" panose="02010600040101010101" pitchFamily="2" charset="-122"/>
                <a:cs typeface="Times New Roman" panose="02020603050405020304" pitchFamily="18" charset="0"/>
              </a:rPr>
              <a:t>node *q=p-&gt;next;</a:t>
            </a:r>
            <a:endParaRPr lang="zh-CN" altLang="zh-CN" sz="2800" b="0" dirty="0">
              <a:ea typeface="华文楷体" panose="02010600040101010101" pitchFamily="2" charset="-122"/>
              <a:cs typeface="Times New Roman" panose="02020603050405020304" pitchFamily="18" charset="0"/>
            </a:endParaRPr>
          </a:p>
          <a:p>
            <a:pPr marL="536575" indent="0">
              <a:buNone/>
            </a:pPr>
            <a:r>
              <a:rPr lang="en-US" altLang="zh-CN" sz="2800" b="0" dirty="0">
                <a:ea typeface="华文楷体" panose="02010600040101010101" pitchFamily="2" charset="-122"/>
                <a:cs typeface="Times New Roman" panose="02020603050405020304" pitchFamily="18" charset="0"/>
              </a:rPr>
              <a:t>p-&gt;next = q-&gt;next;</a:t>
            </a:r>
            <a:endParaRPr lang="zh-CN" altLang="zh-CN" sz="2800" b="0" dirty="0">
              <a:ea typeface="华文楷体" panose="02010600040101010101" pitchFamily="2" charset="-122"/>
              <a:cs typeface="Times New Roman" panose="02020603050405020304" pitchFamily="18" charset="0"/>
            </a:endParaRPr>
          </a:p>
          <a:p>
            <a:pPr marL="536575" indent="0">
              <a:buNone/>
            </a:pPr>
            <a:r>
              <a:rPr lang="en-US" altLang="zh-CN" sz="2800" b="0" dirty="0">
                <a:ea typeface="华文楷体" panose="02010600040101010101" pitchFamily="2" charset="-122"/>
                <a:cs typeface="Times New Roman" panose="02020603050405020304" pitchFamily="18" charset="0"/>
              </a:rPr>
              <a:t>delete q;</a:t>
            </a:r>
            <a:endParaRPr lang="zh-CN"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cxnSp>
        <p:nvCxnSpPr>
          <p:cNvPr id="3" name="直接连接符 2"/>
          <p:cNvCxnSpPr/>
          <p:nvPr/>
        </p:nvCxnSpPr>
        <p:spPr>
          <a:xfrm flipH="1">
            <a:off x="6162261" y="1328329"/>
            <a:ext cx="19878"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6460436" y="2700684"/>
            <a:ext cx="4591877" cy="2677656"/>
          </a:xfrm>
          <a:prstGeom prst="rect">
            <a:avLst/>
          </a:prstGeom>
          <a:noFill/>
        </p:spPr>
        <p:txBody>
          <a:bodyPr wrap="square" rtlCol="0">
            <a:spAutoFit/>
          </a:bodyPr>
          <a:lstStyle/>
          <a:p>
            <a:r>
              <a:rPr lang="zh-CN" altLang="en-US" sz="2800" b="1" dirty="0">
                <a:latin typeface="华文楷体" pitchFamily="2" charset="-122"/>
                <a:ea typeface="华文楷体" pitchFamily="2" charset="-122"/>
              </a:rPr>
              <a:t>时间复杂度分析：</a:t>
            </a:r>
            <a:endParaRPr lang="en-US" altLang="zh-CN" sz="2800" b="1" dirty="0">
              <a:latin typeface="华文楷体" pitchFamily="2" charset="-122"/>
              <a:ea typeface="华文楷体" pitchFamily="2" charset="-122"/>
            </a:endParaRPr>
          </a:p>
          <a:p>
            <a:endParaRPr lang="en-US" altLang="zh-CN" sz="2800" dirty="0">
              <a:latin typeface="华文楷体" pitchFamily="2" charset="-122"/>
              <a:ea typeface="华文楷体" pitchFamily="2" charset="-122"/>
            </a:endParaRPr>
          </a:p>
          <a:p>
            <a:r>
              <a:rPr lang="zh-CN" altLang="en-US" sz="2800" dirty="0">
                <a:latin typeface="华文楷体" pitchFamily="2" charset="-122"/>
                <a:ea typeface="华文楷体" pitchFamily="2" charset="-122"/>
              </a:rPr>
              <a:t>当</a:t>
            </a:r>
            <a:r>
              <a:rPr lang="en-US" altLang="zh-CN" sz="2800" dirty="0">
                <a:latin typeface="华文楷体" pitchFamily="2" charset="-122"/>
                <a:ea typeface="华文楷体" pitchFamily="2" charset="-122"/>
              </a:rPr>
              <a:t>P</a:t>
            </a:r>
            <a:r>
              <a:rPr lang="zh-CN" altLang="en-US" sz="2800" dirty="0">
                <a:latin typeface="华文楷体" pitchFamily="2" charset="-122"/>
                <a:ea typeface="华文楷体" pitchFamily="2" charset="-122"/>
              </a:rPr>
              <a:t>已经指向了待删除结点的前一个结点时，删除操作和结点个数无关，时间复杂度为</a:t>
            </a:r>
            <a:r>
              <a:rPr lang="en-US" altLang="zh-CN" sz="2800" dirty="0">
                <a:latin typeface="华文楷体" pitchFamily="2" charset="-122"/>
                <a:ea typeface="华文楷体" pitchFamily="2" charset="-122"/>
              </a:rPr>
              <a:t>O(1)</a:t>
            </a:r>
            <a:r>
              <a:rPr lang="zh-CN" altLang="en-US" sz="2800" dirty="0">
                <a:latin typeface="华文楷体" pitchFamily="2" charset="-122"/>
                <a:ea typeface="华文楷体" pitchFamily="2" charset="-122"/>
              </a:rPr>
              <a:t>。</a:t>
            </a:r>
          </a:p>
        </p:txBody>
      </p:sp>
      <p:sp>
        <p:nvSpPr>
          <p:cNvPr id="2" name="文本框 1">
            <a:extLst>
              <a:ext uri="{FF2B5EF4-FFF2-40B4-BE49-F238E27FC236}">
                <a16:creationId xmlns:a16="http://schemas.microsoft.com/office/drawing/2014/main" id="{3D1D9914-B9B4-F290-6D41-8F993194EAB7}"/>
              </a:ext>
            </a:extLst>
          </p:cNvPr>
          <p:cNvSpPr txBox="1"/>
          <p:nvPr/>
        </p:nvSpPr>
        <p:spPr>
          <a:xfrm>
            <a:off x="6596009" y="5640512"/>
            <a:ext cx="4591877" cy="461665"/>
          </a:xfrm>
          <a:prstGeom prst="rect">
            <a:avLst/>
          </a:prstGeom>
          <a:noFill/>
        </p:spPr>
        <p:txBody>
          <a:bodyPr wrap="square" rtlCol="0">
            <a:spAutoFit/>
          </a:bodyPr>
          <a:lstStyle/>
          <a:p>
            <a:r>
              <a:rPr lang="en-US" altLang="zh-CN" sz="2400" b="1" dirty="0">
                <a:solidFill>
                  <a:schemeClr val="accent1"/>
                </a:solidFill>
              </a:rPr>
              <a:t>p-&gt;next </a:t>
            </a:r>
            <a:r>
              <a:rPr lang="zh-CN" altLang="en-US" sz="2400" b="1" dirty="0">
                <a:solidFill>
                  <a:schemeClr val="accent1"/>
                </a:solidFill>
              </a:rPr>
              <a:t>在等号左右的区别</a:t>
            </a:r>
          </a:p>
        </p:txBody>
      </p:sp>
    </p:spTree>
    <p:extLst>
      <p:ext uri="{BB962C8B-B14F-4D97-AF65-F5344CB8AC3E}">
        <p14:creationId xmlns:p14="http://schemas.microsoft.com/office/powerpoint/2010/main" val="26302024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658701" y="1546578"/>
            <a:ext cx="9479212" cy="4854222"/>
          </a:xfrm>
        </p:spPr>
        <p:txBody>
          <a:bodyPr>
            <a:normAutofit/>
          </a:bodyPr>
          <a:lstStyle/>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template &lt;class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 </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void </a:t>
            </a:r>
            <a:r>
              <a:rPr lang="en-US" altLang="zh-CN" sz="2800" b="0" dirty="0" err="1">
                <a:ea typeface="华文楷体" panose="02010600040101010101" pitchFamily="2" charset="-122"/>
                <a:cs typeface="Times New Roman" panose="02020603050405020304" pitchFamily="18" charset="0"/>
              </a:rPr>
              <a:t>linkList</a:t>
            </a:r>
            <a:r>
              <a:rPr lang="en-US" altLang="zh-CN" sz="2800" b="0" dirty="0">
                <a:ea typeface="华文楷体" panose="02010600040101010101" pitchFamily="2" charset="-122"/>
                <a:cs typeface="Times New Roman" panose="02020603050405020304" pitchFamily="18" charset="0"/>
              </a:rPr>
              <a:t>&lt;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&gt;::remove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 &amp;e)</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if (</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&lt;1) return;</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node&lt;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 *p ;  p=head;</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a:t>
            </a:r>
            <a:r>
              <a:rPr lang="en-US" altLang="zh-CN" sz="2800" b="0" dirty="0" err="1">
                <a:ea typeface="华文楷体" panose="02010600040101010101" pitchFamily="2" charset="-122"/>
                <a:cs typeface="Times New Roman" panose="02020603050405020304" pitchFamily="18" charset="0"/>
              </a:rPr>
              <a:t>int</a:t>
            </a:r>
            <a:r>
              <a:rPr lang="en-US" altLang="zh-CN" sz="2800" b="0" dirty="0">
                <a:ea typeface="华文楷体" panose="02010600040101010101" pitchFamily="2" charset="-122"/>
                <a:cs typeface="Times New Roman" panose="02020603050405020304" pitchFamily="18" charset="0"/>
              </a:rPr>
              <a:t> j=0;</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while (p &amp;&amp; j&lt;</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-1){   p=p-&gt;next; </a:t>
            </a:r>
            <a:r>
              <a:rPr lang="en-US" altLang="zh-CN" sz="2800" b="0" dirty="0" err="1">
                <a:ea typeface="华文楷体" panose="02010600040101010101" pitchFamily="2" charset="-122"/>
                <a:cs typeface="Times New Roman" panose="02020603050405020304" pitchFamily="18" charset="0"/>
              </a:rPr>
              <a:t>j++</a:t>
            </a:r>
            <a:r>
              <a:rPr lang="en-US" altLang="zh-CN" sz="2800" b="0" dirty="0">
                <a:ea typeface="华文楷体" panose="02010600040101010101" pitchFamily="2" charset="-122"/>
                <a:cs typeface="Times New Roman" panose="02020603050405020304" pitchFamily="18" charset="0"/>
              </a:rPr>
              <a:t>;}</a:t>
            </a:r>
          </a:p>
          <a:p>
            <a:pPr marL="0" indent="266700" eaLnBrk="0" fontAlgn="base" hangingPunct="0">
              <a:spcBef>
                <a:spcPct val="0"/>
              </a:spcBef>
              <a:spcAft>
                <a:spcPct val="0"/>
              </a:spcAft>
              <a:buNone/>
            </a:pPr>
            <a:r>
              <a:rPr lang="en-US" altLang="zh-CN" sz="2800" b="0" dirty="0">
                <a:solidFill>
                  <a:schemeClr val="accent1"/>
                </a:solidFill>
                <a:highlight>
                  <a:srgbClr val="FFFF00"/>
                </a:highlight>
                <a:ea typeface="华文楷体" panose="02010600040101010101" pitchFamily="2" charset="-122"/>
                <a:cs typeface="Times New Roman" panose="02020603050405020304" pitchFamily="18" charset="0"/>
              </a:rPr>
              <a:t>    if (!p) return;</a:t>
            </a:r>
          </a:p>
          <a:p>
            <a:pPr marL="0" indent="0">
              <a:buNone/>
            </a:pPr>
            <a:r>
              <a:rPr lang="en-US" altLang="zh-CN" dirty="0">
                <a:ea typeface="华文楷体" panose="02010600040101010101" pitchFamily="2" charset="-122"/>
                <a:cs typeface="Times New Roman" panose="02020603050405020304" pitchFamily="18" charset="0"/>
              </a:rPr>
              <a:t>   </a:t>
            </a:r>
            <a:endParaRPr lang="zh-CN" altLang="zh-CN" dirty="0">
              <a:ea typeface="华文楷体" panose="02010600040101010101" pitchFamily="2" charset="-122"/>
              <a:cs typeface="Times New Roman" panose="02020603050405020304" pitchFamily="18" charset="0"/>
            </a:endParaRPr>
          </a:p>
          <a:p>
            <a:pPr marL="0" indent="0">
              <a:buNone/>
            </a:pPr>
            <a:endParaRPr lang="zh-CN" altLang="en-US" dirty="0"/>
          </a:p>
        </p:txBody>
      </p:sp>
      <p:sp>
        <p:nvSpPr>
          <p:cNvPr id="3" name="文本框 2"/>
          <p:cNvSpPr txBox="1"/>
          <p:nvPr/>
        </p:nvSpPr>
        <p:spPr>
          <a:xfrm>
            <a:off x="8050695" y="4909930"/>
            <a:ext cx="3220279" cy="830997"/>
          </a:xfrm>
          <a:prstGeom prst="rect">
            <a:avLst/>
          </a:prstGeom>
          <a:noFill/>
        </p:spPr>
        <p:txBody>
          <a:bodyPr wrap="square" rtlCol="0">
            <a:spAutoFit/>
          </a:bodyPr>
          <a:lstStyle/>
          <a:p>
            <a:r>
              <a:rPr lang="zh-CN" altLang="en-US" sz="2400" b="1" dirty="0">
                <a:solidFill>
                  <a:schemeClr val="accent1"/>
                </a:solidFill>
              </a:rPr>
              <a:t>循环检查：左右边界</a:t>
            </a:r>
            <a:endParaRPr lang="en-US" altLang="zh-CN" sz="2400" b="1" dirty="0">
              <a:solidFill>
                <a:schemeClr val="accent1"/>
              </a:solidFill>
            </a:endParaRPr>
          </a:p>
          <a:p>
            <a:r>
              <a:rPr lang="zh-CN" altLang="en-US" sz="2400" b="1" dirty="0">
                <a:solidFill>
                  <a:schemeClr val="accent1"/>
                </a:solidFill>
              </a:rPr>
              <a:t>链表检查： </a:t>
            </a:r>
            <a:r>
              <a:rPr lang="en-US" altLang="zh-CN" sz="2400" b="1" dirty="0">
                <a:solidFill>
                  <a:schemeClr val="accent1"/>
                </a:solidFill>
              </a:rPr>
              <a:t>-&gt;</a:t>
            </a:r>
            <a:r>
              <a:rPr lang="zh-CN" altLang="en-US" sz="2400" b="1" dirty="0">
                <a:solidFill>
                  <a:schemeClr val="accent1"/>
                </a:solidFill>
              </a:rPr>
              <a:t>处</a:t>
            </a:r>
          </a:p>
        </p:txBody>
      </p:sp>
    </p:spTree>
    <p:extLst>
      <p:ext uri="{BB962C8B-B14F-4D97-AF65-F5344CB8AC3E}">
        <p14:creationId xmlns:p14="http://schemas.microsoft.com/office/powerpoint/2010/main" val="23236577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658701" y="1546578"/>
            <a:ext cx="7948586" cy="5060598"/>
          </a:xfrm>
        </p:spPr>
        <p:txBody>
          <a:bodyPr>
            <a:normAutofit/>
          </a:bodyPr>
          <a:lstStyle/>
          <a:p>
            <a:pPr marL="0" indent="266700" eaLnBrk="0" fontAlgn="base" hangingPunct="0">
              <a:spcBef>
                <a:spcPct val="0"/>
              </a:spcBef>
              <a:spcAft>
                <a:spcPct val="0"/>
              </a:spcAft>
              <a:buNone/>
            </a:pPr>
            <a:r>
              <a:rPr lang="en-US" altLang="zh-CN" dirty="0">
                <a:ea typeface="华文楷体" panose="02010600040101010101" pitchFamily="2" charset="-122"/>
                <a:cs typeface="Times New Roman" panose="02020603050405020304" pitchFamily="18" charset="0"/>
              </a:rPr>
              <a:t>	</a:t>
            </a:r>
            <a:r>
              <a:rPr lang="en-US" altLang="zh-CN" sz="2800" b="0" dirty="0">
                <a:ea typeface="华文楷体" panose="02010600040101010101" pitchFamily="2" charset="-122"/>
                <a:cs typeface="Times New Roman" panose="02020603050405020304" pitchFamily="18" charset="0"/>
              </a:rPr>
              <a:t>node&lt;</a:t>
            </a:r>
            <a:r>
              <a:rPr lang="en-US" altLang="zh-CN" sz="2800" b="0" dirty="0" err="1">
                <a:ea typeface="华文楷体" panose="02010600040101010101" pitchFamily="2" charset="-122"/>
                <a:cs typeface="Times New Roman" panose="02020603050405020304" pitchFamily="18" charset="0"/>
              </a:rPr>
              <a:t>elemType</a:t>
            </a:r>
            <a:r>
              <a:rPr lang="en-US" altLang="zh-CN" sz="2800" b="0" dirty="0">
                <a:ea typeface="华文楷体" panose="02010600040101010101" pitchFamily="2" charset="-122"/>
                <a:cs typeface="Times New Roman" panose="02020603050405020304" pitchFamily="18" charset="0"/>
              </a:rPr>
              <a:t>&gt; *q ; </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a:t>
            </a:r>
            <a:r>
              <a:rPr lang="en-US" altLang="zh-CN" sz="2800" b="0" dirty="0">
                <a:highlight>
                  <a:srgbClr val="FFFF00"/>
                </a:highlight>
                <a:ea typeface="华文楷体" panose="02010600040101010101" pitchFamily="2" charset="-122"/>
                <a:cs typeface="Times New Roman" panose="02020603050405020304" pitchFamily="18" charset="0"/>
              </a:rPr>
              <a:t>q = p-&gt;next;</a:t>
            </a:r>
          </a:p>
          <a:p>
            <a:pPr marL="0" indent="266700" eaLnBrk="0" fontAlgn="base" hangingPunct="0">
              <a:spcBef>
                <a:spcPct val="0"/>
              </a:spcBef>
              <a:spcAft>
                <a:spcPct val="0"/>
              </a:spcAft>
              <a:buNone/>
            </a:pPr>
            <a:r>
              <a:rPr lang="en-US" altLang="zh-CN" sz="2800" b="0" dirty="0">
                <a:highlight>
                  <a:srgbClr val="FFFF00"/>
                </a:highlight>
                <a:ea typeface="华文楷体" panose="02010600040101010101" pitchFamily="2" charset="-122"/>
                <a:cs typeface="Times New Roman" panose="02020603050405020304" pitchFamily="18" charset="0"/>
              </a:rPr>
              <a:t>       </a:t>
            </a:r>
            <a:r>
              <a:rPr lang="en-US" altLang="zh-CN" sz="2800" b="0" dirty="0">
                <a:solidFill>
                  <a:schemeClr val="accent1"/>
                </a:solidFill>
                <a:highlight>
                  <a:srgbClr val="FFFF00"/>
                </a:highlight>
                <a:ea typeface="华文楷体" panose="02010600040101010101" pitchFamily="2" charset="-122"/>
                <a:cs typeface="Times New Roman" panose="02020603050405020304" pitchFamily="18" charset="0"/>
              </a:rPr>
              <a:t>if (!q) return;</a:t>
            </a:r>
          </a:p>
          <a:p>
            <a:pPr marL="0" indent="266700" eaLnBrk="0" fontAlgn="base" hangingPunct="0">
              <a:spcBef>
                <a:spcPct val="0"/>
              </a:spcBef>
              <a:spcAft>
                <a:spcPct val="0"/>
              </a:spcAft>
              <a:buNone/>
            </a:pPr>
            <a:r>
              <a:rPr lang="en-US" altLang="zh-CN" sz="2800" b="0" dirty="0">
                <a:solidFill>
                  <a:schemeClr val="accent1"/>
                </a:solidFill>
                <a:ea typeface="华文楷体" panose="02010600040101010101" pitchFamily="2" charset="-122"/>
                <a:cs typeface="Times New Roman" panose="02020603050405020304" pitchFamily="18" charset="0"/>
              </a:rPr>
              <a:t>       </a:t>
            </a:r>
            <a:r>
              <a:rPr lang="en-US" altLang="zh-CN" sz="2800" b="0" dirty="0">
                <a:ea typeface="华文楷体" panose="02010600040101010101" pitchFamily="2" charset="-122"/>
                <a:cs typeface="Times New Roman" panose="02020603050405020304" pitchFamily="18" charset="0"/>
              </a:rPr>
              <a:t>e = q-&gt;data;</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p-&gt;next = q-&gt;next;</a:t>
            </a: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	delete q;  </a:t>
            </a:r>
            <a:endParaRPr lang="zh-CN" altLang="zh-CN" sz="2800" b="0" dirty="0">
              <a:ea typeface="华文楷体" panose="02010600040101010101" pitchFamily="2" charset="-122"/>
              <a:cs typeface="Times New Roman" panose="02020603050405020304" pitchFamily="18" charset="0"/>
            </a:endParaRPr>
          </a:p>
          <a:p>
            <a:pPr marL="0" indent="266700" eaLnBrk="0" fontAlgn="base" hangingPunct="0">
              <a:spcBef>
                <a:spcPct val="0"/>
              </a:spcBef>
              <a:spcAft>
                <a:spcPct val="0"/>
              </a:spcAft>
              <a:buNone/>
            </a:pPr>
            <a:r>
              <a:rPr lang="en-US" altLang="zh-CN" sz="2800" b="0" dirty="0">
                <a:ea typeface="华文楷体" panose="02010600040101010101" pitchFamily="2" charset="-122"/>
                <a:cs typeface="Times New Roman" panose="02020603050405020304" pitchFamily="18" charset="0"/>
              </a:rPr>
              <a:t>}</a:t>
            </a:r>
            <a:endParaRPr lang="zh-CN" altLang="en-US" sz="2800" b="0" dirty="0">
              <a:ea typeface="华文楷体" panose="0201060004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C72086F0-8A8D-60ED-DC19-9E74CD4B0AEC}"/>
              </a:ext>
            </a:extLst>
          </p:cNvPr>
          <p:cNvSpPr txBox="1"/>
          <p:nvPr/>
        </p:nvSpPr>
        <p:spPr>
          <a:xfrm>
            <a:off x="5465852" y="4895923"/>
            <a:ext cx="5917915" cy="830997"/>
          </a:xfrm>
          <a:prstGeom prst="rect">
            <a:avLst/>
          </a:prstGeom>
          <a:noFill/>
        </p:spPr>
        <p:txBody>
          <a:bodyPr wrap="square" rtlCol="0">
            <a:spAutoFit/>
          </a:bodyPr>
          <a:lstStyle/>
          <a:p>
            <a:r>
              <a:rPr lang="zh-CN" altLang="en-US" sz="2400" dirty="0">
                <a:solidFill>
                  <a:schemeClr val="accent1"/>
                </a:solidFill>
              </a:rPr>
              <a:t>易错点：少了蓝色部分，非法访问了空间。</a:t>
            </a:r>
            <a:endParaRPr lang="en-US" altLang="zh-CN" sz="2400" dirty="0">
              <a:solidFill>
                <a:schemeClr val="accent1"/>
              </a:solidFill>
            </a:endParaRPr>
          </a:p>
          <a:p>
            <a:r>
              <a:rPr lang="zh-CN" altLang="en-US" sz="2400" dirty="0">
                <a:solidFill>
                  <a:schemeClr val="accent1"/>
                </a:solidFill>
              </a:rPr>
              <a:t>处理方法：检查</a:t>
            </a:r>
            <a:r>
              <a:rPr lang="en-US" altLang="zh-CN" sz="2400" dirty="0">
                <a:solidFill>
                  <a:schemeClr val="accent1"/>
                </a:solidFill>
              </a:rPr>
              <a:t>-&gt;</a:t>
            </a:r>
            <a:endParaRPr lang="zh-CN" altLang="en-US" sz="2400" dirty="0">
              <a:solidFill>
                <a:schemeClr val="accent1"/>
              </a:solidFill>
            </a:endParaRPr>
          </a:p>
        </p:txBody>
      </p:sp>
    </p:spTree>
    <p:extLst>
      <p:ext uri="{BB962C8B-B14F-4D97-AF65-F5344CB8AC3E}">
        <p14:creationId xmlns:p14="http://schemas.microsoft.com/office/powerpoint/2010/main" val="35561370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实现分析</a:t>
            </a:r>
          </a:p>
        </p:txBody>
      </p:sp>
      <p:sp>
        <p:nvSpPr>
          <p:cNvPr id="3" name="文本框 2"/>
          <p:cNvSpPr txBox="1"/>
          <p:nvPr/>
        </p:nvSpPr>
        <p:spPr>
          <a:xfrm>
            <a:off x="288284" y="1552431"/>
            <a:ext cx="10187559" cy="3539430"/>
          </a:xfrm>
          <a:prstGeom prst="rect">
            <a:avLst/>
          </a:prstGeom>
          <a:noFill/>
        </p:spPr>
        <p:txBody>
          <a:bodyPr wrap="square" rtlCol="0">
            <a:spAutoFit/>
          </a:bodyPr>
          <a:lstStyle/>
          <a:p>
            <a:r>
              <a:rPr lang="zh-CN" altLang="zh-CN" sz="2800" b="1" dirty="0">
                <a:latin typeface="华文楷体" pitchFamily="2" charset="-122"/>
                <a:ea typeface="华文楷体" pitchFamily="2" charset="-122"/>
              </a:rPr>
              <a:t>查找操作：</a:t>
            </a:r>
            <a:r>
              <a:rPr lang="zh-CN" altLang="zh-CN" sz="2800" dirty="0">
                <a:latin typeface="华文楷体" pitchFamily="2" charset="-122"/>
                <a:ea typeface="华文楷体" pitchFamily="2" charset="-122"/>
              </a:rPr>
              <a:t>找值为</a:t>
            </a:r>
            <a:r>
              <a:rPr lang="en-US" altLang="zh-CN" sz="2800" dirty="0">
                <a:latin typeface="华文楷体" pitchFamily="2" charset="-122"/>
                <a:ea typeface="华文楷体" pitchFamily="2" charset="-122"/>
              </a:rPr>
              <a:t>x</a:t>
            </a:r>
            <a:r>
              <a:rPr lang="zh-CN" altLang="zh-CN" sz="2800" dirty="0">
                <a:latin typeface="华文楷体" pitchFamily="2" charset="-122"/>
                <a:ea typeface="华文楷体" pitchFamily="2" charset="-122"/>
              </a:rPr>
              <a:t>的结点，</a:t>
            </a:r>
            <a:r>
              <a:rPr lang="zh-CN" altLang="en-US" sz="2800" dirty="0">
                <a:latin typeface="华文楷体" pitchFamily="2" charset="-122"/>
                <a:ea typeface="华文楷体" pitchFamily="2" charset="-122"/>
              </a:rPr>
              <a:t>顺首结点逐个向后检查、匹配。</a:t>
            </a:r>
            <a:endParaRPr lang="en-US" altLang="zh-CN" sz="2800" dirty="0">
              <a:latin typeface="华文楷体" pitchFamily="2" charset="-122"/>
              <a:ea typeface="华文楷体" pitchFamily="2" charset="-122"/>
            </a:endParaRPr>
          </a:p>
          <a:p>
            <a:r>
              <a:rPr lang="en-US" altLang="zh-CN" sz="2800" dirty="0">
                <a:latin typeface="华文楷体" pitchFamily="2" charset="-122"/>
                <a:ea typeface="华文楷体" pitchFamily="2" charset="-122"/>
              </a:rPr>
              <a:t>                    </a:t>
            </a:r>
            <a:r>
              <a:rPr lang="zh-CN" altLang="zh-CN" sz="2800" dirty="0">
                <a:latin typeface="华文楷体" pitchFamily="2" charset="-122"/>
                <a:ea typeface="华文楷体" pitchFamily="2" charset="-122"/>
              </a:rPr>
              <a:t>单链表和顺序表</a:t>
            </a:r>
            <a:r>
              <a:rPr lang="zh-CN" altLang="en-US" sz="2800" dirty="0">
                <a:latin typeface="华文楷体" pitchFamily="2" charset="-122"/>
                <a:ea typeface="华文楷体" pitchFamily="2" charset="-122"/>
              </a:rPr>
              <a:t>中</a:t>
            </a:r>
            <a:r>
              <a:rPr lang="zh-CN" altLang="zh-CN" sz="2800" dirty="0">
                <a:latin typeface="华文楷体" pitchFamily="2" charset="-122"/>
                <a:ea typeface="华文楷体" pitchFamily="2" charset="-122"/>
              </a:rPr>
              <a:t>，时间复杂度</a:t>
            </a:r>
            <a:r>
              <a:rPr lang="zh-CN" altLang="en-US" sz="2800" dirty="0">
                <a:latin typeface="华文楷体" pitchFamily="2" charset="-122"/>
                <a:ea typeface="华文楷体" pitchFamily="2" charset="-122"/>
              </a:rPr>
              <a:t>都</a:t>
            </a:r>
            <a:r>
              <a:rPr lang="zh-CN" altLang="zh-CN" sz="2800" dirty="0">
                <a:latin typeface="华文楷体" pitchFamily="2" charset="-122"/>
                <a:ea typeface="华文楷体" pitchFamily="2" charset="-122"/>
              </a:rPr>
              <a:t>是</a:t>
            </a:r>
            <a:r>
              <a:rPr lang="en-US" altLang="zh-CN" sz="2800" dirty="0">
                <a:latin typeface="华文楷体" pitchFamily="2" charset="-122"/>
                <a:ea typeface="华文楷体" pitchFamily="2" charset="-122"/>
              </a:rPr>
              <a:t>O(n)</a:t>
            </a:r>
            <a:r>
              <a:rPr lang="zh-CN" altLang="zh-CN"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r>
              <a:rPr lang="en-US" altLang="zh-CN" sz="2800" dirty="0">
                <a:latin typeface="华文楷体" pitchFamily="2" charset="-122"/>
                <a:ea typeface="华文楷体" pitchFamily="2" charset="-122"/>
              </a:rPr>
              <a:t>                     </a:t>
            </a:r>
            <a:r>
              <a:rPr lang="zh-CN" altLang="en-US" sz="2800" dirty="0">
                <a:solidFill>
                  <a:schemeClr val="accent1"/>
                </a:solidFill>
                <a:latin typeface="华文楷体" pitchFamily="2" charset="-122"/>
                <a:ea typeface="华文楷体" pitchFamily="2" charset="-122"/>
              </a:rPr>
              <a:t>找</a:t>
            </a:r>
            <a:r>
              <a:rPr lang="zh-CN" altLang="zh-CN" sz="2800" dirty="0">
                <a:solidFill>
                  <a:schemeClr val="accent1"/>
                </a:solidFill>
                <a:latin typeface="华文楷体" pitchFamily="2" charset="-122"/>
                <a:ea typeface="华文楷体" pitchFamily="2" charset="-122"/>
              </a:rPr>
              <a:t>第</a:t>
            </a:r>
            <a:r>
              <a:rPr lang="en-US" altLang="zh-CN" sz="2800" dirty="0">
                <a:solidFill>
                  <a:schemeClr val="accent1"/>
                </a:solidFill>
                <a:latin typeface="华文楷体" pitchFamily="2" charset="-122"/>
                <a:ea typeface="华文楷体" pitchFamily="2" charset="-122"/>
              </a:rPr>
              <a:t>k</a:t>
            </a:r>
            <a:r>
              <a:rPr lang="zh-CN" altLang="zh-CN" sz="2800" dirty="0">
                <a:solidFill>
                  <a:schemeClr val="accent1"/>
                </a:solidFill>
                <a:latin typeface="华文楷体" pitchFamily="2" charset="-122"/>
                <a:ea typeface="华文楷体" pitchFamily="2" charset="-122"/>
              </a:rPr>
              <a:t>个结点，</a:t>
            </a:r>
            <a:r>
              <a:rPr lang="zh-CN" altLang="en-US" sz="2800" dirty="0">
                <a:solidFill>
                  <a:schemeClr val="accent1"/>
                </a:solidFill>
                <a:latin typeface="华文楷体" pitchFamily="2" charset="-122"/>
                <a:ea typeface="华文楷体" pitchFamily="2" charset="-122"/>
              </a:rPr>
              <a:t>顺序表</a:t>
            </a:r>
            <a:r>
              <a:rPr lang="en-US" altLang="zh-CN" sz="2800" dirty="0">
                <a:solidFill>
                  <a:schemeClr val="accent1"/>
                </a:solidFill>
                <a:latin typeface="华文楷体" pitchFamily="2" charset="-122"/>
                <a:ea typeface="华文楷体" pitchFamily="2" charset="-122"/>
              </a:rPr>
              <a:t>O(1</a:t>
            </a:r>
            <a:r>
              <a:rPr lang="zh-CN" altLang="en-US" sz="2800" dirty="0">
                <a:solidFill>
                  <a:schemeClr val="accent1"/>
                </a:solidFill>
                <a:latin typeface="华文楷体" pitchFamily="2" charset="-122"/>
                <a:ea typeface="华文楷体" pitchFamily="2" charset="-122"/>
              </a:rPr>
              <a:t>），链表</a:t>
            </a:r>
            <a:r>
              <a:rPr lang="en-US" altLang="zh-CN" sz="2800" dirty="0">
                <a:solidFill>
                  <a:schemeClr val="accent1"/>
                </a:solidFill>
                <a:latin typeface="华文楷体" pitchFamily="2" charset="-122"/>
                <a:ea typeface="华文楷体" pitchFamily="2" charset="-122"/>
              </a:rPr>
              <a:t>O(n)</a:t>
            </a:r>
            <a:r>
              <a:rPr lang="zh-CN" altLang="zh-CN" sz="2800" dirty="0">
                <a:solidFill>
                  <a:schemeClr val="accent1"/>
                </a:solidFill>
                <a:latin typeface="华文楷体" pitchFamily="2" charset="-122"/>
                <a:ea typeface="华文楷体" pitchFamily="2" charset="-122"/>
              </a:rPr>
              <a:t>。 </a:t>
            </a:r>
            <a:endParaRPr lang="en-US" altLang="zh-CN" sz="2800" dirty="0">
              <a:solidFill>
                <a:schemeClr val="accent1"/>
              </a:solidFill>
              <a:latin typeface="华文楷体" pitchFamily="2" charset="-122"/>
              <a:ea typeface="华文楷体" pitchFamily="2" charset="-122"/>
            </a:endParaRPr>
          </a:p>
          <a:p>
            <a:endParaRPr lang="en-US" altLang="zh-CN" sz="2800" dirty="0">
              <a:latin typeface="华文楷体" pitchFamily="2" charset="-122"/>
              <a:ea typeface="华文楷体" pitchFamily="2" charset="-122"/>
            </a:endParaRPr>
          </a:p>
          <a:p>
            <a:r>
              <a:rPr lang="zh-CN" altLang="zh-CN" sz="2800" b="1" dirty="0">
                <a:latin typeface="华文楷体" pitchFamily="2" charset="-122"/>
                <a:ea typeface="华文楷体" pitchFamily="2" charset="-122"/>
              </a:rPr>
              <a:t>其他基本操作：</a:t>
            </a:r>
            <a:endParaRPr lang="en-US" altLang="zh-CN" sz="2800" b="1" dirty="0">
              <a:latin typeface="华文楷体" pitchFamily="2" charset="-122"/>
              <a:ea typeface="华文楷体" pitchFamily="2" charset="-122"/>
            </a:endParaRPr>
          </a:p>
          <a:p>
            <a:r>
              <a:rPr lang="en-US" altLang="zh-CN" sz="2800" b="1" dirty="0">
                <a:latin typeface="华文楷体" pitchFamily="2" charset="-122"/>
                <a:ea typeface="华文楷体" pitchFamily="2" charset="-122"/>
              </a:rPr>
              <a:t>                    </a:t>
            </a:r>
            <a:r>
              <a:rPr lang="en-US" altLang="zh-CN" sz="2800" dirty="0">
                <a:latin typeface="华文楷体" pitchFamily="2" charset="-122"/>
                <a:ea typeface="华文楷体" pitchFamily="2" charset="-122"/>
              </a:rPr>
              <a:t> </a:t>
            </a:r>
            <a:r>
              <a:rPr lang="en-US" altLang="zh-CN" sz="2800" dirty="0" err="1">
                <a:latin typeface="华文楷体" pitchFamily="2" charset="-122"/>
                <a:ea typeface="华文楷体" pitchFamily="2" charset="-122"/>
              </a:rPr>
              <a:t>isFull</a:t>
            </a:r>
            <a:r>
              <a:rPr lang="zh-CN" altLang="en-US" sz="2800" dirty="0">
                <a:latin typeface="华文楷体" pitchFamily="2" charset="-122"/>
                <a:ea typeface="华文楷体" pitchFamily="2" charset="-122"/>
              </a:rPr>
              <a:t>：</a:t>
            </a:r>
            <a:r>
              <a:rPr lang="zh-CN" altLang="zh-CN" sz="2800" dirty="0">
                <a:latin typeface="华文楷体" pitchFamily="2" charset="-122"/>
                <a:ea typeface="华文楷体" pitchFamily="2" charset="-122"/>
              </a:rPr>
              <a:t>因每次只申请一个结点空间，</a:t>
            </a:r>
            <a:r>
              <a:rPr lang="zh-CN" altLang="en-US" sz="2800" dirty="0">
                <a:latin typeface="华文楷体" pitchFamily="2" charset="-122"/>
                <a:ea typeface="华文楷体" pitchFamily="2" charset="-122"/>
              </a:rPr>
              <a:t>故总为</a:t>
            </a:r>
            <a:r>
              <a:rPr lang="en-US" altLang="zh-CN" sz="2800" dirty="0">
                <a:latin typeface="华文楷体" pitchFamily="2" charset="-122"/>
                <a:ea typeface="华文楷体" pitchFamily="2" charset="-122"/>
              </a:rPr>
              <a:t>false</a:t>
            </a:r>
            <a:r>
              <a:rPr lang="zh-CN" altLang="zh-CN"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r>
              <a:rPr lang="en-US" altLang="zh-CN" sz="2800" dirty="0">
                <a:latin typeface="华文楷体" pitchFamily="2" charset="-122"/>
                <a:ea typeface="华文楷体" pitchFamily="2" charset="-122"/>
              </a:rPr>
              <a:t>                     clear</a:t>
            </a:r>
            <a:r>
              <a:rPr lang="zh-CN" altLang="en-US" sz="2800" dirty="0">
                <a:latin typeface="华文楷体" pitchFamily="2" charset="-122"/>
                <a:ea typeface="华文楷体" pitchFamily="2" charset="-122"/>
              </a:rPr>
              <a:t>：除了</a:t>
            </a:r>
            <a:r>
              <a:rPr lang="zh-CN" altLang="en-US" sz="2800" dirty="0">
                <a:highlight>
                  <a:srgbClr val="FFFF00"/>
                </a:highlight>
                <a:latin typeface="华文楷体" pitchFamily="2" charset="-122"/>
                <a:ea typeface="华文楷体" pitchFamily="2" charset="-122"/>
              </a:rPr>
              <a:t>头结点</a:t>
            </a:r>
            <a:r>
              <a:rPr lang="zh-CN" altLang="zh-CN" sz="2800" dirty="0">
                <a:latin typeface="华文楷体" pitchFamily="2" charset="-122"/>
                <a:ea typeface="华文楷体" pitchFamily="2" charset="-122"/>
              </a:rPr>
              <a:t>删除并释放整个单链表</a:t>
            </a:r>
            <a:r>
              <a:rPr lang="zh-CN" altLang="en-US" sz="2800" dirty="0">
                <a:latin typeface="华文楷体" pitchFamily="2" charset="-122"/>
                <a:ea typeface="华文楷体" pitchFamily="2" charset="-122"/>
              </a:rPr>
              <a:t>中结点，</a:t>
            </a:r>
            <a:endParaRPr lang="en-US" altLang="zh-CN" sz="2800" dirty="0">
              <a:latin typeface="华文楷体" pitchFamily="2" charset="-122"/>
              <a:ea typeface="华文楷体" pitchFamily="2" charset="-122"/>
            </a:endParaRPr>
          </a:p>
          <a:p>
            <a:pPr marL="1789113"/>
            <a:r>
              <a:rPr lang="zh-CN" altLang="en-US" sz="2800" dirty="0">
                <a:latin typeface="华文楷体" pitchFamily="2" charset="-122"/>
                <a:ea typeface="华文楷体" pitchFamily="2" charset="-122"/>
              </a:rPr>
              <a:t>回到初始化后的状态。</a:t>
            </a: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11790032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636728"/>
            <a:ext cx="1183419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cs typeface="Times New Roman" panose="02020603050405020304" pitchFamily="18" charset="0"/>
              </a:rPr>
              <a:t>template &lt;class </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a:t>
            </a:r>
            <a:endParaRPr lang="zh-CN" altLang="zh-CN" sz="2800" dirty="0">
              <a:latin typeface="Times New Roman" panose="02020603050405020304" pitchFamily="18" charset="0"/>
              <a:cs typeface="Times New Roman" panose="02020603050405020304" pitchFamily="18" charset="0"/>
            </a:endParaRPr>
          </a:p>
          <a:p>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linkList</a:t>
            </a:r>
            <a:r>
              <a:rPr lang="en-US" altLang="zh-CN" sz="2800" dirty="0">
                <a:latin typeface="Times New Roman" panose="02020603050405020304" pitchFamily="18" charset="0"/>
                <a:cs typeface="Times New Roman" panose="02020603050405020304" pitchFamily="18" charset="0"/>
              </a:rPr>
              <a:t>&lt;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&gt;::length ()</a:t>
            </a:r>
            <a:r>
              <a:rPr lang="en-US" altLang="zh-CN" sz="2800" dirty="0" err="1">
                <a:latin typeface="Times New Roman" panose="02020603050405020304" pitchFamily="18" charset="0"/>
                <a:cs typeface="Times New Roman" panose="02020603050405020304" pitchFamily="18" charset="0"/>
              </a:rPr>
              <a:t>const</a:t>
            </a:r>
            <a:r>
              <a:rPr lang="en-US" altLang="zh-CN" sz="2800" dirty="0">
                <a:latin typeface="Times New Roman" panose="02020603050405020304" pitchFamily="18" charset="0"/>
                <a:cs typeface="Times New Roman" panose="02020603050405020304" pitchFamily="18" charset="0"/>
              </a:rPr>
              <a:t> //</a:t>
            </a:r>
            <a:r>
              <a:rPr lang="zh-CN" altLang="zh-CN" sz="2800" dirty="0">
                <a:latin typeface="Times New Roman" panose="02020603050405020304" pitchFamily="18" charset="0"/>
                <a:cs typeface="Times New Roman" panose="02020603050405020304" pitchFamily="18" charset="0"/>
              </a:rPr>
              <a:t>表的长度</a:t>
            </a:r>
          </a:p>
          <a:p>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int</a:t>
            </a:r>
            <a:r>
              <a:rPr lang="en-US" altLang="zh-CN" sz="2800" dirty="0">
                <a:latin typeface="Times New Roman" panose="02020603050405020304" pitchFamily="18" charset="0"/>
                <a:cs typeface="Times New Roman" panose="02020603050405020304" pitchFamily="18" charset="0"/>
              </a:rPr>
              <a:t> count=0;</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 *p;</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p=head-&gt;next;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while(p)</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count++;    p=p-&gt;next;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return count;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412618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436632"/>
            <a:ext cx="11834191"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注意：五步口诀法</a:t>
            </a:r>
            <a:endPar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&gt;::get(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个元素的值</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首元素为第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&lt;1)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 head-&gt;next;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(p&amp;&amp;j&lt;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{p=p-&gt;next;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p-&gt;data;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9002196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链表基本</a:t>
            </a:r>
            <a:r>
              <a:rPr lang="zh-CN" altLang="zh-CN" dirty="0">
                <a:latin typeface="华文楷体" panose="02010600040101010101" pitchFamily="2" charset="-122"/>
                <a:ea typeface="华文楷体" panose="02010600040101010101" pitchFamily="2" charset="-122"/>
              </a:rPr>
              <a:t>操作的</a:t>
            </a:r>
            <a:r>
              <a:rPr lang="zh-CN" altLang="en-US" dirty="0">
                <a:latin typeface="华文楷体" panose="02010600040101010101" pitchFamily="2" charset="-122"/>
                <a:ea typeface="华文楷体" panose="02010600040101010101" pitchFamily="2" charset="-122"/>
              </a:rPr>
              <a:t>实现代码</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480623"/>
            <a:ext cx="1183419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&gt;::find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返回值等于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的元素的序号，从第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个开始，无则返回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 head-&gt;next;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(p-&gt;data==e) break;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p=p-&gt;next;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 return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0;   }</a:t>
            </a:r>
            <a:endParaRPr lang="zh-CN" altLang="zh-CN" sz="4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4" name="文本框 3"/>
          <p:cNvSpPr txBox="1"/>
          <p:nvPr/>
        </p:nvSpPr>
        <p:spPr>
          <a:xfrm>
            <a:off x="6248399" y="4353339"/>
            <a:ext cx="5559287" cy="1815882"/>
          </a:xfrm>
          <a:prstGeom prst="rect">
            <a:avLst/>
          </a:prstGeom>
          <a:solidFill>
            <a:schemeClr val="bg1"/>
          </a:solidFill>
          <a:ln>
            <a:solidFill>
              <a:schemeClr val="tx1"/>
            </a:solidFill>
          </a:ln>
        </p:spPr>
        <p:txBody>
          <a:bodyPr wrap="square" rtlCol="0">
            <a:spAutoFit/>
          </a:bodyPr>
          <a:lstStyle/>
          <a:p>
            <a:r>
              <a:rPr lang="en-US" altLang="zh-CN" sz="2800" b="1" dirty="0">
                <a:solidFill>
                  <a:schemeClr val="accent1"/>
                </a:solidFill>
              </a:rPr>
              <a:t>While (p &amp;&amp; p-&gt;data !=e) </a:t>
            </a:r>
          </a:p>
          <a:p>
            <a:r>
              <a:rPr lang="en-US" altLang="zh-CN" sz="2800" b="1" dirty="0">
                <a:solidFill>
                  <a:schemeClr val="accent1"/>
                </a:solidFill>
              </a:rPr>
              <a:t>{ p=p-&gt;next; </a:t>
            </a:r>
            <a:r>
              <a:rPr lang="en-US" altLang="zh-CN" sz="2800" b="1" dirty="0" err="1">
                <a:solidFill>
                  <a:schemeClr val="accent1"/>
                </a:solidFill>
              </a:rPr>
              <a:t>i</a:t>
            </a:r>
            <a:r>
              <a:rPr lang="en-US" altLang="zh-CN" sz="2800" b="1" dirty="0">
                <a:solidFill>
                  <a:schemeClr val="accent1"/>
                </a:solidFill>
              </a:rPr>
              <a:t>++}</a:t>
            </a:r>
          </a:p>
          <a:p>
            <a:endParaRPr lang="en-US" altLang="zh-CN" sz="2800" b="1" dirty="0">
              <a:solidFill>
                <a:schemeClr val="accent1"/>
              </a:solidFill>
            </a:endParaRPr>
          </a:p>
          <a:p>
            <a:r>
              <a:rPr lang="zh-CN" altLang="en-US" sz="2800" b="1" dirty="0">
                <a:solidFill>
                  <a:schemeClr val="accent1"/>
                </a:solidFill>
              </a:rPr>
              <a:t>条件的顺序很重要</a:t>
            </a:r>
          </a:p>
        </p:txBody>
      </p:sp>
    </p:spTree>
    <p:extLst>
      <p:ext uri="{BB962C8B-B14F-4D97-AF65-F5344CB8AC3E}">
        <p14:creationId xmlns:p14="http://schemas.microsoft.com/office/powerpoint/2010/main" val="36780383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两种常用技巧：兄弟协同法、首席插入法</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409726"/>
            <a:ext cx="1040295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Q</a:t>
            </a:r>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兄弟协同法</a:t>
            </a:r>
            <a:endPar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linkList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&gt;::clear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清空表，使其为空表</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*p,*q;</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p=head-&gt;next;      head-&gt;next=NULL;</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q=p-&gt;next;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delete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p=q;</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0" name="Rectangle 6"/>
          <p:cNvSpPr>
            <a:spLocks noChangeArrowheads="1"/>
          </p:cNvSpPr>
          <p:nvPr/>
        </p:nvSpPr>
        <p:spPr bwMode="auto">
          <a:xfrm>
            <a:off x="3989115" y="5139465"/>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11" name="Rectangle 7"/>
          <p:cNvSpPr>
            <a:spLocks noChangeArrowheads="1"/>
          </p:cNvSpPr>
          <p:nvPr/>
        </p:nvSpPr>
        <p:spPr bwMode="auto">
          <a:xfrm>
            <a:off x="4436790" y="5139465"/>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13" name="Group 8"/>
          <p:cNvGrpSpPr>
            <a:grpSpLocks/>
          </p:cNvGrpSpPr>
          <p:nvPr/>
        </p:nvGrpSpPr>
        <p:grpSpPr bwMode="auto">
          <a:xfrm>
            <a:off x="5559152" y="5139465"/>
            <a:ext cx="896938" cy="503237"/>
            <a:chOff x="4680" y="5028"/>
            <a:chExt cx="720" cy="312"/>
          </a:xfrm>
        </p:grpSpPr>
        <p:sp>
          <p:nvSpPr>
            <p:cNvPr id="14"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5"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6" name="Group 11"/>
          <p:cNvGrpSpPr>
            <a:grpSpLocks/>
          </p:cNvGrpSpPr>
          <p:nvPr/>
        </p:nvGrpSpPr>
        <p:grpSpPr bwMode="auto">
          <a:xfrm>
            <a:off x="8696052" y="5139465"/>
            <a:ext cx="898525" cy="503237"/>
            <a:chOff x="4680" y="5028"/>
            <a:chExt cx="720" cy="312"/>
          </a:xfrm>
        </p:grpSpPr>
        <p:sp>
          <p:nvSpPr>
            <p:cNvPr id="17"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8"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9" name="Group 14"/>
          <p:cNvGrpSpPr>
            <a:grpSpLocks/>
          </p:cNvGrpSpPr>
          <p:nvPr/>
        </p:nvGrpSpPr>
        <p:grpSpPr bwMode="auto">
          <a:xfrm>
            <a:off x="10939190" y="5139465"/>
            <a:ext cx="896937" cy="503237"/>
            <a:chOff x="4680" y="5028"/>
            <a:chExt cx="720" cy="312"/>
          </a:xfrm>
        </p:grpSpPr>
        <p:sp>
          <p:nvSpPr>
            <p:cNvPr id="20"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solidFill>
                  <a:srgbClr val="C00000"/>
                </a:solidFill>
                <a:latin typeface="Garamond" panose="02020404030301010803" pitchFamily="18" charset="0"/>
              </a:endParaRPr>
            </a:p>
          </p:txBody>
        </p:sp>
        <p:sp>
          <p:nvSpPr>
            <p:cNvPr id="21"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solidFill>
                  <a:srgbClr val="C00000"/>
                </a:solidFill>
                <a:ea typeface="楷体_GB2312" pitchFamily="49" charset="-122"/>
              </a:endParaRPr>
            </a:p>
          </p:txBody>
        </p:sp>
      </p:grpSp>
      <p:grpSp>
        <p:nvGrpSpPr>
          <p:cNvPr id="22" name="Group 17"/>
          <p:cNvGrpSpPr>
            <a:grpSpLocks/>
          </p:cNvGrpSpPr>
          <p:nvPr/>
        </p:nvGrpSpPr>
        <p:grpSpPr bwMode="auto">
          <a:xfrm>
            <a:off x="7129190" y="5139465"/>
            <a:ext cx="893762" cy="503237"/>
            <a:chOff x="4680" y="5028"/>
            <a:chExt cx="720" cy="312"/>
          </a:xfrm>
        </p:grpSpPr>
        <p:sp>
          <p:nvSpPr>
            <p:cNvPr id="23"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24"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5" name="Line 21"/>
          <p:cNvSpPr>
            <a:spLocks noChangeShapeType="1"/>
          </p:cNvSpPr>
          <p:nvPr/>
        </p:nvSpPr>
        <p:spPr bwMode="auto">
          <a:xfrm>
            <a:off x="6456090" y="5390290"/>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22"/>
          <p:cNvSpPr>
            <a:spLocks noChangeShapeType="1"/>
          </p:cNvSpPr>
          <p:nvPr/>
        </p:nvSpPr>
        <p:spPr bwMode="auto">
          <a:xfrm>
            <a:off x="7802290" y="5390290"/>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23"/>
          <p:cNvSpPr>
            <a:spLocks noChangeShapeType="1"/>
          </p:cNvSpPr>
          <p:nvPr/>
        </p:nvSpPr>
        <p:spPr bwMode="auto">
          <a:xfrm>
            <a:off x="9369152" y="5390290"/>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4"/>
          <p:cNvSpPr>
            <a:spLocks noChangeShapeType="1"/>
          </p:cNvSpPr>
          <p:nvPr/>
        </p:nvSpPr>
        <p:spPr bwMode="auto">
          <a:xfrm>
            <a:off x="10493102" y="5390290"/>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25"/>
          <p:cNvSpPr txBox="1">
            <a:spLocks noChangeArrowheads="1"/>
          </p:cNvSpPr>
          <p:nvPr/>
        </p:nvSpPr>
        <p:spPr bwMode="auto">
          <a:xfrm>
            <a:off x="5617890" y="5201377"/>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30" name="Text Box 26"/>
          <p:cNvSpPr txBox="1">
            <a:spLocks noChangeArrowheads="1"/>
          </p:cNvSpPr>
          <p:nvPr/>
        </p:nvSpPr>
        <p:spPr bwMode="auto">
          <a:xfrm>
            <a:off x="7219677" y="5201377"/>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31" name="Text Box 27"/>
          <p:cNvSpPr txBox="1">
            <a:spLocks noChangeArrowheads="1"/>
          </p:cNvSpPr>
          <p:nvPr/>
        </p:nvSpPr>
        <p:spPr bwMode="auto">
          <a:xfrm>
            <a:off x="10956652" y="5180740"/>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32" name="Text Box 28"/>
          <p:cNvSpPr txBox="1">
            <a:spLocks noChangeArrowheads="1"/>
          </p:cNvSpPr>
          <p:nvPr/>
        </p:nvSpPr>
        <p:spPr bwMode="auto">
          <a:xfrm>
            <a:off x="8734152" y="5201377"/>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33" name="Text Box 29"/>
          <p:cNvSpPr txBox="1">
            <a:spLocks noChangeArrowheads="1"/>
          </p:cNvSpPr>
          <p:nvPr/>
        </p:nvSpPr>
        <p:spPr bwMode="auto">
          <a:xfrm>
            <a:off x="11396390" y="5210902"/>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4" name="Group 30"/>
          <p:cNvGrpSpPr>
            <a:grpSpLocks/>
          </p:cNvGrpSpPr>
          <p:nvPr/>
        </p:nvGrpSpPr>
        <p:grpSpPr bwMode="auto">
          <a:xfrm>
            <a:off x="3989115" y="4131402"/>
            <a:ext cx="952500" cy="998538"/>
            <a:chOff x="2157" y="2844"/>
            <a:chExt cx="900" cy="780"/>
          </a:xfrm>
        </p:grpSpPr>
        <p:sp>
          <p:nvSpPr>
            <p:cNvPr id="35"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6"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7" name="Text Box 34"/>
          <p:cNvSpPr txBox="1">
            <a:spLocks noChangeArrowheads="1"/>
          </p:cNvSpPr>
          <p:nvPr/>
        </p:nvSpPr>
        <p:spPr bwMode="auto">
          <a:xfrm>
            <a:off x="3989115" y="5715727"/>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38" name="文本框 37"/>
          <p:cNvSpPr txBox="1"/>
          <p:nvPr/>
        </p:nvSpPr>
        <p:spPr>
          <a:xfrm>
            <a:off x="5492098" y="4355340"/>
            <a:ext cx="641348" cy="523220"/>
          </a:xfrm>
          <a:prstGeom prst="rect">
            <a:avLst/>
          </a:prstGeom>
          <a:noFill/>
        </p:spPr>
        <p:txBody>
          <a:bodyPr wrap="square" rtlCol="0">
            <a:spAutoFit/>
          </a:bodyPr>
          <a:lstStyle/>
          <a:p>
            <a:r>
              <a:rPr lang="en-US" altLang="zh-CN" sz="2800" dirty="0"/>
              <a:t>p</a:t>
            </a:r>
            <a:endParaRPr lang="zh-CN" altLang="en-US" sz="2800" dirty="0" err="1"/>
          </a:p>
        </p:txBody>
      </p:sp>
      <p:sp>
        <p:nvSpPr>
          <p:cNvPr id="39" name="文本框 38"/>
          <p:cNvSpPr txBox="1"/>
          <p:nvPr/>
        </p:nvSpPr>
        <p:spPr>
          <a:xfrm>
            <a:off x="7220781" y="4349595"/>
            <a:ext cx="577153" cy="523220"/>
          </a:xfrm>
          <a:prstGeom prst="rect">
            <a:avLst/>
          </a:prstGeom>
          <a:noFill/>
        </p:spPr>
        <p:txBody>
          <a:bodyPr wrap="square" rtlCol="0">
            <a:spAutoFit/>
          </a:bodyPr>
          <a:lstStyle/>
          <a:p>
            <a:r>
              <a:rPr lang="en-US" altLang="zh-CN" sz="2800" dirty="0"/>
              <a:t>q</a:t>
            </a:r>
            <a:endParaRPr lang="zh-CN" altLang="en-US" sz="2800" dirty="0" err="1"/>
          </a:p>
        </p:txBody>
      </p:sp>
      <p:cxnSp>
        <p:nvCxnSpPr>
          <p:cNvPr id="40" name="直接连接符 39"/>
          <p:cNvCxnSpPr/>
          <p:nvPr/>
        </p:nvCxnSpPr>
        <p:spPr>
          <a:xfrm flipH="1">
            <a:off x="4544564" y="5316355"/>
            <a:ext cx="103228" cy="170523"/>
          </a:xfrm>
          <a:prstGeom prst="line">
            <a:avLst/>
          </a:prstGeom>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a:off x="4623297" y="5313118"/>
            <a:ext cx="143336" cy="14763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693325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7" name="Rectangle 3"/>
          <p:cNvSpPr>
            <a:spLocks noGrp="1" noChangeArrowheads="1"/>
          </p:cNvSpPr>
          <p:nvPr>
            <p:ph idx="1"/>
          </p:nvPr>
        </p:nvSpPr>
        <p:spPr>
          <a:xfrm>
            <a:off x="601982" y="978725"/>
            <a:ext cx="10540635" cy="4039141"/>
          </a:xfrm>
        </p:spPr>
        <p:txBody>
          <a:bodyPr>
            <a:normAutofit fontScale="25000" lnSpcReduction="20000"/>
          </a:bodyPr>
          <a:lstStyle/>
          <a:p>
            <a:pPr marL="0" indent="0">
              <a:buFontTx/>
              <a:buNone/>
            </a:pPr>
            <a:r>
              <a:rPr lang="zh-CN" altLang="en-US" sz="11200" dirty="0">
                <a:latin typeface="华文楷体" panose="02010600040101010101" pitchFamily="2" charset="-122"/>
                <a:ea typeface="华文楷体" panose="02010600040101010101" pitchFamily="2" charset="-122"/>
              </a:rPr>
              <a:t>最速插入位置</a:t>
            </a:r>
            <a:r>
              <a:rPr lang="en-US" altLang="zh-CN" sz="11200" dirty="0">
                <a:latin typeface="华文楷体" panose="02010600040101010101" pitchFamily="2" charset="-122"/>
                <a:ea typeface="华文楷体" panose="02010600040101010101" pitchFamily="2" charset="-122"/>
              </a:rPr>
              <a:t>—</a:t>
            </a:r>
            <a:r>
              <a:rPr lang="zh-CN" altLang="en-US" sz="11200" dirty="0">
                <a:latin typeface="华文楷体" panose="02010600040101010101" pitchFamily="2" charset="-122"/>
                <a:ea typeface="华文楷体" panose="02010600040101010101" pitchFamily="2" charset="-122"/>
              </a:rPr>
              <a:t>脖子</a:t>
            </a:r>
            <a:r>
              <a:rPr lang="en-US" altLang="zh-CN" sz="11200" dirty="0">
                <a:latin typeface="华文楷体" panose="02010600040101010101" pitchFamily="2" charset="-122"/>
                <a:ea typeface="华文楷体" panose="02010600040101010101" pitchFamily="2" charset="-122"/>
              </a:rPr>
              <a:t>//</a:t>
            </a:r>
            <a:r>
              <a:rPr lang="zh-CN" altLang="en-US" sz="11200" dirty="0">
                <a:solidFill>
                  <a:srgbClr val="FF0000"/>
                </a:solidFill>
                <a:latin typeface="华文楷体" panose="02010600040101010101" pitchFamily="2" charset="-122"/>
                <a:ea typeface="华文楷体" panose="02010600040101010101" pitchFamily="2" charset="-122"/>
              </a:rPr>
              <a:t>首席插入法</a:t>
            </a:r>
            <a:endParaRPr lang="en-US" altLang="zh-CN" sz="11200" dirty="0">
              <a:solidFill>
                <a:srgbClr val="FF0000"/>
              </a:solidFill>
              <a:latin typeface="华文楷体" panose="02010600040101010101" pitchFamily="2" charset="-122"/>
              <a:ea typeface="华文楷体" panose="02010600040101010101" pitchFamily="2" charset="-122"/>
            </a:endParaRPr>
          </a:p>
          <a:p>
            <a:pPr marL="0" indent="0">
              <a:buFontTx/>
              <a:buNone/>
            </a:pPr>
            <a:r>
              <a:rPr lang="en-US" altLang="zh-CN" sz="11200" b="0" dirty="0">
                <a:latin typeface="Times New Roman" panose="02020603050405020304" pitchFamily="18" charset="0"/>
                <a:cs typeface="Times New Roman" panose="02020603050405020304" pitchFamily="18" charset="0"/>
              </a:rPr>
              <a:t>template &lt;class </a:t>
            </a:r>
            <a:r>
              <a:rPr lang="en-US" altLang="zh-CN" sz="11200" b="0" dirty="0" err="1">
                <a:latin typeface="Times New Roman" panose="02020603050405020304" pitchFamily="18" charset="0"/>
                <a:cs typeface="Times New Roman" panose="02020603050405020304" pitchFamily="18" charset="0"/>
              </a:rPr>
              <a:t>elemType</a:t>
            </a:r>
            <a:r>
              <a:rPr lang="en-US" altLang="zh-CN" sz="11200" b="0" dirty="0">
                <a:latin typeface="Times New Roman" panose="02020603050405020304" pitchFamily="18" charset="0"/>
                <a:cs typeface="Times New Roman" panose="02020603050405020304" pitchFamily="18" charset="0"/>
              </a:rPr>
              <a:t>&gt;</a:t>
            </a:r>
          </a:p>
          <a:p>
            <a:pPr marL="0" indent="0">
              <a:buFontTx/>
              <a:buNone/>
            </a:pPr>
            <a:r>
              <a:rPr lang="en-US" altLang="zh-CN" sz="11200" b="0" dirty="0">
                <a:latin typeface="Times New Roman" panose="02020603050405020304" pitchFamily="18" charset="0"/>
                <a:cs typeface="Times New Roman" panose="02020603050405020304" pitchFamily="18" charset="0"/>
              </a:rPr>
              <a:t>void </a:t>
            </a:r>
            <a:r>
              <a:rPr lang="en-US" altLang="zh-CN" sz="11200" b="0" dirty="0" err="1">
                <a:latin typeface="Times New Roman" panose="02020603050405020304" pitchFamily="18" charset="0"/>
                <a:cs typeface="Times New Roman" panose="02020603050405020304" pitchFamily="18" charset="0"/>
              </a:rPr>
              <a:t>linkList</a:t>
            </a:r>
            <a:r>
              <a:rPr lang="en-US" altLang="zh-CN" sz="11200" b="0" dirty="0">
                <a:latin typeface="Times New Roman" panose="02020603050405020304" pitchFamily="18" charset="0"/>
                <a:cs typeface="Times New Roman" panose="02020603050405020304" pitchFamily="18" charset="0"/>
              </a:rPr>
              <a:t>&lt;</a:t>
            </a:r>
            <a:r>
              <a:rPr lang="en-US" altLang="zh-CN" sz="11200" b="0" dirty="0" err="1">
                <a:latin typeface="Times New Roman" panose="02020603050405020304" pitchFamily="18" charset="0"/>
                <a:cs typeface="Times New Roman" panose="02020603050405020304" pitchFamily="18" charset="0"/>
              </a:rPr>
              <a:t>elemType</a:t>
            </a:r>
            <a:r>
              <a:rPr lang="en-US" altLang="zh-CN" sz="11200" b="0" dirty="0">
                <a:latin typeface="Times New Roman" panose="02020603050405020304" pitchFamily="18" charset="0"/>
                <a:cs typeface="Times New Roman" panose="02020603050405020304" pitchFamily="18" charset="0"/>
              </a:rPr>
              <a:t>&gt;:: insert(</a:t>
            </a:r>
            <a:r>
              <a:rPr lang="en-US" altLang="zh-CN" sz="11200" b="0" dirty="0" err="1">
                <a:latin typeface="Times New Roman" panose="02020603050405020304" pitchFamily="18" charset="0"/>
                <a:cs typeface="Times New Roman" panose="02020603050405020304" pitchFamily="18" charset="0"/>
              </a:rPr>
              <a:t>const</a:t>
            </a:r>
            <a:r>
              <a:rPr lang="en-US" altLang="zh-CN" sz="11200" b="0" dirty="0">
                <a:latin typeface="Times New Roman" panose="02020603050405020304" pitchFamily="18" charset="0"/>
                <a:cs typeface="Times New Roman" panose="02020603050405020304" pitchFamily="18" charset="0"/>
              </a:rPr>
              <a:t> </a:t>
            </a:r>
            <a:r>
              <a:rPr lang="en-US" altLang="zh-CN" sz="11200" b="0" dirty="0" err="1">
                <a:latin typeface="Times New Roman" panose="02020603050405020304" pitchFamily="18" charset="0"/>
                <a:cs typeface="Times New Roman" panose="02020603050405020304" pitchFamily="18" charset="0"/>
              </a:rPr>
              <a:t>elemType</a:t>
            </a:r>
            <a:r>
              <a:rPr lang="en-US" altLang="zh-CN" sz="11200" b="0" dirty="0">
                <a:latin typeface="Times New Roman" panose="02020603050405020304" pitchFamily="18" charset="0"/>
                <a:cs typeface="Times New Roman" panose="02020603050405020304" pitchFamily="18" charset="0"/>
              </a:rPr>
              <a:t> a[], </a:t>
            </a:r>
            <a:r>
              <a:rPr lang="en-US" altLang="zh-CN" sz="11200" b="0" dirty="0" err="1">
                <a:latin typeface="Times New Roman" panose="02020603050405020304" pitchFamily="18" charset="0"/>
                <a:cs typeface="Times New Roman" panose="02020603050405020304" pitchFamily="18" charset="0"/>
              </a:rPr>
              <a:t>int</a:t>
            </a:r>
            <a:r>
              <a:rPr lang="en-US" altLang="zh-CN" sz="11200" b="0" dirty="0">
                <a:latin typeface="Times New Roman" panose="02020603050405020304" pitchFamily="18" charset="0"/>
                <a:cs typeface="Times New Roman" panose="02020603050405020304" pitchFamily="18" charset="0"/>
              </a:rPr>
              <a:t> n)</a:t>
            </a:r>
          </a:p>
          <a:p>
            <a:pPr marL="0" indent="0">
              <a:buFontTx/>
              <a:buNone/>
            </a:pPr>
            <a:r>
              <a:rPr lang="en-US" altLang="zh-CN" sz="11200" b="0" dirty="0">
                <a:latin typeface="Times New Roman" panose="02020603050405020304" pitchFamily="18" charset="0"/>
                <a:cs typeface="Times New Roman" panose="02020603050405020304" pitchFamily="18" charset="0"/>
              </a:rPr>
              <a:t>{ node *</a:t>
            </a:r>
            <a:r>
              <a:rPr lang="en-US" altLang="zh-CN" sz="11200" b="0" dirty="0" err="1">
                <a:latin typeface="Times New Roman" panose="02020603050405020304" pitchFamily="18" charset="0"/>
                <a:cs typeface="Times New Roman" panose="02020603050405020304" pitchFamily="18" charset="0"/>
              </a:rPr>
              <a:t>tmp</a:t>
            </a:r>
            <a:r>
              <a:rPr lang="en-US" altLang="zh-CN" sz="11200" b="0" dirty="0">
                <a:latin typeface="Times New Roman" panose="02020603050405020304" pitchFamily="18" charset="0"/>
                <a:cs typeface="Times New Roman" panose="02020603050405020304" pitchFamily="18" charset="0"/>
              </a:rPr>
              <a:t>, </a:t>
            </a:r>
          </a:p>
          <a:p>
            <a:pPr marL="0" indent="0">
              <a:buFontTx/>
              <a:buNone/>
            </a:pPr>
            <a:r>
              <a:rPr lang="en-US" altLang="zh-CN" sz="11200" b="0" dirty="0">
                <a:latin typeface="Times New Roman" panose="02020603050405020304" pitchFamily="18" charset="0"/>
                <a:cs typeface="Times New Roman" panose="02020603050405020304" pitchFamily="18" charset="0"/>
              </a:rPr>
              <a:t>   for (</a:t>
            </a:r>
            <a:r>
              <a:rPr lang="en-US" altLang="zh-CN" sz="11200" b="0" dirty="0" err="1">
                <a:latin typeface="Times New Roman" panose="02020603050405020304" pitchFamily="18" charset="0"/>
                <a:cs typeface="Times New Roman" panose="02020603050405020304" pitchFamily="18" charset="0"/>
              </a:rPr>
              <a:t>int</a:t>
            </a:r>
            <a:r>
              <a:rPr lang="en-US" altLang="zh-CN" sz="11200" b="0" dirty="0">
                <a:latin typeface="Times New Roman" panose="02020603050405020304" pitchFamily="18" charset="0"/>
                <a:cs typeface="Times New Roman" panose="02020603050405020304" pitchFamily="18" charset="0"/>
              </a:rPr>
              <a:t> </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=0; </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&lt;n; </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a:t>
            </a:r>
          </a:p>
          <a:p>
            <a:pPr marL="0" indent="0">
              <a:buFontTx/>
              <a:buNone/>
            </a:pPr>
            <a:r>
              <a:rPr lang="en-US" altLang="zh-CN" sz="11200" b="0" dirty="0">
                <a:latin typeface="Times New Roman" panose="02020603050405020304" pitchFamily="18" charset="0"/>
                <a:cs typeface="Times New Roman" panose="02020603050405020304" pitchFamily="18" charset="0"/>
              </a:rPr>
              <a:t>   {     </a:t>
            </a:r>
            <a:r>
              <a:rPr lang="en-US" altLang="zh-CN" sz="11200" b="0" dirty="0" err="1">
                <a:latin typeface="Times New Roman" panose="02020603050405020304" pitchFamily="18" charset="0"/>
                <a:cs typeface="Times New Roman" panose="02020603050405020304" pitchFamily="18" charset="0"/>
              </a:rPr>
              <a:t>tmp</a:t>
            </a:r>
            <a:r>
              <a:rPr lang="en-US" altLang="zh-CN" sz="11200" b="0" dirty="0">
                <a:latin typeface="Times New Roman" panose="02020603050405020304" pitchFamily="18" charset="0"/>
                <a:cs typeface="Times New Roman" panose="02020603050405020304" pitchFamily="18" charset="0"/>
              </a:rPr>
              <a:t> = new node(a[</a:t>
            </a:r>
            <a:r>
              <a:rPr lang="en-US" altLang="zh-CN" sz="11200" b="0" dirty="0" err="1">
                <a:latin typeface="Times New Roman" panose="02020603050405020304" pitchFamily="18" charset="0"/>
                <a:cs typeface="Times New Roman" panose="02020603050405020304" pitchFamily="18" charset="0"/>
              </a:rPr>
              <a:t>i</a:t>
            </a:r>
            <a:r>
              <a:rPr lang="en-US" altLang="zh-CN" sz="11200" b="0" dirty="0">
                <a:latin typeface="Times New Roman" panose="02020603050405020304" pitchFamily="18" charset="0"/>
                <a:cs typeface="Times New Roman" panose="02020603050405020304" pitchFamily="18" charset="0"/>
              </a:rPr>
              <a:t>], head-&gt;next);   head-&gt;next = </a:t>
            </a:r>
            <a:r>
              <a:rPr lang="en-US" altLang="zh-CN" sz="11200" b="0" dirty="0" err="1">
                <a:latin typeface="Times New Roman" panose="02020603050405020304" pitchFamily="18" charset="0"/>
                <a:cs typeface="Times New Roman" panose="02020603050405020304" pitchFamily="18" charset="0"/>
              </a:rPr>
              <a:t>tmp</a:t>
            </a:r>
            <a:r>
              <a:rPr lang="en-US" altLang="zh-CN" sz="11200" b="0" dirty="0">
                <a:latin typeface="Times New Roman" panose="02020603050405020304" pitchFamily="18" charset="0"/>
                <a:cs typeface="Times New Roman" panose="02020603050405020304" pitchFamily="18" charset="0"/>
              </a:rPr>
              <a:t>;    }</a:t>
            </a:r>
          </a:p>
          <a:p>
            <a:pPr marL="0" indent="0">
              <a:buFontTx/>
              <a:buNone/>
            </a:pPr>
            <a:r>
              <a:rPr lang="en-US" altLang="zh-CN" sz="11200" b="0" dirty="0">
                <a:latin typeface="Times New Roman" panose="02020603050405020304" pitchFamily="18" charset="0"/>
                <a:cs typeface="Times New Roman" panose="02020603050405020304" pitchFamily="18" charset="0"/>
              </a:rPr>
              <a:t>}</a:t>
            </a:r>
          </a:p>
          <a:p>
            <a:pPr marL="0" indent="0">
              <a:lnSpc>
                <a:spcPct val="110000"/>
              </a:lnSpc>
              <a:buNone/>
              <a:defRPr/>
            </a:pPr>
            <a:endParaRPr lang="zh-CN" altLang="en-US" sz="11200" dirty="0"/>
          </a:p>
          <a:p>
            <a:endParaRPr lang="en-US" altLang="zh-CN" sz="3200" dirty="0">
              <a:latin typeface="楷体_GB2312" pitchFamily="49" charset="-122"/>
              <a:ea typeface="楷体_GB2312" pitchFamily="49" charset="-122"/>
            </a:endParaRPr>
          </a:p>
        </p:txBody>
      </p:sp>
      <p:sp>
        <p:nvSpPr>
          <p:cNvPr id="12290" name="灯片编号占位符 4"/>
          <p:cNvSpPr>
            <a:spLocks noGrp="1"/>
          </p:cNvSpPr>
          <p:nvPr>
            <p:ph type="sldNum" sz="quarter" idx="12"/>
          </p:nvPr>
        </p:nvSpPr>
        <p:spPr>
          <a:xfrm>
            <a:off x="4648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fld id="{A79AFBCB-B9CF-4446-B09D-D2A2760E6828}" type="slidenum">
              <a:rPr kumimoji="0" lang="en-US" altLang="zh-CN" sz="1200">
                <a:latin typeface="Arial" panose="020B0604020202020204" pitchFamily="34" charset="0"/>
              </a:rPr>
              <a:pPr algn="ctr">
                <a:spcBef>
                  <a:spcPct val="0"/>
                </a:spcBef>
                <a:buFontTx/>
                <a:buNone/>
              </a:pPr>
              <a:t>63</a:t>
            </a:fld>
            <a:endParaRPr kumimoji="0" lang="en-US" altLang="zh-CN" sz="1200">
              <a:latin typeface="Arial" panose="020B0604020202020204" pitchFamily="34" charset="0"/>
            </a:endParaRPr>
          </a:p>
        </p:txBody>
      </p:sp>
      <p:sp>
        <p:nvSpPr>
          <p:cNvPr id="2" name="文本框 1"/>
          <p:cNvSpPr txBox="1"/>
          <p:nvPr/>
        </p:nvSpPr>
        <p:spPr>
          <a:xfrm>
            <a:off x="221752" y="5645516"/>
            <a:ext cx="2939143" cy="523220"/>
          </a:xfrm>
          <a:prstGeom prst="rect">
            <a:avLst/>
          </a:prstGeom>
          <a:noFill/>
        </p:spPr>
        <p:txBody>
          <a:bodyPr wrap="square" rtlCol="0">
            <a:spAutoFit/>
          </a:bodyPr>
          <a:lstStyle/>
          <a:p>
            <a:r>
              <a:rPr lang="en-US" altLang="zh-CN" sz="2800" dirty="0"/>
              <a:t>a[5]={1,3,5,7,9}</a:t>
            </a:r>
            <a:endParaRPr lang="zh-CN" altLang="en-US" sz="2800" dirty="0" err="1"/>
          </a:p>
        </p:txBody>
      </p:sp>
      <p:sp>
        <p:nvSpPr>
          <p:cNvPr id="6" name="Rectangle 6"/>
          <p:cNvSpPr>
            <a:spLocks noChangeArrowheads="1"/>
          </p:cNvSpPr>
          <p:nvPr/>
        </p:nvSpPr>
        <p:spPr bwMode="auto">
          <a:xfrm>
            <a:off x="2748145" y="5583604"/>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3195820" y="5583604"/>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a:grpSpLocks/>
          </p:cNvGrpSpPr>
          <p:nvPr/>
        </p:nvGrpSpPr>
        <p:grpSpPr bwMode="auto">
          <a:xfrm>
            <a:off x="4318182" y="5583604"/>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a:grpSpLocks/>
          </p:cNvGrpSpPr>
          <p:nvPr/>
        </p:nvGrpSpPr>
        <p:grpSpPr bwMode="auto">
          <a:xfrm>
            <a:off x="7455082" y="5583604"/>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a:grpSpLocks/>
          </p:cNvGrpSpPr>
          <p:nvPr/>
        </p:nvGrpSpPr>
        <p:grpSpPr bwMode="auto">
          <a:xfrm>
            <a:off x="9698220" y="5583604"/>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7" name="Group 17"/>
          <p:cNvGrpSpPr>
            <a:grpSpLocks/>
          </p:cNvGrpSpPr>
          <p:nvPr/>
        </p:nvGrpSpPr>
        <p:grpSpPr bwMode="auto">
          <a:xfrm>
            <a:off x="5888220" y="5583604"/>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3421245" y="5834429"/>
            <a:ext cx="8969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5215120" y="5834429"/>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6561320" y="5834429"/>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8128182" y="5834429"/>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9252132" y="5834429"/>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4376920" y="5645516"/>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9</a:t>
            </a:r>
            <a:endParaRPr lang="en-US" altLang="zh-CN" sz="2400" b="1" dirty="0">
              <a:ea typeface="楷体_GB2312" pitchFamily="49" charset="-122"/>
            </a:endParaRPr>
          </a:p>
        </p:txBody>
      </p:sp>
      <p:sp>
        <p:nvSpPr>
          <p:cNvPr id="26" name="Text Box 26"/>
          <p:cNvSpPr txBox="1">
            <a:spLocks noChangeArrowheads="1"/>
          </p:cNvSpPr>
          <p:nvPr/>
        </p:nvSpPr>
        <p:spPr bwMode="auto">
          <a:xfrm>
            <a:off x="5978707" y="5645516"/>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7</a:t>
            </a:r>
            <a:endParaRPr lang="en-US" altLang="zh-CN" sz="2400" b="1" dirty="0">
              <a:ea typeface="楷体_GB2312" pitchFamily="49" charset="-122"/>
            </a:endParaRPr>
          </a:p>
        </p:txBody>
      </p:sp>
      <p:sp>
        <p:nvSpPr>
          <p:cNvPr id="27" name="Text Box 27"/>
          <p:cNvSpPr txBox="1">
            <a:spLocks noChangeArrowheads="1"/>
          </p:cNvSpPr>
          <p:nvPr/>
        </p:nvSpPr>
        <p:spPr bwMode="auto">
          <a:xfrm>
            <a:off x="9715682" y="5624879"/>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8" name="Text Box 28"/>
          <p:cNvSpPr txBox="1">
            <a:spLocks noChangeArrowheads="1"/>
          </p:cNvSpPr>
          <p:nvPr/>
        </p:nvSpPr>
        <p:spPr bwMode="auto">
          <a:xfrm>
            <a:off x="7493182" y="5645516"/>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10155420" y="5655041"/>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a:grpSpLocks/>
          </p:cNvGrpSpPr>
          <p:nvPr/>
        </p:nvGrpSpPr>
        <p:grpSpPr bwMode="auto">
          <a:xfrm>
            <a:off x="2748145" y="4575540"/>
            <a:ext cx="896937" cy="1006477"/>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2748145" y="6159866"/>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34" name="Text Box 35"/>
          <p:cNvSpPr txBox="1">
            <a:spLocks noChangeArrowheads="1"/>
          </p:cNvSpPr>
          <p:nvPr/>
        </p:nvSpPr>
        <p:spPr bwMode="auto">
          <a:xfrm>
            <a:off x="4259445" y="6159866"/>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p>
        </p:txBody>
      </p:sp>
      <p:sp>
        <p:nvSpPr>
          <p:cNvPr id="3" name="文本框 2"/>
          <p:cNvSpPr txBox="1"/>
          <p:nvPr/>
        </p:nvSpPr>
        <p:spPr>
          <a:xfrm>
            <a:off x="4006847" y="4389277"/>
            <a:ext cx="8039379" cy="584775"/>
          </a:xfrm>
          <a:prstGeom prst="rect">
            <a:avLst/>
          </a:prstGeom>
          <a:noFill/>
        </p:spPr>
        <p:txBody>
          <a:bodyPr wrap="square" rtlCol="0">
            <a:spAutoFit/>
          </a:bodyPr>
          <a:lstStyle/>
          <a:p>
            <a:r>
              <a:rPr lang="zh-CN" altLang="en-US" sz="3200" b="1" dirty="0">
                <a:solidFill>
                  <a:schemeClr val="accent1"/>
                </a:solidFill>
              </a:rPr>
              <a:t>或者</a:t>
            </a:r>
            <a:r>
              <a:rPr lang="en-US" altLang="zh-CN" sz="3200" b="1" dirty="0">
                <a:solidFill>
                  <a:schemeClr val="accent1"/>
                </a:solidFill>
              </a:rPr>
              <a:t>head-&gt;next = new node(x, head-&gt;next);</a:t>
            </a:r>
            <a:endParaRPr lang="zh-CN" altLang="en-US" sz="3200" b="1" dirty="0">
              <a:solidFill>
                <a:schemeClr val="accent1"/>
              </a:solidFill>
            </a:endParaRPr>
          </a:p>
        </p:txBody>
      </p:sp>
    </p:spTree>
    <p:extLst>
      <p:ext uri="{BB962C8B-B14F-4D97-AF65-F5344CB8AC3E}">
        <p14:creationId xmlns:p14="http://schemas.microsoft.com/office/powerpoint/2010/main" val="37407479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Rot="1" noChangeArrowheads="1"/>
          </p:cNvSpPr>
          <p:nvPr>
            <p:ph type="title"/>
          </p:nvPr>
        </p:nvSpPr>
        <p:spPr>
          <a:xfrm>
            <a:off x="1175410" y="458187"/>
            <a:ext cx="9841180" cy="1143000"/>
          </a:xfrm>
        </p:spPr>
        <p:txBody>
          <a:bodyPr>
            <a:normAutofit fontScale="90000"/>
          </a:bodyPr>
          <a:lstStyle/>
          <a:p>
            <a:r>
              <a:rPr lang="zh-CN" altLang="en-US" sz="4000" dirty="0">
                <a:solidFill>
                  <a:srgbClr val="FF0000"/>
                </a:solidFill>
                <a:latin typeface="华文楷体" panose="02010600040101010101" pitchFamily="2" charset="-122"/>
                <a:ea typeface="华文楷体" panose="02010600040101010101" pitchFamily="2" charset="-122"/>
              </a:rPr>
              <a:t>练习：</a:t>
            </a:r>
            <a:r>
              <a:rPr lang="zh-CN" altLang="en-US" sz="4000" dirty="0">
                <a:latin typeface="华文楷体" panose="02010600040101010101" pitchFamily="2" charset="-122"/>
                <a:ea typeface="华文楷体" panose="02010600040101010101" pitchFamily="2" charset="-122"/>
              </a:rPr>
              <a:t>对一个单链表进行就地逆置</a:t>
            </a:r>
            <a:r>
              <a:rPr lang="en-US" altLang="zh-CN" sz="4000" dirty="0">
                <a:latin typeface="华文楷体" panose="02010600040101010101" pitchFamily="2" charset="-122"/>
                <a:ea typeface="华文楷体" panose="02010600040101010101" pitchFamily="2" charset="-122"/>
              </a:rPr>
              <a:t>---</a:t>
            </a:r>
            <a:r>
              <a:rPr lang="zh-CN" altLang="en-US" sz="4000" dirty="0">
                <a:latin typeface="华文楷体" panose="02010600040101010101" pitchFamily="2" charset="-122"/>
                <a:ea typeface="华文楷体" panose="02010600040101010101" pitchFamily="2" charset="-122"/>
              </a:rPr>
              <a:t>摆龙门阵</a:t>
            </a:r>
            <a:endParaRPr lang="zh-CN" altLang="en-US" sz="4000" b="1" dirty="0">
              <a:solidFill>
                <a:srgbClr val="FF0000"/>
              </a:solidFill>
              <a:latin typeface="华文楷体" panose="02010600040101010101" pitchFamily="2" charset="-122"/>
              <a:ea typeface="华文楷体" panose="02010600040101010101" pitchFamily="2" charset="-122"/>
            </a:endParaRPr>
          </a:p>
        </p:txBody>
      </p:sp>
      <p:sp>
        <p:nvSpPr>
          <p:cNvPr id="12290" name="灯片编号占位符 4"/>
          <p:cNvSpPr>
            <a:spLocks noGrp="1"/>
          </p:cNvSpPr>
          <p:nvPr>
            <p:ph type="sldNum" sz="quarter" idx="12"/>
          </p:nvPr>
        </p:nvSpPr>
        <p:spPr>
          <a:xfrm>
            <a:off x="4648200" y="6248400"/>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fld id="{A79AFBCB-B9CF-4446-B09D-D2A2760E6828}" type="slidenum">
              <a:rPr kumimoji="0" lang="en-US" altLang="zh-CN" sz="1200">
                <a:latin typeface="Arial" panose="020B0604020202020204" pitchFamily="34" charset="0"/>
              </a:rPr>
              <a:pPr algn="ctr">
                <a:spcBef>
                  <a:spcPct val="0"/>
                </a:spcBef>
                <a:buFontTx/>
                <a:buNone/>
              </a:pPr>
              <a:t>64</a:t>
            </a:fld>
            <a:endParaRPr kumimoji="0" lang="en-US" altLang="zh-CN" sz="1200">
              <a:latin typeface="Arial" panose="020B0604020202020204" pitchFamily="34" charset="0"/>
            </a:endParaRPr>
          </a:p>
        </p:txBody>
      </p:sp>
      <p:sp>
        <p:nvSpPr>
          <p:cNvPr id="6" name="Rectangle 6"/>
          <p:cNvSpPr>
            <a:spLocks noChangeArrowheads="1"/>
          </p:cNvSpPr>
          <p:nvPr/>
        </p:nvSpPr>
        <p:spPr bwMode="auto">
          <a:xfrm>
            <a:off x="1820678" y="3284538"/>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2268353" y="3284538"/>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a:grpSpLocks/>
          </p:cNvGrpSpPr>
          <p:nvPr/>
        </p:nvGrpSpPr>
        <p:grpSpPr bwMode="auto">
          <a:xfrm>
            <a:off x="3390715" y="3284538"/>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a:grpSpLocks/>
          </p:cNvGrpSpPr>
          <p:nvPr/>
        </p:nvGrpSpPr>
        <p:grpSpPr bwMode="auto">
          <a:xfrm>
            <a:off x="6527615" y="3284538"/>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a:grpSpLocks/>
          </p:cNvGrpSpPr>
          <p:nvPr/>
        </p:nvGrpSpPr>
        <p:grpSpPr bwMode="auto">
          <a:xfrm>
            <a:off x="8770753" y="3284538"/>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solidFill>
                  <a:srgbClr val="C00000"/>
                </a:solidFill>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solidFill>
                  <a:srgbClr val="C00000"/>
                </a:solidFill>
                <a:ea typeface="楷体_GB2312" pitchFamily="49" charset="-122"/>
              </a:endParaRPr>
            </a:p>
          </p:txBody>
        </p:sp>
      </p:grpSp>
      <p:grpSp>
        <p:nvGrpSpPr>
          <p:cNvPr id="17" name="Group 17"/>
          <p:cNvGrpSpPr>
            <a:grpSpLocks/>
          </p:cNvGrpSpPr>
          <p:nvPr/>
        </p:nvGrpSpPr>
        <p:grpSpPr bwMode="auto">
          <a:xfrm>
            <a:off x="4960753" y="3284538"/>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2493778" y="3535363"/>
            <a:ext cx="8969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4287653" y="3535363"/>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5633853" y="3535363"/>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7200715" y="3535363"/>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8324665" y="3535363"/>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3449453" y="3346450"/>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26" name="Text Box 26"/>
          <p:cNvSpPr txBox="1">
            <a:spLocks noChangeArrowheads="1"/>
          </p:cNvSpPr>
          <p:nvPr/>
        </p:nvSpPr>
        <p:spPr bwMode="auto">
          <a:xfrm>
            <a:off x="5051240" y="334645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27" name="Text Box 27"/>
          <p:cNvSpPr txBox="1">
            <a:spLocks noChangeArrowheads="1"/>
          </p:cNvSpPr>
          <p:nvPr/>
        </p:nvSpPr>
        <p:spPr bwMode="auto">
          <a:xfrm>
            <a:off x="8788215" y="3325813"/>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28" name="Text Box 28"/>
          <p:cNvSpPr txBox="1">
            <a:spLocks noChangeArrowheads="1"/>
          </p:cNvSpPr>
          <p:nvPr/>
        </p:nvSpPr>
        <p:spPr bwMode="auto">
          <a:xfrm>
            <a:off x="6565715" y="334645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9227953" y="3355975"/>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a:grpSpLocks/>
          </p:cNvGrpSpPr>
          <p:nvPr/>
        </p:nvGrpSpPr>
        <p:grpSpPr bwMode="auto">
          <a:xfrm>
            <a:off x="1820678" y="2276475"/>
            <a:ext cx="952500" cy="998538"/>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1820678" y="386080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34" name="Text Box 35"/>
          <p:cNvSpPr txBox="1">
            <a:spLocks noChangeArrowheads="1"/>
          </p:cNvSpPr>
          <p:nvPr/>
        </p:nvSpPr>
        <p:spPr bwMode="auto">
          <a:xfrm>
            <a:off x="3331978" y="386080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p>
        </p:txBody>
      </p:sp>
      <p:sp>
        <p:nvSpPr>
          <p:cNvPr id="2" name="文本框 1"/>
          <p:cNvSpPr txBox="1"/>
          <p:nvPr/>
        </p:nvSpPr>
        <p:spPr>
          <a:xfrm>
            <a:off x="1820678" y="1541417"/>
            <a:ext cx="3140075"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存储映像图：</a:t>
            </a:r>
          </a:p>
        </p:txBody>
      </p:sp>
      <p:sp>
        <p:nvSpPr>
          <p:cNvPr id="35" name="Rectangle 6"/>
          <p:cNvSpPr>
            <a:spLocks noChangeArrowheads="1"/>
          </p:cNvSpPr>
          <p:nvPr/>
        </p:nvSpPr>
        <p:spPr bwMode="auto">
          <a:xfrm>
            <a:off x="1816322" y="5396368"/>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36" name="Rectangle 7"/>
          <p:cNvSpPr>
            <a:spLocks noChangeArrowheads="1"/>
          </p:cNvSpPr>
          <p:nvPr/>
        </p:nvSpPr>
        <p:spPr bwMode="auto">
          <a:xfrm>
            <a:off x="2263997" y="5396368"/>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37" name="Group 8"/>
          <p:cNvGrpSpPr>
            <a:grpSpLocks/>
          </p:cNvGrpSpPr>
          <p:nvPr/>
        </p:nvGrpSpPr>
        <p:grpSpPr bwMode="auto">
          <a:xfrm>
            <a:off x="3386359" y="5396368"/>
            <a:ext cx="896938" cy="503237"/>
            <a:chOff x="4680" y="5028"/>
            <a:chExt cx="720" cy="312"/>
          </a:xfrm>
        </p:grpSpPr>
        <p:sp>
          <p:nvSpPr>
            <p:cNvPr id="38"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9"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0" name="Group 11"/>
          <p:cNvGrpSpPr>
            <a:grpSpLocks/>
          </p:cNvGrpSpPr>
          <p:nvPr/>
        </p:nvGrpSpPr>
        <p:grpSpPr bwMode="auto">
          <a:xfrm>
            <a:off x="6523259" y="5396368"/>
            <a:ext cx="898525" cy="503237"/>
            <a:chOff x="4680" y="5028"/>
            <a:chExt cx="720" cy="312"/>
          </a:xfrm>
        </p:grpSpPr>
        <p:sp>
          <p:nvSpPr>
            <p:cNvPr id="41"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2"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3" name="Group 14"/>
          <p:cNvGrpSpPr>
            <a:grpSpLocks/>
          </p:cNvGrpSpPr>
          <p:nvPr/>
        </p:nvGrpSpPr>
        <p:grpSpPr bwMode="auto">
          <a:xfrm>
            <a:off x="8766397" y="5396368"/>
            <a:ext cx="896937" cy="503237"/>
            <a:chOff x="4680" y="5028"/>
            <a:chExt cx="720" cy="312"/>
          </a:xfrm>
        </p:grpSpPr>
        <p:sp>
          <p:nvSpPr>
            <p:cNvPr id="44"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5"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46" name="Group 17"/>
          <p:cNvGrpSpPr>
            <a:grpSpLocks/>
          </p:cNvGrpSpPr>
          <p:nvPr/>
        </p:nvGrpSpPr>
        <p:grpSpPr bwMode="auto">
          <a:xfrm>
            <a:off x="4956397" y="5396368"/>
            <a:ext cx="893762" cy="503237"/>
            <a:chOff x="4680" y="5028"/>
            <a:chExt cx="720" cy="312"/>
          </a:xfrm>
        </p:grpSpPr>
        <p:sp>
          <p:nvSpPr>
            <p:cNvPr id="47"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8"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49" name="Line 20"/>
          <p:cNvSpPr>
            <a:spLocks noChangeShapeType="1"/>
          </p:cNvSpPr>
          <p:nvPr/>
        </p:nvSpPr>
        <p:spPr bwMode="auto">
          <a:xfrm>
            <a:off x="2489422" y="5647193"/>
            <a:ext cx="8969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21"/>
          <p:cNvSpPr>
            <a:spLocks noChangeShapeType="1"/>
          </p:cNvSpPr>
          <p:nvPr/>
        </p:nvSpPr>
        <p:spPr bwMode="auto">
          <a:xfrm>
            <a:off x="4283297" y="5647193"/>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2"/>
          <p:cNvSpPr>
            <a:spLocks noChangeShapeType="1"/>
          </p:cNvSpPr>
          <p:nvPr/>
        </p:nvSpPr>
        <p:spPr bwMode="auto">
          <a:xfrm>
            <a:off x="5629497" y="5647193"/>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3"/>
          <p:cNvSpPr>
            <a:spLocks noChangeShapeType="1"/>
          </p:cNvSpPr>
          <p:nvPr/>
        </p:nvSpPr>
        <p:spPr bwMode="auto">
          <a:xfrm>
            <a:off x="7196359" y="5647193"/>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4"/>
          <p:cNvSpPr>
            <a:spLocks noChangeShapeType="1"/>
          </p:cNvSpPr>
          <p:nvPr/>
        </p:nvSpPr>
        <p:spPr bwMode="auto">
          <a:xfrm>
            <a:off x="8320309" y="5647193"/>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Text Box 25"/>
          <p:cNvSpPr txBox="1">
            <a:spLocks noChangeArrowheads="1"/>
          </p:cNvSpPr>
          <p:nvPr/>
        </p:nvSpPr>
        <p:spPr bwMode="auto">
          <a:xfrm>
            <a:off x="3445097" y="5458280"/>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55" name="Text Box 26"/>
          <p:cNvSpPr txBox="1">
            <a:spLocks noChangeArrowheads="1"/>
          </p:cNvSpPr>
          <p:nvPr/>
        </p:nvSpPr>
        <p:spPr bwMode="auto">
          <a:xfrm>
            <a:off x="5046884" y="545828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l</a:t>
            </a:r>
            <a:endParaRPr lang="en-US" altLang="zh-CN" sz="2400" b="1" dirty="0">
              <a:ea typeface="楷体_GB2312" pitchFamily="49" charset="-122"/>
            </a:endParaRPr>
          </a:p>
        </p:txBody>
      </p:sp>
      <p:sp>
        <p:nvSpPr>
          <p:cNvPr id="56" name="Text Box 27"/>
          <p:cNvSpPr txBox="1">
            <a:spLocks noChangeArrowheads="1"/>
          </p:cNvSpPr>
          <p:nvPr/>
        </p:nvSpPr>
        <p:spPr bwMode="auto">
          <a:xfrm>
            <a:off x="8783859" y="5437643"/>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57" name="Text Box 28"/>
          <p:cNvSpPr txBox="1">
            <a:spLocks noChangeArrowheads="1"/>
          </p:cNvSpPr>
          <p:nvPr/>
        </p:nvSpPr>
        <p:spPr bwMode="auto">
          <a:xfrm>
            <a:off x="6561359" y="545828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58" name="Text Box 29"/>
          <p:cNvSpPr txBox="1">
            <a:spLocks noChangeArrowheads="1"/>
          </p:cNvSpPr>
          <p:nvPr/>
        </p:nvSpPr>
        <p:spPr bwMode="auto">
          <a:xfrm>
            <a:off x="9223597" y="5467805"/>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59" name="Group 30"/>
          <p:cNvGrpSpPr>
            <a:grpSpLocks/>
          </p:cNvGrpSpPr>
          <p:nvPr/>
        </p:nvGrpSpPr>
        <p:grpSpPr bwMode="auto">
          <a:xfrm>
            <a:off x="1816322" y="4388305"/>
            <a:ext cx="952500" cy="998538"/>
            <a:chOff x="2157" y="2844"/>
            <a:chExt cx="900" cy="780"/>
          </a:xfrm>
        </p:grpSpPr>
        <p:sp>
          <p:nvSpPr>
            <p:cNvPr id="60"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61"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2" name="Text Box 34"/>
          <p:cNvSpPr txBox="1">
            <a:spLocks noChangeArrowheads="1"/>
          </p:cNvSpPr>
          <p:nvPr/>
        </p:nvSpPr>
        <p:spPr bwMode="auto">
          <a:xfrm>
            <a:off x="1816322" y="597263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63" name="Text Box 35"/>
          <p:cNvSpPr txBox="1">
            <a:spLocks noChangeArrowheads="1"/>
          </p:cNvSpPr>
          <p:nvPr/>
        </p:nvSpPr>
        <p:spPr bwMode="auto">
          <a:xfrm>
            <a:off x="3327622" y="5972630"/>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p>
        </p:txBody>
      </p:sp>
      <p:sp>
        <p:nvSpPr>
          <p:cNvPr id="3" name="文本框 2"/>
          <p:cNvSpPr txBox="1"/>
          <p:nvPr/>
        </p:nvSpPr>
        <p:spPr>
          <a:xfrm>
            <a:off x="3323661" y="2500413"/>
            <a:ext cx="2592372" cy="523220"/>
          </a:xfrm>
          <a:prstGeom prst="rect">
            <a:avLst/>
          </a:prstGeom>
          <a:noFill/>
        </p:spPr>
        <p:txBody>
          <a:bodyPr wrap="square" rtlCol="0">
            <a:spAutoFit/>
          </a:bodyPr>
          <a:lstStyle/>
          <a:p>
            <a:r>
              <a:rPr lang="en-US" altLang="zh-CN" sz="2800" dirty="0"/>
              <a:t>hello</a:t>
            </a:r>
            <a:endParaRPr lang="zh-CN" altLang="en-US" sz="2800" dirty="0" err="1"/>
          </a:p>
        </p:txBody>
      </p:sp>
      <p:sp>
        <p:nvSpPr>
          <p:cNvPr id="4" name="文本框 3"/>
          <p:cNvSpPr txBox="1"/>
          <p:nvPr/>
        </p:nvSpPr>
        <p:spPr>
          <a:xfrm>
            <a:off x="3367645" y="4414133"/>
            <a:ext cx="1280556" cy="523220"/>
          </a:xfrm>
          <a:prstGeom prst="rect">
            <a:avLst/>
          </a:prstGeom>
          <a:noFill/>
        </p:spPr>
        <p:txBody>
          <a:bodyPr wrap="square" rtlCol="0">
            <a:spAutoFit/>
          </a:bodyPr>
          <a:lstStyle/>
          <a:p>
            <a:r>
              <a:rPr lang="en-US" altLang="zh-CN" sz="2800" dirty="0" err="1"/>
              <a:t>olleh</a:t>
            </a:r>
            <a:endParaRPr lang="zh-CN" altLang="en-US" sz="2800" dirty="0" err="1"/>
          </a:p>
        </p:txBody>
      </p:sp>
    </p:spTree>
    <p:extLst>
      <p:ext uri="{BB962C8B-B14F-4D97-AF65-F5344CB8AC3E}">
        <p14:creationId xmlns:p14="http://schemas.microsoft.com/office/powerpoint/2010/main" val="39942763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4"/>
          <p:cNvSpPr>
            <a:spLocks noGrp="1"/>
          </p:cNvSpPr>
          <p:nvPr>
            <p:ph type="sldNum" sz="quarter" idx="12"/>
          </p:nvPr>
        </p:nvSpPr>
        <p:spPr>
          <a:xfrm>
            <a:off x="4648200" y="4667792"/>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fld id="{A79AFBCB-B9CF-4446-B09D-D2A2760E6828}" type="slidenum">
              <a:rPr kumimoji="0" lang="en-US" altLang="zh-CN" sz="1200">
                <a:latin typeface="Arial" panose="020B0604020202020204" pitchFamily="34" charset="0"/>
              </a:rPr>
              <a:pPr algn="ctr">
                <a:spcBef>
                  <a:spcPct val="0"/>
                </a:spcBef>
                <a:buFontTx/>
                <a:buNone/>
              </a:pPr>
              <a:t>65</a:t>
            </a:fld>
            <a:endParaRPr kumimoji="0" lang="en-US" altLang="zh-CN" sz="1200">
              <a:latin typeface="Arial" panose="020B0604020202020204" pitchFamily="34" charset="0"/>
            </a:endParaRPr>
          </a:p>
        </p:txBody>
      </p:sp>
      <p:sp>
        <p:nvSpPr>
          <p:cNvPr id="6" name="Rectangle 6"/>
          <p:cNvSpPr>
            <a:spLocks noChangeArrowheads="1"/>
          </p:cNvSpPr>
          <p:nvPr/>
        </p:nvSpPr>
        <p:spPr bwMode="auto">
          <a:xfrm>
            <a:off x="1820678" y="1703930"/>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2268353" y="1703930"/>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a:grpSpLocks/>
          </p:cNvGrpSpPr>
          <p:nvPr/>
        </p:nvGrpSpPr>
        <p:grpSpPr bwMode="auto">
          <a:xfrm>
            <a:off x="3390715" y="1703930"/>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a:grpSpLocks/>
          </p:cNvGrpSpPr>
          <p:nvPr/>
        </p:nvGrpSpPr>
        <p:grpSpPr bwMode="auto">
          <a:xfrm>
            <a:off x="6527615" y="1703930"/>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a:grpSpLocks/>
          </p:cNvGrpSpPr>
          <p:nvPr/>
        </p:nvGrpSpPr>
        <p:grpSpPr bwMode="auto">
          <a:xfrm>
            <a:off x="8770753" y="1703930"/>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solidFill>
                  <a:srgbClr val="C00000"/>
                </a:solidFill>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solidFill>
                  <a:srgbClr val="C00000"/>
                </a:solidFill>
                <a:ea typeface="楷体_GB2312" pitchFamily="49" charset="-122"/>
              </a:endParaRPr>
            </a:p>
          </p:txBody>
        </p:sp>
      </p:grpSp>
      <p:grpSp>
        <p:nvGrpSpPr>
          <p:cNvPr id="17" name="Group 17"/>
          <p:cNvGrpSpPr>
            <a:grpSpLocks/>
          </p:cNvGrpSpPr>
          <p:nvPr/>
        </p:nvGrpSpPr>
        <p:grpSpPr bwMode="auto">
          <a:xfrm>
            <a:off x="4960753" y="1703930"/>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1" name="Line 21"/>
          <p:cNvSpPr>
            <a:spLocks noChangeShapeType="1"/>
          </p:cNvSpPr>
          <p:nvPr/>
        </p:nvSpPr>
        <p:spPr bwMode="auto">
          <a:xfrm>
            <a:off x="4287653" y="1954755"/>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5633853" y="1954755"/>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7200715" y="1954755"/>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8324665" y="1954755"/>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3449453" y="1765842"/>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26" name="Text Box 26"/>
          <p:cNvSpPr txBox="1">
            <a:spLocks noChangeArrowheads="1"/>
          </p:cNvSpPr>
          <p:nvPr/>
        </p:nvSpPr>
        <p:spPr bwMode="auto">
          <a:xfrm>
            <a:off x="5051240" y="176584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27" name="Text Box 27"/>
          <p:cNvSpPr txBox="1">
            <a:spLocks noChangeArrowheads="1"/>
          </p:cNvSpPr>
          <p:nvPr/>
        </p:nvSpPr>
        <p:spPr bwMode="auto">
          <a:xfrm>
            <a:off x="8788215" y="1745205"/>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28" name="Text Box 28"/>
          <p:cNvSpPr txBox="1">
            <a:spLocks noChangeArrowheads="1"/>
          </p:cNvSpPr>
          <p:nvPr/>
        </p:nvSpPr>
        <p:spPr bwMode="auto">
          <a:xfrm>
            <a:off x="6565715" y="176584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9227953" y="1775367"/>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a:grpSpLocks/>
          </p:cNvGrpSpPr>
          <p:nvPr/>
        </p:nvGrpSpPr>
        <p:grpSpPr bwMode="auto">
          <a:xfrm>
            <a:off x="1820678" y="695867"/>
            <a:ext cx="952500" cy="998538"/>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1820678" y="2280192"/>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35" name="Rectangle 6"/>
          <p:cNvSpPr>
            <a:spLocks noChangeArrowheads="1"/>
          </p:cNvSpPr>
          <p:nvPr/>
        </p:nvSpPr>
        <p:spPr bwMode="auto">
          <a:xfrm>
            <a:off x="1816322" y="3815760"/>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36" name="Rectangle 7"/>
          <p:cNvSpPr>
            <a:spLocks noChangeArrowheads="1"/>
          </p:cNvSpPr>
          <p:nvPr/>
        </p:nvSpPr>
        <p:spPr bwMode="auto">
          <a:xfrm>
            <a:off x="2263997" y="3815760"/>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37" name="Group 8"/>
          <p:cNvGrpSpPr>
            <a:grpSpLocks/>
          </p:cNvGrpSpPr>
          <p:nvPr/>
        </p:nvGrpSpPr>
        <p:grpSpPr bwMode="auto">
          <a:xfrm>
            <a:off x="3386359" y="3815760"/>
            <a:ext cx="896938" cy="503237"/>
            <a:chOff x="4680" y="5028"/>
            <a:chExt cx="720" cy="312"/>
          </a:xfrm>
        </p:grpSpPr>
        <p:sp>
          <p:nvSpPr>
            <p:cNvPr id="38"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9"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0" name="Group 11"/>
          <p:cNvGrpSpPr>
            <a:grpSpLocks/>
          </p:cNvGrpSpPr>
          <p:nvPr/>
        </p:nvGrpSpPr>
        <p:grpSpPr bwMode="auto">
          <a:xfrm>
            <a:off x="6523259" y="3815760"/>
            <a:ext cx="898525" cy="503237"/>
            <a:chOff x="4680" y="5028"/>
            <a:chExt cx="720" cy="312"/>
          </a:xfrm>
        </p:grpSpPr>
        <p:sp>
          <p:nvSpPr>
            <p:cNvPr id="41"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2"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43" name="Group 14"/>
          <p:cNvGrpSpPr>
            <a:grpSpLocks/>
          </p:cNvGrpSpPr>
          <p:nvPr/>
        </p:nvGrpSpPr>
        <p:grpSpPr bwMode="auto">
          <a:xfrm>
            <a:off x="8766397" y="3815760"/>
            <a:ext cx="896937" cy="503237"/>
            <a:chOff x="4680" y="5028"/>
            <a:chExt cx="720" cy="312"/>
          </a:xfrm>
        </p:grpSpPr>
        <p:sp>
          <p:nvSpPr>
            <p:cNvPr id="44"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5"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46" name="Group 17"/>
          <p:cNvGrpSpPr>
            <a:grpSpLocks/>
          </p:cNvGrpSpPr>
          <p:nvPr/>
        </p:nvGrpSpPr>
        <p:grpSpPr bwMode="auto">
          <a:xfrm>
            <a:off x="4956397" y="3815760"/>
            <a:ext cx="893762" cy="503237"/>
            <a:chOff x="4680" y="5028"/>
            <a:chExt cx="720" cy="312"/>
          </a:xfrm>
        </p:grpSpPr>
        <p:sp>
          <p:nvSpPr>
            <p:cNvPr id="47"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8"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49" name="Line 20"/>
          <p:cNvSpPr>
            <a:spLocks noChangeShapeType="1"/>
          </p:cNvSpPr>
          <p:nvPr/>
        </p:nvSpPr>
        <p:spPr bwMode="auto">
          <a:xfrm>
            <a:off x="2489422" y="4066585"/>
            <a:ext cx="8969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22"/>
          <p:cNvSpPr>
            <a:spLocks noChangeShapeType="1"/>
          </p:cNvSpPr>
          <p:nvPr/>
        </p:nvSpPr>
        <p:spPr bwMode="auto">
          <a:xfrm>
            <a:off x="5629497" y="4066585"/>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23"/>
          <p:cNvSpPr>
            <a:spLocks noChangeShapeType="1"/>
          </p:cNvSpPr>
          <p:nvPr/>
        </p:nvSpPr>
        <p:spPr bwMode="auto">
          <a:xfrm>
            <a:off x="7196359" y="4066585"/>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24"/>
          <p:cNvSpPr>
            <a:spLocks noChangeShapeType="1"/>
          </p:cNvSpPr>
          <p:nvPr/>
        </p:nvSpPr>
        <p:spPr bwMode="auto">
          <a:xfrm>
            <a:off x="8320309" y="4066585"/>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Text Box 25"/>
          <p:cNvSpPr txBox="1">
            <a:spLocks noChangeArrowheads="1"/>
          </p:cNvSpPr>
          <p:nvPr/>
        </p:nvSpPr>
        <p:spPr bwMode="auto">
          <a:xfrm>
            <a:off x="3445097" y="3877672"/>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55" name="Text Box 26"/>
          <p:cNvSpPr txBox="1">
            <a:spLocks noChangeArrowheads="1"/>
          </p:cNvSpPr>
          <p:nvPr/>
        </p:nvSpPr>
        <p:spPr bwMode="auto">
          <a:xfrm>
            <a:off x="5046884" y="387767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56" name="Text Box 27"/>
          <p:cNvSpPr txBox="1">
            <a:spLocks noChangeArrowheads="1"/>
          </p:cNvSpPr>
          <p:nvPr/>
        </p:nvSpPr>
        <p:spPr bwMode="auto">
          <a:xfrm>
            <a:off x="8783859" y="3857035"/>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57" name="Text Box 28"/>
          <p:cNvSpPr txBox="1">
            <a:spLocks noChangeArrowheads="1"/>
          </p:cNvSpPr>
          <p:nvPr/>
        </p:nvSpPr>
        <p:spPr bwMode="auto">
          <a:xfrm>
            <a:off x="6561359" y="3877672"/>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58" name="Text Box 29"/>
          <p:cNvSpPr txBox="1">
            <a:spLocks noChangeArrowheads="1"/>
          </p:cNvSpPr>
          <p:nvPr/>
        </p:nvSpPr>
        <p:spPr bwMode="auto">
          <a:xfrm>
            <a:off x="9223597" y="3887197"/>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59" name="Group 30"/>
          <p:cNvGrpSpPr>
            <a:grpSpLocks/>
          </p:cNvGrpSpPr>
          <p:nvPr/>
        </p:nvGrpSpPr>
        <p:grpSpPr bwMode="auto">
          <a:xfrm>
            <a:off x="1816322" y="2807697"/>
            <a:ext cx="952500" cy="998538"/>
            <a:chOff x="2157" y="2844"/>
            <a:chExt cx="900" cy="780"/>
          </a:xfrm>
        </p:grpSpPr>
        <p:sp>
          <p:nvSpPr>
            <p:cNvPr id="60"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61"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2" name="Text Box 34"/>
          <p:cNvSpPr txBox="1">
            <a:spLocks noChangeArrowheads="1"/>
          </p:cNvSpPr>
          <p:nvPr/>
        </p:nvSpPr>
        <p:spPr bwMode="auto">
          <a:xfrm>
            <a:off x="1816322" y="4392022"/>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3" name="文本框 2"/>
          <p:cNvSpPr txBox="1"/>
          <p:nvPr/>
        </p:nvSpPr>
        <p:spPr>
          <a:xfrm>
            <a:off x="3323661" y="919805"/>
            <a:ext cx="641348" cy="523220"/>
          </a:xfrm>
          <a:prstGeom prst="rect">
            <a:avLst/>
          </a:prstGeom>
          <a:noFill/>
        </p:spPr>
        <p:txBody>
          <a:bodyPr wrap="square" rtlCol="0">
            <a:spAutoFit/>
          </a:bodyPr>
          <a:lstStyle/>
          <a:p>
            <a:r>
              <a:rPr lang="en-US" altLang="zh-CN" sz="2800" dirty="0"/>
              <a:t>p</a:t>
            </a:r>
            <a:endParaRPr lang="zh-CN" altLang="en-US" sz="2800" dirty="0" err="1"/>
          </a:p>
        </p:txBody>
      </p:sp>
      <p:sp>
        <p:nvSpPr>
          <p:cNvPr id="4" name="文本框 3"/>
          <p:cNvSpPr txBox="1"/>
          <p:nvPr/>
        </p:nvSpPr>
        <p:spPr>
          <a:xfrm>
            <a:off x="5052344" y="914060"/>
            <a:ext cx="577153" cy="523220"/>
          </a:xfrm>
          <a:prstGeom prst="rect">
            <a:avLst/>
          </a:prstGeom>
          <a:noFill/>
        </p:spPr>
        <p:txBody>
          <a:bodyPr wrap="square" rtlCol="0">
            <a:spAutoFit/>
          </a:bodyPr>
          <a:lstStyle/>
          <a:p>
            <a:r>
              <a:rPr lang="en-US" altLang="zh-CN" sz="2800" dirty="0"/>
              <a:t>q</a:t>
            </a:r>
            <a:endParaRPr lang="zh-CN" altLang="en-US" sz="2800" dirty="0" err="1"/>
          </a:p>
        </p:txBody>
      </p:sp>
      <p:cxnSp>
        <p:nvCxnSpPr>
          <p:cNvPr id="12288" name="直接连接符 12287"/>
          <p:cNvCxnSpPr/>
          <p:nvPr/>
        </p:nvCxnSpPr>
        <p:spPr>
          <a:xfrm flipH="1">
            <a:off x="2376127" y="1880820"/>
            <a:ext cx="103228" cy="170523"/>
          </a:xfrm>
          <a:prstGeom prst="line">
            <a:avLst/>
          </a:prstGeom>
        </p:spPr>
        <p:style>
          <a:lnRef idx="1">
            <a:schemeClr val="dk1"/>
          </a:lnRef>
          <a:fillRef idx="0">
            <a:schemeClr val="dk1"/>
          </a:fillRef>
          <a:effectRef idx="0">
            <a:schemeClr val="dk1"/>
          </a:effectRef>
          <a:fontRef idx="minor">
            <a:schemeClr val="tx1"/>
          </a:fontRef>
        </p:style>
      </p:cxnSp>
      <p:cxnSp>
        <p:nvCxnSpPr>
          <p:cNvPr id="12292" name="直接连接符 12291"/>
          <p:cNvCxnSpPr/>
          <p:nvPr/>
        </p:nvCxnSpPr>
        <p:spPr>
          <a:xfrm>
            <a:off x="2454860" y="1877583"/>
            <a:ext cx="143336" cy="147634"/>
          </a:xfrm>
          <a:prstGeom prst="line">
            <a:avLst/>
          </a:prstGeom>
        </p:spPr>
        <p:style>
          <a:lnRef idx="1">
            <a:schemeClr val="dk1"/>
          </a:lnRef>
          <a:fillRef idx="0">
            <a:schemeClr val="dk1"/>
          </a:fillRef>
          <a:effectRef idx="0">
            <a:schemeClr val="dk1"/>
          </a:effectRef>
          <a:fontRef idx="minor">
            <a:schemeClr val="tx1"/>
          </a:fontRef>
        </p:style>
      </p:cxnSp>
      <p:cxnSp>
        <p:nvCxnSpPr>
          <p:cNvPr id="12295" name="直接连接符 12294"/>
          <p:cNvCxnSpPr/>
          <p:nvPr/>
        </p:nvCxnSpPr>
        <p:spPr>
          <a:xfrm flipH="1">
            <a:off x="7798526" y="65309"/>
            <a:ext cx="65314" cy="118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97" name="直接连接符 12296"/>
          <p:cNvCxnSpPr/>
          <p:nvPr/>
        </p:nvCxnSpPr>
        <p:spPr>
          <a:xfrm flipH="1">
            <a:off x="3965009" y="3916451"/>
            <a:ext cx="111947" cy="270974"/>
          </a:xfrm>
          <a:prstGeom prst="line">
            <a:avLst/>
          </a:prstGeom>
        </p:spPr>
        <p:style>
          <a:lnRef idx="1">
            <a:schemeClr val="dk1"/>
          </a:lnRef>
          <a:fillRef idx="0">
            <a:schemeClr val="dk1"/>
          </a:fillRef>
          <a:effectRef idx="0">
            <a:schemeClr val="dk1"/>
          </a:effectRef>
          <a:fontRef idx="minor">
            <a:schemeClr val="tx1"/>
          </a:fontRef>
        </p:style>
      </p:cxnSp>
      <p:cxnSp>
        <p:nvCxnSpPr>
          <p:cNvPr id="12299" name="直接连接符 12298"/>
          <p:cNvCxnSpPr/>
          <p:nvPr/>
        </p:nvCxnSpPr>
        <p:spPr>
          <a:xfrm>
            <a:off x="4076956" y="3916451"/>
            <a:ext cx="129353" cy="270974"/>
          </a:xfrm>
          <a:prstGeom prst="line">
            <a:avLst/>
          </a:prstGeom>
        </p:spPr>
        <p:style>
          <a:lnRef idx="1">
            <a:schemeClr val="dk1"/>
          </a:lnRef>
          <a:fillRef idx="0">
            <a:schemeClr val="dk1"/>
          </a:fillRef>
          <a:effectRef idx="0">
            <a:schemeClr val="dk1"/>
          </a:effectRef>
          <a:fontRef idx="minor">
            <a:schemeClr val="tx1"/>
          </a:fontRef>
        </p:style>
      </p:cxnSp>
      <p:sp>
        <p:nvSpPr>
          <p:cNvPr id="84" name="文本框 83"/>
          <p:cNvSpPr txBox="1"/>
          <p:nvPr/>
        </p:nvSpPr>
        <p:spPr>
          <a:xfrm>
            <a:off x="5179837" y="3145210"/>
            <a:ext cx="670322" cy="523220"/>
          </a:xfrm>
          <a:prstGeom prst="rect">
            <a:avLst/>
          </a:prstGeom>
          <a:noFill/>
        </p:spPr>
        <p:txBody>
          <a:bodyPr wrap="square" rtlCol="0">
            <a:spAutoFit/>
          </a:bodyPr>
          <a:lstStyle/>
          <a:p>
            <a:r>
              <a:rPr lang="en-US" altLang="zh-CN" sz="2800" dirty="0"/>
              <a:t>p</a:t>
            </a:r>
            <a:endParaRPr lang="zh-CN" altLang="en-US" sz="2800" dirty="0" err="1"/>
          </a:p>
        </p:txBody>
      </p:sp>
      <p:sp>
        <p:nvSpPr>
          <p:cNvPr id="85" name="文本框 84"/>
          <p:cNvSpPr txBox="1"/>
          <p:nvPr/>
        </p:nvSpPr>
        <p:spPr>
          <a:xfrm>
            <a:off x="6747890" y="3156343"/>
            <a:ext cx="577153" cy="523220"/>
          </a:xfrm>
          <a:prstGeom prst="rect">
            <a:avLst/>
          </a:prstGeom>
          <a:noFill/>
        </p:spPr>
        <p:txBody>
          <a:bodyPr wrap="square" rtlCol="0">
            <a:spAutoFit/>
          </a:bodyPr>
          <a:lstStyle/>
          <a:p>
            <a:r>
              <a:rPr lang="en-US" altLang="zh-CN" sz="2800" dirty="0"/>
              <a:t>q</a:t>
            </a:r>
            <a:endParaRPr lang="zh-CN" altLang="en-US" sz="2800" dirty="0" err="1"/>
          </a:p>
        </p:txBody>
      </p:sp>
      <p:sp>
        <p:nvSpPr>
          <p:cNvPr id="87" name="Rectangle 6"/>
          <p:cNvSpPr>
            <a:spLocks noChangeArrowheads="1"/>
          </p:cNvSpPr>
          <p:nvPr/>
        </p:nvSpPr>
        <p:spPr bwMode="auto">
          <a:xfrm>
            <a:off x="1864219" y="5718586"/>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88" name="Rectangle 7"/>
          <p:cNvSpPr>
            <a:spLocks noChangeArrowheads="1"/>
          </p:cNvSpPr>
          <p:nvPr/>
        </p:nvSpPr>
        <p:spPr bwMode="auto">
          <a:xfrm>
            <a:off x="2311894" y="5718586"/>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9" name="Group 8"/>
          <p:cNvGrpSpPr>
            <a:grpSpLocks/>
          </p:cNvGrpSpPr>
          <p:nvPr/>
        </p:nvGrpSpPr>
        <p:grpSpPr bwMode="auto">
          <a:xfrm>
            <a:off x="3434256" y="5718586"/>
            <a:ext cx="896938" cy="503237"/>
            <a:chOff x="4680" y="5028"/>
            <a:chExt cx="720" cy="312"/>
          </a:xfrm>
        </p:grpSpPr>
        <p:sp>
          <p:nvSpPr>
            <p:cNvPr id="90"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91"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92" name="Group 11"/>
          <p:cNvGrpSpPr>
            <a:grpSpLocks/>
          </p:cNvGrpSpPr>
          <p:nvPr/>
        </p:nvGrpSpPr>
        <p:grpSpPr bwMode="auto">
          <a:xfrm>
            <a:off x="6571156" y="5718586"/>
            <a:ext cx="898525" cy="503237"/>
            <a:chOff x="4680" y="5028"/>
            <a:chExt cx="720" cy="312"/>
          </a:xfrm>
        </p:grpSpPr>
        <p:sp>
          <p:nvSpPr>
            <p:cNvPr id="93"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94"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95" name="Group 14"/>
          <p:cNvGrpSpPr>
            <a:grpSpLocks/>
          </p:cNvGrpSpPr>
          <p:nvPr/>
        </p:nvGrpSpPr>
        <p:grpSpPr bwMode="auto">
          <a:xfrm>
            <a:off x="8814294" y="5718586"/>
            <a:ext cx="896937" cy="503237"/>
            <a:chOff x="4680" y="5028"/>
            <a:chExt cx="720" cy="312"/>
          </a:xfrm>
        </p:grpSpPr>
        <p:sp>
          <p:nvSpPr>
            <p:cNvPr id="96"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97"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98" name="Group 17"/>
          <p:cNvGrpSpPr>
            <a:grpSpLocks/>
          </p:cNvGrpSpPr>
          <p:nvPr/>
        </p:nvGrpSpPr>
        <p:grpSpPr bwMode="auto">
          <a:xfrm>
            <a:off x="5004294" y="5718586"/>
            <a:ext cx="893762" cy="503237"/>
            <a:chOff x="4680" y="5028"/>
            <a:chExt cx="720" cy="312"/>
          </a:xfrm>
        </p:grpSpPr>
        <p:sp>
          <p:nvSpPr>
            <p:cNvPr id="99"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0"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101" name="Line 20"/>
          <p:cNvSpPr>
            <a:spLocks noChangeShapeType="1"/>
          </p:cNvSpPr>
          <p:nvPr/>
        </p:nvSpPr>
        <p:spPr bwMode="auto">
          <a:xfrm>
            <a:off x="2537319" y="5969411"/>
            <a:ext cx="8969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 name="Line 22"/>
          <p:cNvSpPr>
            <a:spLocks noChangeShapeType="1"/>
          </p:cNvSpPr>
          <p:nvPr/>
        </p:nvSpPr>
        <p:spPr bwMode="auto">
          <a:xfrm>
            <a:off x="4110532" y="5956030"/>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 name="Line 23"/>
          <p:cNvSpPr>
            <a:spLocks noChangeShapeType="1"/>
          </p:cNvSpPr>
          <p:nvPr/>
        </p:nvSpPr>
        <p:spPr bwMode="auto">
          <a:xfrm>
            <a:off x="7244256" y="5969411"/>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24"/>
          <p:cNvSpPr>
            <a:spLocks noChangeShapeType="1"/>
          </p:cNvSpPr>
          <p:nvPr/>
        </p:nvSpPr>
        <p:spPr bwMode="auto">
          <a:xfrm>
            <a:off x="8368206" y="5969411"/>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 name="Text Box 25"/>
          <p:cNvSpPr txBox="1">
            <a:spLocks noChangeArrowheads="1"/>
          </p:cNvSpPr>
          <p:nvPr/>
        </p:nvSpPr>
        <p:spPr bwMode="auto">
          <a:xfrm>
            <a:off x="3492994" y="5780498"/>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a:t>
            </a:r>
            <a:endParaRPr lang="en-US" altLang="zh-CN" sz="2400" b="1" dirty="0">
              <a:ea typeface="楷体_GB2312" pitchFamily="49" charset="-122"/>
            </a:endParaRPr>
          </a:p>
        </p:txBody>
      </p:sp>
      <p:sp>
        <p:nvSpPr>
          <p:cNvPr id="106" name="Text Box 26"/>
          <p:cNvSpPr txBox="1">
            <a:spLocks noChangeArrowheads="1"/>
          </p:cNvSpPr>
          <p:nvPr/>
        </p:nvSpPr>
        <p:spPr bwMode="auto">
          <a:xfrm>
            <a:off x="5094781" y="5780498"/>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107" name="Text Box 27"/>
          <p:cNvSpPr txBox="1">
            <a:spLocks noChangeArrowheads="1"/>
          </p:cNvSpPr>
          <p:nvPr/>
        </p:nvSpPr>
        <p:spPr bwMode="auto">
          <a:xfrm>
            <a:off x="8831756" y="5759861"/>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o</a:t>
            </a:r>
            <a:endParaRPr lang="en-US" altLang="zh-CN" sz="2400" b="1" dirty="0">
              <a:ea typeface="楷体_GB2312" pitchFamily="49" charset="-122"/>
            </a:endParaRPr>
          </a:p>
        </p:txBody>
      </p:sp>
      <p:sp>
        <p:nvSpPr>
          <p:cNvPr id="108" name="Text Box 28"/>
          <p:cNvSpPr txBox="1">
            <a:spLocks noChangeArrowheads="1"/>
          </p:cNvSpPr>
          <p:nvPr/>
        </p:nvSpPr>
        <p:spPr bwMode="auto">
          <a:xfrm>
            <a:off x="6609256" y="5780498"/>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109" name="Text Box 29"/>
          <p:cNvSpPr txBox="1">
            <a:spLocks noChangeArrowheads="1"/>
          </p:cNvSpPr>
          <p:nvPr/>
        </p:nvSpPr>
        <p:spPr bwMode="auto">
          <a:xfrm>
            <a:off x="9271494" y="5790023"/>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110" name="Group 30"/>
          <p:cNvGrpSpPr>
            <a:grpSpLocks/>
          </p:cNvGrpSpPr>
          <p:nvPr/>
        </p:nvGrpSpPr>
        <p:grpSpPr bwMode="auto">
          <a:xfrm>
            <a:off x="1864219" y="4710523"/>
            <a:ext cx="952500" cy="998538"/>
            <a:chOff x="2157" y="2844"/>
            <a:chExt cx="900" cy="780"/>
          </a:xfrm>
        </p:grpSpPr>
        <p:sp>
          <p:nvSpPr>
            <p:cNvPr id="11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112"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3" name="Text Box 34"/>
          <p:cNvSpPr txBox="1">
            <a:spLocks noChangeArrowheads="1"/>
          </p:cNvSpPr>
          <p:nvPr/>
        </p:nvSpPr>
        <p:spPr bwMode="auto">
          <a:xfrm>
            <a:off x="1864219" y="6294848"/>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cxnSp>
        <p:nvCxnSpPr>
          <p:cNvPr id="114" name="直接连接符 113"/>
          <p:cNvCxnSpPr/>
          <p:nvPr/>
        </p:nvCxnSpPr>
        <p:spPr>
          <a:xfrm flipH="1">
            <a:off x="5593353" y="5896963"/>
            <a:ext cx="111947" cy="270974"/>
          </a:xfrm>
          <a:prstGeom prst="line">
            <a:avLst/>
          </a:prstGeom>
        </p:spPr>
        <p:style>
          <a:lnRef idx="1">
            <a:schemeClr val="dk1"/>
          </a:lnRef>
          <a:fillRef idx="0">
            <a:schemeClr val="dk1"/>
          </a:fillRef>
          <a:effectRef idx="0">
            <a:schemeClr val="dk1"/>
          </a:effectRef>
          <a:fontRef idx="minor">
            <a:schemeClr val="tx1"/>
          </a:fontRef>
        </p:style>
      </p:cxnSp>
      <p:cxnSp>
        <p:nvCxnSpPr>
          <p:cNvPr id="115" name="直接连接符 114"/>
          <p:cNvCxnSpPr/>
          <p:nvPr/>
        </p:nvCxnSpPr>
        <p:spPr>
          <a:xfrm>
            <a:off x="5681028" y="5896963"/>
            <a:ext cx="129353" cy="270974"/>
          </a:xfrm>
          <a:prstGeom prst="line">
            <a:avLst/>
          </a:prstGeom>
        </p:spPr>
        <p:style>
          <a:lnRef idx="1">
            <a:schemeClr val="dk1"/>
          </a:lnRef>
          <a:fillRef idx="0">
            <a:schemeClr val="dk1"/>
          </a:fillRef>
          <a:effectRef idx="0">
            <a:schemeClr val="dk1"/>
          </a:effectRef>
          <a:fontRef idx="minor">
            <a:schemeClr val="tx1"/>
          </a:fontRef>
        </p:style>
      </p:cxnSp>
      <p:sp>
        <p:nvSpPr>
          <p:cNvPr id="116" name="文本框 115"/>
          <p:cNvSpPr txBox="1"/>
          <p:nvPr/>
        </p:nvSpPr>
        <p:spPr>
          <a:xfrm>
            <a:off x="6518367" y="5146768"/>
            <a:ext cx="646787" cy="523220"/>
          </a:xfrm>
          <a:prstGeom prst="rect">
            <a:avLst/>
          </a:prstGeom>
          <a:noFill/>
        </p:spPr>
        <p:txBody>
          <a:bodyPr wrap="square" rtlCol="0">
            <a:spAutoFit/>
          </a:bodyPr>
          <a:lstStyle/>
          <a:p>
            <a:r>
              <a:rPr lang="en-US" altLang="zh-CN" sz="2800" dirty="0"/>
              <a:t>p</a:t>
            </a:r>
            <a:endParaRPr lang="zh-CN" altLang="en-US" sz="2800" dirty="0" err="1"/>
          </a:p>
        </p:txBody>
      </p:sp>
      <p:sp>
        <p:nvSpPr>
          <p:cNvPr id="117" name="文本框 116"/>
          <p:cNvSpPr txBox="1"/>
          <p:nvPr/>
        </p:nvSpPr>
        <p:spPr>
          <a:xfrm>
            <a:off x="7772400" y="5133704"/>
            <a:ext cx="619443" cy="523220"/>
          </a:xfrm>
          <a:prstGeom prst="rect">
            <a:avLst/>
          </a:prstGeom>
          <a:noFill/>
        </p:spPr>
        <p:txBody>
          <a:bodyPr wrap="square" rtlCol="0">
            <a:spAutoFit/>
          </a:bodyPr>
          <a:lstStyle/>
          <a:p>
            <a:r>
              <a:rPr lang="en-US" altLang="zh-CN" sz="2800" dirty="0"/>
              <a:t>q</a:t>
            </a:r>
            <a:endParaRPr lang="zh-CN" altLang="en-US" sz="2800" dirty="0" err="1"/>
          </a:p>
        </p:txBody>
      </p:sp>
    </p:spTree>
    <p:extLst>
      <p:ext uri="{BB962C8B-B14F-4D97-AF65-F5344CB8AC3E}">
        <p14:creationId xmlns:p14="http://schemas.microsoft.com/office/powerpoint/2010/main" val="18396387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178904" y="839327"/>
            <a:ext cx="11162884" cy="574183"/>
          </a:xfrm>
        </p:spPr>
        <p:txBody>
          <a:bodyPr>
            <a:normAutofit/>
          </a:bodyPr>
          <a:lstStyle/>
          <a:p>
            <a:pPr marL="838200" indent="-838200">
              <a:defRPr/>
            </a:pPr>
            <a:r>
              <a:rPr lang="zh-CN" altLang="en-US" dirty="0">
                <a:highlight>
                  <a:srgbClr val="FFFF00"/>
                </a:highlight>
                <a:latin typeface="华文楷体" panose="02010600040101010101" pitchFamily="2" charset="-122"/>
                <a:ea typeface="华文楷体" panose="02010600040101010101" pitchFamily="2" charset="-122"/>
              </a:rPr>
              <a:t>“兄弟协同法”</a:t>
            </a:r>
            <a:r>
              <a:rPr lang="en-US" altLang="zh-CN" dirty="0">
                <a:highlight>
                  <a:srgbClr val="FFFF00"/>
                </a:highlight>
                <a:latin typeface="华文楷体" panose="02010600040101010101" pitchFamily="2" charset="-122"/>
                <a:ea typeface="华文楷体" panose="02010600040101010101" pitchFamily="2" charset="-122"/>
              </a:rPr>
              <a:t>+</a:t>
            </a:r>
            <a:r>
              <a:rPr lang="zh-CN" altLang="en-US" dirty="0">
                <a:highlight>
                  <a:srgbClr val="FFFF00"/>
                </a:highlight>
                <a:latin typeface="华文楷体" panose="02010600040101010101" pitchFamily="2" charset="-122"/>
                <a:ea typeface="华文楷体" panose="02010600040101010101" pitchFamily="2" charset="-122"/>
              </a:rPr>
              <a:t>“首席插入法”实现单链表的就地逆置</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304800" y="1643237"/>
            <a:ext cx="1013791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cs typeface="Times New Roman" panose="02020603050405020304" pitchFamily="18" charset="0"/>
              </a:rPr>
              <a:t>template &lt;class </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void </a:t>
            </a:r>
            <a:r>
              <a:rPr lang="en-US" altLang="zh-CN" sz="2800" dirty="0" err="1">
                <a:latin typeface="Times New Roman" panose="02020603050405020304" pitchFamily="18" charset="0"/>
                <a:cs typeface="Times New Roman" panose="02020603050405020304" pitchFamily="18" charset="0"/>
              </a:rPr>
              <a:t>linkList</a:t>
            </a:r>
            <a:r>
              <a:rPr lang="en-US" altLang="zh-CN" sz="2800" dirty="0">
                <a:latin typeface="Times New Roman" panose="02020603050405020304" pitchFamily="18" charset="0"/>
                <a:cs typeface="Times New Roman" panose="02020603050405020304" pitchFamily="18" charset="0"/>
              </a:rPr>
              <a:t>&lt;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&gt;::reverse()</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node&lt;</a:t>
            </a:r>
            <a:r>
              <a:rPr lang="en-US" altLang="zh-CN" sz="2800" dirty="0" err="1">
                <a:latin typeface="Times New Roman" panose="02020603050405020304" pitchFamily="18" charset="0"/>
                <a:cs typeface="Times New Roman" panose="02020603050405020304" pitchFamily="18" charset="0"/>
              </a:rPr>
              <a:t>elemType</a:t>
            </a:r>
            <a:r>
              <a:rPr lang="en-US" altLang="zh-CN" sz="2800" dirty="0">
                <a:latin typeface="Times New Roman" panose="02020603050405020304" pitchFamily="18" charset="0"/>
                <a:cs typeface="Times New Roman" panose="02020603050405020304" pitchFamily="18" charset="0"/>
              </a:rPr>
              <a:t>&gt; *p,*q;  </a:t>
            </a:r>
            <a:r>
              <a:rPr lang="en-US" altLang="zh-CN" sz="2800" dirty="0">
                <a:solidFill>
                  <a:schemeClr val="accent1"/>
                </a:solidFill>
                <a:latin typeface="Times New Roman" panose="02020603050405020304" pitchFamily="18" charset="0"/>
                <a:cs typeface="Times New Roman" panose="02020603050405020304" pitchFamily="18" charset="0"/>
              </a:rPr>
              <a:t>//</a:t>
            </a:r>
            <a:r>
              <a:rPr lang="zh-CN" altLang="zh-CN" sz="2800" dirty="0">
                <a:solidFill>
                  <a:schemeClr val="accent1"/>
                </a:solidFill>
                <a:latin typeface="Times New Roman" panose="02020603050405020304" pitchFamily="18" charset="0"/>
                <a:cs typeface="Times New Roman" panose="02020603050405020304" pitchFamily="18" charset="0"/>
              </a:rPr>
              <a:t>兄弟俩协同</a:t>
            </a:r>
          </a:p>
          <a:p>
            <a:r>
              <a:rPr lang="en-US" altLang="zh-CN" sz="2800" dirty="0">
                <a:latin typeface="Times New Roman" panose="02020603050405020304" pitchFamily="18" charset="0"/>
                <a:cs typeface="Times New Roman" panose="02020603050405020304" pitchFamily="18" charset="0"/>
              </a:rPr>
              <a:t>     p=head-&gt;next;   head-&gt;next = NULL;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while (p)</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  q = p-&gt;next;</a:t>
            </a:r>
            <a:endParaRPr lang="zh-CN" altLang="zh-CN" sz="2800" dirty="0">
              <a:latin typeface="Times New Roman" panose="02020603050405020304" pitchFamily="18" charset="0"/>
              <a:cs typeface="Times New Roman" panose="02020603050405020304" pitchFamily="18" charset="0"/>
            </a:endParaRPr>
          </a:p>
          <a:p>
            <a:r>
              <a:rPr lang="en-US" altLang="zh-CN" sz="2800" dirty="0">
                <a:highlight>
                  <a:srgbClr val="FFFF00"/>
                </a:highlight>
                <a:latin typeface="Times New Roman" panose="02020603050405020304" pitchFamily="18" charset="0"/>
                <a:cs typeface="Times New Roman" panose="02020603050405020304" pitchFamily="18" charset="0"/>
              </a:rPr>
              <a:t>        </a:t>
            </a:r>
            <a:r>
              <a:rPr lang="en-US" altLang="zh-CN" sz="2800" dirty="0">
                <a:solidFill>
                  <a:schemeClr val="accent1"/>
                </a:solidFill>
                <a:highlight>
                  <a:srgbClr val="FFFF00"/>
                </a:highlight>
                <a:latin typeface="Times New Roman" panose="02020603050405020304" pitchFamily="18" charset="0"/>
                <a:cs typeface="Times New Roman" panose="02020603050405020304" pitchFamily="18" charset="0"/>
              </a:rPr>
              <a:t>p-&gt;next = head-&gt;next; head-&gt;next = p; //</a:t>
            </a:r>
            <a:r>
              <a:rPr lang="zh-CN" altLang="zh-CN" sz="2800" dirty="0">
                <a:solidFill>
                  <a:schemeClr val="accent1"/>
                </a:solidFill>
                <a:highlight>
                  <a:srgbClr val="FFFF00"/>
                </a:highlight>
                <a:latin typeface="Times New Roman" panose="02020603050405020304" pitchFamily="18" charset="0"/>
                <a:cs typeface="Times New Roman" panose="02020603050405020304" pitchFamily="18" charset="0"/>
              </a:rPr>
              <a:t>首席插入</a:t>
            </a:r>
          </a:p>
          <a:p>
            <a:r>
              <a:rPr lang="en-US" altLang="zh-CN" sz="2800" dirty="0">
                <a:latin typeface="Times New Roman" panose="02020603050405020304" pitchFamily="18" charset="0"/>
                <a:cs typeface="Times New Roman" panose="02020603050405020304" pitchFamily="18" charset="0"/>
              </a:rPr>
              <a:t>        p=q;</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    }</a:t>
            </a:r>
            <a:endParaRPr lang="zh-CN" altLang="zh-CN"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a:t>
            </a:r>
            <a:endParaRPr lang="zh-CN" altLang="zh-CN" sz="2800" dirty="0">
              <a:latin typeface="Times New Roman" panose="02020603050405020304" pitchFamily="18" charset="0"/>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文本框 1">
            <a:extLst>
              <a:ext uri="{FF2B5EF4-FFF2-40B4-BE49-F238E27FC236}">
                <a16:creationId xmlns:a16="http://schemas.microsoft.com/office/drawing/2014/main" id="{EA0EA651-DBD6-FD7E-CA72-C1C14599A543}"/>
              </a:ext>
            </a:extLst>
          </p:cNvPr>
          <p:cNvSpPr txBox="1"/>
          <p:nvPr/>
        </p:nvSpPr>
        <p:spPr>
          <a:xfrm>
            <a:off x="6904233" y="5782832"/>
            <a:ext cx="3893906" cy="523220"/>
          </a:xfrm>
          <a:prstGeom prst="rect">
            <a:avLst/>
          </a:prstGeom>
          <a:noFill/>
        </p:spPr>
        <p:txBody>
          <a:bodyPr wrap="square" rtlCol="0">
            <a:spAutoFit/>
          </a:bodyPr>
          <a:lstStyle/>
          <a:p>
            <a:r>
              <a:rPr lang="zh-CN" altLang="en-US" sz="2800" dirty="0">
                <a:solidFill>
                  <a:schemeClr val="accent1"/>
                </a:solidFill>
              </a:rPr>
              <a:t>易错点： 心口不一</a:t>
            </a:r>
          </a:p>
        </p:txBody>
      </p:sp>
    </p:spTree>
    <p:extLst>
      <p:ext uri="{BB962C8B-B14F-4D97-AF65-F5344CB8AC3E}">
        <p14:creationId xmlns:p14="http://schemas.microsoft.com/office/powerpoint/2010/main" val="594051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178904" y="839327"/>
            <a:ext cx="11162884"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常见错误：</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78904" y="1447169"/>
            <a:ext cx="117348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93725" indent="-51435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指针</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未被初始化或者为空，读取其指向的字段如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p-&gt;data</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636588" indent="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如循环检查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所指的结点中值是否</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636588" indent="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可用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p=head-&gt;next;   while (</a:t>
            </a:r>
            <a:r>
              <a:rPr lang="en-US" altLang="zh-CN"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&amp;&amp; p-&gt;data!=x) p=p-&gt;next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插入时，</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首先指向了首结点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p=head-&gt;next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，应该指向头结点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79375" indent="0"/>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因为插入可能放生在首结点位置。</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79375" indent="0"/>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593725" indent="-514350">
              <a:buFont typeface="Wingdings" panose="05000000000000000000" pitchFamily="2" charset="2"/>
              <a:buChar char="Ø"/>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原本指向了一个结点，但其指向的结点空间已经释放，仍要读取其所指结点的字段。如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p=head; delete p; p=</a:t>
            </a:r>
            <a:r>
              <a:rPr lang="en-US" altLang="zh-CN" sz="28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rPr>
              <a:t>p-&gt;next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p>
          <a:p>
            <a:pPr marL="536575" indent="0"/>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p-&gt;next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非法访问了不能访问的内存空间</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536575" indent="0"/>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536575" indent="0"/>
            <a:endParaRPr lang="zh-CN"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pic>
        <p:nvPicPr>
          <p:cNvPr id="11" name="图片 10"/>
          <p:cNvPicPr>
            <a:picLocks noChangeAspect="1"/>
          </p:cNvPicPr>
          <p:nvPr/>
        </p:nvPicPr>
        <p:blipFill>
          <a:blip r:embed="rId3"/>
          <a:stretch>
            <a:fillRect/>
          </a:stretch>
        </p:blipFill>
        <p:spPr>
          <a:xfrm>
            <a:off x="900181" y="3309693"/>
            <a:ext cx="7257278" cy="1319505"/>
          </a:xfrm>
          <a:prstGeom prst="rect">
            <a:avLst/>
          </a:prstGeom>
        </p:spPr>
      </p:pic>
    </p:spTree>
    <p:extLst>
      <p:ext uri="{BB962C8B-B14F-4D97-AF65-F5344CB8AC3E}">
        <p14:creationId xmlns:p14="http://schemas.microsoft.com/office/powerpoint/2010/main" val="32391714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7" name="Rectangle 3"/>
          <p:cNvSpPr>
            <a:spLocks noGrp="1" noChangeArrowheads="1"/>
          </p:cNvSpPr>
          <p:nvPr>
            <p:ph idx="1"/>
          </p:nvPr>
        </p:nvSpPr>
        <p:spPr>
          <a:xfrm>
            <a:off x="617902" y="1674465"/>
            <a:ext cx="10540635" cy="750684"/>
          </a:xfrm>
        </p:spPr>
        <p:txBody>
          <a:bodyPr>
            <a:normAutofit fontScale="32500" lnSpcReduction="20000"/>
          </a:bodyPr>
          <a:lstStyle/>
          <a:p>
            <a:pPr marL="0" indent="0">
              <a:buFontTx/>
              <a:buNone/>
            </a:pPr>
            <a:r>
              <a:rPr lang="zh-CN" altLang="en-US" sz="11200" dirty="0">
                <a:latin typeface="华文楷体" panose="02010600040101010101" pitchFamily="2" charset="-122"/>
                <a:ea typeface="华文楷体" panose="02010600040101010101" pitchFamily="2" charset="-122"/>
              </a:rPr>
              <a:t>练习：输出链表中倒数第</a:t>
            </a:r>
            <a:r>
              <a:rPr lang="en-US" altLang="zh-CN" sz="11200" dirty="0">
                <a:latin typeface="华文楷体" panose="02010600040101010101" pitchFamily="2" charset="-122"/>
                <a:ea typeface="华文楷体" panose="02010600040101010101" pitchFamily="2" charset="-122"/>
              </a:rPr>
              <a:t>K</a:t>
            </a:r>
            <a:r>
              <a:rPr lang="zh-CN" altLang="en-US" sz="11200" dirty="0">
                <a:latin typeface="华文楷体" panose="02010600040101010101" pitchFamily="2" charset="-122"/>
                <a:ea typeface="华文楷体" panose="02010600040101010101" pitchFamily="2" charset="-122"/>
              </a:rPr>
              <a:t>个元素的值   </a:t>
            </a:r>
            <a:r>
              <a:rPr lang="zh-CN" altLang="en-US" sz="11200" dirty="0">
                <a:solidFill>
                  <a:srgbClr val="FF0000"/>
                </a:solidFill>
                <a:latin typeface="华文楷体" panose="02010600040101010101" pitchFamily="2" charset="-122"/>
                <a:ea typeface="华文楷体" panose="02010600040101010101" pitchFamily="2" charset="-122"/>
              </a:rPr>
              <a:t>思考！</a:t>
            </a:r>
            <a:endParaRPr lang="en-US" altLang="zh-CN" sz="11200" dirty="0">
              <a:solidFill>
                <a:srgbClr val="FF0000"/>
              </a:solidFill>
              <a:latin typeface="华文楷体" panose="02010600040101010101" pitchFamily="2" charset="-122"/>
              <a:ea typeface="华文楷体" panose="02010600040101010101" pitchFamily="2" charset="-122"/>
            </a:endParaRPr>
          </a:p>
        </p:txBody>
      </p:sp>
      <p:sp>
        <p:nvSpPr>
          <p:cNvPr id="12290" name="灯片编号占位符 4"/>
          <p:cNvSpPr>
            <a:spLocks noGrp="1"/>
          </p:cNvSpPr>
          <p:nvPr>
            <p:ph type="sldNum" sz="quarter" idx="12"/>
          </p:nvPr>
        </p:nvSpPr>
        <p:spPr>
          <a:xfrm>
            <a:off x="4012093" y="4200938"/>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fld id="{A79AFBCB-B9CF-4446-B09D-D2A2760E6828}" type="slidenum">
              <a:rPr kumimoji="0" lang="en-US" altLang="zh-CN" sz="1200">
                <a:latin typeface="Arial" panose="020B0604020202020204" pitchFamily="34" charset="0"/>
              </a:rPr>
              <a:pPr algn="ctr">
                <a:spcBef>
                  <a:spcPct val="0"/>
                </a:spcBef>
                <a:buFontTx/>
                <a:buNone/>
              </a:pPr>
              <a:t>68</a:t>
            </a:fld>
            <a:endParaRPr kumimoji="0" lang="en-US" altLang="zh-CN" sz="1200">
              <a:latin typeface="Arial" panose="020B0604020202020204" pitchFamily="34" charset="0"/>
            </a:endParaRPr>
          </a:p>
        </p:txBody>
      </p:sp>
      <p:sp>
        <p:nvSpPr>
          <p:cNvPr id="6" name="Rectangle 6"/>
          <p:cNvSpPr>
            <a:spLocks noChangeArrowheads="1"/>
          </p:cNvSpPr>
          <p:nvPr/>
        </p:nvSpPr>
        <p:spPr bwMode="auto">
          <a:xfrm>
            <a:off x="2112038" y="3536142"/>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2559713" y="3536142"/>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a:grpSpLocks/>
          </p:cNvGrpSpPr>
          <p:nvPr/>
        </p:nvGrpSpPr>
        <p:grpSpPr bwMode="auto">
          <a:xfrm>
            <a:off x="3682075" y="3536142"/>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a:grpSpLocks/>
          </p:cNvGrpSpPr>
          <p:nvPr/>
        </p:nvGrpSpPr>
        <p:grpSpPr bwMode="auto">
          <a:xfrm>
            <a:off x="6818975" y="3536142"/>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a:grpSpLocks/>
          </p:cNvGrpSpPr>
          <p:nvPr/>
        </p:nvGrpSpPr>
        <p:grpSpPr bwMode="auto">
          <a:xfrm>
            <a:off x="9062113" y="3536142"/>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7" name="Group 17"/>
          <p:cNvGrpSpPr>
            <a:grpSpLocks/>
          </p:cNvGrpSpPr>
          <p:nvPr/>
        </p:nvGrpSpPr>
        <p:grpSpPr bwMode="auto">
          <a:xfrm>
            <a:off x="5252113" y="3536142"/>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2785138" y="3786967"/>
            <a:ext cx="8969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4579013" y="3786967"/>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5925213" y="3786967"/>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7492075" y="3786967"/>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8616025" y="3786967"/>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3740813" y="3598054"/>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19</a:t>
            </a:r>
            <a:endParaRPr lang="en-US" altLang="zh-CN" sz="2400" b="1" dirty="0">
              <a:ea typeface="楷体_GB2312" pitchFamily="49" charset="-122"/>
            </a:endParaRPr>
          </a:p>
        </p:txBody>
      </p:sp>
      <p:sp>
        <p:nvSpPr>
          <p:cNvPr id="26" name="Text Box 26"/>
          <p:cNvSpPr txBox="1">
            <a:spLocks noChangeArrowheads="1"/>
          </p:cNvSpPr>
          <p:nvPr/>
        </p:nvSpPr>
        <p:spPr bwMode="auto">
          <a:xfrm>
            <a:off x="5342600" y="3598054"/>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72</a:t>
            </a:r>
            <a:endParaRPr lang="en-US" altLang="zh-CN" sz="2400" b="1" dirty="0">
              <a:ea typeface="楷体_GB2312" pitchFamily="49" charset="-122"/>
            </a:endParaRPr>
          </a:p>
        </p:txBody>
      </p:sp>
      <p:sp>
        <p:nvSpPr>
          <p:cNvPr id="27" name="Text Box 27"/>
          <p:cNvSpPr txBox="1">
            <a:spLocks noChangeArrowheads="1"/>
          </p:cNvSpPr>
          <p:nvPr/>
        </p:nvSpPr>
        <p:spPr bwMode="auto">
          <a:xfrm>
            <a:off x="9079575" y="3577417"/>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8" name="Text Box 28"/>
          <p:cNvSpPr txBox="1">
            <a:spLocks noChangeArrowheads="1"/>
          </p:cNvSpPr>
          <p:nvPr/>
        </p:nvSpPr>
        <p:spPr bwMode="auto">
          <a:xfrm>
            <a:off x="6857075" y="3598054"/>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9519313" y="3607579"/>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a:grpSpLocks/>
          </p:cNvGrpSpPr>
          <p:nvPr/>
        </p:nvGrpSpPr>
        <p:grpSpPr bwMode="auto">
          <a:xfrm>
            <a:off x="2112038" y="2528078"/>
            <a:ext cx="896937" cy="1006477"/>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2112038" y="4112404"/>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34" name="Text Box 35"/>
          <p:cNvSpPr txBox="1">
            <a:spLocks noChangeArrowheads="1"/>
          </p:cNvSpPr>
          <p:nvPr/>
        </p:nvSpPr>
        <p:spPr bwMode="auto">
          <a:xfrm>
            <a:off x="3623338" y="4112404"/>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p>
        </p:txBody>
      </p:sp>
    </p:spTree>
    <p:extLst>
      <p:ext uri="{BB962C8B-B14F-4D97-AF65-F5344CB8AC3E}">
        <p14:creationId xmlns:p14="http://schemas.microsoft.com/office/powerpoint/2010/main" val="19648327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7" name="Rectangle 3"/>
          <p:cNvSpPr>
            <a:spLocks noGrp="1" noChangeArrowheads="1"/>
          </p:cNvSpPr>
          <p:nvPr>
            <p:ph idx="1"/>
          </p:nvPr>
        </p:nvSpPr>
        <p:spPr>
          <a:xfrm>
            <a:off x="1004006" y="3512462"/>
            <a:ext cx="10540635" cy="688476"/>
          </a:xfrm>
        </p:spPr>
        <p:txBody>
          <a:bodyPr>
            <a:normAutofit fontScale="32500" lnSpcReduction="20000"/>
          </a:bodyPr>
          <a:lstStyle/>
          <a:p>
            <a:pPr marL="0" indent="0">
              <a:buFontTx/>
              <a:buNone/>
            </a:pPr>
            <a:r>
              <a:rPr lang="zh-CN" altLang="en-US" sz="11200" dirty="0">
                <a:solidFill>
                  <a:srgbClr val="FF0000"/>
                </a:solidFill>
                <a:latin typeface="华文楷体" panose="02010600040101010101" pitchFamily="2" charset="-122"/>
                <a:ea typeface="华文楷体" panose="02010600040101010101" pitchFamily="2" charset="-122"/>
              </a:rPr>
              <a:t>思路讨论？</a:t>
            </a:r>
            <a:endParaRPr lang="en-US" altLang="zh-CN" sz="11200" dirty="0">
              <a:solidFill>
                <a:srgbClr val="FF0000"/>
              </a:solidFill>
              <a:latin typeface="华文楷体" panose="02010600040101010101" pitchFamily="2" charset="-122"/>
              <a:ea typeface="华文楷体" panose="02010600040101010101" pitchFamily="2" charset="-122"/>
            </a:endParaRPr>
          </a:p>
          <a:p>
            <a:pPr marL="0" indent="0">
              <a:buFontTx/>
              <a:buNone/>
            </a:pPr>
            <a:endParaRPr lang="en-US" altLang="zh-CN" sz="11200" dirty="0">
              <a:solidFill>
                <a:srgbClr val="FF0000"/>
              </a:solidFill>
              <a:latin typeface="华文楷体" panose="02010600040101010101" pitchFamily="2" charset="-122"/>
              <a:ea typeface="华文楷体" panose="02010600040101010101" pitchFamily="2" charset="-122"/>
            </a:endParaRPr>
          </a:p>
        </p:txBody>
      </p:sp>
      <p:sp>
        <p:nvSpPr>
          <p:cNvPr id="12290" name="灯片编号占位符 4"/>
          <p:cNvSpPr>
            <a:spLocks noGrp="1"/>
          </p:cNvSpPr>
          <p:nvPr>
            <p:ph type="sldNum" sz="quarter" idx="12"/>
          </p:nvPr>
        </p:nvSpPr>
        <p:spPr>
          <a:xfrm>
            <a:off x="4012093" y="4200938"/>
            <a:ext cx="2895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endParaRPr kumimoji="0" lang="en-US" altLang="zh-CN" sz="1200" dirty="0">
              <a:latin typeface="Arial" panose="020B0604020202020204" pitchFamily="34" charset="0"/>
            </a:endParaRPr>
          </a:p>
        </p:txBody>
      </p:sp>
      <p:sp>
        <p:nvSpPr>
          <p:cNvPr id="6" name="Rectangle 6"/>
          <p:cNvSpPr>
            <a:spLocks noChangeArrowheads="1"/>
          </p:cNvSpPr>
          <p:nvPr/>
        </p:nvSpPr>
        <p:spPr bwMode="auto">
          <a:xfrm>
            <a:off x="1118124" y="2244051"/>
            <a:ext cx="447675" cy="503237"/>
          </a:xfrm>
          <a:prstGeom prst="rect">
            <a:avLst/>
          </a:prstGeom>
          <a:solidFill>
            <a:srgbClr val="C0C0C0"/>
          </a:solidFill>
          <a:ln w="19050">
            <a:solidFill>
              <a:schemeClr val="tx1"/>
            </a:solidFill>
            <a:miter lim="800000"/>
            <a:headEnd/>
            <a:tailEnd/>
          </a:ln>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b="1">
              <a:ea typeface="楷体_GB2312" pitchFamily="49" charset="-122"/>
            </a:endParaRPr>
          </a:p>
        </p:txBody>
      </p:sp>
      <p:sp>
        <p:nvSpPr>
          <p:cNvPr id="7" name="Rectangle 7"/>
          <p:cNvSpPr>
            <a:spLocks noChangeArrowheads="1"/>
          </p:cNvSpPr>
          <p:nvPr/>
        </p:nvSpPr>
        <p:spPr bwMode="auto">
          <a:xfrm>
            <a:off x="1565799" y="2244051"/>
            <a:ext cx="450850" cy="5032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nvGrpSpPr>
          <p:cNvPr id="8" name="Group 8"/>
          <p:cNvGrpSpPr>
            <a:grpSpLocks/>
          </p:cNvGrpSpPr>
          <p:nvPr/>
        </p:nvGrpSpPr>
        <p:grpSpPr bwMode="auto">
          <a:xfrm>
            <a:off x="2688161" y="2244051"/>
            <a:ext cx="896938" cy="503237"/>
            <a:chOff x="4680" y="5028"/>
            <a:chExt cx="720" cy="312"/>
          </a:xfrm>
        </p:grpSpPr>
        <p:sp>
          <p:nvSpPr>
            <p:cNvPr id="9"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1"/>
          <p:cNvGrpSpPr>
            <a:grpSpLocks/>
          </p:cNvGrpSpPr>
          <p:nvPr/>
        </p:nvGrpSpPr>
        <p:grpSpPr bwMode="auto">
          <a:xfrm>
            <a:off x="5825061" y="2244051"/>
            <a:ext cx="898525" cy="503237"/>
            <a:chOff x="4680" y="5028"/>
            <a:chExt cx="720" cy="312"/>
          </a:xfrm>
        </p:grpSpPr>
        <p:sp>
          <p:nvSpPr>
            <p:cNvPr id="12"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4" name="Group 14"/>
          <p:cNvGrpSpPr>
            <a:grpSpLocks/>
          </p:cNvGrpSpPr>
          <p:nvPr/>
        </p:nvGrpSpPr>
        <p:grpSpPr bwMode="auto">
          <a:xfrm>
            <a:off x="8068199" y="2244051"/>
            <a:ext cx="896937" cy="503237"/>
            <a:chOff x="4680" y="5028"/>
            <a:chExt cx="720" cy="312"/>
          </a:xfrm>
        </p:grpSpPr>
        <p:sp>
          <p:nvSpPr>
            <p:cNvPr id="15"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7" name="Group 17"/>
          <p:cNvGrpSpPr>
            <a:grpSpLocks/>
          </p:cNvGrpSpPr>
          <p:nvPr/>
        </p:nvGrpSpPr>
        <p:grpSpPr bwMode="auto">
          <a:xfrm>
            <a:off x="4258199" y="2244051"/>
            <a:ext cx="893762" cy="503237"/>
            <a:chOff x="4680" y="5028"/>
            <a:chExt cx="720" cy="312"/>
          </a:xfrm>
        </p:grpSpPr>
        <p:sp>
          <p:nvSpPr>
            <p:cNvPr id="18"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9"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20" name="Line 20"/>
          <p:cNvSpPr>
            <a:spLocks noChangeShapeType="1"/>
          </p:cNvSpPr>
          <p:nvPr/>
        </p:nvSpPr>
        <p:spPr bwMode="auto">
          <a:xfrm>
            <a:off x="1791224" y="2494876"/>
            <a:ext cx="8969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a:off x="3585099" y="2494876"/>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a:off x="4931299" y="2494876"/>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6498161" y="2494876"/>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a:off x="7622111" y="2494876"/>
            <a:ext cx="44608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2746899" y="2305963"/>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19</a:t>
            </a:r>
            <a:endParaRPr lang="en-US" altLang="zh-CN" sz="2400" b="1" dirty="0">
              <a:ea typeface="楷体_GB2312" pitchFamily="49" charset="-122"/>
            </a:endParaRPr>
          </a:p>
        </p:txBody>
      </p:sp>
      <p:sp>
        <p:nvSpPr>
          <p:cNvPr id="26" name="Text Box 26"/>
          <p:cNvSpPr txBox="1">
            <a:spLocks noChangeArrowheads="1"/>
          </p:cNvSpPr>
          <p:nvPr/>
        </p:nvSpPr>
        <p:spPr bwMode="auto">
          <a:xfrm>
            <a:off x="4348686" y="230596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72</a:t>
            </a:r>
            <a:endParaRPr lang="en-US" altLang="zh-CN" sz="2400" b="1" dirty="0">
              <a:ea typeface="楷体_GB2312" pitchFamily="49" charset="-122"/>
            </a:endParaRPr>
          </a:p>
        </p:txBody>
      </p:sp>
      <p:sp>
        <p:nvSpPr>
          <p:cNvPr id="27" name="Text Box 27"/>
          <p:cNvSpPr txBox="1">
            <a:spLocks noChangeArrowheads="1"/>
          </p:cNvSpPr>
          <p:nvPr/>
        </p:nvSpPr>
        <p:spPr bwMode="auto">
          <a:xfrm>
            <a:off x="8085661" y="2285326"/>
            <a:ext cx="4826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8" name="Text Box 28"/>
          <p:cNvSpPr txBox="1">
            <a:spLocks noChangeArrowheads="1"/>
          </p:cNvSpPr>
          <p:nvPr/>
        </p:nvSpPr>
        <p:spPr bwMode="auto">
          <a:xfrm>
            <a:off x="5863161" y="230596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sp>
        <p:nvSpPr>
          <p:cNvPr id="29" name="Text Box 29"/>
          <p:cNvSpPr txBox="1">
            <a:spLocks noChangeArrowheads="1"/>
          </p:cNvSpPr>
          <p:nvPr/>
        </p:nvSpPr>
        <p:spPr bwMode="auto">
          <a:xfrm>
            <a:off x="8525399" y="2315488"/>
            <a:ext cx="339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a:t>
            </a:r>
            <a:endParaRPr lang="en-US" altLang="zh-CN" sz="2400" b="1">
              <a:ea typeface="楷体_GB2312" pitchFamily="49" charset="-122"/>
            </a:endParaRPr>
          </a:p>
        </p:txBody>
      </p:sp>
      <p:grpSp>
        <p:nvGrpSpPr>
          <p:cNvPr id="30" name="Group 30"/>
          <p:cNvGrpSpPr>
            <a:grpSpLocks/>
          </p:cNvGrpSpPr>
          <p:nvPr/>
        </p:nvGrpSpPr>
        <p:grpSpPr bwMode="auto">
          <a:xfrm>
            <a:off x="1118124" y="1235987"/>
            <a:ext cx="896937" cy="1006477"/>
            <a:chOff x="2157" y="2844"/>
            <a:chExt cx="900" cy="780"/>
          </a:xfrm>
        </p:grpSpPr>
        <p:sp>
          <p:nvSpPr>
            <p:cNvPr id="31" name="Text Box 31"/>
            <p:cNvSpPr txBox="1">
              <a:spLocks noChangeArrowheads="1"/>
            </p:cNvSpPr>
            <p:nvPr/>
          </p:nvSpPr>
          <p:spPr bwMode="auto">
            <a:xfrm>
              <a:off x="2157" y="28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t>head</a:t>
              </a:r>
              <a:endParaRPr lang="en-US" altLang="zh-CN" sz="2400" b="1">
                <a:ea typeface="楷体_GB2312" pitchFamily="49" charset="-122"/>
              </a:endParaRPr>
            </a:p>
          </p:txBody>
        </p:sp>
        <p:sp>
          <p:nvSpPr>
            <p:cNvPr id="32"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34"/>
          <p:cNvSpPr txBox="1">
            <a:spLocks noChangeArrowheads="1"/>
          </p:cNvSpPr>
          <p:nvPr/>
        </p:nvSpPr>
        <p:spPr bwMode="auto">
          <a:xfrm>
            <a:off x="1118124" y="2820313"/>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头结点</a:t>
            </a:r>
          </a:p>
        </p:txBody>
      </p:sp>
      <p:sp>
        <p:nvSpPr>
          <p:cNvPr id="34" name="Text Box 35"/>
          <p:cNvSpPr txBox="1">
            <a:spLocks noChangeArrowheads="1"/>
          </p:cNvSpPr>
          <p:nvPr/>
        </p:nvSpPr>
        <p:spPr bwMode="auto">
          <a:xfrm>
            <a:off x="2629424" y="2820313"/>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p>
        </p:txBody>
      </p:sp>
      <p:sp>
        <p:nvSpPr>
          <p:cNvPr id="3" name="文本框 2"/>
          <p:cNvSpPr txBox="1"/>
          <p:nvPr/>
        </p:nvSpPr>
        <p:spPr>
          <a:xfrm>
            <a:off x="7622111" y="4200938"/>
            <a:ext cx="3922530" cy="1815882"/>
          </a:xfrm>
          <a:prstGeom prst="rect">
            <a:avLst/>
          </a:prstGeom>
          <a:noFill/>
        </p:spPr>
        <p:txBody>
          <a:bodyPr wrap="square" rtlCol="0">
            <a:spAutoFit/>
          </a:bodyPr>
          <a:lstStyle/>
          <a:p>
            <a:r>
              <a:rPr lang="zh-CN" altLang="en-US" sz="2800" dirty="0">
                <a:solidFill>
                  <a:schemeClr val="accent1"/>
                </a:solidFill>
              </a:rPr>
              <a:t>发现三种：</a:t>
            </a:r>
            <a:endParaRPr lang="en-US" altLang="zh-CN" sz="2800" dirty="0">
              <a:solidFill>
                <a:schemeClr val="accent1"/>
              </a:solidFill>
            </a:endParaRPr>
          </a:p>
          <a:p>
            <a:pPr marL="342900" indent="-342900">
              <a:buAutoNum type="arabicPeriod"/>
            </a:pPr>
            <a:r>
              <a:rPr lang="zh-CN" altLang="en-US" sz="2800" dirty="0">
                <a:solidFill>
                  <a:schemeClr val="accent1"/>
                </a:solidFill>
              </a:rPr>
              <a:t>数组</a:t>
            </a:r>
            <a:endParaRPr lang="en-US" altLang="zh-CN" sz="2800" dirty="0">
              <a:solidFill>
                <a:schemeClr val="accent1"/>
              </a:solidFill>
            </a:endParaRPr>
          </a:p>
          <a:p>
            <a:pPr marL="342900" indent="-342900">
              <a:buAutoNum type="arabicPeriod" startAt="2"/>
            </a:pPr>
            <a:r>
              <a:rPr lang="zh-CN" altLang="en-US" sz="2800" dirty="0">
                <a:solidFill>
                  <a:schemeClr val="accent1"/>
                </a:solidFill>
              </a:rPr>
              <a:t>数完，算</a:t>
            </a:r>
            <a:r>
              <a:rPr lang="en-US" altLang="zh-CN" sz="2800" dirty="0">
                <a:solidFill>
                  <a:schemeClr val="accent1"/>
                </a:solidFill>
              </a:rPr>
              <a:t>n-k</a:t>
            </a:r>
          </a:p>
          <a:p>
            <a:r>
              <a:rPr lang="en-US" altLang="zh-CN" sz="2800" dirty="0">
                <a:solidFill>
                  <a:schemeClr val="accent1"/>
                </a:solidFill>
              </a:rPr>
              <a:t>3. </a:t>
            </a:r>
            <a:r>
              <a:rPr lang="zh-CN" altLang="en-US" sz="2800" dirty="0">
                <a:solidFill>
                  <a:schemeClr val="accent1"/>
                </a:solidFill>
              </a:rPr>
              <a:t>两个指针一前一后</a:t>
            </a:r>
          </a:p>
        </p:txBody>
      </p:sp>
    </p:spTree>
    <p:extLst>
      <p:ext uri="{BB962C8B-B14F-4D97-AF65-F5344CB8AC3E}">
        <p14:creationId xmlns:p14="http://schemas.microsoft.com/office/powerpoint/2010/main" val="4080685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dirty="0">
                <a:latin typeface="华文楷体" pitchFamily="2" charset="-122"/>
                <a:ea typeface="华文楷体" pitchFamily="2" charset="-122"/>
              </a:rPr>
              <a:t>末结点的</a:t>
            </a:r>
            <a:r>
              <a:rPr lang="en-US" altLang="zh-CN" sz="2800" b="0" dirty="0">
                <a:latin typeface="华文楷体" pitchFamily="2" charset="-122"/>
                <a:ea typeface="华文楷体" pitchFamily="2" charset="-122"/>
              </a:rPr>
              <a:t>next</a:t>
            </a:r>
            <a:r>
              <a:rPr lang="zh-CN" altLang="en-US" sz="2800" b="0" dirty="0">
                <a:latin typeface="华文楷体" pitchFamily="2" charset="-122"/>
                <a:ea typeface="华文楷体" pitchFamily="2" charset="-122"/>
              </a:rPr>
              <a:t>不再指向空，而是指向头结点。</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单循环链表</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898663" y="2456898"/>
            <a:ext cx="7132154" cy="988615"/>
          </a:xfrm>
          <a:prstGeom prst="rect">
            <a:avLst/>
          </a:prstGeom>
          <a:noFill/>
          <a:ln>
            <a:noFill/>
          </a:ln>
        </p:spPr>
      </p:pic>
      <p:sp>
        <p:nvSpPr>
          <p:cNvPr id="5" name="Rectangle 3"/>
          <p:cNvSpPr txBox="1">
            <a:spLocks noChangeArrowheads="1"/>
          </p:cNvSpPr>
          <p:nvPr/>
        </p:nvSpPr>
        <p:spPr>
          <a:xfrm>
            <a:off x="658699" y="3894531"/>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itchFamily="2" charset="-122"/>
                <a:ea typeface="华文楷体" pitchFamily="2" charset="-122"/>
              </a:rPr>
              <a:t>空单向循环链表，只有头结点。</a:t>
            </a:r>
            <a:endParaRPr lang="en-US" altLang="zh-CN" sz="2800" b="0" dirty="0">
              <a:latin typeface="华文楷体" pitchFamily="2" charset="-122"/>
              <a:ea typeface="华文楷体" pitchFamily="2" charset="-122"/>
            </a:endParaRPr>
          </a:p>
        </p:txBody>
      </p:sp>
      <p:pic>
        <p:nvPicPr>
          <p:cNvPr id="6" name="图片 5"/>
          <p:cNvPicPr/>
          <p:nvPr/>
        </p:nvPicPr>
        <p:blipFill>
          <a:blip r:embed="rId4">
            <a:extLst>
              <a:ext uri="{28A0092B-C50C-407E-A947-70E740481C1C}">
                <a14:useLocalDpi xmlns:a14="http://schemas.microsoft.com/office/drawing/2010/main" val="0"/>
              </a:ext>
            </a:extLst>
          </a:blip>
          <a:srcRect/>
          <a:stretch>
            <a:fillRect/>
          </a:stretch>
        </p:blipFill>
        <p:spPr bwMode="auto">
          <a:xfrm>
            <a:off x="3914153" y="4574595"/>
            <a:ext cx="2611921" cy="872913"/>
          </a:xfrm>
          <a:prstGeom prst="rect">
            <a:avLst/>
          </a:prstGeom>
          <a:noFill/>
          <a:ln>
            <a:noFill/>
          </a:ln>
        </p:spPr>
      </p:pic>
      <p:sp>
        <p:nvSpPr>
          <p:cNvPr id="2" name="矩形 1"/>
          <p:cNvSpPr/>
          <p:nvPr/>
        </p:nvSpPr>
        <p:spPr>
          <a:xfrm>
            <a:off x="710464" y="5907034"/>
            <a:ext cx="10898439" cy="523220"/>
          </a:xfrm>
          <a:prstGeom prst="rect">
            <a:avLst/>
          </a:prstGeom>
        </p:spPr>
        <p:txBody>
          <a:bodyPr wrap="square">
            <a:spAutoFit/>
          </a:bodyPr>
          <a:lstStyle/>
          <a:p>
            <a:r>
              <a:rPr lang="zh-CN" altLang="zh-CN" sz="2800" b="1" dirty="0">
                <a:latin typeface="华文楷体" pitchFamily="2" charset="-122"/>
                <a:ea typeface="华文楷体" pitchFamily="2" charset="-122"/>
              </a:rPr>
              <a:t>优点</a:t>
            </a:r>
            <a:r>
              <a:rPr lang="zh-CN" altLang="en-US" sz="2800" b="1" dirty="0">
                <a:latin typeface="华文楷体" pitchFamily="2" charset="-122"/>
                <a:ea typeface="华文楷体" pitchFamily="2" charset="-122"/>
              </a:rPr>
              <a:t>：</a:t>
            </a:r>
            <a:r>
              <a:rPr lang="zh-CN" altLang="zh-CN" sz="2800" dirty="0">
                <a:highlight>
                  <a:srgbClr val="FFFF00"/>
                </a:highlight>
                <a:latin typeface="华文楷体" pitchFamily="2" charset="-122"/>
                <a:ea typeface="华文楷体" pitchFamily="2" charset="-122"/>
              </a:rPr>
              <a:t>从表中任何一个结点出发，都可以顺</a:t>
            </a:r>
            <a:r>
              <a:rPr lang="en-US" altLang="zh-CN" sz="2800" dirty="0">
                <a:highlight>
                  <a:srgbClr val="FFFF00"/>
                </a:highlight>
                <a:latin typeface="华文楷体" pitchFamily="2" charset="-122"/>
                <a:ea typeface="华文楷体" pitchFamily="2" charset="-122"/>
              </a:rPr>
              <a:t>next</a:t>
            </a:r>
            <a:r>
              <a:rPr lang="zh-CN" altLang="zh-CN" sz="2800" dirty="0">
                <a:highlight>
                  <a:srgbClr val="FFFF00"/>
                </a:highlight>
                <a:latin typeface="华文楷体" pitchFamily="2" charset="-122"/>
                <a:ea typeface="华文楷体" pitchFamily="2" charset="-122"/>
              </a:rPr>
              <a:t>指针访问到所有结点</a:t>
            </a:r>
            <a:r>
              <a:rPr lang="zh-CN" altLang="zh-CN" sz="2800" dirty="0">
                <a:latin typeface="华文楷体" pitchFamily="2" charset="-122"/>
                <a:ea typeface="华文楷体" pitchFamily="2" charset="-122"/>
              </a:rPr>
              <a:t>。</a:t>
            </a:r>
            <a:endParaRPr lang="zh-CN" altLang="en-US" sz="2800" dirty="0">
              <a:latin typeface="华文楷体" pitchFamily="2" charset="-122"/>
              <a:ea typeface="华文楷体" pitchFamily="2" charset="-122"/>
            </a:endParaRPr>
          </a:p>
        </p:txBody>
      </p:sp>
    </p:spTree>
    <p:extLst>
      <p:ext uri="{BB962C8B-B14F-4D97-AF65-F5344CB8AC3E}">
        <p14:creationId xmlns:p14="http://schemas.microsoft.com/office/powerpoint/2010/main" val="38812817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dirty="0">
                <a:latin typeface="华文楷体" pitchFamily="2" charset="-122"/>
                <a:ea typeface="华文楷体" pitchFamily="2" charset="-122"/>
              </a:rPr>
              <a:t>为了循环方便，不带头结点的单循环链表居多，</a:t>
            </a:r>
            <a:r>
              <a:rPr lang="en-US" altLang="zh-CN" sz="2800" b="0" dirty="0">
                <a:latin typeface="华文楷体" pitchFamily="2" charset="-122"/>
                <a:ea typeface="华文楷体" pitchFamily="2" charset="-122"/>
              </a:rPr>
              <a:t>head</a:t>
            </a:r>
            <a:r>
              <a:rPr lang="zh-CN" altLang="en-US" sz="2800" b="0" dirty="0">
                <a:latin typeface="华文楷体" pitchFamily="2" charset="-122"/>
                <a:ea typeface="华文楷体" pitchFamily="2" charset="-122"/>
              </a:rPr>
              <a:t>直接指向首结点。</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不带头结点的单循环链表</a:t>
            </a:r>
          </a:p>
        </p:txBody>
      </p:sp>
      <p:sp>
        <p:nvSpPr>
          <p:cNvPr id="5" name="Rectangle 3"/>
          <p:cNvSpPr txBox="1">
            <a:spLocks noChangeArrowheads="1"/>
          </p:cNvSpPr>
          <p:nvPr/>
        </p:nvSpPr>
        <p:spPr>
          <a:xfrm>
            <a:off x="710464" y="3609649"/>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itchFamily="2" charset="-122"/>
                <a:ea typeface="华文楷体" pitchFamily="2" charset="-122"/>
              </a:rPr>
              <a:t>空单向循环链表，</a:t>
            </a:r>
            <a:r>
              <a:rPr lang="en-US" altLang="zh-CN" sz="2800" b="0" dirty="0">
                <a:latin typeface="华文楷体" pitchFamily="2" charset="-122"/>
                <a:ea typeface="华文楷体" pitchFamily="2" charset="-122"/>
              </a:rPr>
              <a:t>head</a:t>
            </a:r>
            <a:r>
              <a:rPr lang="zh-CN" altLang="en-US" sz="2800" b="0" dirty="0">
                <a:latin typeface="华文楷体" pitchFamily="2" charset="-122"/>
                <a:ea typeface="华文楷体" pitchFamily="2" charset="-122"/>
              </a:rPr>
              <a:t>指向空。</a:t>
            </a:r>
            <a:endParaRPr lang="en-US" altLang="zh-CN" sz="2800" b="0" dirty="0">
              <a:latin typeface="华文楷体" pitchFamily="2" charset="-122"/>
              <a:ea typeface="华文楷体" pitchFamily="2" charset="-122"/>
            </a:endParaRPr>
          </a:p>
        </p:txBody>
      </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2121820" y="2389081"/>
            <a:ext cx="6584858" cy="925692"/>
          </a:xfrm>
          <a:prstGeom prst="rect">
            <a:avLst/>
          </a:prstGeom>
          <a:noFill/>
          <a:ln>
            <a:noFill/>
          </a:ln>
        </p:spPr>
      </p:pic>
      <p:pic>
        <p:nvPicPr>
          <p:cNvPr id="9" name="图片 8"/>
          <p:cNvPicPr/>
          <p:nvPr/>
        </p:nvPicPr>
        <p:blipFill>
          <a:blip r:embed="rId4">
            <a:extLst>
              <a:ext uri="{28A0092B-C50C-407E-A947-70E740481C1C}">
                <a14:useLocalDpi xmlns:a14="http://schemas.microsoft.com/office/drawing/2010/main" val="0"/>
              </a:ext>
            </a:extLst>
          </a:blip>
          <a:srcRect/>
          <a:stretch>
            <a:fillRect/>
          </a:stretch>
        </p:blipFill>
        <p:spPr bwMode="auto">
          <a:xfrm>
            <a:off x="3304552" y="4159626"/>
            <a:ext cx="2678804" cy="820105"/>
          </a:xfrm>
          <a:prstGeom prst="rect">
            <a:avLst/>
          </a:prstGeom>
          <a:noFill/>
          <a:ln>
            <a:noFill/>
          </a:ln>
        </p:spPr>
      </p:pic>
      <p:sp>
        <p:nvSpPr>
          <p:cNvPr id="2" name="文本框 1"/>
          <p:cNvSpPr txBox="1"/>
          <p:nvPr/>
        </p:nvSpPr>
        <p:spPr>
          <a:xfrm>
            <a:off x="854765" y="5303705"/>
            <a:ext cx="4347356" cy="584775"/>
          </a:xfrm>
          <a:prstGeom prst="rect">
            <a:avLst/>
          </a:prstGeom>
          <a:noFill/>
        </p:spPr>
        <p:txBody>
          <a:bodyPr wrap="square" rtlCol="0">
            <a:spAutoFit/>
          </a:bodyPr>
          <a:lstStyle/>
          <a:p>
            <a:r>
              <a:rPr lang="zh-CN" altLang="en-US" sz="3200" b="1" dirty="0"/>
              <a:t>典型应用： 约瑟夫环</a:t>
            </a:r>
          </a:p>
        </p:txBody>
      </p:sp>
      <p:sp>
        <p:nvSpPr>
          <p:cNvPr id="3" name="文本框 2"/>
          <p:cNvSpPr txBox="1"/>
          <p:nvPr/>
        </p:nvSpPr>
        <p:spPr>
          <a:xfrm>
            <a:off x="4425157" y="5906701"/>
            <a:ext cx="7766843" cy="523220"/>
          </a:xfrm>
          <a:prstGeom prst="rect">
            <a:avLst/>
          </a:prstGeom>
          <a:noFill/>
        </p:spPr>
        <p:txBody>
          <a:bodyPr wrap="square" rtlCol="0">
            <a:spAutoFit/>
          </a:bodyPr>
          <a:lstStyle/>
          <a:p>
            <a:r>
              <a:rPr lang="zh-CN" altLang="en-US" sz="2800" b="1" dirty="0">
                <a:solidFill>
                  <a:srgbClr val="FF0000"/>
                </a:solidFill>
              </a:rPr>
              <a:t>比较普遍的是用</a:t>
            </a:r>
            <a:r>
              <a:rPr lang="en-US" altLang="zh-CN" sz="2800" b="1" dirty="0">
                <a:solidFill>
                  <a:srgbClr val="FF0000"/>
                </a:solidFill>
              </a:rPr>
              <a:t>rear</a:t>
            </a:r>
            <a:r>
              <a:rPr lang="zh-CN" altLang="en-US" sz="2800" b="1" dirty="0">
                <a:solidFill>
                  <a:srgbClr val="FF0000"/>
                </a:solidFill>
              </a:rPr>
              <a:t>指针，而不用</a:t>
            </a:r>
            <a:r>
              <a:rPr lang="en-US" altLang="zh-CN" sz="2800" b="1" dirty="0">
                <a:solidFill>
                  <a:srgbClr val="FF0000"/>
                </a:solidFill>
              </a:rPr>
              <a:t>head</a:t>
            </a:r>
            <a:r>
              <a:rPr lang="zh-CN" altLang="en-US" sz="2800" b="1" dirty="0">
                <a:solidFill>
                  <a:srgbClr val="FF0000"/>
                </a:solidFill>
              </a:rPr>
              <a:t>指针</a:t>
            </a:r>
          </a:p>
        </p:txBody>
      </p:sp>
    </p:spTree>
    <p:extLst>
      <p:ext uri="{BB962C8B-B14F-4D97-AF65-F5344CB8AC3E}">
        <p14:creationId xmlns:p14="http://schemas.microsoft.com/office/powerpoint/2010/main" val="41083390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a:latin typeface="华文楷体" pitchFamily="2" charset="-122"/>
                <a:ea typeface="华文楷体" pitchFamily="2" charset="-122"/>
              </a:rPr>
              <a:t>每个结点有</a:t>
            </a:r>
            <a:r>
              <a:rPr lang="en-US" altLang="zh-CN" sz="2800" b="0" dirty="0">
                <a:latin typeface="华文楷体" pitchFamily="2" charset="-122"/>
                <a:ea typeface="华文楷体" pitchFamily="2" charset="-122"/>
              </a:rPr>
              <a:t>prior</a:t>
            </a:r>
            <a:r>
              <a:rPr lang="zh-CN" altLang="en-US" sz="2800" b="0" dirty="0">
                <a:latin typeface="华文楷体" pitchFamily="2" charset="-122"/>
                <a:ea typeface="华文楷体" pitchFamily="2" charset="-122"/>
              </a:rPr>
              <a:t>和</a:t>
            </a:r>
            <a:r>
              <a:rPr lang="en-US" altLang="zh-CN" sz="2800" b="0" dirty="0">
                <a:latin typeface="华文楷体" pitchFamily="2" charset="-122"/>
                <a:ea typeface="华文楷体" pitchFamily="2" charset="-122"/>
              </a:rPr>
              <a:t>next</a:t>
            </a:r>
            <a:r>
              <a:rPr lang="zh-CN" altLang="en-US" sz="2800" b="0" dirty="0">
                <a:latin typeface="华文楷体" pitchFamily="2" charset="-122"/>
                <a:ea typeface="华文楷体" pitchFamily="2" charset="-122"/>
              </a:rPr>
              <a:t>两个指针，分别指向直接前驱和直接后继结点</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双向链表</a:t>
            </a:r>
          </a:p>
        </p:txBody>
      </p:sp>
      <p:sp>
        <p:nvSpPr>
          <p:cNvPr id="5" name="Rectangle 3"/>
          <p:cNvSpPr txBox="1">
            <a:spLocks noChangeArrowheads="1"/>
          </p:cNvSpPr>
          <p:nvPr/>
        </p:nvSpPr>
        <p:spPr>
          <a:xfrm>
            <a:off x="658699" y="3894531"/>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itchFamily="2" charset="-122"/>
                <a:ea typeface="华文楷体" pitchFamily="2" charset="-122"/>
              </a:rPr>
              <a:t>空双向链表，只有头、尾结点。</a:t>
            </a:r>
            <a:endParaRPr lang="en-US" altLang="zh-CN" sz="2800" b="0" dirty="0">
              <a:latin typeface="华文楷体" pitchFamily="2" charset="-122"/>
              <a:ea typeface="华文楷体" pitchFamily="2" charset="-122"/>
            </a:endParaRPr>
          </a:p>
        </p:txBody>
      </p:sp>
      <p:sp>
        <p:nvSpPr>
          <p:cNvPr id="2" name="矩形 1"/>
          <p:cNvSpPr/>
          <p:nvPr/>
        </p:nvSpPr>
        <p:spPr>
          <a:xfrm>
            <a:off x="790920" y="5565913"/>
            <a:ext cx="10898439" cy="954107"/>
          </a:xfrm>
          <a:prstGeom prst="rect">
            <a:avLst/>
          </a:prstGeom>
        </p:spPr>
        <p:txBody>
          <a:bodyPr wrap="square">
            <a:spAutoFit/>
          </a:bodyPr>
          <a:lstStyle/>
          <a:p>
            <a:r>
              <a:rPr lang="zh-CN" altLang="zh-CN" sz="2800" b="1" dirty="0">
                <a:latin typeface="华文楷体" pitchFamily="2" charset="-122"/>
                <a:ea typeface="华文楷体" pitchFamily="2" charset="-122"/>
              </a:rPr>
              <a:t>优点</a:t>
            </a:r>
            <a:r>
              <a:rPr lang="zh-CN" altLang="en-US" sz="2800" b="1" dirty="0">
                <a:latin typeface="华文楷体" pitchFamily="2" charset="-122"/>
                <a:ea typeface="华文楷体" pitchFamily="2" charset="-122"/>
              </a:rPr>
              <a:t>：</a:t>
            </a:r>
            <a:r>
              <a:rPr lang="zh-CN" altLang="en-US" sz="2800" dirty="0">
                <a:latin typeface="华文楷体" pitchFamily="2" charset="-122"/>
                <a:ea typeface="华文楷体" pitchFamily="2" charset="-122"/>
              </a:rPr>
              <a:t>根据待查元素在前或后半段，决定自</a:t>
            </a:r>
            <a:r>
              <a:rPr lang="en-US" altLang="zh-CN" sz="2800" dirty="0">
                <a:latin typeface="华文楷体" pitchFamily="2" charset="-122"/>
                <a:ea typeface="华文楷体" pitchFamily="2" charset="-122"/>
              </a:rPr>
              <a:t>head</a:t>
            </a:r>
            <a:r>
              <a:rPr lang="zh-CN" altLang="en-US" sz="2800" dirty="0">
                <a:latin typeface="华文楷体" pitchFamily="2" charset="-122"/>
                <a:ea typeface="华文楷体" pitchFamily="2" charset="-122"/>
              </a:rPr>
              <a:t>向后还是自</a:t>
            </a:r>
            <a:r>
              <a:rPr lang="en-US" altLang="zh-CN" sz="2800" dirty="0">
                <a:latin typeface="华文楷体" pitchFamily="2" charset="-122"/>
                <a:ea typeface="华文楷体" pitchFamily="2" charset="-122"/>
              </a:rPr>
              <a:t>tail</a:t>
            </a:r>
            <a:r>
              <a:rPr lang="zh-CN" altLang="en-US" sz="2800" dirty="0">
                <a:latin typeface="华文楷体" pitchFamily="2" charset="-122"/>
                <a:ea typeface="华文楷体" pitchFamily="2" charset="-122"/>
              </a:rPr>
              <a:t>向前。</a:t>
            </a:r>
            <a:endParaRPr lang="en-US" altLang="zh-CN" sz="2800" dirty="0">
              <a:latin typeface="华文楷体" pitchFamily="2" charset="-122"/>
              <a:ea typeface="华文楷体" pitchFamily="2" charset="-122"/>
            </a:endParaRPr>
          </a:p>
          <a:p>
            <a:r>
              <a:rPr lang="en-US" altLang="zh-CN" sz="2800" dirty="0">
                <a:latin typeface="华文楷体" pitchFamily="2" charset="-122"/>
                <a:ea typeface="华文楷体" pitchFamily="2" charset="-122"/>
              </a:rPr>
              <a:t>            </a:t>
            </a:r>
            <a:r>
              <a:rPr lang="zh-CN" altLang="en-US" sz="2800" b="1" dirty="0">
                <a:solidFill>
                  <a:schemeClr val="accent1"/>
                </a:solidFill>
                <a:latin typeface="华文楷体" pitchFamily="2" charset="-122"/>
                <a:ea typeface="华文楷体" pitchFamily="2" charset="-122"/>
              </a:rPr>
              <a:t>需要一个参数</a:t>
            </a:r>
            <a:r>
              <a:rPr lang="en-US" altLang="zh-CN" sz="2800" b="1" dirty="0">
                <a:solidFill>
                  <a:schemeClr val="accent1"/>
                </a:solidFill>
                <a:latin typeface="华文楷体" pitchFamily="2" charset="-122"/>
                <a:ea typeface="华文楷体" pitchFamily="2" charset="-122"/>
              </a:rPr>
              <a:t>length</a:t>
            </a:r>
            <a:r>
              <a:rPr lang="zh-CN" altLang="en-US" sz="2800" b="1" dirty="0">
                <a:solidFill>
                  <a:schemeClr val="accent1"/>
                </a:solidFill>
                <a:latin typeface="华文楷体" pitchFamily="2" charset="-122"/>
                <a:ea typeface="华文楷体" pitchFamily="2" charset="-122"/>
              </a:rPr>
              <a:t>来辅助判断，优势才能凸显。</a:t>
            </a:r>
          </a:p>
        </p:txBody>
      </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2193465" y="2226365"/>
            <a:ext cx="7467370" cy="1184470"/>
          </a:xfrm>
          <a:prstGeom prst="rect">
            <a:avLst/>
          </a:prstGeom>
          <a:noFill/>
          <a:ln>
            <a:noFill/>
          </a:ln>
        </p:spPr>
      </p:pic>
      <p:pic>
        <p:nvPicPr>
          <p:cNvPr id="3" name="图片 2"/>
          <p:cNvPicPr>
            <a:picLocks noChangeAspect="1"/>
          </p:cNvPicPr>
          <p:nvPr/>
        </p:nvPicPr>
        <p:blipFill>
          <a:blip r:embed="rId4"/>
          <a:stretch>
            <a:fillRect/>
          </a:stretch>
        </p:blipFill>
        <p:spPr>
          <a:xfrm>
            <a:off x="3672507" y="4493567"/>
            <a:ext cx="3185493" cy="1072346"/>
          </a:xfrm>
          <a:prstGeom prst="rect">
            <a:avLst/>
          </a:prstGeom>
        </p:spPr>
      </p:pic>
    </p:spTree>
    <p:extLst>
      <p:ext uri="{BB962C8B-B14F-4D97-AF65-F5344CB8AC3E}">
        <p14:creationId xmlns:p14="http://schemas.microsoft.com/office/powerpoint/2010/main" val="2836439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58862"/>
            <a:ext cx="11162883" cy="667503"/>
          </a:xfrm>
        </p:spPr>
        <p:txBody>
          <a:bodyPr>
            <a:normAutofit/>
          </a:bodyPr>
          <a:lstStyle/>
          <a:p>
            <a:pPr marL="0" indent="0">
              <a:lnSpc>
                <a:spcPct val="115000"/>
              </a:lnSpc>
              <a:buNone/>
              <a:defRPr/>
            </a:pPr>
            <a:r>
              <a:rPr lang="zh-CN" altLang="en-US" sz="2800" b="0" dirty="0">
                <a:latin typeface="华文楷体" pitchFamily="2" charset="-122"/>
                <a:ea typeface="华文楷体" pitchFamily="2" charset="-122"/>
              </a:rPr>
              <a:t>不带头、尾结点的双向循环链表</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双向循环链表</a:t>
            </a:r>
          </a:p>
        </p:txBody>
      </p:sp>
      <p:sp>
        <p:nvSpPr>
          <p:cNvPr id="5" name="Rectangle 3"/>
          <p:cNvSpPr txBox="1">
            <a:spLocks noChangeArrowheads="1"/>
          </p:cNvSpPr>
          <p:nvPr/>
        </p:nvSpPr>
        <p:spPr>
          <a:xfrm>
            <a:off x="658699" y="3894531"/>
            <a:ext cx="11162883" cy="6675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Font typeface="Wingdings" panose="05000000000000000000" pitchFamily="2" charset="2"/>
              <a:buNone/>
              <a:defRPr/>
            </a:pPr>
            <a:r>
              <a:rPr lang="zh-CN" altLang="en-US" sz="2800" b="0" dirty="0">
                <a:latin typeface="华文楷体" pitchFamily="2" charset="-122"/>
                <a:ea typeface="华文楷体" pitchFamily="2" charset="-122"/>
              </a:rPr>
              <a:t>空双向链表</a:t>
            </a:r>
            <a:endParaRPr lang="en-US" altLang="zh-CN" sz="2800" b="0" dirty="0">
              <a:latin typeface="华文楷体" pitchFamily="2" charset="-122"/>
              <a:ea typeface="华文楷体" pitchFamily="2" charset="-122"/>
            </a:endParaRPr>
          </a:p>
        </p:txBody>
      </p:sp>
      <p:pic>
        <p:nvPicPr>
          <p:cNvPr id="4" name="图片 3"/>
          <p:cNvPicPr>
            <a:picLocks noChangeAspect="1"/>
          </p:cNvPicPr>
          <p:nvPr/>
        </p:nvPicPr>
        <p:blipFill>
          <a:blip r:embed="rId3"/>
          <a:stretch>
            <a:fillRect/>
          </a:stretch>
        </p:blipFill>
        <p:spPr>
          <a:xfrm>
            <a:off x="710463" y="2456897"/>
            <a:ext cx="7220963" cy="1176630"/>
          </a:xfrm>
          <a:prstGeom prst="rect">
            <a:avLst/>
          </a:prstGeom>
        </p:spPr>
      </p:pic>
      <p:pic>
        <p:nvPicPr>
          <p:cNvPr id="8" name="图片 7"/>
          <p:cNvPicPr/>
          <p:nvPr/>
        </p:nvPicPr>
        <p:blipFill>
          <a:blip r:embed="rId4">
            <a:extLst>
              <a:ext uri="{28A0092B-C50C-407E-A947-70E740481C1C}">
                <a14:useLocalDpi xmlns:a14="http://schemas.microsoft.com/office/drawing/2010/main" val="0"/>
              </a:ext>
            </a:extLst>
          </a:blip>
          <a:srcRect/>
          <a:stretch>
            <a:fillRect/>
          </a:stretch>
        </p:blipFill>
        <p:spPr bwMode="auto">
          <a:xfrm>
            <a:off x="3330678" y="4568474"/>
            <a:ext cx="2678804" cy="820105"/>
          </a:xfrm>
          <a:prstGeom prst="rect">
            <a:avLst/>
          </a:prstGeom>
          <a:noFill/>
          <a:ln>
            <a:noFill/>
          </a:ln>
        </p:spPr>
      </p:pic>
    </p:spTree>
    <p:extLst>
      <p:ext uri="{BB962C8B-B14F-4D97-AF65-F5344CB8AC3E}">
        <p14:creationId xmlns:p14="http://schemas.microsoft.com/office/powerpoint/2010/main" val="7177966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双向链表</a:t>
            </a:r>
          </a:p>
        </p:txBody>
      </p:sp>
      <p:sp>
        <p:nvSpPr>
          <p:cNvPr id="5" name="Rectangle 3"/>
          <p:cNvSpPr txBox="1">
            <a:spLocks noChangeArrowheads="1"/>
          </p:cNvSpPr>
          <p:nvPr/>
        </p:nvSpPr>
        <p:spPr>
          <a:xfrm>
            <a:off x="7550371" y="1456300"/>
            <a:ext cx="4410856" cy="7599807"/>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0" dirty="0"/>
              <a:t>node *</a:t>
            </a:r>
            <a:r>
              <a:rPr lang="en-US" altLang="zh-CN" b="0" dirty="0" err="1"/>
              <a:t>tmp</a:t>
            </a:r>
            <a:r>
              <a:rPr lang="en-US" altLang="zh-CN" b="0" dirty="0"/>
              <a:t> = new node()  //</a:t>
            </a:r>
            <a:r>
              <a:rPr lang="zh-CN" altLang="zh-CN" b="0" dirty="0"/>
              <a:t>（</a:t>
            </a:r>
            <a:r>
              <a:rPr lang="en-US" altLang="zh-CN" b="0" dirty="0"/>
              <a:t>1</a:t>
            </a:r>
            <a:r>
              <a:rPr lang="zh-CN" altLang="zh-CN" b="0" dirty="0"/>
              <a:t>）</a:t>
            </a:r>
            <a:endParaRPr lang="en-US" altLang="zh-CN" b="0" dirty="0"/>
          </a:p>
          <a:p>
            <a:pPr marL="0" indent="0">
              <a:buNone/>
            </a:pPr>
            <a:endParaRPr lang="en-US" altLang="zh-CN" b="0" dirty="0"/>
          </a:p>
          <a:p>
            <a:pPr marL="0" indent="0">
              <a:buNone/>
            </a:pPr>
            <a:r>
              <a:rPr lang="en-US" altLang="zh-CN" b="0" dirty="0" err="1"/>
              <a:t>tmp</a:t>
            </a:r>
            <a:r>
              <a:rPr lang="en-US" altLang="zh-CN" b="0" dirty="0"/>
              <a:t>-&gt;data = x;         // </a:t>
            </a:r>
            <a:r>
              <a:rPr lang="zh-CN" altLang="zh-CN" b="0" dirty="0"/>
              <a:t>（</a:t>
            </a:r>
            <a:r>
              <a:rPr lang="en-US" altLang="zh-CN" b="0" dirty="0"/>
              <a:t>2</a:t>
            </a:r>
            <a:r>
              <a:rPr lang="zh-CN" altLang="zh-CN" b="0" dirty="0"/>
              <a:t>）</a:t>
            </a:r>
            <a:endParaRPr lang="en-US" altLang="zh-CN" b="0" dirty="0"/>
          </a:p>
          <a:p>
            <a:pPr marL="0" indent="0">
              <a:buNone/>
            </a:pPr>
            <a:r>
              <a:rPr lang="en-US" altLang="zh-CN" b="0" dirty="0" err="1"/>
              <a:t>tmp</a:t>
            </a:r>
            <a:r>
              <a:rPr lang="en-US" altLang="zh-CN" b="0" dirty="0"/>
              <a:t>-&gt;prior = p;        </a:t>
            </a:r>
            <a:endParaRPr lang="zh-CN" altLang="zh-CN" b="0" dirty="0"/>
          </a:p>
          <a:p>
            <a:pPr marL="0" indent="0">
              <a:buNone/>
            </a:pPr>
            <a:r>
              <a:rPr lang="en-US" altLang="zh-CN" b="0" dirty="0" err="1"/>
              <a:t>tmp</a:t>
            </a:r>
            <a:r>
              <a:rPr lang="en-US" altLang="zh-CN" b="0" dirty="0"/>
              <a:t>-&gt;next =p-&gt;next;    </a:t>
            </a:r>
            <a:endParaRPr lang="zh-CN" altLang="zh-CN" b="0" dirty="0"/>
          </a:p>
          <a:p>
            <a:pPr marL="0" indent="0">
              <a:buNone/>
            </a:pPr>
            <a:endParaRPr lang="en-US" altLang="zh-CN" b="0" dirty="0"/>
          </a:p>
          <a:p>
            <a:pPr marL="0" indent="0">
              <a:buNone/>
            </a:pPr>
            <a:r>
              <a:rPr lang="en-US" altLang="zh-CN" b="0" dirty="0" err="1"/>
              <a:t>tmp</a:t>
            </a:r>
            <a:r>
              <a:rPr lang="en-US" altLang="zh-CN" b="0" dirty="0"/>
              <a:t>-&gt;prior-&gt;next =</a:t>
            </a:r>
            <a:r>
              <a:rPr lang="en-US" altLang="zh-CN" b="0" dirty="0" err="1"/>
              <a:t>tmp</a:t>
            </a:r>
            <a:r>
              <a:rPr lang="en-US" altLang="zh-CN" b="0" dirty="0"/>
              <a:t>;  // </a:t>
            </a:r>
            <a:r>
              <a:rPr lang="zh-CN" altLang="zh-CN" b="0" dirty="0"/>
              <a:t>（</a:t>
            </a:r>
            <a:r>
              <a:rPr lang="en-US" altLang="zh-CN" b="0" dirty="0"/>
              <a:t>3</a:t>
            </a:r>
            <a:r>
              <a:rPr lang="zh-CN" altLang="zh-CN" b="0" dirty="0"/>
              <a:t>）</a:t>
            </a:r>
            <a:endParaRPr lang="en-US" altLang="zh-CN" b="0" dirty="0"/>
          </a:p>
          <a:p>
            <a:pPr marL="0" indent="0">
              <a:buNone/>
            </a:pPr>
            <a:r>
              <a:rPr lang="en-US" altLang="zh-CN" b="0" dirty="0"/>
              <a:t>if (</a:t>
            </a:r>
            <a:r>
              <a:rPr lang="en-US" altLang="zh-CN" b="0" dirty="0" err="1"/>
              <a:t>tmp</a:t>
            </a:r>
            <a:r>
              <a:rPr lang="en-US" altLang="zh-CN" b="0" dirty="0"/>
              <a:t>-&gt;next)</a:t>
            </a:r>
          </a:p>
          <a:p>
            <a:pPr marL="0" indent="0">
              <a:buNone/>
            </a:pPr>
            <a:r>
              <a:rPr lang="en-US" altLang="zh-CN" b="0" dirty="0"/>
              <a:t>    </a:t>
            </a:r>
            <a:r>
              <a:rPr lang="en-US" altLang="zh-CN" b="0" dirty="0" err="1"/>
              <a:t>tmp</a:t>
            </a:r>
            <a:r>
              <a:rPr lang="en-US" altLang="zh-CN" b="0" dirty="0"/>
              <a:t>-&gt;next-&gt;prior =</a:t>
            </a:r>
            <a:r>
              <a:rPr lang="en-US" altLang="zh-CN" b="0" dirty="0" err="1"/>
              <a:t>tmp</a:t>
            </a:r>
            <a:r>
              <a:rPr lang="en-US" altLang="zh-CN" b="0" dirty="0"/>
              <a:t>;  // </a:t>
            </a:r>
            <a:r>
              <a:rPr lang="zh-CN" altLang="zh-CN" b="0" dirty="0"/>
              <a:t>（</a:t>
            </a:r>
            <a:r>
              <a:rPr lang="en-US" altLang="zh-CN" b="0" dirty="0"/>
              <a:t>4</a:t>
            </a:r>
            <a:r>
              <a:rPr lang="zh-CN" altLang="zh-CN" b="0" dirty="0"/>
              <a:t>）</a:t>
            </a:r>
            <a:endParaRPr lang="zh-CN" altLang="zh-CN" sz="3200" b="0" dirty="0"/>
          </a:p>
        </p:txBody>
      </p:sp>
      <p:sp>
        <p:nvSpPr>
          <p:cNvPr id="2" name="矩形 1"/>
          <p:cNvSpPr/>
          <p:nvPr/>
        </p:nvSpPr>
        <p:spPr>
          <a:xfrm>
            <a:off x="658700" y="1456300"/>
            <a:ext cx="7034188" cy="523220"/>
          </a:xfrm>
          <a:prstGeom prst="rect">
            <a:avLst/>
          </a:prstGeom>
        </p:spPr>
        <p:txBody>
          <a:bodyPr wrap="square">
            <a:spAutoFit/>
          </a:bodyPr>
          <a:lstStyle/>
          <a:p>
            <a:r>
              <a:rPr lang="zh-CN" altLang="en-US" sz="2800" b="1" dirty="0">
                <a:latin typeface="华文楷体" pitchFamily="2" charset="-122"/>
                <a:ea typeface="华文楷体" pitchFamily="2" charset="-122"/>
              </a:rPr>
              <a:t>插入：</a:t>
            </a:r>
            <a:r>
              <a:rPr lang="zh-CN" altLang="en-US" sz="2800" dirty="0">
                <a:latin typeface="华文楷体" pitchFamily="2" charset="-122"/>
                <a:ea typeface="华文楷体" pitchFamily="2" charset="-122"/>
              </a:rPr>
              <a:t>将元素</a:t>
            </a:r>
            <a:r>
              <a:rPr lang="en-US" altLang="zh-CN" sz="2800" dirty="0">
                <a:latin typeface="华文楷体" pitchFamily="2" charset="-122"/>
                <a:ea typeface="华文楷体" pitchFamily="2" charset="-122"/>
              </a:rPr>
              <a:t>x</a:t>
            </a:r>
            <a:r>
              <a:rPr lang="zh-CN" altLang="en-US" sz="2800" dirty="0">
                <a:latin typeface="华文楷体" pitchFamily="2" charset="-122"/>
                <a:ea typeface="华文楷体" pitchFamily="2" charset="-122"/>
              </a:rPr>
              <a:t>插入到</a:t>
            </a:r>
            <a:r>
              <a:rPr lang="en-US" altLang="zh-CN" sz="2800" dirty="0">
                <a:latin typeface="华文楷体" pitchFamily="2" charset="-122"/>
                <a:ea typeface="华文楷体" pitchFamily="2" charset="-122"/>
              </a:rPr>
              <a:t>p</a:t>
            </a:r>
            <a:r>
              <a:rPr lang="zh-CN" altLang="en-US" sz="2800" dirty="0">
                <a:latin typeface="华文楷体" pitchFamily="2" charset="-122"/>
                <a:ea typeface="华文楷体" pitchFamily="2" charset="-122"/>
              </a:rPr>
              <a:t>指针所指结点之后。</a:t>
            </a:r>
          </a:p>
        </p:txBody>
      </p:sp>
      <p:cxnSp>
        <p:nvCxnSpPr>
          <p:cNvPr id="7" name="直接连接符 6"/>
          <p:cNvCxnSpPr/>
          <p:nvPr/>
        </p:nvCxnSpPr>
        <p:spPr>
          <a:xfrm>
            <a:off x="7391840" y="1328329"/>
            <a:ext cx="19878" cy="5529671"/>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3"/>
          <a:stretch>
            <a:fillRect/>
          </a:stretch>
        </p:blipFill>
        <p:spPr>
          <a:xfrm>
            <a:off x="474428" y="2633619"/>
            <a:ext cx="6778759" cy="2233003"/>
          </a:xfrm>
          <a:prstGeom prst="rect">
            <a:avLst/>
          </a:prstGeom>
        </p:spPr>
      </p:pic>
      <p:sp>
        <p:nvSpPr>
          <p:cNvPr id="4" name="文本框 3"/>
          <p:cNvSpPr txBox="1"/>
          <p:nvPr/>
        </p:nvSpPr>
        <p:spPr>
          <a:xfrm>
            <a:off x="571734" y="5530614"/>
            <a:ext cx="6538936" cy="954107"/>
          </a:xfrm>
          <a:prstGeom prst="rect">
            <a:avLst/>
          </a:prstGeom>
          <a:noFill/>
        </p:spPr>
        <p:txBody>
          <a:bodyPr wrap="square" rtlCol="0">
            <a:spAutoFit/>
          </a:bodyPr>
          <a:lstStyle/>
          <a:p>
            <a:r>
              <a:rPr lang="zh-CN" altLang="en-US" sz="2800" dirty="0">
                <a:latin typeface="华文楷体" pitchFamily="2" charset="-122"/>
                <a:ea typeface="华文楷体" pitchFamily="2" charset="-122"/>
              </a:rPr>
              <a:t>如果新结点插入在首结点位置，操作又有不同，</a:t>
            </a:r>
            <a:r>
              <a:rPr lang="zh-CN" altLang="en-US" sz="2800" b="1" dirty="0">
                <a:latin typeface="华文楷体" pitchFamily="2" charset="-122"/>
                <a:ea typeface="华文楷体" pitchFamily="2" charset="-122"/>
              </a:rPr>
              <a:t>请课后练习</a:t>
            </a:r>
            <a:r>
              <a:rPr lang="zh-CN" altLang="en-US" sz="2800" dirty="0">
                <a:latin typeface="华文楷体" pitchFamily="2" charset="-122"/>
                <a:ea typeface="华文楷体" pitchFamily="2" charset="-122"/>
              </a:rPr>
              <a:t>。</a:t>
            </a:r>
          </a:p>
        </p:txBody>
      </p:sp>
    </p:spTree>
    <p:extLst>
      <p:ext uri="{BB962C8B-B14F-4D97-AF65-F5344CB8AC3E}">
        <p14:creationId xmlns:p14="http://schemas.microsoft.com/office/powerpoint/2010/main" val="19304816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en-US" dirty="0">
                <a:highlight>
                  <a:srgbClr val="FFFF00"/>
                </a:highlight>
                <a:latin typeface="华文楷体" panose="02010600040101010101" pitchFamily="2" charset="-122"/>
                <a:ea typeface="华文楷体" panose="02010600040101010101" pitchFamily="2" charset="-122"/>
              </a:rPr>
              <a:t>顺序、链表结构各自的优势和劣势：</a:t>
            </a:r>
          </a:p>
        </p:txBody>
      </p:sp>
      <p:sp>
        <p:nvSpPr>
          <p:cNvPr id="3" name="文本框 2"/>
          <p:cNvSpPr txBox="1"/>
          <p:nvPr/>
        </p:nvSpPr>
        <p:spPr>
          <a:xfrm>
            <a:off x="288284" y="1362114"/>
            <a:ext cx="11773577" cy="5262979"/>
          </a:xfrm>
          <a:prstGeom prst="rect">
            <a:avLst/>
          </a:prstGeom>
          <a:noFill/>
        </p:spPr>
        <p:txBody>
          <a:bodyPr wrap="square" rtlCol="0">
            <a:spAutoFit/>
          </a:bodyPr>
          <a:lstStyle/>
          <a:p>
            <a:r>
              <a:rPr lang="zh-CN" altLang="en-US" sz="2800" b="1" dirty="0">
                <a:latin typeface="华文楷体" pitchFamily="2" charset="-122"/>
                <a:ea typeface="华文楷体" pitchFamily="2" charset="-122"/>
              </a:rPr>
              <a:t>顺序结构</a:t>
            </a:r>
            <a:r>
              <a:rPr lang="zh-CN" altLang="zh-CN" sz="2800" b="1" dirty="0">
                <a:latin typeface="华文楷体" pitchFamily="2" charset="-122"/>
                <a:ea typeface="华文楷体" pitchFamily="2" charset="-122"/>
              </a:rPr>
              <a:t>：</a:t>
            </a:r>
            <a:endParaRPr lang="en-US" altLang="zh-CN" sz="2800" b="1" dirty="0">
              <a:latin typeface="华文楷体" pitchFamily="2" charset="-122"/>
              <a:ea typeface="华文楷体" pitchFamily="2" charset="-122"/>
            </a:endParaRPr>
          </a:p>
          <a:p>
            <a:pPr marL="1233488" indent="-514350">
              <a:buFont typeface="+mj-lt"/>
              <a:buAutoNum type="arabicPeriod"/>
            </a:pPr>
            <a:r>
              <a:rPr lang="zh-CN" altLang="zh-CN" sz="2800" dirty="0">
                <a:latin typeface="华文楷体" pitchFamily="2" charset="-122"/>
                <a:ea typeface="华文楷体" pitchFamily="2" charset="-122"/>
              </a:rPr>
              <a:t>找</a:t>
            </a:r>
            <a:r>
              <a:rPr lang="zh-CN" altLang="en-US" sz="2800" dirty="0">
                <a:latin typeface="华文楷体" pitchFamily="2" charset="-122"/>
                <a:ea typeface="华文楷体" pitchFamily="2" charset="-122"/>
              </a:rPr>
              <a:t>第</a:t>
            </a:r>
            <a:r>
              <a:rPr lang="en-US" altLang="zh-CN" sz="2800" dirty="0" err="1">
                <a:latin typeface="华文楷体" pitchFamily="2" charset="-122"/>
                <a:ea typeface="华文楷体" pitchFamily="2" charset="-122"/>
              </a:rPr>
              <a:t>i</a:t>
            </a:r>
            <a:r>
              <a:rPr lang="zh-CN" altLang="en-US" sz="2800" dirty="0">
                <a:latin typeface="华文楷体" pitchFamily="2" charset="-122"/>
                <a:ea typeface="华文楷体" pitchFamily="2" charset="-122"/>
              </a:rPr>
              <a:t>个元素方便，</a:t>
            </a:r>
            <a:r>
              <a:rPr lang="zh-CN" altLang="zh-CN" sz="2800" dirty="0">
                <a:latin typeface="华文楷体" pitchFamily="2" charset="-122"/>
                <a:ea typeface="华文楷体" pitchFamily="2" charset="-122"/>
              </a:rPr>
              <a:t>时间复杂度</a:t>
            </a:r>
            <a:r>
              <a:rPr lang="en-US" altLang="zh-CN" sz="2800" dirty="0">
                <a:latin typeface="华文楷体" pitchFamily="2" charset="-122"/>
                <a:ea typeface="华文楷体" pitchFamily="2" charset="-122"/>
              </a:rPr>
              <a:t>O(1)</a:t>
            </a:r>
          </a:p>
          <a:p>
            <a:pPr marL="1233488" indent="-514350">
              <a:buFont typeface="+mj-lt"/>
              <a:buAutoNum type="arabicPeriod"/>
            </a:pPr>
            <a:r>
              <a:rPr lang="zh-CN" altLang="en-US" sz="2800" dirty="0">
                <a:latin typeface="华文楷体" pitchFamily="2" charset="-122"/>
                <a:ea typeface="华文楷体" pitchFamily="2" charset="-122"/>
              </a:rPr>
              <a:t>数组操作特别熟练，不易错</a:t>
            </a:r>
            <a:endParaRPr lang="en-US" altLang="zh-CN" sz="2800" dirty="0">
              <a:latin typeface="华文楷体" pitchFamily="2" charset="-122"/>
              <a:ea typeface="华文楷体" pitchFamily="2" charset="-122"/>
            </a:endParaRPr>
          </a:p>
          <a:p>
            <a:pPr marL="1233488" indent="-514350">
              <a:buFont typeface="+mj-lt"/>
              <a:buAutoNum type="arabicPeriod"/>
            </a:pPr>
            <a:r>
              <a:rPr lang="zh-CN" altLang="en-US" sz="2800" dirty="0">
                <a:latin typeface="华文楷体" pitchFamily="2" charset="-122"/>
                <a:ea typeface="华文楷体" pitchFamily="2" charset="-122"/>
              </a:rPr>
              <a:t>需要连续空间，且要预估空间</a:t>
            </a:r>
            <a:endParaRPr lang="en-US" altLang="zh-CN" sz="2800" dirty="0">
              <a:latin typeface="华文楷体" pitchFamily="2" charset="-122"/>
              <a:ea typeface="华文楷体" pitchFamily="2" charset="-122"/>
            </a:endParaRPr>
          </a:p>
          <a:p>
            <a:pPr marL="1233488" indent="-514350">
              <a:buFont typeface="+mj-lt"/>
              <a:buAutoNum type="arabicPeriod"/>
            </a:pPr>
            <a:r>
              <a:rPr lang="zh-CN" altLang="en-US" sz="2800" dirty="0">
                <a:latin typeface="华文楷体" pitchFamily="2" charset="-122"/>
                <a:ea typeface="华文楷体" pitchFamily="2" charset="-122"/>
              </a:rPr>
              <a:t>查找、插入和删除时间效率</a:t>
            </a:r>
            <a:r>
              <a:rPr lang="en-US" altLang="zh-CN" sz="2800" dirty="0">
                <a:latin typeface="华文楷体" pitchFamily="2" charset="-122"/>
                <a:ea typeface="华文楷体" pitchFamily="2" charset="-122"/>
              </a:rPr>
              <a:t>O(n)</a:t>
            </a:r>
          </a:p>
          <a:p>
            <a:r>
              <a:rPr lang="en-US" altLang="zh-CN" sz="2800" dirty="0">
                <a:latin typeface="华文楷体" pitchFamily="2" charset="-122"/>
                <a:ea typeface="华文楷体" pitchFamily="2" charset="-122"/>
              </a:rPr>
              <a:t>                     </a:t>
            </a:r>
          </a:p>
          <a:p>
            <a:r>
              <a:rPr lang="zh-CN" altLang="en-US" sz="2800" b="1" dirty="0">
                <a:latin typeface="华文楷体" pitchFamily="2" charset="-122"/>
                <a:ea typeface="华文楷体" pitchFamily="2" charset="-122"/>
              </a:rPr>
              <a:t>链式结构</a:t>
            </a:r>
            <a:r>
              <a:rPr lang="zh-CN" altLang="zh-CN" sz="2800" b="1" dirty="0">
                <a:latin typeface="华文楷体" pitchFamily="2" charset="-122"/>
                <a:ea typeface="华文楷体" pitchFamily="2" charset="-122"/>
              </a:rPr>
              <a:t>：</a:t>
            </a:r>
            <a:endParaRPr lang="en-US" altLang="zh-CN" sz="2800" b="1" dirty="0">
              <a:latin typeface="华文楷体" pitchFamily="2" charset="-122"/>
              <a:ea typeface="华文楷体" pitchFamily="2" charset="-122"/>
            </a:endParaRPr>
          </a:p>
          <a:p>
            <a:pPr marL="1316038" indent="-514350">
              <a:buFont typeface="+mj-lt"/>
              <a:buAutoNum type="arabicPeriod"/>
            </a:pPr>
            <a:r>
              <a:rPr lang="zh-CN" altLang="zh-CN" sz="2800" dirty="0">
                <a:latin typeface="华文楷体" pitchFamily="2" charset="-122"/>
                <a:ea typeface="华文楷体" pitchFamily="2" charset="-122"/>
              </a:rPr>
              <a:t>找</a:t>
            </a:r>
            <a:r>
              <a:rPr lang="zh-CN" altLang="en-US" sz="2800" dirty="0">
                <a:latin typeface="华文楷体" pitchFamily="2" charset="-122"/>
                <a:ea typeface="华文楷体" pitchFamily="2" charset="-122"/>
              </a:rPr>
              <a:t>第</a:t>
            </a:r>
            <a:r>
              <a:rPr lang="en-US" altLang="zh-CN" sz="2800" dirty="0" err="1">
                <a:latin typeface="华文楷体" pitchFamily="2" charset="-122"/>
                <a:ea typeface="华文楷体" pitchFamily="2" charset="-122"/>
              </a:rPr>
              <a:t>i</a:t>
            </a:r>
            <a:r>
              <a:rPr lang="zh-CN" altLang="en-US" sz="2800" dirty="0">
                <a:latin typeface="华文楷体" pitchFamily="2" charset="-122"/>
                <a:ea typeface="华文楷体" pitchFamily="2" charset="-122"/>
              </a:rPr>
              <a:t>个元素不方便，</a:t>
            </a:r>
            <a:r>
              <a:rPr lang="zh-CN" altLang="zh-CN" sz="2800" dirty="0">
                <a:latin typeface="华文楷体" pitchFamily="2" charset="-122"/>
                <a:ea typeface="华文楷体" pitchFamily="2" charset="-122"/>
              </a:rPr>
              <a:t>时间复杂度</a:t>
            </a:r>
            <a:r>
              <a:rPr lang="en-US" altLang="zh-CN" sz="2800" dirty="0">
                <a:latin typeface="华文楷体" pitchFamily="2" charset="-122"/>
                <a:ea typeface="华文楷体" pitchFamily="2" charset="-122"/>
              </a:rPr>
              <a:t>O(n)</a:t>
            </a:r>
          </a:p>
          <a:p>
            <a:pPr marL="1316038" indent="-514350">
              <a:buFont typeface="+mj-lt"/>
              <a:buAutoNum type="arabicPeriod"/>
            </a:pPr>
            <a:r>
              <a:rPr lang="zh-CN" altLang="en-US" sz="2800" dirty="0">
                <a:latin typeface="华文楷体" pitchFamily="2" charset="-122"/>
                <a:ea typeface="华文楷体" pitchFamily="2" charset="-122"/>
              </a:rPr>
              <a:t>链表操作不熟练，易出错。</a:t>
            </a:r>
            <a:r>
              <a:rPr lang="zh-CN" altLang="en-US" sz="2800" dirty="0">
                <a:solidFill>
                  <a:srgbClr val="FF0000"/>
                </a:solidFill>
                <a:latin typeface="华文楷体" pitchFamily="2" charset="-122"/>
                <a:ea typeface="华文楷体" pitchFamily="2" charset="-122"/>
                <a:sym typeface="Wingdings" panose="05000000000000000000" pitchFamily="2" charset="2"/>
              </a:rPr>
              <a:t></a:t>
            </a:r>
            <a:endParaRPr lang="en-US" altLang="zh-CN" sz="2800" dirty="0">
              <a:solidFill>
                <a:srgbClr val="FF0000"/>
              </a:solidFill>
              <a:latin typeface="华文楷体" pitchFamily="2" charset="-122"/>
              <a:ea typeface="华文楷体" pitchFamily="2" charset="-122"/>
              <a:sym typeface="Wingdings" panose="05000000000000000000" pitchFamily="2" charset="2"/>
            </a:endParaRPr>
          </a:p>
          <a:p>
            <a:pPr marL="1316038" indent="-514350">
              <a:buFont typeface="+mj-lt"/>
              <a:buAutoNum type="arabicPeriod"/>
            </a:pPr>
            <a:r>
              <a:rPr lang="zh-CN" altLang="en-US" sz="2800" dirty="0">
                <a:latin typeface="华文楷体" pitchFamily="2" charset="-122"/>
                <a:ea typeface="华文楷体" pitchFamily="2" charset="-122"/>
              </a:rPr>
              <a:t>不需要连续空间，也不要预估空间。</a:t>
            </a:r>
            <a:endParaRPr lang="en-US" altLang="zh-CN" sz="2800" dirty="0">
              <a:latin typeface="华文楷体" pitchFamily="2" charset="-122"/>
              <a:ea typeface="华文楷体" pitchFamily="2" charset="-122"/>
            </a:endParaRPr>
          </a:p>
          <a:p>
            <a:pPr marL="1316038" indent="-514350">
              <a:buFont typeface="+mj-lt"/>
              <a:buAutoNum type="arabicPeriod"/>
            </a:pPr>
            <a:r>
              <a:rPr lang="zh-CN" altLang="en-US" sz="2800" dirty="0">
                <a:latin typeface="华文楷体" pitchFamily="2" charset="-122"/>
                <a:ea typeface="华文楷体" pitchFamily="2" charset="-122"/>
              </a:rPr>
              <a:t>查找、插入和删除时间效率虽然也是</a:t>
            </a:r>
            <a:r>
              <a:rPr lang="en-US" altLang="zh-CN" sz="2800" dirty="0">
                <a:latin typeface="华文楷体" pitchFamily="2" charset="-122"/>
                <a:ea typeface="华文楷体" pitchFamily="2" charset="-122"/>
              </a:rPr>
              <a:t>O(n)</a:t>
            </a:r>
            <a:r>
              <a:rPr lang="zh-CN" altLang="en-US" sz="2800" dirty="0">
                <a:latin typeface="华文楷体" pitchFamily="2" charset="-122"/>
                <a:ea typeface="华文楷体" pitchFamily="2" charset="-122"/>
              </a:rPr>
              <a:t>，但无数据大规模移动。</a:t>
            </a:r>
            <a:endParaRPr lang="en-US" altLang="zh-CN" sz="2800" dirty="0">
              <a:latin typeface="华文楷体" pitchFamily="2" charset="-122"/>
              <a:ea typeface="华文楷体" pitchFamily="2" charset="-122"/>
            </a:endParaRPr>
          </a:p>
          <a:p>
            <a:pPr marL="1316038" indent="-514350">
              <a:buFont typeface="+mj-lt"/>
              <a:buAutoNum type="arabicPeriod"/>
            </a:pP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29582957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线性表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一元多项式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稀疏矩阵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字符串</a:t>
            </a:r>
            <a:r>
              <a:rPr lang="en-US" altLang="zh-CN" sz="2800" dirty="0">
                <a:latin typeface="华文楷体" pitchFamily="2" charset="-122"/>
                <a:ea typeface="华文楷体" pitchFamily="2" charset="-122"/>
              </a:rPr>
              <a:t>*</a:t>
            </a:r>
          </a:p>
          <a:p>
            <a:pPr>
              <a:lnSpc>
                <a:spcPct val="115000"/>
              </a:lnSpc>
              <a:buFont typeface="Wingdings" panose="05000000000000000000" pitchFamily="2" charset="2"/>
              <a:buChar char="Ø"/>
              <a:defRPr/>
            </a:pP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41936028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7847" y="1602649"/>
            <a:ext cx="11724587" cy="4205833"/>
          </a:xfrm>
        </p:spPr>
        <p:txBody>
          <a:bodyPr>
            <a:normAutofit/>
          </a:bodyPr>
          <a:lstStyle/>
          <a:p>
            <a:pPr marL="0" indent="0">
              <a:buNone/>
            </a:pPr>
            <a:r>
              <a:rPr lang="zh-CN" altLang="zh-CN" sz="2800" b="0" dirty="0">
                <a:ea typeface="华文楷体" panose="02010600040101010101" pitchFamily="2" charset="-122"/>
                <a:cs typeface="Times New Roman" panose="02020603050405020304" pitchFamily="18" charset="0"/>
              </a:rPr>
              <a:t>在数学上，一元多项式一般表示为如下形式：</a:t>
            </a:r>
          </a:p>
          <a:p>
            <a:pPr marL="0" indent="0">
              <a:buNone/>
            </a:pPr>
            <a:r>
              <a:rPr lang="en-GB" altLang="zh-CN" sz="2800" b="0" dirty="0" err="1">
                <a:ea typeface="华文楷体" panose="02010600040101010101" pitchFamily="2" charset="-122"/>
                <a:cs typeface="Times New Roman" panose="02020603050405020304" pitchFamily="18" charset="0"/>
              </a:rPr>
              <a:t>p</a:t>
            </a:r>
            <a:r>
              <a:rPr lang="en-GB" altLang="zh-CN" sz="2800" b="0" baseline="-25000" dirty="0" err="1">
                <a:ea typeface="华文楷体" panose="02010600040101010101" pitchFamily="2" charset="-122"/>
                <a:cs typeface="Times New Roman" panose="02020603050405020304" pitchFamily="18" charset="0"/>
              </a:rPr>
              <a:t>n</a:t>
            </a:r>
            <a:r>
              <a:rPr lang="en-GB" altLang="zh-CN" sz="2800" b="0" dirty="0">
                <a:ea typeface="华文楷体" panose="02010600040101010101" pitchFamily="2" charset="-122"/>
                <a:cs typeface="Times New Roman" panose="02020603050405020304" pitchFamily="18" charset="0"/>
              </a:rPr>
              <a:t>(x) = p</a:t>
            </a:r>
            <a:r>
              <a:rPr lang="en-GB" altLang="zh-CN" sz="2800" b="0" baseline="-25000" dirty="0">
                <a:ea typeface="华文楷体" panose="02010600040101010101" pitchFamily="2" charset="-122"/>
                <a:cs typeface="Times New Roman" panose="02020603050405020304" pitchFamily="18" charset="0"/>
              </a:rPr>
              <a:t>0</a:t>
            </a:r>
            <a:r>
              <a:rPr lang="en-GB" altLang="zh-CN" sz="2800" b="0" dirty="0">
                <a:ea typeface="华文楷体" panose="02010600040101010101" pitchFamily="2" charset="-122"/>
                <a:cs typeface="Times New Roman" panose="02020603050405020304" pitchFamily="18" charset="0"/>
              </a:rPr>
              <a:t> + p</a:t>
            </a:r>
            <a:r>
              <a:rPr lang="en-GB" altLang="zh-CN" sz="2800" b="0" baseline="-25000" dirty="0">
                <a:ea typeface="华文楷体" panose="02010600040101010101" pitchFamily="2" charset="-122"/>
                <a:cs typeface="Times New Roman" panose="02020603050405020304" pitchFamily="18" charset="0"/>
              </a:rPr>
              <a:t>1</a:t>
            </a:r>
            <a:r>
              <a:rPr lang="en-GB" altLang="zh-CN" sz="2800" b="0" dirty="0">
                <a:ea typeface="华文楷体" panose="02010600040101010101" pitchFamily="2" charset="-122"/>
                <a:cs typeface="Times New Roman" panose="02020603050405020304" pitchFamily="18" charset="0"/>
              </a:rPr>
              <a:t>x + p</a:t>
            </a:r>
            <a:r>
              <a:rPr lang="en-GB" altLang="zh-CN" sz="2800" b="0" baseline="-25000" dirty="0">
                <a:ea typeface="华文楷体" panose="02010600040101010101" pitchFamily="2" charset="-122"/>
                <a:cs typeface="Times New Roman" panose="02020603050405020304" pitchFamily="18" charset="0"/>
              </a:rPr>
              <a:t>2</a:t>
            </a:r>
            <a:r>
              <a:rPr lang="en-GB" altLang="zh-CN" sz="2800" b="0" dirty="0">
                <a:ea typeface="华文楷体" panose="02010600040101010101" pitchFamily="2" charset="-122"/>
                <a:cs typeface="Times New Roman" panose="02020603050405020304" pitchFamily="18" charset="0"/>
              </a:rPr>
              <a:t>x</a:t>
            </a:r>
            <a:r>
              <a:rPr lang="en-GB" altLang="zh-CN" sz="2800" b="0" baseline="30000" dirty="0">
                <a:ea typeface="华文楷体" panose="02010600040101010101" pitchFamily="2" charset="-122"/>
                <a:cs typeface="Times New Roman" panose="02020603050405020304" pitchFamily="18" charset="0"/>
              </a:rPr>
              <a:t>2</a:t>
            </a:r>
            <a:r>
              <a:rPr lang="en-GB" altLang="zh-CN" sz="2800" b="0" dirty="0">
                <a:ea typeface="华文楷体" panose="02010600040101010101" pitchFamily="2" charset="-122"/>
                <a:cs typeface="Times New Roman" panose="02020603050405020304" pitchFamily="18" charset="0"/>
              </a:rPr>
              <a:t> + </a:t>
            </a:r>
            <a:r>
              <a:rPr lang="zh-CN" altLang="zh-CN" sz="2800" b="0" dirty="0">
                <a:ea typeface="华文楷体" panose="02010600040101010101" pitchFamily="2" charset="-122"/>
                <a:cs typeface="Times New Roman" panose="02020603050405020304" pitchFamily="18" charset="0"/>
              </a:rPr>
              <a:t>… </a:t>
            </a:r>
            <a:r>
              <a:rPr lang="en-GB" altLang="zh-CN" sz="2800" b="0" dirty="0">
                <a:ea typeface="华文楷体" panose="02010600040101010101" pitchFamily="2" charset="-122"/>
                <a:cs typeface="Times New Roman" panose="02020603050405020304" pitchFamily="18" charset="0"/>
              </a:rPr>
              <a:t>+ </a:t>
            </a:r>
            <a:r>
              <a:rPr lang="en-GB" altLang="zh-CN" sz="2800" b="0" dirty="0" err="1">
                <a:ea typeface="华文楷体" panose="02010600040101010101" pitchFamily="2" charset="-122"/>
                <a:cs typeface="Times New Roman" panose="02020603050405020304" pitchFamily="18" charset="0"/>
              </a:rPr>
              <a:t>p</a:t>
            </a:r>
            <a:r>
              <a:rPr lang="en-GB" altLang="zh-CN" sz="2800" b="0" baseline="-25000" dirty="0" err="1">
                <a:ea typeface="华文楷体" panose="02010600040101010101" pitchFamily="2" charset="-122"/>
                <a:cs typeface="Times New Roman" panose="02020603050405020304" pitchFamily="18" charset="0"/>
              </a:rPr>
              <a:t>n</a:t>
            </a:r>
            <a:r>
              <a:rPr lang="en-GB" altLang="zh-CN" sz="2800" b="0" dirty="0" err="1">
                <a:ea typeface="华文楷体" panose="02010600040101010101" pitchFamily="2" charset="-122"/>
                <a:cs typeface="Times New Roman" panose="02020603050405020304" pitchFamily="18" charset="0"/>
              </a:rPr>
              <a:t>x</a:t>
            </a:r>
            <a:r>
              <a:rPr lang="en-GB" altLang="zh-CN" sz="2800" b="0" baseline="30000" dirty="0" err="1">
                <a:ea typeface="华文楷体" panose="02010600040101010101" pitchFamily="2" charset="-122"/>
                <a:cs typeface="Times New Roman" panose="02020603050405020304" pitchFamily="18" charset="0"/>
              </a:rPr>
              <a:t>n</a:t>
            </a:r>
            <a:endParaRPr lang="zh-CN" altLang="zh-CN" sz="2800" b="0" baseline="3000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在计算机内实现时，可以用线性表来表示</a:t>
            </a:r>
            <a:r>
              <a:rPr lang="en-US" altLang="zh-CN" sz="2800" b="0" dirty="0">
                <a:ea typeface="华文楷体" panose="02010600040101010101" pitchFamily="2" charset="-122"/>
                <a:cs typeface="Times New Roman" panose="02020603050405020304" pitchFamily="18" charset="0"/>
              </a:rPr>
              <a:t>:</a:t>
            </a:r>
          </a:p>
          <a:p>
            <a:pPr marL="0" indent="0">
              <a:buNone/>
            </a:pPr>
            <a:r>
              <a:rPr lang="en-GB" altLang="zh-CN" sz="2800" b="0" dirty="0">
                <a:ea typeface="华文楷体" panose="02010600040101010101" pitchFamily="2" charset="-122"/>
                <a:cs typeface="Times New Roman" panose="02020603050405020304" pitchFamily="18" charset="0"/>
              </a:rPr>
              <a:t>p = ( p</a:t>
            </a:r>
            <a:r>
              <a:rPr lang="en-GB" altLang="zh-CN" sz="2800" b="0" baseline="-2500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p</a:t>
            </a:r>
            <a:r>
              <a:rPr lang="en-GB" altLang="zh-CN" sz="2800" b="0" baseline="-2500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p</a:t>
            </a:r>
            <a:r>
              <a:rPr lang="en-GB" altLang="zh-CN" sz="2800" b="0" baseline="-2500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 p</a:t>
            </a:r>
            <a:r>
              <a:rPr lang="en-GB" altLang="zh-CN" sz="2800" b="0" baseline="-25000" dirty="0">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 …，</a:t>
            </a:r>
            <a:r>
              <a:rPr lang="en-GB" altLang="zh-CN" sz="2800" b="0" dirty="0" err="1">
                <a:ea typeface="华文楷体" panose="02010600040101010101" pitchFamily="2" charset="-122"/>
                <a:cs typeface="Times New Roman" panose="02020603050405020304" pitchFamily="18" charset="0"/>
              </a:rPr>
              <a:t>p</a:t>
            </a:r>
            <a:r>
              <a:rPr lang="en-GB" altLang="zh-CN" sz="2800" b="0" baseline="-25000" dirty="0" err="1">
                <a:ea typeface="华文楷体" panose="02010600040101010101" pitchFamily="2" charset="-122"/>
                <a:cs typeface="Times New Roman" panose="02020603050405020304" pitchFamily="18" charset="0"/>
              </a:rPr>
              <a:t>n</a:t>
            </a:r>
            <a:r>
              <a:rPr lang="en-GB"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，其中结点</a:t>
            </a:r>
            <a:r>
              <a:rPr lang="en-GB" altLang="zh-CN" sz="2800" b="0" dirty="0">
                <a:ea typeface="华文楷体" panose="02010600040101010101" pitchFamily="2" charset="-122"/>
                <a:cs typeface="Times New Roman" panose="02020603050405020304" pitchFamily="18" charset="0"/>
              </a:rPr>
              <a:t>p</a:t>
            </a:r>
            <a:r>
              <a:rPr lang="en-US" altLang="zh-CN" sz="2800" b="0" baseline="-2500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GB"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a:t>
            </a:r>
            <a:r>
              <a:rPr lang="en-GB" altLang="zh-CN" sz="2800" b="0" dirty="0">
                <a:ea typeface="华文楷体" panose="02010600040101010101" pitchFamily="2" charset="-122"/>
                <a:cs typeface="Times New Roman" panose="02020603050405020304" pitchFamily="18" charset="0"/>
              </a:rPr>
              <a:t>n</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表示幂为</a:t>
            </a:r>
            <a:r>
              <a:rPr lang="en-GB"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项的系数。</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a:t>
            </a:r>
          </a:p>
        </p:txBody>
      </p:sp>
    </p:spTree>
    <p:extLst>
      <p:ext uri="{BB962C8B-B14F-4D97-AF65-F5344CB8AC3E}">
        <p14:creationId xmlns:p14="http://schemas.microsoft.com/office/powerpoint/2010/main" val="718924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41979"/>
          </a:xfrm>
        </p:spPr>
        <p:txBody>
          <a:bodyPr>
            <a:normAutofit lnSpcReduction="10000"/>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一种方法是：为了表示系数和项的对应关系</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en-GB" altLang="zh-CN" sz="2800" b="0" dirty="0" err="1">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次幂项的系数</a:t>
            </a:r>
            <a:r>
              <a:rPr lang="en-GB" altLang="zh-CN" sz="2800" b="0" dirty="0">
                <a:latin typeface="华文楷体" panose="02010600040101010101" pitchFamily="2" charset="-122"/>
                <a:ea typeface="华文楷体" panose="02010600040101010101" pitchFamily="2" charset="-122"/>
              </a:rPr>
              <a:t>pi</a:t>
            </a:r>
            <a:r>
              <a:rPr lang="zh-CN" altLang="zh-CN" sz="2800" b="0" dirty="0">
                <a:latin typeface="华文楷体" panose="02010600040101010101" pitchFamily="2" charset="-122"/>
                <a:ea typeface="华文楷体" panose="02010600040101010101" pitchFamily="2" charset="-122"/>
              </a:rPr>
              <a:t>存放在下标为</a:t>
            </a:r>
            <a:r>
              <a:rPr lang="en-GB" altLang="zh-CN" sz="2800" b="0" dirty="0" err="1">
                <a:latin typeface="华文楷体" panose="02010600040101010101" pitchFamily="2" charset="-122"/>
                <a:ea typeface="华文楷体" panose="02010600040101010101" pitchFamily="2" charset="-122"/>
              </a:rPr>
              <a:t>i</a:t>
            </a:r>
            <a:r>
              <a:rPr lang="zh-CN" altLang="zh-CN" sz="2800" b="0" dirty="0">
                <a:latin typeface="华文楷体" panose="02010600040101010101" pitchFamily="2" charset="-122"/>
                <a:ea typeface="华文楷体" panose="02010600040101010101" pitchFamily="2" charset="-122"/>
              </a:rPr>
              <a:t>的数组结点中，即便</a:t>
            </a:r>
            <a:r>
              <a:rPr lang="en-GB" altLang="zh-CN" sz="2800" b="0" dirty="0">
                <a:latin typeface="华文楷体" panose="02010600040101010101" pitchFamily="2" charset="-122"/>
                <a:ea typeface="华文楷体" panose="02010600040101010101" pitchFamily="2" charset="-122"/>
              </a:rPr>
              <a:t>pi</a:t>
            </a:r>
            <a:r>
              <a:rPr lang="zh-CN" altLang="zh-CN" sz="2800" b="0" dirty="0">
                <a:latin typeface="华文楷体" panose="02010600040101010101" pitchFamily="2" charset="-122"/>
                <a:ea typeface="华文楷体" panose="02010600040101010101" pitchFamily="2" charset="-122"/>
              </a:rPr>
              <a:t>为</a:t>
            </a:r>
            <a:r>
              <a:rPr lang="en-GB" altLang="zh-CN" sz="2800" b="0" dirty="0">
                <a:latin typeface="华文楷体" panose="02010600040101010101" pitchFamily="2" charset="-122"/>
                <a:ea typeface="华文楷体" panose="02010600040101010101" pitchFamily="2" charset="-122"/>
              </a:rPr>
              <a:t>0</a:t>
            </a:r>
            <a:r>
              <a:rPr lang="zh-CN" altLang="zh-CN" sz="2800" b="0" dirty="0">
                <a:latin typeface="华文楷体" panose="02010600040101010101" pitchFamily="2" charset="-122"/>
                <a:ea typeface="华文楷体" panose="02010600040101010101" pitchFamily="2" charset="-122"/>
              </a:rPr>
              <a:t>，相应的数组分量也不能挪作它用。</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另外一种处理方法是：只存储系数不为</a:t>
            </a:r>
            <a:r>
              <a:rPr lang="en-GB" altLang="zh-CN" sz="2800" b="0" dirty="0">
                <a:latin typeface="华文楷体" panose="02010600040101010101" pitchFamily="2" charset="-122"/>
                <a:ea typeface="华文楷体" panose="02010600040101010101" pitchFamily="2" charset="-122"/>
              </a:rPr>
              <a:t>0</a:t>
            </a:r>
            <a:r>
              <a:rPr lang="zh-CN" altLang="zh-CN" sz="2800" b="0" dirty="0">
                <a:latin typeface="华文楷体" panose="02010600040101010101" pitchFamily="2" charset="-122"/>
                <a:ea typeface="华文楷体" panose="02010600040101010101" pitchFamily="2" charset="-122"/>
              </a:rPr>
              <a:t>的项，每一项除了存储它的系数，还要存储它的幂</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zh-CN" sz="2800" b="0" dirty="0">
                <a:latin typeface="华文楷体" panose="02010600040101010101" pitchFamily="2" charset="-122"/>
                <a:ea typeface="华文楷体" panose="02010600040101010101" pitchFamily="2" charset="-122"/>
              </a:rPr>
              <a:t>两个多项式的加法处理起来比第一种方法复杂。</a:t>
            </a:r>
            <a:endParaRPr lang="en-US" altLang="zh-CN" sz="2800" b="0" dirty="0">
              <a:latin typeface="华文楷体" panose="02010600040101010101" pitchFamily="2" charset="-122"/>
              <a:ea typeface="华文楷体" panose="02010600040101010101" pitchFamily="2" charset="-122"/>
            </a:endParaRPr>
          </a:p>
          <a:p>
            <a:pPr marL="0" indent="0">
              <a:buNone/>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用数组时，要预估一个多项式的规模，分配足够的空间。</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一元多项式存储方法</a:t>
            </a:r>
          </a:p>
        </p:txBody>
      </p:sp>
    </p:spTree>
    <p:extLst>
      <p:ext uri="{BB962C8B-B14F-4D97-AF65-F5344CB8AC3E}">
        <p14:creationId xmlns:p14="http://schemas.microsoft.com/office/powerpoint/2010/main" val="3179596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598619"/>
            <a:ext cx="11162884" cy="4109850"/>
          </a:xfrm>
        </p:spPr>
        <p:txBody>
          <a:bodyPr>
            <a:normAutofit fontScale="70000" lnSpcReduction="20000"/>
          </a:bodyPr>
          <a:lstStyle/>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每个结点存放一元多项式中的一项的信息。信息包括该项的系数和幂，零系数项不予存储。</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4000" b="0">
                <a:latin typeface="华文楷体" panose="02010600040101010101" pitchFamily="2" charset="-122"/>
                <a:ea typeface="华文楷体" panose="02010600040101010101" pitchFamily="2" charset="-122"/>
              </a:rPr>
              <a:t>多项式的项数是不确定的，</a:t>
            </a:r>
            <a:r>
              <a:rPr lang="zh-CN" altLang="zh-CN" sz="4000" b="0">
                <a:latin typeface="华文楷体" panose="02010600040101010101" pitchFamily="2" charset="-122"/>
                <a:ea typeface="华文楷体" panose="02010600040101010101" pitchFamily="2" charset="-122"/>
              </a:rPr>
              <a:t>链式</a:t>
            </a:r>
            <a:r>
              <a:rPr lang="zh-CN" altLang="zh-CN" sz="4000" b="0" dirty="0">
                <a:latin typeface="华文楷体" panose="02010600040101010101" pitchFamily="2" charset="-122"/>
                <a:ea typeface="华文楷体" panose="02010600040101010101" pitchFamily="2" charset="-122"/>
              </a:rPr>
              <a:t>存储的好处是多项式的项数可以动态地增长，不存在溢出问题。</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用单链表表示一元多项式。在存储实现时，按照幂由小到大的原则进行，这样该单链表便成为幂有序的单链表。</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链表中的结点，包含两个部分：数据部分和指针部分。</a:t>
            </a:r>
            <a:endParaRPr lang="en-US"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4000" b="0" dirty="0">
                <a:latin typeface="华文楷体" panose="02010600040101010101" pitchFamily="2" charset="-122"/>
                <a:ea typeface="华文楷体" panose="02010600040101010101" pitchFamily="2" charset="-122"/>
              </a:rPr>
              <a:t>数据部分又包含了系数</a:t>
            </a:r>
            <a:r>
              <a:rPr lang="en-GB" altLang="zh-CN" sz="4000" b="0" dirty="0" err="1">
                <a:latin typeface="华文楷体" panose="02010600040101010101" pitchFamily="2" charset="-122"/>
                <a:ea typeface="华文楷体" panose="02010600040101010101" pitchFamily="2" charset="-122"/>
              </a:rPr>
              <a:t>coef</a:t>
            </a:r>
            <a:r>
              <a:rPr lang="zh-CN" altLang="zh-CN" sz="4000" b="0" dirty="0">
                <a:latin typeface="华文楷体" panose="02010600040101010101" pitchFamily="2" charset="-122"/>
                <a:ea typeface="华文楷体" panose="02010600040101010101" pitchFamily="2" charset="-122"/>
              </a:rPr>
              <a:t>和幂</a:t>
            </a:r>
            <a:r>
              <a:rPr lang="en-GB" altLang="zh-CN" sz="4000" b="0" dirty="0" err="1">
                <a:latin typeface="华文楷体" panose="02010600040101010101" pitchFamily="2" charset="-122"/>
                <a:ea typeface="华文楷体" panose="02010600040101010101" pitchFamily="2" charset="-122"/>
              </a:rPr>
              <a:t>exp</a:t>
            </a:r>
            <a:r>
              <a:rPr lang="zh-CN" altLang="zh-CN" sz="4000" b="0" dirty="0">
                <a:latin typeface="华文楷体" panose="02010600040101010101" pitchFamily="2" charset="-122"/>
                <a:ea typeface="华文楷体" panose="02010600040101010101" pitchFamily="2" charset="-122"/>
              </a:rPr>
              <a:t>二个字段</a:t>
            </a:r>
            <a:r>
              <a:rPr lang="zh-CN" altLang="en-US" sz="4000" b="0" dirty="0">
                <a:latin typeface="华文楷体" panose="02010600040101010101" pitchFamily="2" charset="-122"/>
                <a:ea typeface="华文楷体" panose="02010600040101010101" pitchFamily="2" charset="-122"/>
              </a:rPr>
              <a:t>。</a:t>
            </a:r>
            <a:endParaRPr lang="zh-CN" altLang="zh-CN" sz="40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一元多项式的链式存储</a:t>
            </a:r>
          </a:p>
        </p:txBody>
      </p:sp>
    </p:spTree>
    <p:extLst>
      <p:ext uri="{BB962C8B-B14F-4D97-AF65-F5344CB8AC3E}">
        <p14:creationId xmlns:p14="http://schemas.microsoft.com/office/powerpoint/2010/main" val="643127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一元多项式的链式存储</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4451281" y="1571834"/>
            <a:ext cx="2303418" cy="947738"/>
          </a:xfrm>
          <a:prstGeom prst="rect">
            <a:avLst/>
          </a:prstGeom>
          <a:noFill/>
          <a:ln>
            <a:noFill/>
          </a:ln>
        </p:spPr>
      </p:pic>
      <p:sp>
        <p:nvSpPr>
          <p:cNvPr id="3" name="矩形 2"/>
          <p:cNvSpPr/>
          <p:nvPr/>
        </p:nvSpPr>
        <p:spPr>
          <a:xfrm>
            <a:off x="658699" y="2763078"/>
            <a:ext cx="6096000" cy="954107"/>
          </a:xfrm>
          <a:prstGeom prst="rect">
            <a:avLst/>
          </a:prstGeom>
        </p:spPr>
        <p:txBody>
          <a:bodyPr>
            <a:spAutoFit/>
          </a:bodyPr>
          <a:lstStyle/>
          <a:p>
            <a:pPr indent="266700" algn="just">
              <a:spcAft>
                <a:spcPts val="0"/>
              </a:spcAft>
            </a:pPr>
            <a:r>
              <a:rPr lang="zh-CN" altLang="zh-CN" sz="2800" kern="100" dirty="0">
                <a:latin typeface="华文楷体" panose="02010600040101010101" pitchFamily="2" charset="-122"/>
                <a:ea typeface="华文楷体" panose="02010600040101010101" pitchFamily="2" charset="-122"/>
              </a:rPr>
              <a:t>多项式如：</a:t>
            </a:r>
            <a:r>
              <a:rPr lang="en-US" altLang="zh-CN" sz="2800" kern="100" dirty="0">
                <a:latin typeface="Times New Roman" panose="02020603050405020304" pitchFamily="18" charset="0"/>
                <a:ea typeface="宋体" panose="02010600030101010101" pitchFamily="2" charset="-122"/>
              </a:rPr>
              <a:t>	A=7+3x+9x</a:t>
            </a:r>
            <a:r>
              <a:rPr lang="en-US" altLang="zh-CN" sz="2800" kern="100" baseline="30000" dirty="0">
                <a:latin typeface="Times New Roman" panose="02020603050405020304" pitchFamily="18" charset="0"/>
                <a:ea typeface="宋体" panose="02010600030101010101" pitchFamily="2" charset="-122"/>
              </a:rPr>
              <a:t>8</a:t>
            </a:r>
            <a:r>
              <a:rPr lang="en-US" altLang="zh-CN" sz="2800" kern="100" dirty="0">
                <a:latin typeface="Times New Roman" panose="02020603050405020304" pitchFamily="18" charset="0"/>
                <a:ea typeface="宋体" panose="02010600030101010101" pitchFamily="2" charset="-122"/>
              </a:rPr>
              <a:t>+5x</a:t>
            </a:r>
            <a:r>
              <a:rPr lang="en-US" altLang="zh-CN" sz="2800" kern="100" baseline="30000" dirty="0">
                <a:latin typeface="Times New Roman" panose="02020603050405020304" pitchFamily="18" charset="0"/>
                <a:ea typeface="宋体" panose="02010600030101010101" pitchFamily="2" charset="-122"/>
              </a:rPr>
              <a:t>17</a:t>
            </a:r>
            <a:endParaRPr lang="zh-CN" altLang="zh-CN" sz="2800" kern="100" dirty="0">
              <a:latin typeface="Times New Roman" panose="02020603050405020304" pitchFamily="18" charset="0"/>
              <a:ea typeface="宋体" panose="02010600030101010101" pitchFamily="2" charset="-122"/>
            </a:endParaRPr>
          </a:p>
          <a:p>
            <a:pPr indent="266700" algn="just">
              <a:spcAft>
                <a:spcPts val="0"/>
              </a:spcAft>
            </a:pPr>
            <a:r>
              <a:rPr lang="en-US" altLang="zh-CN" sz="2800" kern="100" dirty="0">
                <a:latin typeface="Times New Roman" panose="02020603050405020304" pitchFamily="18" charset="0"/>
                <a:ea typeface="宋体" panose="02010600030101010101" pitchFamily="2" charset="-122"/>
              </a:rPr>
              <a:t>			B=8x+22x</a:t>
            </a:r>
            <a:r>
              <a:rPr lang="en-US" altLang="zh-CN" sz="2800" kern="100" baseline="30000" dirty="0">
                <a:latin typeface="Times New Roman" panose="02020603050405020304" pitchFamily="18" charset="0"/>
                <a:ea typeface="宋体" panose="02010600030101010101" pitchFamily="2" charset="-122"/>
              </a:rPr>
              <a:t>7</a:t>
            </a:r>
            <a:r>
              <a:rPr lang="en-US" altLang="zh-CN" sz="2800" kern="100" dirty="0">
                <a:latin typeface="Times New Roman" panose="02020603050405020304" pitchFamily="18" charset="0"/>
                <a:ea typeface="宋体" panose="02010600030101010101" pitchFamily="2" charset="-122"/>
              </a:rPr>
              <a:t>-9x</a:t>
            </a:r>
            <a:r>
              <a:rPr lang="en-US" altLang="zh-CN" sz="2800" kern="100" baseline="30000" dirty="0">
                <a:latin typeface="Times New Roman" panose="02020603050405020304" pitchFamily="18" charset="0"/>
                <a:ea typeface="宋体" panose="02010600030101010101" pitchFamily="2" charset="-122"/>
              </a:rPr>
              <a:t>8</a:t>
            </a:r>
            <a:endParaRPr lang="zh-CN" altLang="zh-CN" sz="2800" kern="100" dirty="0">
              <a:latin typeface="Times New Roman" panose="02020603050405020304" pitchFamily="18" charset="0"/>
              <a:ea typeface="宋体" panose="02010600030101010101" pitchFamily="2" charset="-122"/>
            </a:endParaRPr>
          </a:p>
        </p:txBody>
      </p:sp>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1221076" y="4134830"/>
            <a:ext cx="8499394" cy="2034208"/>
          </a:xfrm>
          <a:prstGeom prst="rect">
            <a:avLst/>
          </a:prstGeom>
          <a:noFill/>
          <a:ln>
            <a:noFill/>
          </a:ln>
        </p:spPr>
      </p:pic>
    </p:spTree>
    <p:extLst>
      <p:ext uri="{BB962C8B-B14F-4D97-AF65-F5344CB8AC3E}">
        <p14:creationId xmlns:p14="http://schemas.microsoft.com/office/powerpoint/2010/main" val="39318686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两个一元多项式相加</a:t>
            </a:r>
          </a:p>
        </p:txBody>
      </p:sp>
      <p:sp>
        <p:nvSpPr>
          <p:cNvPr id="2" name="矩形 1"/>
          <p:cNvSpPr/>
          <p:nvPr/>
        </p:nvSpPr>
        <p:spPr>
          <a:xfrm>
            <a:off x="658698" y="1546991"/>
            <a:ext cx="11533302" cy="4401205"/>
          </a:xfrm>
          <a:prstGeom prst="rect">
            <a:avLst/>
          </a:prstGeom>
        </p:spPr>
        <p:txBody>
          <a:bodyPr wrap="square">
            <a:spAutoFit/>
          </a:bodyPr>
          <a:lstStyle/>
          <a:p>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对</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所指结点，</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反复执行如下操作，直至其中一个单链表中的结点全部读取完毕。</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buFont typeface="Wingdings" panose="05000000000000000000" pitchFamily="2" charset="2"/>
              <a:buChar char="Ø"/>
            </a:pP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幂指数相等</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：如果这二个结点的系数之和为零，</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和</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式中</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不增加项</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，否则按照相加后的系数、相应幂指数创建一个新结点，作为和式单链表</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的末结点，</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后移。</a:t>
            </a:r>
          </a:p>
          <a:p>
            <a:pPr marL="342900" indent="-342900">
              <a:buFont typeface="Wingdings" panose="05000000000000000000" pitchFamily="2" charset="2"/>
              <a:buChar char="Ø"/>
            </a:pP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指针</a:t>
            </a:r>
            <a:r>
              <a:rPr lang="en-US"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幂指数小：</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按</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指向的结点的系数、幂指数创建一个新结点作为单链表</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的末结点，</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后移</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不变。</a:t>
            </a:r>
          </a:p>
          <a:p>
            <a:pPr marL="342900" indent="-342900">
              <a:buFont typeface="Wingdings" panose="05000000000000000000" pitchFamily="2" charset="2"/>
              <a:buChar char="Ø"/>
            </a:pP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指针</a:t>
            </a:r>
            <a:r>
              <a:rPr lang="en-US" altLang="zh-CN" sz="2800" b="1"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b="1" kern="100" dirty="0">
                <a:latin typeface="Times New Roman" panose="02020603050405020304" pitchFamily="18" charset="0"/>
                <a:ea typeface="华文楷体" panose="02010600040101010101" pitchFamily="2" charset="-122"/>
                <a:cs typeface="Times New Roman" panose="02020603050405020304" pitchFamily="18" charset="0"/>
              </a:rPr>
              <a:t>幂指数小：</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按</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指向的结点的系数、幂指数创建一个新结点作为单链表</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的末结点，</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pb</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kern="100" dirty="0">
                <a:latin typeface="Times New Roman" panose="02020603050405020304" pitchFamily="18" charset="0"/>
                <a:ea typeface="华文楷体" panose="02010600040101010101" pitchFamily="2" charset="-122"/>
                <a:cs typeface="Times New Roman" panose="02020603050405020304" pitchFamily="18" charset="0"/>
              </a:rPr>
              <a:t>后移，</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pa</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不变。</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935852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两个一元多项式相加</a:t>
            </a:r>
          </a:p>
        </p:txBody>
      </p:sp>
      <p:sp>
        <p:nvSpPr>
          <p:cNvPr id="2" name="矩形 1"/>
          <p:cNvSpPr/>
          <p:nvPr/>
        </p:nvSpPr>
        <p:spPr>
          <a:xfrm>
            <a:off x="288281" y="1668455"/>
            <a:ext cx="11533302" cy="954107"/>
          </a:xfrm>
          <a:prstGeom prst="rect">
            <a:avLst/>
          </a:prstGeom>
        </p:spPr>
        <p:txBody>
          <a:bodyPr wrap="square">
            <a:spAutoFit/>
          </a:bodyPr>
          <a:lstStyle/>
          <a:p>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将非空多项式单链表</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可能是</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A</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的单链表，也可能是</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B</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的单链表</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中的剩余结点，按序逐个创建新结点插入在单链表</a:t>
            </a:r>
            <a:r>
              <a:rPr lang="en-US" altLang="zh-CN" sz="2800" kern="100" dirty="0">
                <a:latin typeface="华文楷体" panose="02010600040101010101" pitchFamily="2" charset="-122"/>
                <a:ea typeface="华文楷体" panose="02010600040101010101" pitchFamily="2" charset="-122"/>
                <a:cs typeface="Times New Roman" panose="02020603050405020304" pitchFamily="18" charset="0"/>
              </a:rPr>
              <a:t> C </a:t>
            </a:r>
            <a:r>
              <a:rPr lang="zh-CN" altLang="zh-CN" sz="2800" kern="100" dirty="0">
                <a:latin typeface="华文楷体" panose="02010600040101010101" pitchFamily="2" charset="-122"/>
                <a:ea typeface="华文楷体" panose="02010600040101010101" pitchFamily="2" charset="-122"/>
                <a:cs typeface="Times New Roman" panose="02020603050405020304" pitchFamily="18" charset="0"/>
              </a:rPr>
              <a:t>的尾部</a:t>
            </a:r>
          </a:p>
        </p:txBody>
      </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2188885" y="2962689"/>
            <a:ext cx="7630975" cy="1191868"/>
          </a:xfrm>
          <a:prstGeom prst="rect">
            <a:avLst/>
          </a:prstGeom>
          <a:noFill/>
          <a:ln>
            <a:noFill/>
          </a:ln>
        </p:spPr>
      </p:pic>
    </p:spTree>
    <p:extLst>
      <p:ext uri="{BB962C8B-B14F-4D97-AF65-F5344CB8AC3E}">
        <p14:creationId xmlns:p14="http://schemas.microsoft.com/office/powerpoint/2010/main" val="1189876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2059637"/>
            <a:ext cx="873318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ifndef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POLYNOMIAL_H_INCLUDED</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#define POLYNOMIAL_H_INCLUDED</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#include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linklist.h</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using namespace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std</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4607441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228649" y="1595021"/>
            <a:ext cx="873318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Type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系数</a:t>
            </a: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幂指数</a:t>
            </a: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Node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data;</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Node* next;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文本框 1"/>
          <p:cNvSpPr txBox="1"/>
          <p:nvPr/>
        </p:nvSpPr>
        <p:spPr>
          <a:xfrm>
            <a:off x="7136296" y="2146852"/>
            <a:ext cx="4114800" cy="584775"/>
          </a:xfrm>
          <a:prstGeom prst="rect">
            <a:avLst/>
          </a:prstGeom>
          <a:noFill/>
        </p:spPr>
        <p:txBody>
          <a:bodyPr wrap="square" rtlCol="0">
            <a:spAutoFit/>
          </a:bodyPr>
          <a:lstStyle/>
          <a:p>
            <a:r>
              <a:rPr lang="zh-CN" altLang="en-US" sz="3200" dirty="0">
                <a:latin typeface="华文楷体" panose="02010600040101010101" pitchFamily="2" charset="-122"/>
                <a:ea typeface="华文楷体" panose="02010600040101010101" pitchFamily="2" charset="-122"/>
              </a:rPr>
              <a:t>分开定义结点的好处</a:t>
            </a:r>
          </a:p>
        </p:txBody>
      </p:sp>
    </p:spTree>
    <p:extLst>
      <p:ext uri="{BB962C8B-B14F-4D97-AF65-F5344CB8AC3E}">
        <p14:creationId xmlns:p14="http://schemas.microsoft.com/office/powerpoint/2010/main" val="7722545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497092"/>
            <a:ext cx="1068451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stop_flag</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用于判断多项式输入结束。</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从用户处获取结束标志并初始化多项式</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&amp;stop);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getPoly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读入一个多项式。</a:t>
            </a: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715077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华文楷体" panose="02010600040101010101" pitchFamily="2" charset="-122"/>
                <a:ea typeface="华文楷体" panose="02010600040101010101" pitchFamily="2" charset="-122"/>
              </a:rPr>
              <a:t>多项式</a:t>
            </a:r>
            <a:r>
              <a:rPr lang="en-US" altLang="zh-CN" dirty="0">
                <a:latin typeface="华文楷体" panose="02010600040101010101" pitchFamily="2" charset="-122"/>
                <a:ea typeface="华文楷体" panose="02010600040101010101" pitchFamily="2" charset="-122"/>
              </a:rPr>
              <a:t>Polynomial </a:t>
            </a:r>
            <a:r>
              <a:rPr lang="zh-CN" altLang="zh-CN" dirty="0">
                <a:latin typeface="华文楷体" panose="02010600040101010101" pitchFamily="2" charset="-122"/>
                <a:ea typeface="华文楷体" panose="02010600040101010101" pitchFamily="2" charset="-122"/>
              </a:rPr>
              <a:t>及其部分基本操作的声明、定义（</a:t>
            </a:r>
            <a:r>
              <a:rPr lang="en-US" altLang="zh-CN" dirty="0" err="1">
                <a:latin typeface="华文楷体" panose="02010600040101010101" pitchFamily="2" charset="-122"/>
                <a:ea typeface="华文楷体" panose="02010600040101010101" pitchFamily="2" charset="-122"/>
              </a:rPr>
              <a:t>polynomial.h</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268356" y="1634039"/>
            <a:ext cx="1165528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addPoly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 &amp;L1,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 &amp;L2);</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L3=L1+l2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dispPloy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显示一个多项式</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void clear();//</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释放多项式空间</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~Polynomial(){clear(); delete head;};</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0574457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543772"/>
            <a:ext cx="1165528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getStop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为外部函数，即非类成员函数</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getStop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stopFlag</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从用户处获取结束标志</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请输入系数、指数对作为结束标志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(0,0):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&gt;&gt;c&gt;&gt;e;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stopFlag.coef</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c;</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stopFlag.exp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1220240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42082" y="1472875"/>
            <a:ext cx="1165528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Polynomial&lt;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&gt;::Polynomial(</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&amp;stop)</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初始化多项式</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head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stop_flag.coef</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stop.coef</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stop_flag.exp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stop.exp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Polynomial&lt;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getPoly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读入一个多项式</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9246697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0" y="1832438"/>
            <a:ext cx="11834191"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p=head;</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请按照指数从小到大输入系数、指数对，</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&lt;&lt;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最后输入结束标志对结束：</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\n";</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cin</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&gt;&gt;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&gt;&gt;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while (true)</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stop_flag.coef</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)&amp;&amp;(</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e.exp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err="1">
                <a:latin typeface="Times New Roman" panose="02020603050405020304" pitchFamily="18" charset="0"/>
                <a:ea typeface="华文楷体" panose="02010600040101010101" pitchFamily="2" charset="-122"/>
                <a:cs typeface="Times New Roman" panose="02020603050405020304" pitchFamily="18" charset="0"/>
              </a:rPr>
              <a:t>stop_flag.exp</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break;</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872410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1" y="1624626"/>
            <a:ext cx="911087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new Node&lt;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data.coef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e.coef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data.exp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e.exp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-&gt;next = NULL;</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p-&gt;next =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tmp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cin</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e.coef</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e.exp</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45072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 </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及其部分基本操作的声明、定义（</a:t>
            </a:r>
            <a:r>
              <a:rPr lang="en-US" altLang="zh-CN" dirty="0" err="1">
                <a:latin typeface="Times New Roman" panose="02020603050405020304" pitchFamily="18" charset="0"/>
                <a:ea typeface="华文楷体" panose="02010600040101010101" pitchFamily="2" charset="-122"/>
                <a:cs typeface="Times New Roman" panose="02020603050405020304" pitchFamily="18" charset="0"/>
              </a:rPr>
              <a:t>polynomial.h</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7" name="Rectangle 6"/>
          <p:cNvSpPr>
            <a:spLocks noChangeArrowheads="1"/>
          </p:cNvSpPr>
          <p:nvPr/>
        </p:nvSpPr>
        <p:spPr bwMode="auto">
          <a:xfrm>
            <a:off x="152400" y="1675741"/>
            <a:ext cx="1068125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template &lt;class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void Polynomial&lt;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elemType</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&gt;::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addPoly</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Polynomial &amp;La,</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const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Polynomial &amp;</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Lb</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err="1">
                <a:latin typeface="Times New Roman" panose="02020603050405020304" pitchFamily="18" charset="0"/>
                <a:ea typeface="宋体" panose="02010600030101010101" pitchFamily="2" charset="-122"/>
                <a:cs typeface="Times New Roman" panose="02020603050405020304" pitchFamily="18" charset="0"/>
              </a:rPr>
              <a:t>La+Lb</a:t>
            </a:r>
            <a:r>
              <a:rPr lang="zh-CN" altLang="zh-CN" sz="3200" dirty="0">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见教材</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3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28920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4" y="754146"/>
            <a:ext cx="11162884" cy="574183"/>
          </a:xfrm>
        </p:spPr>
        <p:txBody>
          <a:bodyPr>
            <a:normAutofit/>
          </a:bodyPr>
          <a:lstStyle/>
          <a:p>
            <a:pPr marL="838200" indent="-838200">
              <a:defRPr/>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多项式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Polynomial</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相加主程序（</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main.cpp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3"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Line 29"/>
          <p:cNvCxnSpPr>
            <a:cxnSpLocks noChangeShapeType="1"/>
          </p:cNvCxnSpPr>
          <p:nvPr/>
        </p:nvCxnSpPr>
        <p:spPr bwMode="auto">
          <a:xfrm>
            <a:off x="1371600" y="90373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5"/>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9" name="Line 29"/>
          <p:cNvCxnSpPr>
            <a:cxnSpLocks noChangeShapeType="1"/>
          </p:cNvCxnSpPr>
          <p:nvPr/>
        </p:nvCxnSpPr>
        <p:spPr bwMode="auto">
          <a:xfrm>
            <a:off x="1524000" y="91897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8" name="Rectangle 8"/>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2" name="Line 29"/>
          <p:cNvCxnSpPr>
            <a:cxnSpLocks noChangeShapeType="1"/>
          </p:cNvCxnSpPr>
          <p:nvPr/>
        </p:nvCxnSpPr>
        <p:spPr bwMode="auto">
          <a:xfrm>
            <a:off x="1676400" y="9342120"/>
            <a:ext cx="5029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11" name="Line 799"/>
          <p:cNvCxnSpPr>
            <a:cxnSpLocks noChangeShapeType="1"/>
          </p:cNvCxnSpPr>
          <p:nvPr/>
        </p:nvCxnSpPr>
        <p:spPr bwMode="auto">
          <a:xfrm>
            <a:off x="1371600" y="885888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4" name="Rectangle 3"/>
          <p:cNvSpPr>
            <a:spLocks noChangeArrowheads="1"/>
          </p:cNvSpPr>
          <p:nvPr/>
        </p:nvSpPr>
        <p:spPr bwMode="auto">
          <a:xfrm>
            <a:off x="152400" y="1385776"/>
            <a:ext cx="11145078"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#include &lt;</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iostream</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&gt;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#include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polynomial.h</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using namespace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std</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int</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main()</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Type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getStop</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读入停止标志对</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Polynomial&lt;Type&gt; L1(</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L2(</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L3(</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stop_flag</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L1.getPoly();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读入第一个多项式</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L2.getPoly();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读入第二个多项式</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L3.addPoly(L1,L2); //L1 = L2 +L3</a:t>
            </a:r>
            <a:endPar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L3.dispPloy(); //</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显示多项式</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L3</a:t>
            </a: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的内容</a:t>
            </a:r>
            <a:endParaRPr kumimoji="0" lang="zh-CN" altLang="en-US"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return 0;</a:t>
            </a: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3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kumimoji="0" lang="en-US" altLang="zh-CN" sz="48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5189274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线性表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一元多项式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稀疏矩阵</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字符串</a:t>
            </a:r>
            <a:r>
              <a:rPr lang="en-US" altLang="zh-CN" sz="2800" dirty="0">
                <a:latin typeface="华文楷体" pitchFamily="2" charset="-122"/>
                <a:ea typeface="华文楷体" pitchFamily="2" charset="-122"/>
              </a:rPr>
              <a:t>*</a:t>
            </a:r>
          </a:p>
          <a:p>
            <a:pPr>
              <a:lnSpc>
                <a:spcPct val="115000"/>
              </a:lnSpc>
              <a:buFont typeface="Wingdings" panose="05000000000000000000" pitchFamily="2" charset="2"/>
              <a:buChar char="Ø"/>
              <a:defRPr/>
            </a:pP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22099937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658700" y="1638375"/>
                <a:ext cx="10434869" cy="4841938"/>
              </a:xfrm>
            </p:spPr>
            <p:txBody>
              <a:bodyPr>
                <a:noAutofit/>
              </a:bodyPr>
              <a:lstStyle/>
              <a:p>
                <a:pPr marL="0" indent="0">
                  <a:lnSpc>
                    <a:spcPct val="115000"/>
                  </a:lnSpc>
                  <a:buNone/>
                  <a:defRPr/>
                </a:pPr>
                <a:r>
                  <a:rPr lang="zh-CN" altLang="zh-CN" sz="2800" b="0" dirty="0">
                    <a:ea typeface="华文楷体" pitchFamily="2" charset="-122"/>
                    <a:cs typeface="Times New Roman" panose="02020603050405020304" pitchFamily="18" charset="0"/>
                  </a:rPr>
                  <a:t>矩阵中的非零元素个数远远小于矩阵元素总数，并且非零元素的分布没有规律。</a:t>
                </a:r>
                <a:endParaRPr lang="en-US" altLang="zh-CN" sz="2800" b="0" dirty="0">
                  <a:ea typeface="华文楷体"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zh-CN" sz="2800" b="0" dirty="0">
                    <a:ea typeface="华文楷体" pitchFamily="2" charset="-122"/>
                    <a:cs typeface="Times New Roman" panose="02020603050405020304" pitchFamily="18" charset="0"/>
                  </a:rPr>
                  <a:t>稀疏矩阵存储的直观方法是只存储其中的非零元素和非零元素所在的位置。</a:t>
                </a:r>
                <a:endParaRPr lang="en-US" altLang="zh-CN" sz="2800" b="0" dirty="0">
                  <a:ea typeface="华文楷体" pitchFamily="2" charset="-122"/>
                  <a:cs typeface="Times New Roman" panose="02020603050405020304" pitchFamily="18" charset="0"/>
                </a:endParaRPr>
              </a:p>
              <a:p>
                <a:pPr>
                  <a:lnSpc>
                    <a:spcPct val="115000"/>
                  </a:lnSpc>
                  <a:buFont typeface="Wingdings" panose="05000000000000000000" pitchFamily="2" charset="2"/>
                  <a:buChar char="Ø"/>
                  <a:defRPr/>
                </a:pPr>
                <a:r>
                  <a:rPr lang="zh-CN" altLang="zh-CN" sz="2800" b="0" dirty="0">
                    <a:ea typeface="华文楷体" pitchFamily="2" charset="-122"/>
                    <a:cs typeface="Times New Roman" panose="02020603050405020304" pitchFamily="18" charset="0"/>
                  </a:rPr>
                  <a:t>每个非零元素</a:t>
                </a:r>
                <a14:m>
                  <m:oMath xmlns:m="http://schemas.openxmlformats.org/officeDocument/2006/math">
                    <m:sSub>
                      <m:sSubPr>
                        <m:ctrlPr>
                          <a:rPr lang="en-US" altLang="zh-CN" sz="2800" b="0" i="1" smtClean="0">
                            <a:latin typeface="Cambria Math" panose="02040503050406030204" pitchFamily="18" charset="0"/>
                            <a:ea typeface="华文楷体" pitchFamily="2" charset="-122"/>
                          </a:rPr>
                        </m:ctrlPr>
                      </m:sSubPr>
                      <m:e>
                        <m:r>
                          <m:rPr>
                            <m:sty m:val="p"/>
                          </m:rPr>
                          <a:rPr lang="en-US" altLang="zh-CN" sz="2800" b="0" i="1">
                            <a:latin typeface="Cambria Math" panose="02040503050406030204" pitchFamily="18" charset="0"/>
                            <a:ea typeface="华文楷体" pitchFamily="2" charset="-122"/>
                          </a:rPr>
                          <m:t>a</m:t>
                        </m:r>
                      </m:e>
                      <m:sub>
                        <m:r>
                          <m:rPr>
                            <m:sty m:val="p"/>
                          </m:rPr>
                          <a:rPr lang="en-US" altLang="zh-CN" sz="2800" b="0" i="1" smtClean="0">
                            <a:latin typeface="Cambria Math" panose="02040503050406030204" pitchFamily="18" charset="0"/>
                            <a:ea typeface="华文楷体" pitchFamily="2" charset="-122"/>
                          </a:rPr>
                          <m:t>ij</m:t>
                        </m:r>
                      </m:sub>
                    </m:sSub>
                  </m:oMath>
                </a14:m>
                <a:r>
                  <a:rPr lang="zh-CN" altLang="zh-CN" sz="2800" b="0" dirty="0">
                    <a:ea typeface="华文楷体" pitchFamily="2" charset="-122"/>
                    <a:cs typeface="Times New Roman" panose="02020603050405020304" pitchFamily="18" charset="0"/>
                  </a:rPr>
                  <a:t>可以用一个三元组来表示：（</a:t>
                </a:r>
                <a:r>
                  <a:rPr lang="en-US" altLang="zh-CN" sz="2800" b="0" dirty="0" err="1">
                    <a:ea typeface="华文楷体" pitchFamily="2" charset="-122"/>
                    <a:cs typeface="Times New Roman" panose="02020603050405020304" pitchFamily="18" charset="0"/>
                  </a:rPr>
                  <a:t>i,j</a:t>
                </a:r>
                <a:r>
                  <a:rPr lang="en-US" altLang="zh-CN" sz="2800" b="0" dirty="0">
                    <a:ea typeface="华文楷体" pitchFamily="2" charset="-122"/>
                    <a:cs typeface="Times New Roman" panose="02020603050405020304" pitchFamily="18" charset="0"/>
                  </a:rPr>
                  <a:t>, </a:t>
                </a:r>
                <a14:m>
                  <m:oMath xmlns:m="http://schemas.openxmlformats.org/officeDocument/2006/math">
                    <m:sSub>
                      <m:sSubPr>
                        <m:ctrlPr>
                          <a:rPr lang="en-US" altLang="zh-CN" sz="2800" b="0" i="1">
                            <a:latin typeface="Cambria Math" panose="02040503050406030204" pitchFamily="18" charset="0"/>
                            <a:ea typeface="华文楷体" pitchFamily="2" charset="-122"/>
                          </a:rPr>
                        </m:ctrlPr>
                      </m:sSubPr>
                      <m:e>
                        <m:r>
                          <m:rPr>
                            <m:sty m:val="p"/>
                          </m:rPr>
                          <a:rPr lang="en-US" altLang="zh-CN" sz="2800" b="0" i="1">
                            <a:latin typeface="Cambria Math" panose="02040503050406030204" pitchFamily="18" charset="0"/>
                            <a:ea typeface="华文楷体" pitchFamily="2" charset="-122"/>
                          </a:rPr>
                          <m:t>a</m:t>
                        </m:r>
                      </m:e>
                      <m:sub>
                        <m:r>
                          <m:rPr>
                            <m:sty m:val="p"/>
                          </m:rPr>
                          <a:rPr lang="en-US" altLang="zh-CN" sz="2800" b="0" i="1">
                            <a:latin typeface="Cambria Math" panose="02040503050406030204" pitchFamily="18" charset="0"/>
                            <a:ea typeface="华文楷体" pitchFamily="2" charset="-122"/>
                          </a:rPr>
                          <m:t>ij</m:t>
                        </m:r>
                      </m:sub>
                    </m:sSub>
                  </m:oMath>
                </a14:m>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然后将此三元组按照一定的次序排列，如先按照行序再按照列序排列。</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en-US" sz="2800" b="0" dirty="0">
                    <a:ea typeface="华文楷体" pitchFamily="2" charset="-122"/>
                    <a:cs typeface="Times New Roman" panose="02020603050405020304" pitchFamily="18" charset="0"/>
                  </a:rPr>
                  <a:t>如：</a:t>
                </a:r>
                <a:r>
                  <a:rPr lang="zh-CN" altLang="zh-CN" sz="2800" b="0" dirty="0">
                    <a:ea typeface="华文楷体" pitchFamily="2" charset="-122"/>
                    <a:cs typeface="Times New Roman" panose="02020603050405020304" pitchFamily="18" charset="0"/>
                  </a:rPr>
                  <a:t>一个二维矩阵可以用一组三元组</a:t>
                </a:r>
                <a:r>
                  <a:rPr lang="en-US" altLang="zh-CN" sz="2800" b="0" dirty="0">
                    <a:ea typeface="华文楷体" pitchFamily="2" charset="-122"/>
                    <a:cs typeface="Times New Roman" panose="02020603050405020304" pitchFamily="18" charset="0"/>
                  </a:rPr>
                  <a:t>(0,2,5),(0,3,8),(1,0,6),(2,1,5),(2,4,-5)</a:t>
                </a:r>
                <a:r>
                  <a:rPr lang="zh-CN" altLang="zh-CN" sz="2800" b="0" dirty="0">
                    <a:ea typeface="华文楷体" pitchFamily="2" charset="-122"/>
                    <a:cs typeface="Times New Roman" panose="02020603050405020304" pitchFamily="18" charset="0"/>
                  </a:rPr>
                  <a:t>表示</a:t>
                </a:r>
                <a:endParaRPr lang="en-US" altLang="zh-CN" sz="2800" b="0" dirty="0">
                  <a:ea typeface="华文楷体"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658700" y="1638375"/>
                <a:ext cx="10434869" cy="4841938"/>
              </a:xfrm>
              <a:blipFill>
                <a:blip r:embed="rId3"/>
                <a:stretch>
                  <a:fillRect l="-1168" t="-630" r="-75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稀疏矩阵</a:t>
            </a:r>
          </a:p>
        </p:txBody>
      </p:sp>
    </p:spTree>
    <p:extLst>
      <p:ext uri="{BB962C8B-B14F-4D97-AF65-F5344CB8AC3E}">
        <p14:creationId xmlns:p14="http://schemas.microsoft.com/office/powerpoint/2010/main" val="201278468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38375"/>
            <a:ext cx="11162883" cy="4841938"/>
          </a:xfrm>
        </p:spPr>
        <p:txBody>
          <a:bodyPr>
            <a:noAutofit/>
          </a:bodyPr>
          <a:lstStyle/>
          <a:p>
            <a:pPr marL="0" indent="0">
              <a:buNone/>
            </a:pPr>
            <a:r>
              <a:rPr lang="zh-CN" altLang="zh-CN" sz="2800" b="0" dirty="0">
                <a:ea typeface="华文楷体" pitchFamily="2" charset="-122"/>
                <a:cs typeface="Times New Roman" panose="02020603050405020304" pitchFamily="18" charset="0"/>
              </a:rPr>
              <a:t>可以首先定义一个结构体来表示三元组：</a:t>
            </a:r>
          </a:p>
          <a:p>
            <a:pPr marL="0" indent="0">
              <a:buNone/>
            </a:pPr>
            <a:r>
              <a:rPr lang="en-US" altLang="zh-CN" sz="2800" b="0" dirty="0" err="1">
                <a:ea typeface="华文楷体" pitchFamily="2" charset="-122"/>
                <a:cs typeface="Times New Roman" panose="02020603050405020304" pitchFamily="18" charset="0"/>
              </a:rPr>
              <a:t>struct</a:t>
            </a:r>
            <a:r>
              <a:rPr lang="en-US" altLang="zh-CN" sz="2800" b="0" dirty="0">
                <a:ea typeface="华文楷体" pitchFamily="2" charset="-122"/>
                <a:cs typeface="Times New Roman" panose="02020603050405020304" pitchFamily="18" charset="0"/>
              </a:rPr>
              <a:t> triple</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row,col</a:t>
            </a:r>
            <a:r>
              <a:rPr lang="en-US" altLang="zh-CN"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data;</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将三元组作为</a:t>
            </a:r>
            <a:r>
              <a:rPr lang="en-US" altLang="zh-CN" sz="2800" b="0" dirty="0" err="1">
                <a:ea typeface="华文楷体" pitchFamily="2" charset="-122"/>
                <a:cs typeface="Times New Roman" panose="02020603050405020304" pitchFamily="18" charset="0"/>
              </a:rPr>
              <a:t>elemType</a:t>
            </a:r>
            <a:r>
              <a:rPr lang="zh-CN" altLang="zh-CN" sz="2800" b="0" dirty="0">
                <a:ea typeface="华文楷体" pitchFamily="2" charset="-122"/>
                <a:cs typeface="Times New Roman" panose="02020603050405020304" pitchFamily="18" charset="0"/>
              </a:rPr>
              <a:t>放在顺序表或者链表中。</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利用两种不同结构存储稀疏矩阵并分别完成矩阵的加法、乘法、转置任务可以作为课后练习完成。</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稀疏矩阵</a:t>
            </a:r>
          </a:p>
        </p:txBody>
      </p:sp>
      <p:sp>
        <p:nvSpPr>
          <p:cNvPr id="2" name="文本框 1">
            <a:extLst>
              <a:ext uri="{FF2B5EF4-FFF2-40B4-BE49-F238E27FC236}">
                <a16:creationId xmlns:a16="http://schemas.microsoft.com/office/drawing/2014/main" id="{1644E1E8-37DE-6BD4-1B0C-ACC753AFD501}"/>
              </a:ext>
            </a:extLst>
          </p:cNvPr>
          <p:cNvSpPr txBox="1"/>
          <p:nvPr/>
        </p:nvSpPr>
        <p:spPr>
          <a:xfrm>
            <a:off x="7212458" y="3797734"/>
            <a:ext cx="4212404" cy="523220"/>
          </a:xfrm>
          <a:prstGeom prst="rect">
            <a:avLst/>
          </a:prstGeom>
          <a:noFill/>
        </p:spPr>
        <p:txBody>
          <a:bodyPr wrap="square" rtlCol="0">
            <a:spAutoFit/>
          </a:bodyPr>
          <a:lstStyle/>
          <a:p>
            <a:r>
              <a:rPr lang="zh-CN" altLang="en-US" sz="2800" dirty="0">
                <a:solidFill>
                  <a:schemeClr val="accent1"/>
                </a:solidFill>
              </a:rPr>
              <a:t>下次讨论转置问题 </a:t>
            </a:r>
            <a:r>
              <a:rPr lang="zh-CN" altLang="en-US" sz="2800" dirty="0">
                <a:solidFill>
                  <a:schemeClr val="accent1"/>
                </a:solidFill>
                <a:sym typeface="Wingdings" panose="05000000000000000000" pitchFamily="2" charset="2"/>
              </a:rPr>
              <a:t></a:t>
            </a:r>
            <a:endParaRPr lang="zh-CN" altLang="en-US" sz="2800" dirty="0">
              <a:solidFill>
                <a:schemeClr val="accent1"/>
              </a:solidFill>
            </a:endParaRPr>
          </a:p>
        </p:txBody>
      </p:sp>
    </p:spTree>
    <p:extLst>
      <p:ext uri="{BB962C8B-B14F-4D97-AF65-F5344CB8AC3E}">
        <p14:creationId xmlns:p14="http://schemas.microsoft.com/office/powerpoint/2010/main" val="22743112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936691"/>
            <a:ext cx="11458279" cy="4021197"/>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对于</a:t>
            </a:r>
            <a:r>
              <a:rPr lang="zh-CN" altLang="en-US" sz="2800" b="0" dirty="0">
                <a:ea typeface="华文楷体" pitchFamily="2" charset="-122"/>
                <a:cs typeface="Times New Roman" panose="02020603050405020304" pitchFamily="18" charset="0"/>
              </a:rPr>
              <a:t>最一般的线性结构</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线性表，从逻辑结构</a:t>
            </a:r>
            <a:r>
              <a:rPr lang="en-US" altLang="zh-CN" sz="2800" b="0" dirty="0">
                <a:ea typeface="华文楷体" pitchFamily="2" charset="-122"/>
                <a:cs typeface="Times New Roman" panose="02020603050405020304" pitchFamily="18" charset="0"/>
              </a:rPr>
              <a:t>+</a:t>
            </a:r>
            <a:r>
              <a:rPr lang="zh-CN" altLang="en-US" sz="2800" b="0" dirty="0">
                <a:ea typeface="华文楷体" pitchFamily="2" charset="-122"/>
                <a:cs typeface="Times New Roman" panose="02020603050405020304" pitchFamily="18" charset="0"/>
              </a:rPr>
              <a:t>基本操作</a:t>
            </a:r>
            <a:r>
              <a:rPr lang="zh-CN" altLang="zh-CN" sz="2800" b="0" dirty="0">
                <a:ea typeface="华文楷体" pitchFamily="2" charset="-122"/>
                <a:cs typeface="Times New Roman" panose="02020603050405020304" pitchFamily="18" charset="0"/>
              </a:rPr>
              <a:t>、物理结构、基本操作实现、线性结构典型应用四个方面展开了讨论。这四个方面也是后续讨论任何一种数据结构的方法、脉络。</a:t>
            </a: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逻辑结构和基本操作分析中：用伪代码书写的抽象数据类型来描述结构中元素、元素间关系和日常生活中线性结构的常见基本操作。常见基本操作，源自于人类在生活中的观察和积累。一般分为结构构造类、属性类、数据操纵类、遍历类和典型应用类基本操作。</a:t>
            </a: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39768543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822390"/>
            <a:ext cx="11828696" cy="4578409"/>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在物理结构分析中：</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讨论了将数据存储在内存中连续的空间并利用存储位置的先和后来体现元素关系先后的顺序存储法；</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讨论了将元素分别存储在内存中不连续的地方，通过对每个元素附加指针的方法存储元素间关系的链式存储法。</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详细讨论了两种结构的不同特征描述，并给出了两种结构的类描述。</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在这一阶段，学习者需对本书采用的</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语言的语法进行回顾和复习</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itchFamily="2" charset="-122"/>
              <a:cs typeface="Times New Roman" panose="02020603050405020304" pitchFamily="18" charset="0"/>
            </a:endParaRPr>
          </a:p>
          <a:p>
            <a:pPr marL="0" indent="0">
              <a:buNone/>
            </a:pP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27073746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850966"/>
            <a:ext cx="11696424" cy="3963238"/>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在基本操作实现及分析中：</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对数据分别在顺序结构和链式结构存储时的常见典型操作，进行了算法设计、</a:t>
            </a:r>
            <a:r>
              <a:rPr lang="zh-CN" altLang="en-US" sz="2800" b="0" dirty="0">
                <a:ea typeface="华文楷体" pitchFamily="2" charset="-122"/>
                <a:cs typeface="Times New Roman" panose="02020603050405020304" pitchFamily="18" charset="0"/>
              </a:rPr>
              <a:t>代码</a:t>
            </a:r>
            <a:r>
              <a:rPr lang="zh-CN" altLang="zh-CN" sz="2800" b="0" dirty="0">
                <a:ea typeface="华文楷体" pitchFamily="2" charset="-122"/>
                <a:cs typeface="Times New Roman" panose="02020603050405020304" pitchFamily="18" charset="0"/>
              </a:rPr>
              <a:t>实现和算法复杂度分析。</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掌握利用参数分析、空间检查、核心操作、对其他属性的影响、正确返回的“五步口诀法”，设计一个相对完整的程序。</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通过对算法的复杂度分析，了解两种不同存储结构的优缺点和适用场合</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3301414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1545" y="1751224"/>
            <a:ext cx="11458279" cy="3890452"/>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典型应用中</a:t>
            </a:r>
            <a:r>
              <a:rPr lang="en-US" altLang="zh-CN" sz="2800" b="0" dirty="0">
                <a:ea typeface="华文楷体" pitchFamily="2" charset="-122"/>
                <a:cs typeface="Times New Roman" panose="02020603050405020304" pitchFamily="18" charset="0"/>
              </a:rPr>
              <a:t>:</a:t>
            </a:r>
          </a:p>
          <a:p>
            <a:pPr marL="0" indent="0">
              <a:buNone/>
            </a:pPr>
            <a:r>
              <a:rPr lang="zh-CN" altLang="zh-CN" sz="2800" b="0" dirty="0">
                <a:ea typeface="华文楷体" pitchFamily="2" charset="-122"/>
                <a:cs typeface="Times New Roman" panose="02020603050405020304" pitchFamily="18" charset="0"/>
              </a:rPr>
              <a:t>详细讨论了一元多项式、稀疏矩阵的存储和运算。</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在现实生活中，具有线性关系的数据远远不止这些。但通过这三方面的例子，可以体会到：通过调用本章分析和建立的线性表</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顺序表、链表</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，将这些表作为工具或者利用其存储和处理思路，可以非常方便地处理部分实际生活中的问题， </a:t>
            </a:r>
          </a:p>
          <a:p>
            <a:pPr marL="0" indent="0">
              <a:buNone/>
            </a:pPr>
            <a:endParaRPr lang="zh-CN" altLang="zh-CN" sz="2800" b="0" dirty="0">
              <a:ea typeface="华文楷体" pitchFamily="2" charset="-122"/>
              <a:cs typeface="Times New Roman" panose="02020603050405020304" pitchFamily="18" charset="0"/>
            </a:endParaRPr>
          </a:p>
          <a:p>
            <a:pPr marL="0" indent="0">
              <a:buNone/>
            </a:pP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1335670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66578" y="1626090"/>
            <a:ext cx="10884589" cy="4754831"/>
          </a:xfrm>
        </p:spPr>
        <p:txBody>
          <a:bodyPr>
            <a:normAutofit/>
          </a:bodyPr>
          <a:lstStyle/>
          <a:p>
            <a:pPr marL="0" lvl="1" indent="0">
              <a:buNone/>
            </a:pPr>
            <a:r>
              <a:rPr lang="en-US" altLang="zh-CN" sz="3500" dirty="0">
                <a:latin typeface="华文楷体" pitchFamily="2" charset="-122"/>
                <a:ea typeface="华文楷体" pitchFamily="2" charset="-122"/>
              </a:rPr>
              <a:t>1.</a:t>
            </a:r>
            <a:r>
              <a:rPr lang="zh-CN" altLang="zh-CN" sz="3500" dirty="0">
                <a:latin typeface="华文楷体" pitchFamily="2" charset="-122"/>
                <a:ea typeface="华文楷体" pitchFamily="2" charset="-122"/>
              </a:rPr>
              <a:t>线性表若采用链式存储结构保存，则要求内存中可用存储单元的地址（</a:t>
            </a:r>
            <a:r>
              <a:rPr lang="en-US" altLang="zh-CN" sz="3500" dirty="0">
                <a:latin typeface="华文楷体" pitchFamily="2" charset="-122"/>
                <a:ea typeface="华文楷体" pitchFamily="2" charset="-122"/>
              </a:rPr>
              <a:t>  </a:t>
            </a:r>
            <a:r>
              <a:rPr lang="en-US" altLang="zh-CN" sz="3500" dirty="0">
                <a:solidFill>
                  <a:schemeClr val="accent1"/>
                </a:solidFill>
                <a:latin typeface="华文楷体" pitchFamily="2" charset="-122"/>
                <a:ea typeface="华文楷体" pitchFamily="2" charset="-122"/>
              </a:rPr>
              <a:t>D</a:t>
            </a:r>
            <a:r>
              <a:rPr lang="en-US" altLang="zh-CN" sz="3500" dirty="0">
                <a:latin typeface="华文楷体" pitchFamily="2" charset="-122"/>
                <a:ea typeface="华文楷体" pitchFamily="2" charset="-122"/>
              </a:rPr>
              <a:t>  </a:t>
            </a:r>
            <a:r>
              <a:rPr lang="zh-CN" altLang="zh-CN" sz="3500" dirty="0">
                <a:latin typeface="华文楷体" pitchFamily="2" charset="-122"/>
                <a:ea typeface="华文楷体" pitchFamily="2" charset="-122"/>
              </a:rPr>
              <a:t>）。</a:t>
            </a:r>
            <a:endParaRPr lang="en-US" altLang="zh-CN" sz="3500" dirty="0">
              <a:latin typeface="华文楷体" pitchFamily="2" charset="-122"/>
              <a:ea typeface="华文楷体" pitchFamily="2" charset="-122"/>
            </a:endParaRPr>
          </a:p>
          <a:p>
            <a:pPr marL="0" lvl="1" indent="0">
              <a:buNone/>
            </a:pPr>
            <a:endParaRPr lang="zh-CN" altLang="zh-CN" sz="3500" b="0" dirty="0">
              <a:latin typeface="华文楷体" pitchFamily="2" charset="-122"/>
              <a:ea typeface="华文楷体" pitchFamily="2" charset="-122"/>
            </a:endParaRPr>
          </a:p>
          <a:p>
            <a:pPr marL="627063" indent="0">
              <a:buNone/>
            </a:pPr>
            <a:r>
              <a:rPr lang="en-US" altLang="zh-CN" sz="3100" b="0" dirty="0">
                <a:latin typeface="华文楷体" pitchFamily="2" charset="-122"/>
                <a:ea typeface="华文楷体" pitchFamily="2" charset="-122"/>
              </a:rPr>
              <a:t>A</a:t>
            </a:r>
            <a:r>
              <a:rPr lang="zh-CN" altLang="zh-CN" sz="3100" b="0" dirty="0">
                <a:latin typeface="华文楷体" pitchFamily="2" charset="-122"/>
                <a:ea typeface="华文楷体" pitchFamily="2" charset="-122"/>
              </a:rPr>
              <a:t>．必须是连续的</a:t>
            </a:r>
            <a:r>
              <a:rPr lang="en-US" altLang="zh-CN" sz="3100" b="0" dirty="0">
                <a:latin typeface="华文楷体" pitchFamily="2" charset="-122"/>
                <a:ea typeface="华文楷体" pitchFamily="2" charset="-122"/>
              </a:rPr>
              <a:t>		B</a:t>
            </a:r>
            <a:r>
              <a:rPr lang="zh-CN" altLang="zh-CN" sz="3100" b="0" dirty="0">
                <a:latin typeface="华文楷体" pitchFamily="2" charset="-122"/>
                <a:ea typeface="华文楷体" pitchFamily="2" charset="-122"/>
              </a:rPr>
              <a:t>．部分地址必须是连续的</a:t>
            </a:r>
          </a:p>
          <a:p>
            <a:pPr marL="627063" indent="0">
              <a:buNone/>
            </a:pPr>
            <a:r>
              <a:rPr lang="en-US" altLang="zh-CN" sz="3100" b="0" dirty="0">
                <a:latin typeface="华文楷体" pitchFamily="2" charset="-122"/>
                <a:ea typeface="华文楷体" pitchFamily="2" charset="-122"/>
              </a:rPr>
              <a:t>C</a:t>
            </a:r>
            <a:r>
              <a:rPr lang="zh-CN" altLang="zh-CN" sz="3100" b="0" dirty="0">
                <a:latin typeface="华文楷体" pitchFamily="2" charset="-122"/>
                <a:ea typeface="华文楷体" pitchFamily="2" charset="-122"/>
              </a:rPr>
              <a:t>．一定是不连续的</a:t>
            </a:r>
            <a:r>
              <a:rPr lang="en-US" altLang="zh-CN" sz="3100" b="0" dirty="0">
                <a:latin typeface="华文楷体" pitchFamily="2" charset="-122"/>
                <a:ea typeface="华文楷体" pitchFamily="2" charset="-122"/>
              </a:rPr>
              <a:t>	D</a:t>
            </a:r>
            <a:r>
              <a:rPr lang="zh-CN" altLang="zh-CN" sz="3100" b="0" dirty="0">
                <a:latin typeface="华文楷体" pitchFamily="2" charset="-122"/>
                <a:ea typeface="华文楷体" pitchFamily="2" charset="-122"/>
              </a:rPr>
              <a:t>．连续或不连续都可以</a:t>
            </a:r>
          </a:p>
        </p:txBody>
      </p:sp>
      <p:sp>
        <p:nvSpPr>
          <p:cNvPr id="8194" name="Rectangle 2"/>
          <p:cNvSpPr>
            <a:spLocks noGrp="1" noRot="1" noChangeArrowheads="1"/>
          </p:cNvSpPr>
          <p:nvPr>
            <p:ph type="title"/>
          </p:nvPr>
        </p:nvSpPr>
        <p:spPr>
          <a:xfrm>
            <a:off x="5178783" y="795243"/>
            <a:ext cx="1242565" cy="574183"/>
          </a:xfrm>
        </p:spPr>
        <p:txBody>
          <a:bodyPr/>
          <a:lstStyle/>
          <a:p>
            <a:pPr marL="838200" indent="-838200" algn="ctr">
              <a:defRPr/>
            </a:pPr>
            <a:r>
              <a:rPr lang="zh-CN" altLang="en-US" dirty="0"/>
              <a:t>练习</a:t>
            </a:r>
          </a:p>
        </p:txBody>
      </p:sp>
    </p:spTree>
    <p:extLst>
      <p:ext uri="{BB962C8B-B14F-4D97-AF65-F5344CB8AC3E}">
        <p14:creationId xmlns:p14="http://schemas.microsoft.com/office/powerpoint/2010/main" val="36972272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75960" y="1423958"/>
            <a:ext cx="11903716" cy="5060598"/>
          </a:xfrm>
        </p:spPr>
        <p:txBody>
          <a:bodyPr>
            <a:normAutofit fontScale="77500" lnSpcReduction="20000"/>
          </a:bodyPr>
          <a:lstStyle/>
          <a:p>
            <a:pPr marL="0" indent="0">
              <a:buNone/>
            </a:pPr>
            <a:r>
              <a:rPr lang="en-US" altLang="zh-CN" sz="4500" dirty="0">
                <a:latin typeface="华文楷体" pitchFamily="2" charset="-122"/>
                <a:ea typeface="华文楷体" pitchFamily="2" charset="-122"/>
              </a:rPr>
              <a:t>2. </a:t>
            </a:r>
            <a:r>
              <a:rPr lang="zh-CN" altLang="zh-CN" sz="4500" dirty="0">
                <a:latin typeface="华文楷体" pitchFamily="2" charset="-122"/>
                <a:ea typeface="华文楷体" pitchFamily="2" charset="-122"/>
              </a:rPr>
              <a:t>将下列特性对应到顺序表和链表中，对号入座。</a:t>
            </a:r>
          </a:p>
          <a:p>
            <a:pPr marL="0" indent="0">
              <a:buNone/>
            </a:pPr>
            <a:r>
              <a:rPr lang="en-US" altLang="zh-CN" sz="3500" b="0" dirty="0">
                <a:latin typeface="华文楷体" pitchFamily="2" charset="-122"/>
                <a:ea typeface="华文楷体" pitchFamily="2" charset="-122"/>
              </a:rPr>
              <a:t>A</a:t>
            </a:r>
            <a:r>
              <a:rPr lang="zh-CN" altLang="zh-CN" sz="3500" b="0" dirty="0">
                <a:latin typeface="华文楷体" pitchFamily="2" charset="-122"/>
                <a:ea typeface="华文楷体" pitchFamily="2" charset="-122"/>
              </a:rPr>
              <a:t>．逻辑上相邻的元素，在内存中的存储位置也相邻</a:t>
            </a:r>
          </a:p>
          <a:p>
            <a:pPr marL="0" indent="0">
              <a:buNone/>
            </a:pPr>
            <a:r>
              <a:rPr lang="en-US" altLang="zh-CN" sz="3500" b="0" dirty="0">
                <a:latin typeface="华文楷体" pitchFamily="2" charset="-122"/>
                <a:ea typeface="华文楷体" pitchFamily="2" charset="-122"/>
              </a:rPr>
              <a:t>B</a:t>
            </a:r>
            <a:r>
              <a:rPr lang="zh-CN" altLang="zh-CN" sz="3500" b="0" dirty="0">
                <a:latin typeface="华文楷体" pitchFamily="2" charset="-122"/>
                <a:ea typeface="华文楷体" pitchFamily="2" charset="-122"/>
              </a:rPr>
              <a:t>．不必事先估计存储空间</a:t>
            </a:r>
          </a:p>
          <a:p>
            <a:pPr marL="0" indent="0">
              <a:buNone/>
            </a:pPr>
            <a:r>
              <a:rPr lang="en-US" altLang="zh-CN" sz="3500" b="0" dirty="0">
                <a:latin typeface="华文楷体" pitchFamily="2" charset="-122"/>
                <a:ea typeface="华文楷体" pitchFamily="2" charset="-122"/>
              </a:rPr>
              <a:t>C</a:t>
            </a:r>
            <a:r>
              <a:rPr lang="zh-CN" altLang="zh-CN" sz="3500" b="0" dirty="0">
                <a:latin typeface="华文楷体" pitchFamily="2" charset="-122"/>
                <a:ea typeface="华文楷体" pitchFamily="2" charset="-122"/>
              </a:rPr>
              <a:t>．所需空间与元素个数成正比</a:t>
            </a:r>
          </a:p>
          <a:p>
            <a:pPr marL="0" indent="0">
              <a:buNone/>
            </a:pPr>
            <a:r>
              <a:rPr lang="en-US" altLang="zh-CN" sz="3500" b="0" dirty="0">
                <a:latin typeface="华文楷体" pitchFamily="2" charset="-122"/>
                <a:ea typeface="华文楷体" pitchFamily="2" charset="-122"/>
              </a:rPr>
              <a:t>D</a:t>
            </a:r>
            <a:r>
              <a:rPr lang="zh-CN" altLang="zh-CN" sz="3500" b="0" dirty="0">
                <a:latin typeface="华文楷体" pitchFamily="2" charset="-122"/>
                <a:ea typeface="华文楷体" pitchFamily="2" charset="-122"/>
              </a:rPr>
              <a:t>．插入、删除时不需要移动元素</a:t>
            </a:r>
          </a:p>
          <a:p>
            <a:pPr marL="0" indent="0">
              <a:buNone/>
            </a:pPr>
            <a:r>
              <a:rPr lang="en-US" altLang="zh-CN" sz="3500" b="0" dirty="0">
                <a:latin typeface="华文楷体" pitchFamily="2" charset="-122"/>
                <a:ea typeface="华文楷体" pitchFamily="2" charset="-122"/>
              </a:rPr>
              <a:t>E</a:t>
            </a:r>
            <a:r>
              <a:rPr lang="zh-CN" altLang="zh-CN" sz="3500" b="0" dirty="0">
                <a:latin typeface="华文楷体" pitchFamily="2" charset="-122"/>
                <a:ea typeface="华文楷体" pitchFamily="2" charset="-122"/>
              </a:rPr>
              <a:t>．支持随机存取</a:t>
            </a:r>
          </a:p>
          <a:p>
            <a:pPr marL="0" indent="0">
              <a:buNone/>
            </a:pPr>
            <a:r>
              <a:rPr lang="en-US" altLang="zh-CN" sz="3500" b="0" dirty="0">
                <a:latin typeface="华文楷体" pitchFamily="2" charset="-122"/>
                <a:ea typeface="华文楷体" pitchFamily="2" charset="-122"/>
              </a:rPr>
              <a:t>F</a:t>
            </a:r>
            <a:r>
              <a:rPr lang="zh-CN" altLang="zh-CN" sz="3500" b="0" dirty="0">
                <a:latin typeface="华文楷体" pitchFamily="2" charset="-122"/>
                <a:ea typeface="华文楷体" pitchFamily="2" charset="-122"/>
              </a:rPr>
              <a:t>．支持顺序存取</a:t>
            </a:r>
          </a:p>
          <a:p>
            <a:pPr marL="0" indent="0">
              <a:buNone/>
            </a:pPr>
            <a:endParaRPr lang="en-US" altLang="zh-CN" sz="3500" b="0" dirty="0">
              <a:latin typeface="华文楷体" pitchFamily="2" charset="-122"/>
              <a:ea typeface="华文楷体" pitchFamily="2" charset="-122"/>
            </a:endParaRPr>
          </a:p>
          <a:p>
            <a:pPr marL="0" indent="0">
              <a:buNone/>
            </a:pPr>
            <a:r>
              <a:rPr lang="zh-CN" altLang="zh-CN" sz="3500" b="0" dirty="0">
                <a:solidFill>
                  <a:schemeClr val="accent1"/>
                </a:solidFill>
                <a:latin typeface="华文楷体" pitchFamily="2" charset="-122"/>
                <a:ea typeface="华文楷体" pitchFamily="2" charset="-122"/>
              </a:rPr>
              <a:t>顺序表具有的特性有：</a:t>
            </a:r>
            <a:r>
              <a:rPr lang="en-US" altLang="zh-CN" sz="3500" b="0" dirty="0">
                <a:solidFill>
                  <a:schemeClr val="accent1"/>
                </a:solidFill>
                <a:latin typeface="华文楷体" pitchFamily="2" charset="-122"/>
                <a:ea typeface="华文楷体" pitchFamily="2" charset="-122"/>
              </a:rPr>
              <a:t>A</a:t>
            </a:r>
            <a:r>
              <a:rPr lang="zh-CN" altLang="zh-CN" sz="3500" b="0" dirty="0">
                <a:solidFill>
                  <a:schemeClr val="accent1"/>
                </a:solidFill>
                <a:latin typeface="华文楷体" pitchFamily="2" charset="-122"/>
                <a:ea typeface="华文楷体" pitchFamily="2" charset="-122"/>
              </a:rPr>
              <a:t>、</a:t>
            </a:r>
            <a:r>
              <a:rPr lang="en-US" altLang="zh-CN" sz="3500" b="0" dirty="0">
                <a:solidFill>
                  <a:schemeClr val="accent1"/>
                </a:solidFill>
                <a:latin typeface="华文楷体" pitchFamily="2" charset="-122"/>
                <a:ea typeface="华文楷体" pitchFamily="2" charset="-122"/>
              </a:rPr>
              <a:t>E</a:t>
            </a:r>
            <a:r>
              <a:rPr lang="zh-CN" altLang="zh-CN" sz="3500" b="0" dirty="0">
                <a:solidFill>
                  <a:schemeClr val="accent1"/>
                </a:solidFill>
                <a:latin typeface="华文楷体" pitchFamily="2" charset="-122"/>
                <a:ea typeface="华文楷体" pitchFamily="2" charset="-122"/>
              </a:rPr>
              <a:t>和</a:t>
            </a:r>
            <a:r>
              <a:rPr lang="en-US" altLang="zh-CN" sz="3500" b="0" dirty="0">
                <a:solidFill>
                  <a:schemeClr val="accent1"/>
                </a:solidFill>
                <a:latin typeface="华文楷体" pitchFamily="2" charset="-122"/>
                <a:ea typeface="华文楷体" pitchFamily="2" charset="-122"/>
              </a:rPr>
              <a:t>F</a:t>
            </a:r>
            <a:r>
              <a:rPr lang="zh-CN" altLang="zh-CN" sz="3500" b="0" dirty="0">
                <a:solidFill>
                  <a:schemeClr val="accent1"/>
                </a:solidFill>
                <a:latin typeface="华文楷体" pitchFamily="2" charset="-122"/>
                <a:ea typeface="华文楷体" pitchFamily="2" charset="-122"/>
              </a:rPr>
              <a:t>。链表具有的特性有：</a:t>
            </a:r>
            <a:r>
              <a:rPr lang="en-US" altLang="zh-CN" sz="3500" b="0" dirty="0">
                <a:solidFill>
                  <a:schemeClr val="accent1"/>
                </a:solidFill>
                <a:latin typeface="华文楷体" pitchFamily="2" charset="-122"/>
                <a:ea typeface="华文楷体" pitchFamily="2" charset="-122"/>
              </a:rPr>
              <a:t>B</a:t>
            </a:r>
            <a:r>
              <a:rPr lang="zh-CN" altLang="zh-CN" sz="3500" b="0" dirty="0">
                <a:solidFill>
                  <a:schemeClr val="accent1"/>
                </a:solidFill>
                <a:latin typeface="华文楷体" pitchFamily="2" charset="-122"/>
                <a:ea typeface="华文楷体" pitchFamily="2" charset="-122"/>
              </a:rPr>
              <a:t>、</a:t>
            </a:r>
            <a:r>
              <a:rPr lang="en-US" altLang="zh-CN" sz="3500" b="0" dirty="0">
                <a:solidFill>
                  <a:schemeClr val="accent1"/>
                </a:solidFill>
                <a:latin typeface="华文楷体" pitchFamily="2" charset="-122"/>
                <a:ea typeface="华文楷体" pitchFamily="2" charset="-122"/>
              </a:rPr>
              <a:t>C</a:t>
            </a:r>
            <a:r>
              <a:rPr lang="zh-CN" altLang="zh-CN" sz="3500" b="0" dirty="0">
                <a:solidFill>
                  <a:schemeClr val="accent1"/>
                </a:solidFill>
                <a:latin typeface="华文楷体" pitchFamily="2" charset="-122"/>
                <a:ea typeface="华文楷体" pitchFamily="2" charset="-122"/>
              </a:rPr>
              <a:t>、</a:t>
            </a:r>
            <a:r>
              <a:rPr lang="en-US" altLang="zh-CN" sz="3500" b="0" dirty="0">
                <a:solidFill>
                  <a:schemeClr val="accent1"/>
                </a:solidFill>
                <a:latin typeface="华文楷体" pitchFamily="2" charset="-122"/>
                <a:ea typeface="华文楷体" pitchFamily="2" charset="-122"/>
              </a:rPr>
              <a:t>D</a:t>
            </a:r>
            <a:r>
              <a:rPr lang="zh-CN" altLang="zh-CN" sz="3500" b="0" dirty="0">
                <a:solidFill>
                  <a:schemeClr val="accent1"/>
                </a:solidFill>
                <a:latin typeface="华文楷体" pitchFamily="2" charset="-122"/>
                <a:ea typeface="华文楷体" pitchFamily="2" charset="-122"/>
              </a:rPr>
              <a:t>和</a:t>
            </a:r>
            <a:r>
              <a:rPr lang="en-US" altLang="zh-CN" sz="3500" b="0" dirty="0">
                <a:solidFill>
                  <a:schemeClr val="accent1"/>
                </a:solidFill>
                <a:latin typeface="华文楷体" pitchFamily="2" charset="-122"/>
                <a:ea typeface="华文楷体" pitchFamily="2" charset="-122"/>
              </a:rPr>
              <a:t>F</a:t>
            </a:r>
            <a:r>
              <a:rPr lang="zh-CN" altLang="zh-CN" sz="3500" b="0" dirty="0">
                <a:solidFill>
                  <a:schemeClr val="accent1"/>
                </a:solidFill>
                <a:latin typeface="华文楷体" pitchFamily="2" charset="-122"/>
                <a:ea typeface="华文楷体" pitchFamily="2" charset="-122"/>
              </a:rPr>
              <a:t>。</a:t>
            </a:r>
          </a:p>
        </p:txBody>
      </p:sp>
    </p:spTree>
    <p:extLst>
      <p:ext uri="{BB962C8B-B14F-4D97-AF65-F5344CB8AC3E}">
        <p14:creationId xmlns:p14="http://schemas.microsoft.com/office/powerpoint/2010/main" val="19271941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1095" y="763060"/>
            <a:ext cx="10884589" cy="4754831"/>
          </a:xfrm>
        </p:spPr>
        <p:txBody>
          <a:bodyPr>
            <a:normAutofit/>
          </a:bodyPr>
          <a:lstStyle/>
          <a:p>
            <a:pPr marL="0" indent="0">
              <a:buNone/>
            </a:pPr>
            <a:r>
              <a:rPr lang="en-US" altLang="zh-CN" sz="3500" dirty="0">
                <a:latin typeface="华文楷体" pitchFamily="2" charset="-122"/>
                <a:ea typeface="华文楷体" pitchFamily="2" charset="-122"/>
              </a:rPr>
              <a:t>3.</a:t>
            </a:r>
            <a:r>
              <a:rPr lang="zh-CN" altLang="zh-CN" sz="3500" dirty="0">
                <a:latin typeface="华文楷体" pitchFamily="2" charset="-122"/>
                <a:ea typeface="华文楷体" pitchFamily="2" charset="-122"/>
              </a:rPr>
              <a:t>查找单链表的中间结点</a:t>
            </a:r>
            <a:endParaRPr lang="en-US" altLang="zh-CN" sz="3500" dirty="0">
              <a:latin typeface="华文楷体" pitchFamily="2" charset="-122"/>
              <a:ea typeface="华文楷体" pitchFamily="2" charset="-122"/>
            </a:endParaRPr>
          </a:p>
          <a:p>
            <a:pPr marL="514350" indent="-514350">
              <a:buFont typeface="+mj-lt"/>
              <a:buAutoNum type="alphaLcParenR"/>
            </a:pPr>
            <a:r>
              <a:rPr lang="zh-CN" altLang="en-US" sz="3100" b="0" dirty="0">
                <a:solidFill>
                  <a:schemeClr val="accent1"/>
                </a:solidFill>
                <a:latin typeface="华文楷体" pitchFamily="2" charset="-122"/>
                <a:ea typeface="华文楷体" pitchFamily="2" charset="-122"/>
              </a:rPr>
              <a:t>已知长度</a:t>
            </a:r>
            <a:r>
              <a:rPr lang="en-US" altLang="zh-CN" sz="3100" b="0" dirty="0" err="1">
                <a:solidFill>
                  <a:schemeClr val="accent1"/>
                </a:solidFill>
                <a:latin typeface="华文楷体" pitchFamily="2" charset="-122"/>
                <a:ea typeface="华文楷体" pitchFamily="2" charset="-122"/>
              </a:rPr>
              <a:t>len</a:t>
            </a:r>
            <a:r>
              <a:rPr lang="zh-CN" altLang="en-US" sz="3100" b="0" dirty="0">
                <a:solidFill>
                  <a:schemeClr val="accent1"/>
                </a:solidFill>
                <a:latin typeface="华文楷体" pitchFamily="2" charset="-122"/>
                <a:ea typeface="华文楷体" pitchFamily="2" charset="-122"/>
              </a:rPr>
              <a:t>：</a:t>
            </a:r>
            <a:r>
              <a:rPr lang="en-US" altLang="zh-CN" sz="3100" b="0" dirty="0">
                <a:solidFill>
                  <a:schemeClr val="accent1"/>
                </a:solidFill>
                <a:latin typeface="华文楷体" pitchFamily="2" charset="-122"/>
                <a:ea typeface="华文楷体" pitchFamily="2" charset="-122"/>
              </a:rPr>
              <a:t>  </a:t>
            </a:r>
            <a:r>
              <a:rPr lang="en-US" altLang="zh-CN" sz="3100" b="0" dirty="0" err="1">
                <a:solidFill>
                  <a:schemeClr val="accent1"/>
                </a:solidFill>
                <a:latin typeface="华文楷体" pitchFamily="2" charset="-122"/>
                <a:ea typeface="华文楷体" pitchFamily="2" charset="-122"/>
              </a:rPr>
              <a:t>len</a:t>
            </a:r>
            <a:r>
              <a:rPr lang="zh-CN" altLang="en-US" sz="3100" b="0" dirty="0">
                <a:solidFill>
                  <a:schemeClr val="accent1"/>
                </a:solidFill>
                <a:latin typeface="华文楷体" pitchFamily="2" charset="-122"/>
                <a:ea typeface="华文楷体" pitchFamily="2" charset="-122"/>
              </a:rPr>
              <a:t>为奇数即第</a:t>
            </a:r>
            <a:r>
              <a:rPr lang="en-US" altLang="zh-CN" sz="3100" b="0" dirty="0" err="1">
                <a:solidFill>
                  <a:schemeClr val="accent1"/>
                </a:solidFill>
                <a:latin typeface="华文楷体" pitchFamily="2" charset="-122"/>
                <a:ea typeface="华文楷体" pitchFamily="2" charset="-122"/>
              </a:rPr>
              <a:t>len</a:t>
            </a:r>
            <a:r>
              <a:rPr lang="en-US" altLang="zh-CN" sz="3100" b="0" dirty="0">
                <a:solidFill>
                  <a:schemeClr val="accent1"/>
                </a:solidFill>
                <a:latin typeface="华文楷体" pitchFamily="2" charset="-122"/>
                <a:ea typeface="华文楷体" pitchFamily="2" charset="-122"/>
              </a:rPr>
              <a:t>/2+1</a:t>
            </a:r>
            <a:r>
              <a:rPr lang="zh-CN" altLang="en-US" sz="3100" b="0" dirty="0">
                <a:solidFill>
                  <a:schemeClr val="accent1"/>
                </a:solidFill>
                <a:latin typeface="华文楷体" pitchFamily="2" charset="-122"/>
                <a:ea typeface="华文楷体" pitchFamily="2" charset="-122"/>
              </a:rPr>
              <a:t>个，偶数有</a:t>
            </a:r>
            <a:r>
              <a:rPr lang="en-US" altLang="zh-CN" sz="3100" b="0" dirty="0">
                <a:solidFill>
                  <a:schemeClr val="accent1"/>
                </a:solidFill>
                <a:latin typeface="华文楷体" pitchFamily="2" charset="-122"/>
                <a:ea typeface="华文楷体" pitchFamily="2" charset="-122"/>
              </a:rPr>
              <a:t>2</a:t>
            </a:r>
            <a:r>
              <a:rPr lang="zh-CN" altLang="en-US" sz="3100" b="0" dirty="0">
                <a:solidFill>
                  <a:schemeClr val="accent1"/>
                </a:solidFill>
                <a:latin typeface="华文楷体" pitchFamily="2" charset="-122"/>
                <a:ea typeface="华文楷体" pitchFamily="2" charset="-122"/>
              </a:rPr>
              <a:t>个中间点取一个，如为第</a:t>
            </a:r>
            <a:r>
              <a:rPr lang="en-US" altLang="zh-CN" sz="3100" b="0" dirty="0" err="1">
                <a:solidFill>
                  <a:schemeClr val="accent1"/>
                </a:solidFill>
                <a:latin typeface="华文楷体" pitchFamily="2" charset="-122"/>
                <a:ea typeface="华文楷体" pitchFamily="2" charset="-122"/>
              </a:rPr>
              <a:t>len</a:t>
            </a:r>
            <a:r>
              <a:rPr lang="en-US" altLang="zh-CN" sz="3100" b="0" dirty="0">
                <a:solidFill>
                  <a:schemeClr val="accent1"/>
                </a:solidFill>
                <a:latin typeface="华文楷体" pitchFamily="2" charset="-122"/>
                <a:ea typeface="华文楷体" pitchFamily="2" charset="-122"/>
              </a:rPr>
              <a:t>/2</a:t>
            </a:r>
          </a:p>
          <a:p>
            <a:pPr marL="514350" indent="-514350">
              <a:buFont typeface="+mj-lt"/>
              <a:buAutoNum type="alphaLcParenR"/>
            </a:pPr>
            <a:r>
              <a:rPr lang="zh-CN" altLang="en-US" sz="3100" b="0" dirty="0">
                <a:solidFill>
                  <a:schemeClr val="accent1"/>
                </a:solidFill>
                <a:latin typeface="华文楷体" pitchFamily="2" charset="-122"/>
                <a:ea typeface="华文楷体" pitchFamily="2" charset="-122"/>
              </a:rPr>
              <a:t>未知长度：遍历一遍，得到</a:t>
            </a:r>
            <a:r>
              <a:rPr lang="en-US" altLang="zh-CN" sz="3100" b="0" dirty="0" err="1">
                <a:solidFill>
                  <a:schemeClr val="accent1"/>
                </a:solidFill>
                <a:latin typeface="华文楷体" pitchFamily="2" charset="-122"/>
                <a:ea typeface="华文楷体" pitchFamily="2" charset="-122"/>
              </a:rPr>
              <a:t>len</a:t>
            </a:r>
            <a:r>
              <a:rPr lang="zh-CN" altLang="en-US" sz="3100" b="0" dirty="0">
                <a:solidFill>
                  <a:schemeClr val="accent1"/>
                </a:solidFill>
                <a:latin typeface="华文楷体" pitchFamily="2" charset="-122"/>
                <a:ea typeface="华文楷体" pitchFamily="2" charset="-122"/>
              </a:rPr>
              <a:t>， 后同</a:t>
            </a:r>
            <a:r>
              <a:rPr lang="en-US" altLang="zh-CN" sz="3100" b="0" dirty="0">
                <a:solidFill>
                  <a:schemeClr val="accent1"/>
                </a:solidFill>
                <a:latin typeface="华文楷体" pitchFamily="2" charset="-122"/>
                <a:ea typeface="华文楷体" pitchFamily="2" charset="-122"/>
              </a:rPr>
              <a:t>A</a:t>
            </a:r>
          </a:p>
          <a:p>
            <a:pPr marL="514350" indent="-514350">
              <a:buFont typeface="+mj-lt"/>
              <a:buAutoNum type="alphaLcParenR"/>
            </a:pPr>
            <a:r>
              <a:rPr lang="zh-CN" altLang="en-US" sz="3100" b="0" dirty="0">
                <a:solidFill>
                  <a:schemeClr val="accent1"/>
                </a:solidFill>
                <a:latin typeface="华文楷体" pitchFamily="2" charset="-122"/>
                <a:ea typeface="华文楷体" pitchFamily="2" charset="-122"/>
              </a:rPr>
              <a:t>未知长度：</a:t>
            </a:r>
            <a:r>
              <a:rPr lang="zh-CN" altLang="en-US" sz="3100" u="sng" dirty="0">
                <a:solidFill>
                  <a:schemeClr val="accent1"/>
                </a:solidFill>
                <a:highlight>
                  <a:srgbClr val="FFFF00"/>
                </a:highlight>
                <a:latin typeface="华文楷体" pitchFamily="2" charset="-122"/>
                <a:ea typeface="华文楷体" pitchFamily="2" charset="-122"/>
              </a:rPr>
              <a:t>两个指针</a:t>
            </a:r>
            <a:r>
              <a:rPr lang="en-US" altLang="zh-CN" sz="3100" u="sng" dirty="0">
                <a:solidFill>
                  <a:schemeClr val="accent1"/>
                </a:solidFill>
                <a:highlight>
                  <a:srgbClr val="FFFF00"/>
                </a:highlight>
                <a:latin typeface="华文楷体" pitchFamily="2" charset="-122"/>
                <a:ea typeface="华文楷体" pitchFamily="2" charset="-122"/>
              </a:rPr>
              <a:t>p</a:t>
            </a:r>
            <a:r>
              <a:rPr lang="zh-CN" altLang="en-US" sz="3100" u="sng" dirty="0">
                <a:solidFill>
                  <a:schemeClr val="accent1"/>
                </a:solidFill>
                <a:highlight>
                  <a:srgbClr val="FFFF00"/>
                </a:highlight>
                <a:latin typeface="华文楷体" pitchFamily="2" charset="-122"/>
                <a:ea typeface="华文楷体" pitchFamily="2" charset="-122"/>
              </a:rPr>
              <a:t>和</a:t>
            </a:r>
            <a:r>
              <a:rPr lang="en-US" altLang="zh-CN" sz="3100" u="sng" dirty="0">
                <a:solidFill>
                  <a:schemeClr val="accent1"/>
                </a:solidFill>
                <a:highlight>
                  <a:srgbClr val="FFFF00"/>
                </a:highlight>
                <a:latin typeface="华文楷体" pitchFamily="2" charset="-122"/>
                <a:ea typeface="华文楷体" pitchFamily="2" charset="-122"/>
              </a:rPr>
              <a:t>q</a:t>
            </a:r>
            <a:r>
              <a:rPr lang="zh-CN" altLang="en-US" sz="3100" u="sng" dirty="0">
                <a:solidFill>
                  <a:schemeClr val="accent1"/>
                </a:solidFill>
                <a:highlight>
                  <a:srgbClr val="FFFF00"/>
                </a:highlight>
                <a:latin typeface="华文楷体" pitchFamily="2" charset="-122"/>
                <a:ea typeface="华文楷体" pitchFamily="2" charset="-122"/>
              </a:rPr>
              <a:t>，</a:t>
            </a:r>
            <a:r>
              <a:rPr lang="en-US" altLang="zh-CN" sz="3100" u="sng" dirty="0">
                <a:solidFill>
                  <a:schemeClr val="accent1"/>
                </a:solidFill>
                <a:highlight>
                  <a:srgbClr val="FFFF00"/>
                </a:highlight>
                <a:latin typeface="华文楷体" pitchFamily="2" charset="-122"/>
                <a:ea typeface="华文楷体" pitchFamily="2" charset="-122"/>
              </a:rPr>
              <a:t>p</a:t>
            </a:r>
            <a:r>
              <a:rPr lang="zh-CN" altLang="en-US" sz="3100" u="sng" dirty="0">
                <a:solidFill>
                  <a:schemeClr val="accent1"/>
                </a:solidFill>
                <a:highlight>
                  <a:srgbClr val="FFFF00"/>
                </a:highlight>
                <a:latin typeface="华文楷体" pitchFamily="2" charset="-122"/>
                <a:ea typeface="华文楷体" pitchFamily="2" charset="-122"/>
              </a:rPr>
              <a:t>一次走两步，</a:t>
            </a:r>
            <a:r>
              <a:rPr lang="en-US" altLang="zh-CN" sz="3100" u="sng" dirty="0">
                <a:solidFill>
                  <a:schemeClr val="accent1"/>
                </a:solidFill>
                <a:highlight>
                  <a:srgbClr val="FFFF00"/>
                </a:highlight>
                <a:latin typeface="华文楷体" pitchFamily="2" charset="-122"/>
                <a:ea typeface="华文楷体" pitchFamily="2" charset="-122"/>
              </a:rPr>
              <a:t>q</a:t>
            </a:r>
            <a:r>
              <a:rPr lang="zh-CN" altLang="en-US" sz="3100" u="sng" dirty="0">
                <a:solidFill>
                  <a:schemeClr val="accent1"/>
                </a:solidFill>
                <a:highlight>
                  <a:srgbClr val="FFFF00"/>
                </a:highlight>
                <a:latin typeface="华文楷体" pitchFamily="2" charset="-122"/>
                <a:ea typeface="华文楷体" pitchFamily="2" charset="-122"/>
              </a:rPr>
              <a:t>一次走一步，</a:t>
            </a:r>
            <a:r>
              <a:rPr lang="en-US" altLang="zh-CN" sz="3100" u="sng" dirty="0">
                <a:solidFill>
                  <a:schemeClr val="accent1"/>
                </a:solidFill>
                <a:highlight>
                  <a:srgbClr val="FFFF00"/>
                </a:highlight>
                <a:latin typeface="华文楷体" pitchFamily="2" charset="-122"/>
                <a:ea typeface="华文楷体" pitchFamily="2" charset="-122"/>
              </a:rPr>
              <a:t>p</a:t>
            </a:r>
            <a:r>
              <a:rPr lang="zh-CN" altLang="en-US" sz="3100" u="sng" dirty="0">
                <a:solidFill>
                  <a:schemeClr val="accent1"/>
                </a:solidFill>
                <a:highlight>
                  <a:srgbClr val="FFFF00"/>
                </a:highlight>
                <a:latin typeface="华文楷体" pitchFamily="2" charset="-122"/>
                <a:ea typeface="华文楷体" pitchFamily="2" charset="-122"/>
              </a:rPr>
              <a:t>为空时，</a:t>
            </a:r>
            <a:r>
              <a:rPr lang="en-US" altLang="zh-CN" sz="3100" u="sng" dirty="0">
                <a:solidFill>
                  <a:schemeClr val="accent1"/>
                </a:solidFill>
                <a:highlight>
                  <a:srgbClr val="FFFF00"/>
                </a:highlight>
                <a:latin typeface="华文楷体" pitchFamily="2" charset="-122"/>
                <a:ea typeface="华文楷体" pitchFamily="2" charset="-122"/>
              </a:rPr>
              <a:t>q</a:t>
            </a:r>
            <a:r>
              <a:rPr lang="zh-CN" altLang="en-US" sz="3100" u="sng" dirty="0">
                <a:solidFill>
                  <a:schemeClr val="accent1"/>
                </a:solidFill>
                <a:highlight>
                  <a:srgbClr val="FFFF00"/>
                </a:highlight>
                <a:latin typeface="华文楷体" pitchFamily="2" charset="-122"/>
                <a:ea typeface="华文楷体" pitchFamily="2" charset="-122"/>
              </a:rPr>
              <a:t>所指既是目标</a:t>
            </a:r>
            <a:r>
              <a:rPr lang="zh-CN" altLang="en-US" sz="3100" dirty="0">
                <a:solidFill>
                  <a:schemeClr val="accent1"/>
                </a:solidFill>
                <a:latin typeface="华文楷体" pitchFamily="2" charset="-122"/>
                <a:ea typeface="华文楷体" pitchFamily="2" charset="-122"/>
              </a:rPr>
              <a:t>。</a:t>
            </a:r>
            <a:endParaRPr lang="zh-CN" altLang="zh-CN" sz="3100" dirty="0">
              <a:solidFill>
                <a:schemeClr val="accent1"/>
              </a:solidFill>
              <a:latin typeface="华文楷体" pitchFamily="2" charset="-122"/>
              <a:ea typeface="华文楷体" pitchFamily="2" charset="-122"/>
            </a:endParaRPr>
          </a:p>
        </p:txBody>
      </p:sp>
    </p:spTree>
    <p:extLst>
      <p:ext uri="{BB962C8B-B14F-4D97-AF65-F5344CB8AC3E}">
        <p14:creationId xmlns:p14="http://schemas.microsoft.com/office/powerpoint/2010/main" val="317238793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2466" y="855528"/>
            <a:ext cx="10884589" cy="4754831"/>
          </a:xfrm>
        </p:spPr>
        <p:txBody>
          <a:bodyPr>
            <a:normAutofit fontScale="92500" lnSpcReduction="20000"/>
          </a:bodyPr>
          <a:lstStyle/>
          <a:p>
            <a:pPr marL="0" indent="0">
              <a:buNone/>
            </a:pPr>
            <a:r>
              <a:rPr lang="en-US" altLang="zh-CN" sz="3500" dirty="0">
                <a:latin typeface="华文楷体" pitchFamily="2" charset="-122"/>
                <a:ea typeface="华文楷体" pitchFamily="2" charset="-122"/>
              </a:rPr>
              <a:t>4. </a:t>
            </a:r>
            <a:r>
              <a:rPr lang="zh-CN" altLang="zh-CN" sz="3500" dirty="0">
                <a:latin typeface="华文楷体" pitchFamily="2" charset="-122"/>
                <a:ea typeface="华文楷体" pitchFamily="2" charset="-122"/>
              </a:rPr>
              <a:t>设有一个正整数序列组成的有序单链表（按</a:t>
            </a:r>
            <a:r>
              <a:rPr lang="zh-CN" altLang="en-US" sz="3500" dirty="0">
                <a:latin typeface="华文楷体" pitchFamily="2" charset="-122"/>
                <a:ea typeface="华文楷体" pitchFamily="2" charset="-122"/>
              </a:rPr>
              <a:t>非递减</a:t>
            </a:r>
            <a:r>
              <a:rPr lang="zh-CN" altLang="zh-CN" sz="3500" dirty="0">
                <a:latin typeface="华文楷体" pitchFamily="2" charset="-122"/>
                <a:ea typeface="华文楷体" pitchFamily="2" charset="-122"/>
              </a:rPr>
              <a:t>次序有序，允许有相等的整数存在），</a:t>
            </a:r>
            <a:endParaRPr lang="en-US" altLang="zh-CN" sz="3500" dirty="0">
              <a:latin typeface="华文楷体" pitchFamily="2" charset="-122"/>
              <a:ea typeface="华文楷体" pitchFamily="2" charset="-122"/>
            </a:endParaRPr>
          </a:p>
          <a:p>
            <a:pPr marL="0" indent="0">
              <a:buNone/>
            </a:pPr>
            <a:r>
              <a:rPr lang="en-US" altLang="zh-CN" sz="3500" dirty="0">
                <a:latin typeface="华文楷体" pitchFamily="2" charset="-122"/>
                <a:ea typeface="华文楷体" pitchFamily="2" charset="-122"/>
              </a:rPr>
              <a:t>  </a:t>
            </a:r>
            <a:r>
              <a:rPr lang="zh-CN" altLang="zh-CN" sz="3500" dirty="0">
                <a:latin typeface="华文楷体" pitchFamily="2" charset="-122"/>
                <a:ea typeface="华文楷体" pitchFamily="2" charset="-122"/>
              </a:rPr>
              <a:t>试编写能实现下列功能的算法</a:t>
            </a:r>
            <a:r>
              <a:rPr lang="zh-CN" altLang="en-US" sz="3500" dirty="0">
                <a:latin typeface="华文楷体" pitchFamily="2" charset="-122"/>
                <a:ea typeface="华文楷体" pitchFamily="2" charset="-122"/>
              </a:rPr>
              <a:t>。</a:t>
            </a:r>
            <a:endParaRPr lang="en-US" altLang="zh-CN" sz="3500" dirty="0">
              <a:latin typeface="华文楷体" pitchFamily="2" charset="-122"/>
              <a:ea typeface="华文楷体" pitchFamily="2" charset="-122"/>
            </a:endParaRPr>
          </a:p>
          <a:p>
            <a:pPr marL="514350" indent="-514350">
              <a:lnSpc>
                <a:spcPct val="130000"/>
              </a:lnSpc>
              <a:buFont typeface="+mj-lt"/>
              <a:buAutoNum type="alphaUcPeriod"/>
            </a:pPr>
            <a:r>
              <a:rPr lang="zh-CN" altLang="zh-CN" sz="3400" b="0" dirty="0">
                <a:latin typeface="华文楷体" pitchFamily="2" charset="-122"/>
                <a:ea typeface="华文楷体" pitchFamily="2" charset="-122"/>
              </a:rPr>
              <a:t>确定在序列中比正整数</a:t>
            </a:r>
            <a:r>
              <a:rPr lang="en-US" altLang="zh-CN" sz="3400" b="0" dirty="0">
                <a:latin typeface="华文楷体" pitchFamily="2" charset="-122"/>
                <a:ea typeface="华文楷体" pitchFamily="2" charset="-122"/>
              </a:rPr>
              <a:t>x</a:t>
            </a:r>
            <a:r>
              <a:rPr lang="zh-CN" altLang="zh-CN" sz="3400" b="0" dirty="0">
                <a:latin typeface="华文楷体" pitchFamily="2" charset="-122"/>
                <a:ea typeface="华文楷体" pitchFamily="2" charset="-122"/>
              </a:rPr>
              <a:t>大的数有几个（相同的数只计算一次，如序列</a:t>
            </a:r>
            <a:r>
              <a:rPr lang="en-US" altLang="zh-CN" sz="3400" b="0" dirty="0">
                <a:latin typeface="华文楷体" pitchFamily="2" charset="-122"/>
                <a:ea typeface="华文楷体" pitchFamily="2" charset="-122"/>
              </a:rPr>
              <a:t> {4,5,7,7,8,10,11,15,15,16,17,20}</a:t>
            </a:r>
            <a:r>
              <a:rPr lang="zh-CN" altLang="zh-CN" sz="3400" b="0" dirty="0">
                <a:latin typeface="华文楷体" pitchFamily="2" charset="-122"/>
                <a:ea typeface="华文楷体" pitchFamily="2" charset="-122"/>
              </a:rPr>
              <a:t>中比</a:t>
            </a:r>
            <a:r>
              <a:rPr lang="en-US" altLang="zh-CN" sz="3400" b="0" dirty="0">
                <a:latin typeface="华文楷体" pitchFamily="2" charset="-122"/>
                <a:ea typeface="华文楷体" pitchFamily="2" charset="-122"/>
              </a:rPr>
              <a:t>10</a:t>
            </a:r>
            <a:r>
              <a:rPr lang="zh-CN" altLang="zh-CN" sz="3400" b="0" dirty="0">
                <a:latin typeface="华文楷体" pitchFamily="2" charset="-122"/>
                <a:ea typeface="华文楷体" pitchFamily="2" charset="-122"/>
              </a:rPr>
              <a:t>大的数有</a:t>
            </a:r>
            <a:r>
              <a:rPr lang="en-US" altLang="zh-CN" sz="3400" b="0" dirty="0">
                <a:latin typeface="华文楷体" pitchFamily="2" charset="-122"/>
                <a:ea typeface="华文楷体" pitchFamily="2" charset="-122"/>
              </a:rPr>
              <a:t>5</a:t>
            </a:r>
            <a:r>
              <a:rPr lang="zh-CN" altLang="zh-CN" sz="3400" b="0" dirty="0">
                <a:latin typeface="华文楷体" pitchFamily="2" charset="-122"/>
                <a:ea typeface="华文楷体" pitchFamily="2" charset="-122"/>
              </a:rPr>
              <a:t>个）；</a:t>
            </a:r>
          </a:p>
          <a:p>
            <a:pPr marL="514350" indent="-514350">
              <a:lnSpc>
                <a:spcPct val="130000"/>
              </a:lnSpc>
              <a:buFont typeface="+mj-lt"/>
              <a:buAutoNum type="alphaUcPeriod"/>
            </a:pPr>
            <a:r>
              <a:rPr lang="zh-CN" altLang="zh-CN" sz="3400" b="0" dirty="0">
                <a:latin typeface="华文楷体" pitchFamily="2" charset="-122"/>
                <a:ea typeface="华文楷体" pitchFamily="2" charset="-122"/>
              </a:rPr>
              <a:t>将单链表中比正整数</a:t>
            </a:r>
            <a:r>
              <a:rPr lang="en-US" altLang="zh-CN" sz="3400" b="0" dirty="0">
                <a:latin typeface="华文楷体" pitchFamily="2" charset="-122"/>
                <a:ea typeface="华文楷体" pitchFamily="2" charset="-122"/>
              </a:rPr>
              <a:t>x</a:t>
            </a:r>
            <a:r>
              <a:rPr lang="zh-CN" altLang="zh-CN" sz="3400" b="0" dirty="0">
                <a:latin typeface="华文楷体" pitchFamily="2" charset="-122"/>
                <a:ea typeface="华文楷体" pitchFamily="2" charset="-122"/>
              </a:rPr>
              <a:t>小的数按递减次序重排，仍放置在单链表中；</a:t>
            </a:r>
          </a:p>
        </p:txBody>
      </p:sp>
    </p:spTree>
    <p:extLst>
      <p:ext uri="{BB962C8B-B14F-4D97-AF65-F5344CB8AC3E}">
        <p14:creationId xmlns:p14="http://schemas.microsoft.com/office/powerpoint/2010/main" val="27786688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74111" y="814431"/>
            <a:ext cx="10884589" cy="4754831"/>
          </a:xfrm>
        </p:spPr>
        <p:txBody>
          <a:bodyPr>
            <a:normAutofit fontScale="92500" lnSpcReduction="10000"/>
          </a:bodyPr>
          <a:lstStyle/>
          <a:p>
            <a:pPr marL="0" indent="0">
              <a:buNone/>
            </a:pPr>
            <a:r>
              <a:rPr lang="en-US" altLang="zh-CN" sz="3200" dirty="0">
                <a:latin typeface="华文楷体" pitchFamily="2" charset="-122"/>
                <a:ea typeface="华文楷体" pitchFamily="2" charset="-122"/>
              </a:rPr>
              <a:t>5. </a:t>
            </a:r>
            <a:r>
              <a:rPr lang="zh-CN" altLang="zh-CN" sz="3200" dirty="0">
                <a:latin typeface="华文楷体" pitchFamily="2" charset="-122"/>
                <a:ea typeface="华文楷体" pitchFamily="2" charset="-122"/>
              </a:rPr>
              <a:t>设线性表元素为整数，其中可能有相同的元素。试设计一个算法删除表中重复的元素（即相同元素只保留一个），使删除后表中各元素均不相同。给出在顺序存储和链式存储两种方式下的实现程序。</a:t>
            </a:r>
            <a:endParaRPr lang="en-US" altLang="zh-CN" sz="3200" dirty="0">
              <a:latin typeface="华文楷体" pitchFamily="2" charset="-122"/>
              <a:ea typeface="华文楷体" pitchFamily="2" charset="-122"/>
            </a:endParaRPr>
          </a:p>
          <a:p>
            <a:pPr marL="0" indent="0">
              <a:buNone/>
            </a:pPr>
            <a:r>
              <a:rPr lang="zh-CN" altLang="en-US" sz="3200" dirty="0">
                <a:solidFill>
                  <a:schemeClr val="accent1"/>
                </a:solidFill>
                <a:latin typeface="华文楷体" pitchFamily="2" charset="-122"/>
                <a:ea typeface="华文楷体" pitchFamily="2" charset="-122"/>
              </a:rPr>
              <a:t>方法可以是：</a:t>
            </a:r>
            <a:endParaRPr lang="en-US" altLang="zh-CN" sz="3200" dirty="0">
              <a:solidFill>
                <a:schemeClr val="accent1"/>
              </a:solidFill>
              <a:latin typeface="华文楷体" pitchFamily="2" charset="-122"/>
              <a:ea typeface="华文楷体" pitchFamily="2" charset="-122"/>
            </a:endParaRPr>
          </a:p>
          <a:p>
            <a:pPr marL="457200" indent="-457200">
              <a:lnSpc>
                <a:spcPct val="130000"/>
              </a:lnSpc>
              <a:buFont typeface="+mj-lt"/>
              <a:buAutoNum type="alphaLcParenR"/>
            </a:pPr>
            <a:r>
              <a:rPr lang="zh-CN" altLang="en-US" sz="3200" dirty="0">
                <a:solidFill>
                  <a:schemeClr val="accent1"/>
                </a:solidFill>
                <a:latin typeface="华文楷体" pitchFamily="2" charset="-122"/>
                <a:ea typeface="华文楷体" pitchFamily="2" charset="-122"/>
              </a:rPr>
              <a:t>有序时，可以和前一元素比较，效率？</a:t>
            </a:r>
            <a:endParaRPr lang="en-US" altLang="zh-CN" sz="3200" dirty="0">
              <a:solidFill>
                <a:schemeClr val="accent1"/>
              </a:solidFill>
              <a:latin typeface="华文楷体" pitchFamily="2" charset="-122"/>
              <a:ea typeface="华文楷体" pitchFamily="2" charset="-122"/>
            </a:endParaRPr>
          </a:p>
          <a:p>
            <a:pPr marL="457200" indent="-457200">
              <a:lnSpc>
                <a:spcPct val="130000"/>
              </a:lnSpc>
              <a:buFont typeface="+mj-lt"/>
              <a:buAutoNum type="alphaLcParenR"/>
            </a:pPr>
            <a:r>
              <a:rPr lang="zh-CN" altLang="en-US" sz="3200" dirty="0">
                <a:solidFill>
                  <a:schemeClr val="accent1"/>
                </a:solidFill>
                <a:latin typeface="华文楷体" pitchFamily="2" charset="-122"/>
                <a:ea typeface="华文楷体" pitchFamily="2" charset="-122"/>
              </a:rPr>
              <a:t>无序时， 已知最大值，另外用一个标志数组，效率？</a:t>
            </a:r>
            <a:endParaRPr lang="en-US" altLang="zh-CN" sz="3200" dirty="0">
              <a:solidFill>
                <a:schemeClr val="accent1"/>
              </a:solidFill>
              <a:latin typeface="华文楷体" pitchFamily="2" charset="-122"/>
              <a:ea typeface="华文楷体" pitchFamily="2" charset="-122"/>
            </a:endParaRPr>
          </a:p>
          <a:p>
            <a:pPr marL="457200" indent="-457200">
              <a:lnSpc>
                <a:spcPct val="130000"/>
              </a:lnSpc>
              <a:buFont typeface="+mj-lt"/>
              <a:buAutoNum type="alphaLcParenR"/>
            </a:pPr>
            <a:r>
              <a:rPr lang="zh-CN" altLang="en-US" sz="3200" dirty="0">
                <a:solidFill>
                  <a:schemeClr val="accent1"/>
                </a:solidFill>
                <a:latin typeface="华文楷体" pitchFamily="2" charset="-122"/>
                <a:ea typeface="华文楷体" pitchFamily="2" charset="-122"/>
              </a:rPr>
              <a:t>无序时，未知最大值，如何处理？效率？</a:t>
            </a:r>
            <a:endParaRPr lang="zh-CN" altLang="zh-CN" sz="3200" dirty="0">
              <a:solidFill>
                <a:schemeClr val="accent1"/>
              </a:solidFill>
              <a:latin typeface="华文楷体" pitchFamily="2" charset="-122"/>
              <a:ea typeface="华文楷体" pitchFamily="2" charset="-122"/>
            </a:endParaRPr>
          </a:p>
        </p:txBody>
      </p:sp>
    </p:spTree>
    <p:extLst>
      <p:ext uri="{BB962C8B-B14F-4D97-AF65-F5344CB8AC3E}">
        <p14:creationId xmlns:p14="http://schemas.microsoft.com/office/powerpoint/2010/main" val="4042077761"/>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6-VI主题-蓝" id="{1B918C6D-2D61-4306-88BA-3CA31BAAF13F}" vid="{A734D909-B61D-48C4-8B37-4CE49734400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7803</TotalTime>
  <Words>8928</Words>
  <Application>Microsoft Office PowerPoint</Application>
  <PresentationFormat>宽屏</PresentationFormat>
  <Paragraphs>1134</Paragraphs>
  <Slides>104</Slides>
  <Notes>98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104</vt:i4>
      </vt:variant>
    </vt:vector>
  </HeadingPairs>
  <TitlesOfParts>
    <vt:vector size="117" baseType="lpstr">
      <vt:lpstr>Arial Unicode MS</vt:lpstr>
      <vt:lpstr>等线</vt:lpstr>
      <vt:lpstr>等线 Light</vt:lpstr>
      <vt:lpstr>华文楷体</vt:lpstr>
      <vt:lpstr>楷体_GB2312</vt:lpstr>
      <vt:lpstr>微软雅黑</vt:lpstr>
      <vt:lpstr>Arial</vt:lpstr>
      <vt:lpstr>Calibri</vt:lpstr>
      <vt:lpstr>Cambria Math</vt:lpstr>
      <vt:lpstr>Garamond</vt:lpstr>
      <vt:lpstr>Times New Roman</vt:lpstr>
      <vt:lpstr>Wingdings</vt:lpstr>
      <vt:lpstr>2016-VI主题-蓝</vt:lpstr>
      <vt:lpstr>第二章  线性表---上</vt:lpstr>
      <vt:lpstr>线性表这章的任务和目标：</vt:lpstr>
      <vt:lpstr>PowerPoint 演示文稿</vt:lpstr>
      <vt:lpstr> 线性结构定义：</vt:lpstr>
      <vt:lpstr>常见的几种线性结构：</vt:lpstr>
      <vt:lpstr>线性表</vt:lpstr>
      <vt:lpstr>线性表List的ADT ：描述关系和关系操作</vt:lpstr>
      <vt:lpstr>线性表List的ADT ：描述关系和关系操作</vt:lpstr>
      <vt:lpstr>线性表List的ADT ：描述关系和关系操作</vt:lpstr>
      <vt:lpstr>PowerPoint 演示文稿</vt:lpstr>
      <vt:lpstr>顺序结构</vt:lpstr>
      <vt:lpstr>顺序表的存储映像图</vt:lpstr>
      <vt:lpstr>顺序表seqList及操作的定义（seqList.h）</vt:lpstr>
      <vt:lpstr>顺序表seqList及操作的定义（seqList.h）</vt:lpstr>
      <vt:lpstr>顺序表seqList及操作的定义（seqList.h）</vt:lpstr>
      <vt:lpstr>顺序表seqList及操作的定义（seqList.h）</vt:lpstr>
      <vt:lpstr>顺序表seqList及操作的定义（seqList.h）</vt:lpstr>
      <vt:lpstr>顺序表基本操作的实现代码 （seqList.h）</vt:lpstr>
      <vt:lpstr>顺序表基本操作的实现代码</vt:lpstr>
      <vt:lpstr>顺序表基本操作的实现分析</vt:lpstr>
      <vt:lpstr>顺序表基本操作的实现代码</vt:lpstr>
      <vt:lpstr>顺序表基本操作的实现分析</vt:lpstr>
      <vt:lpstr>顺序表基本操作的实现代码</vt:lpstr>
      <vt:lpstr>顺序表基本操作的实现代码</vt:lpstr>
      <vt:lpstr>顺序表基本操作的实现分析</vt:lpstr>
      <vt:lpstr>顺序表基本操作的实现代码</vt:lpstr>
      <vt:lpstr>顺序表基本操作的实现代码</vt:lpstr>
      <vt:lpstr>顺序表基本操作的实现代码</vt:lpstr>
      <vt:lpstr>顺序表应用---基本操作的测试    main.cpp</vt:lpstr>
      <vt:lpstr>PowerPoint 演示文稿</vt:lpstr>
      <vt:lpstr>PowerPoint 演示文稿</vt:lpstr>
      <vt:lpstr>PowerPoint 演示文稿</vt:lpstr>
      <vt:lpstr>PowerPoint 演示文稿</vt:lpstr>
      <vt:lpstr>总结：</vt:lpstr>
      <vt:lpstr>总结：</vt:lpstr>
      <vt:lpstr>演示：如何规划project中的模块</vt:lpstr>
      <vt:lpstr>PowerPoint 演示文稿</vt:lpstr>
      <vt:lpstr>链式结构</vt:lpstr>
      <vt:lpstr>链表的存储映像图</vt:lpstr>
      <vt:lpstr>结构类型，结构变量，结构指针</vt:lpstr>
      <vt:lpstr>PowerPoint 演示文稿</vt:lpstr>
      <vt:lpstr>结点和链表：</vt:lpstr>
      <vt:lpstr>单链表特点：</vt:lpstr>
      <vt:lpstr>单链表类：</vt:lpstr>
      <vt:lpstr>单链表结点类： （linkList.h）</vt:lpstr>
      <vt:lpstr>单链表结点类：</vt:lpstr>
      <vt:lpstr>单链表类： （linkList.h）</vt:lpstr>
      <vt:lpstr>单链表类：</vt:lpstr>
      <vt:lpstr>链表基本操作的实现代码（linkList.h）</vt:lpstr>
      <vt:lpstr>链表基本操作的实现分析</vt:lpstr>
      <vt:lpstr>链表基本操作的实现分析</vt:lpstr>
      <vt:lpstr>链表基本操作的实现分析</vt:lpstr>
      <vt:lpstr>链表基本操作的实现代码</vt:lpstr>
      <vt:lpstr>链表基本操作的实现分析</vt:lpstr>
      <vt:lpstr>链表基本操作的实现分析</vt:lpstr>
      <vt:lpstr>PowerPoint 演示文稿</vt:lpstr>
      <vt:lpstr>PowerPoint 演示文稿</vt:lpstr>
      <vt:lpstr>链表基本操作的实现分析</vt:lpstr>
      <vt:lpstr>链表基本操作的实现代码</vt:lpstr>
      <vt:lpstr>链表基本操作的实现代码</vt:lpstr>
      <vt:lpstr>链表基本操作的实现代码</vt:lpstr>
      <vt:lpstr>两种常用技巧：兄弟协同法、首席插入法</vt:lpstr>
      <vt:lpstr>PowerPoint 演示文稿</vt:lpstr>
      <vt:lpstr>练习：对一个单链表进行就地逆置---摆龙门阵</vt:lpstr>
      <vt:lpstr>PowerPoint 演示文稿</vt:lpstr>
      <vt:lpstr>“兄弟协同法”+“首席插入法”实现单链表的就地逆置</vt:lpstr>
      <vt:lpstr>常见错误：</vt:lpstr>
      <vt:lpstr>PowerPoint 演示文稿</vt:lpstr>
      <vt:lpstr>PowerPoint 演示文稿</vt:lpstr>
      <vt:lpstr>单循环链表</vt:lpstr>
      <vt:lpstr>不带头结点的单循环链表</vt:lpstr>
      <vt:lpstr>双向链表</vt:lpstr>
      <vt:lpstr>双向循环链表</vt:lpstr>
      <vt:lpstr>双向链表</vt:lpstr>
      <vt:lpstr>顺序、链表结构各自的优势和劣势：</vt:lpstr>
      <vt:lpstr>PowerPoint 演示文稿</vt:lpstr>
      <vt:lpstr>一元多项式</vt:lpstr>
      <vt:lpstr>一元多项式存储方法</vt:lpstr>
      <vt:lpstr>一元多项式的链式存储</vt:lpstr>
      <vt:lpstr>一元多项式的链式存储</vt:lpstr>
      <vt:lpstr>两个一元多项式相加</vt:lpstr>
      <vt:lpstr>两个一元多项式相加</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 及其部分基本操作的声明、定义（polynomial.h）</vt:lpstr>
      <vt:lpstr>多项式Polynomial相加主程序（main.cpp）</vt:lpstr>
      <vt:lpstr>PowerPoint 演示文稿</vt:lpstr>
      <vt:lpstr>稀疏矩阵</vt:lpstr>
      <vt:lpstr>稀疏矩阵</vt:lpstr>
      <vt:lpstr>小结</vt:lpstr>
      <vt:lpstr>小结</vt:lpstr>
      <vt:lpstr>小结</vt:lpstr>
      <vt:lpstr>小结</vt:lpstr>
      <vt:lpstr>练习</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寒 王</cp:lastModifiedBy>
  <cp:revision>549</cp:revision>
  <dcterms:created xsi:type="dcterms:W3CDTF">2016-04-20T02:59:17Z</dcterms:created>
  <dcterms:modified xsi:type="dcterms:W3CDTF">2025-06-10T03:56:38Z</dcterms:modified>
</cp:coreProperties>
</file>